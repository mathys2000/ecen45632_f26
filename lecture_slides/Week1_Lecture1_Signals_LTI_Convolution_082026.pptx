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4610"/>
  </p:normalViewPr>
  <p:slideViewPr>
    <p:cSldViewPr snapToGrid="0" snapToObjects="1">
      <p:cViewPr>
        <p:scale>
          <a:sx n="70" d="100"/>
          <a:sy n="70" d="100"/>
        </p:scale>
        <p:origin x="329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6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Set the course promise: rigorous DSP, but always connect the math to algorithms students will implement.
Ask: “What does a CNN layer actually do to an audio signal?” Return to this on slide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Emphasize combined senior/graduate expectations: seniors master core calculations; graduate students should also be able to justify conditions and generalize.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 students for examples of “systems” applied to audio: gain, echo, equalizer, compressor, noise gate.
Point out that not everything important is LTI—LTI is a tractable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this to prevent later confusion between ω (rad/sample) and f (Hz).
The 50 ms example is a short audible echo / slapback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This identity is the foundation of the convolution derivation.
Make the vector-space analogy explicit; graduate students may recognize basis expansions.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Do a 30-second think-pair-share on the shift direction.
Common misconception: sign inside bracket feels backwards.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Use α=0.9 as a decaying envelope and α=1 as a pure sinusoid.
Avoid diving deeply into convergence yet; that belongs naturally with DTFT/z-transform.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Frame system properties as shortcuts for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Ask: why does y=x+2 fail the zero-input test?
Then show superposition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Do the formal two-path test on y[n]=n x[n] if students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This is a good place to distinguish “stable mathematically” from “sounds good.”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Answers: A LTI causal stable; B LTI causal stable; C nonlinear but time-invariant, causal, stable; D linear but time-varying, causal, not BIBO stable over all n.
Require students to justify one property rather than just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the conceptual hinge of the lecture. Slow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Do not present convolution as a magic formula. Tie each equality to a system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At the board, say aloud which variable is fixed (n) and which is summed over (k).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min.
Work this graphically on the board, using the slide only to reveal the final answer.
Ask students to predict output length before calculating.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a useful preview of why nonlinear activations matter in neural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Run the accompanying notebook.
Ask students to explain why mode="same" is not a mathematical definition of convolution, but an output-cropping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a high-value misconception to prevent: most deep-learning libraries name cross-correlation “convolution.”
The distinction does not reduce the conceptual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B.
Use this to verify the impulse-response argument landed.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Exit ticket: “In one sentence, why does h[n] characterize an LTI system?”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Reserve slide; use only if time allows or save for office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  •  Week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alignment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1, 8-20-26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BFDBF7"/>
                </a:solidFill>
              </a:rPr>
              <a:t>DSP + 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223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</a:rPr>
              <a:t>Signals, LTI Systems,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</a:rPr>
              <a:t>and Convolution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676656" y="2788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2EC"/>
                </a:solidFill>
              </a:rPr>
              <a:t>Week 1 • Lecture 1 • 75 minutes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3401568"/>
            <a:ext cx="79095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Classical DSP foundations → modern signal representations → machine learning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Samples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x[n]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66974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4134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5574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3862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7877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95037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6477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4765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x*h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8779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85939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7379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95667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spectra / maps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39682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7684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6828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ML model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657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CNN / classifier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By the end, students should be able to reason—not just compute.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37160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b="1" dirty="0">
                <a:solidFill>
                  <a:srgbClr val="1D2733"/>
                </a:solidFill>
              </a:rPr>
              <a:t>Represent discrete-time signals using impulses, steps, and complex exponentials.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Test systems for linearity, time invariance, causality, and BIBO stability.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Explain why the impulse response completely characterizes an LTI system.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Compute finite-length convolutions graphically and numerically.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Connect convolution to filtering and to the operation used by neural networks.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26680" y="50749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91272" y="518464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Course habit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91272" y="5458968"/>
            <a:ext cx="3328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each new equation, ask: What does this let us predict about a real signal?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start with LTI systems?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Because many useful DSP operations become simple, interpretable building blocks.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Physical world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speech / vibration / RF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Sampling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sequence x[n]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DSP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filter / transform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 / embeddings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decision / regression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" y="31546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Classical DSP gives us…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72200" y="31546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ML later needs…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6384" y="35387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Structure: linearity and invariance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Closed-form analysis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Stability and causality tests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Frequency-selective filtering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6245352" y="35387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Well-conditioned inputs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Meaningful local structure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Efficient operators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Interpretability and diagnostics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5989320" y="32004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Discrete time: index n is not “time in seconds”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 labels samples; physical time appears only after a sampling rate is specified.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71600"/>
            <a:ext cx="3840480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3611880"/>
            <a:ext cx="477316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2160" y="361188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0" y="12252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Example sequence x[n]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93101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142809" y="356158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28509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74982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24690" y="223022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10390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556863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506571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92271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238744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188452" y="270571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074152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920625" y="3611880"/>
            <a:ext cx="0" cy="570586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870333" y="4132174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6033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602506" y="3611880"/>
            <a:ext cx="0" cy="1236269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552214" y="4797857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437914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284387" y="3611880"/>
            <a:ext cx="0" cy="38039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0234095" y="394197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119795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77240" y="2514600"/>
            <a:ext cx="43891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x[n] is defined only at integer 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A shift x[n−n₀] changes the sample index, not the amplitude.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Normalized angular frequency ω has units rad/sample.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5852160" y="45720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016752" y="4681728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Audio connection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016752" y="4956048"/>
            <a:ext cx="4425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48 kHz, one sample is 20.83 μs. A 2400-sample delay is 50 ms.</a:t>
            </a:r>
            <a:endParaRPr lang="en-US" sz="13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sample δ[n] is a coordinate basis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It isolates one sample at one index.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280160"/>
            <a:ext cx="3291840" cy="1188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74920" y="3063240"/>
            <a:ext cx="22128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74920" y="306324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09160" y="1225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δ[n]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96205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45913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31613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3877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8848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7418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8134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31052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1675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2391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7362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5932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066483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016191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901891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595360" y="3063240"/>
            <a:ext cx="22128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595360" y="306324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1225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δ[n−1]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816645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766353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52053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25921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20892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09462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70178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65149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53719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014435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0094062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997976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0586923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10536631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0422331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4069080"/>
            <a:ext cx="5760720" cy="777240"/>
          </a:xfrm>
          <a:prstGeom prst="rect">
            <a:avLst/>
          </a:prstGeom>
        </p:spPr>
      </p:pic>
      <p:sp>
        <p:nvSpPr>
          <p:cNvPr id="44" name="Shape 40"/>
          <p:cNvSpPr/>
          <p:nvPr/>
        </p:nvSpPr>
        <p:spPr>
          <a:xfrm>
            <a:off x="7132320" y="397764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7296912" y="4087368"/>
            <a:ext cx="3831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7296912" y="4361688"/>
            <a:ext cx="38313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sequence is a weighted sum of shifted impulses—the discrete-time analog of expanding a vector in basis vectors.</a:t>
            </a:r>
            <a:endParaRPr lang="en-US" sz="13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step u[n] and useful identities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Steps describe turn-on behavior; impulses describe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3200400" cy="114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3136392"/>
            <a:ext cx="24414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754880" y="3136392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89120" y="12070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u[n]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5833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08042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9374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65242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314950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00650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72150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721858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07558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79058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128766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14466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585966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535674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21374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99287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942582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82828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8120" y="1508760"/>
            <a:ext cx="3246120" cy="640080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8120" y="2606040"/>
            <a:ext cx="3246120" cy="64008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960120" y="42519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124712" y="4361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124712" y="4636008"/>
            <a:ext cx="35112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is u[n+2]? Where does it turn on?</a:t>
            </a:r>
            <a:endParaRPr lang="en-US" sz="13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exponentials are the “natural modes” of LTI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Today: recognize them. Lecture 2: prove the eigenfunction property.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25880"/>
            <a:ext cx="457200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331720"/>
            <a:ext cx="493776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3246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What each factor does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3246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Why DSP cares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6301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 sets scale / phase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αⁿ gives growth or decay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e^{jω₀n} gives rotation / oscillation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6301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Sinusoids probe frequency response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Exponentials diagonalize convolution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Spectra decompose signals into modes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32918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discrete-time system?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 rule that maps an input sequence to an output sequence.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297180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2402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Examples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2402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Nonlinear / time-varying examples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6243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Gain: y[n]=2x[n]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Delay: y[n]=x[n−3]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Moving average: y[n]=(x[n]+x[n−1])/2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6243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Squaring: y[n]=x²[n]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Compressor / limiter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Gain that changes with 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2860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834640" y="5303520"/>
            <a:ext cx="6492240" cy="777240"/>
          </a:xfrm>
          <a:prstGeom prst="roundRect">
            <a:avLst>
              <a:gd name="adj" fmla="val 9412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999232" y="5413248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Question to ask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99232" y="5687568"/>
            <a:ext cx="61630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Which properties let us predict behavior without simulating every possible input?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Linearity = superposition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Scale inputs → scale outputs. Add inputs → add outputs.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280160"/>
            <a:ext cx="658368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Linear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Not linear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y[n]=3x[n]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y[n]=x[n]+0.5x[n−1]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convolution with fixed h[n]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y[n]=x[n]+2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y[n]=|x[n]|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Dynamic-range compressor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5146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726680" y="516636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891272" y="527608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Fast test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91272" y="5550408"/>
            <a:ext cx="3054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linear system must map zero input to zero output.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invariance = “the clock does not matter”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Shift the input; the output shifts by exactly the same amount.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80160"/>
            <a:ext cx="713232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Time invariant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Time varying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Fixed delay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Fixed FIR / IIR filter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Static gain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y[n]=n 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Daily adaptive equalizer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rule using absolute sample index 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5146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21208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32180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Audio analogy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596128"/>
            <a:ext cx="78089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An echo with a fixed 100 ms delay is time invariant. An echo whose delay sweeps over time is not.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Causality and BIBO stability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Two properties with direct implementation consequences.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Causal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72200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BIBO stable system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8013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y[n₀] depends only on x[n] for n≤n₀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Can operate in real time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For LTI: h[n]=0 for n&lt;0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5352" y="18013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Every bounded input gives bounded output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For LTI: Σ |h[n]| &lt; ∞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Rules out runaway responses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89320" y="14630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4754880"/>
            <a:ext cx="4754880" cy="658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080760" y="461772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45352" y="4727448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stretch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45352" y="5001768"/>
            <a:ext cx="4471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Be able to prove the LTI stability condition using |x*h| ≤ Bx Σ|h|.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Property check: classify these audio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Think → vote → justify.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733"/>
                </a:solidFill>
              </a:rPr>
              <a:t>For each system: linear? time invariant? causal? BIBO stable?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19751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947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y[n]=x[n−4800]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19568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Fixed 100 ms delay at 48 kHz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8992" y="27980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770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y[n]=0.8x[n]+0.2x[n−1]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277977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Two-tap smoother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47472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8992" y="362102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y[n]=|x[n]|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602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Full-wave rectifier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429768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78992" y="444398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416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y[n]=n x[n]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44256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Index-dependent 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Impulse response: one experiment characterizes an LTI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Feed δ[n]; call the output h[n].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δ[n]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27576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56176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74464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T{·}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79080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16240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07680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Output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5968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0" y="2880360"/>
            <a:ext cx="4297680" cy="640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3703320"/>
            <a:ext cx="101498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Linearity tells us how scaled impulses behave.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Time invariance tells us how shifted impulses behave.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Since any x[n] is a sum of scaled, shifted impulses, h[n] tells us the response to any x[n].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Deriving convolution from impulse decomposition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This derivation is worth understanding line by 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234440"/>
            <a:ext cx="384048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417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1. Decompose the input into shifted impulses.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2240280"/>
            <a:ext cx="49377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807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2. Use linearity.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680" y="3246120"/>
            <a:ext cx="3840480" cy="59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83480" y="3429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3. Use time invariance.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4297680"/>
            <a:ext cx="6400800" cy="7772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543800" y="416052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7708392" y="427024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Meaning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708392" y="4544568"/>
            <a:ext cx="3328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Each input sample launches a shifted copy of h[n]; the output is their sum.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mechanics: flip → shift → multiply → add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For finite sequences, the overlap changes as n moves.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1. Flip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h[k] → h[−k]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4700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51860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3300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2. Shift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1588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h[n−k]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53328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90488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81928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3. Multiply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0216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x[k]h[n−k]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91956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29116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20556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4. Sum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38844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Σ over k</a:t>
            </a:r>
            <a:endParaRPr lang="en-US" sz="11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0" y="2971800"/>
            <a:ext cx="4389120" cy="6858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13232" y="3886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Graphical view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172200" y="3886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Algebraic / code view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86384" y="427024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Track overlap as n changes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Good for intuition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Best with short sequences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6245352" y="427024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Use nonzero-support limits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Good for longer signals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np.convolve / scipy.signal</a:t>
            </a:r>
            <a:endParaRPr lang="en-US" sz="1750" dirty="0"/>
          </a:p>
        </p:txBody>
      </p:sp>
      <p:sp>
        <p:nvSpPr>
          <p:cNvPr id="26" name="Shape 23"/>
          <p:cNvSpPr/>
          <p:nvPr/>
        </p:nvSpPr>
        <p:spPr>
          <a:xfrm>
            <a:off x="5989320" y="393192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convolution: x[n]=[1,2,1], h[n]=[1,−1]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Assume both start at n=0.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x[n]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42288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91996" y="226771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7696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32304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82012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67712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22320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72028" y="226771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57728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3484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h[n]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68112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17820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0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03136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52844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38544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5820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5820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9244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y[n]=x*h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791956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741664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27364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459468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409176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294876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126980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076688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962388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794492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744200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629900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3931920"/>
            <a:ext cx="9966960" cy="713232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2834640" y="498348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999232" y="5093208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Sanity checks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999232" y="5367528"/>
            <a:ext cx="6163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Output length = 3+2−1 = 4. Sum(y)=sum(x)sum(h)=0.</a:t>
            </a:r>
            <a:endParaRPr lang="en-US" sz="13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has algebraic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Useful facts that save work and explain cascades.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325880"/>
            <a:ext cx="228600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892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commutative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7560" y="1325880"/>
            <a:ext cx="384048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1892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associative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8080" y="1325880"/>
            <a:ext cx="37490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0" y="1892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distributive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13232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804672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h₁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22960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room EQ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227576" y="317296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364736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456176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h₂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474464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speaker response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879080" y="317296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16240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107680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h₁*h₂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125968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equivalent system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2971800" y="480060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3136392" y="4910328"/>
            <a:ext cx="5980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Why ML cares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136392" y="5184648"/>
            <a:ext cx="59801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stack of linear convolution layers with no nonlinearity collapses to one convolution.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demo: convolution in one 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Then verify the indexing and meaning.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166360" cy="2926080"/>
          </a:xfrm>
          <a:prstGeom prst="roundRect">
            <a:avLst>
              <a:gd name="adj" fmla="val 1250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Python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892040" cy="2450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np.array([1., 2., 1.])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np.array([1., -1.])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np.convolve(x, h, mode='full')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print(y)  # [ 1.  1. -1. -1.]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166360" cy="1828800"/>
          </a:xfrm>
          <a:prstGeom prst="roundRect">
            <a:avLst>
              <a:gd name="adj" fmla="val 2000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SciPy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4892040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long signals, scipy.signal.fftconvolve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scipy.signal import fftconvolve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y_fast = fftconvolve(x, h, mode='full')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347472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8232" y="3584448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Do not skip the math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28232" y="3858768"/>
            <a:ext cx="48371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library call gives numbers. Convolution theory tells you support, delay, stability, frequency behavior, and what to debug.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bridge: PyTorch “convolution” is usually cross-correlation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Same local weighted sum, different kernel orientation.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80160"/>
            <a:ext cx="530352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0760" y="1280160"/>
            <a:ext cx="5303520" cy="594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920240" y="2788920"/>
            <a:ext cx="8412480" cy="1920240"/>
          </a:xfrm>
          <a:prstGeom prst="roundRect">
            <a:avLst>
              <a:gd name="adj" fmla="val 1905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057400" y="288036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PyTorch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057400" y="3154680"/>
            <a:ext cx="8138160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torch.nn.functional as F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torch.tensor([[[1.,2.,1.]]])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torch.tensor([[[1.,-1.]]])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F.conv1d(x, w)  # correlation convention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057400" y="498348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221992" y="509320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Key idea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221992" y="5367528"/>
            <a:ext cx="78089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The kernel is learned in ML, but the local linear operation is the same family of operation you are analyzing now.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5">
            <a:extLst>
              <a:ext uri="{FF2B5EF4-FFF2-40B4-BE49-F238E27FC236}">
                <a16:creationId xmlns:a16="http://schemas.microsoft.com/office/drawing/2014/main" id="{7D993E9D-BD39-AFAF-E8EB-A06311280F3E}"/>
              </a:ext>
            </a:extLst>
          </p:cNvPr>
          <p:cNvSpPr/>
          <p:nvPr/>
        </p:nvSpPr>
        <p:spPr>
          <a:xfrm>
            <a:off x="960120" y="29260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 computation should be necessary.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an LTI system, which statement is always true?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If x[n] is bounded, y[n] is bounded.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The response to δ[n−k] is h[n−k].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The system must be causal.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The impulse response has finite length.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1 synthesis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chain of reasoning matters more than memorizing isolated formulas.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Impulse basis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x=Σx[k]δ[n−k]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 + TI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scale + shift response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Impulse response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y=x*h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Filtering / CNNs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weighted sums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324612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test system properties with a counterexample or proof.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derive convolution from LTI assumptions.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compute a short convolution by hand and predict its support.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2514600" y="5166360"/>
            <a:ext cx="713232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79192" y="5276088"/>
            <a:ext cx="6803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Next lecture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79192" y="5550408"/>
            <a:ext cx="68031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Complex exponentials turn convolution into multiplication in the frequency domain.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board reserve: index bookkeeping for finite convolution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if students need one more example.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RESERVE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280160"/>
            <a:ext cx="758952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331720"/>
            <a:ext cx="7772400" cy="594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03920" y="12344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668512" y="134416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Length rule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668512" y="1618488"/>
            <a:ext cx="30540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sequences of lengths Lx and Lh starting at known indices, full convolution has length Lx+Lh−1.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14400" y="3657600"/>
            <a:ext cx="98755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This predicts where the output can be nonzero before any arithmetic.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It also helps debug off-by-one errors in code.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2485</Words>
  <Application>Microsoft Office PowerPoint</Application>
  <PresentationFormat>Widescreen</PresentationFormat>
  <Paragraphs>373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Lecture 1 — Signals, LTI Systems, and Convolution</dc:title>
  <dc:subject>Week 1 DSP + ML lecture materials</dc:subject>
  <dc:creator>OpenAI</dc:creator>
  <cp:lastModifiedBy>Peter Mathys</cp:lastModifiedBy>
  <cp:revision>4</cp:revision>
  <cp:lastPrinted>2026-08-18T23:10:45Z</cp:lastPrinted>
  <dcterms:created xsi:type="dcterms:W3CDTF">2026-08-18T14:03:18Z</dcterms:created>
  <dcterms:modified xsi:type="dcterms:W3CDTF">2026-08-20T03:35:44Z</dcterms:modified>
</cp:coreProperties>
</file>