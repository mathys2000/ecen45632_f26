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1" r:id="rId22"/>
    <p:sldId id="275" r:id="rId23"/>
    <p:sldId id="276" r:id="rId24"/>
    <p:sldId id="27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49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|H|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−π</c:v>
                </c:pt>
                <c:pt idx="16">
                  <c:v>0</c:v>
                </c:pt>
                <c:pt idx="32">
                  <c:v>π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0.66666666666666663</c:v>
                </c:pt>
                <c:pt idx="1">
                  <c:v>0.66953165488883282</c:v>
                </c:pt>
                <c:pt idx="2">
                  <c:v>0.67823822586899374</c:v>
                </c:pt>
                <c:pt idx="3">
                  <c:v>0.69313042481620968</c:v>
                </c:pt>
                <c:pt idx="4">
                  <c:v>0.7148134886731865</c:v>
                </c:pt>
                <c:pt idx="5">
                  <c:v>0.74420538269740633</c:v>
                </c:pt>
                <c:pt idx="6">
                  <c:v>0.78261651291595802</c:v>
                </c:pt>
                <c:pt idx="7">
                  <c:v>0.83186433271441784</c:v>
                </c:pt>
                <c:pt idx="8">
                  <c:v>0.89442719099991586</c:v>
                </c:pt>
                <c:pt idx="9">
                  <c:v>0.97362644559394429</c:v>
                </c:pt>
                <c:pt idx="10">
                  <c:v>1.073769784186674</c:v>
                </c:pt>
                <c:pt idx="11">
                  <c:v>1.2000126815299599</c:v>
                </c:pt>
                <c:pt idx="12">
                  <c:v>1.3571966890916942</c:v>
                </c:pt>
                <c:pt idx="13">
                  <c:v>1.5457402013595192</c:v>
                </c:pt>
                <c:pt idx="14">
                  <c:v>1.7511000962318997</c:v>
                </c:pt>
                <c:pt idx="15">
                  <c:v>1.927305670340449</c:v>
                </c:pt>
                <c:pt idx="16">
                  <c:v>2</c:v>
                </c:pt>
                <c:pt idx="17">
                  <c:v>1.927305670340449</c:v>
                </c:pt>
                <c:pt idx="18">
                  <c:v>1.7511000962318997</c:v>
                </c:pt>
                <c:pt idx="19">
                  <c:v>1.5457402013595192</c:v>
                </c:pt>
                <c:pt idx="20">
                  <c:v>1.3571966890916942</c:v>
                </c:pt>
                <c:pt idx="21">
                  <c:v>1.2000126815299599</c:v>
                </c:pt>
                <c:pt idx="22">
                  <c:v>1.0737697841866742</c:v>
                </c:pt>
                <c:pt idx="23">
                  <c:v>0.97362644559394429</c:v>
                </c:pt>
                <c:pt idx="24">
                  <c:v>0.89442719099991586</c:v>
                </c:pt>
                <c:pt idx="25">
                  <c:v>0.83186433271441773</c:v>
                </c:pt>
                <c:pt idx="26">
                  <c:v>0.78261651291595791</c:v>
                </c:pt>
                <c:pt idx="27">
                  <c:v>0.74420538269740633</c:v>
                </c:pt>
                <c:pt idx="28">
                  <c:v>0.7148134886731865</c:v>
                </c:pt>
                <c:pt idx="29">
                  <c:v>0.69313042481620968</c:v>
                </c:pt>
                <c:pt idx="30">
                  <c:v>0.67823822586899385</c:v>
                </c:pt>
                <c:pt idx="31">
                  <c:v>0.66953165488883282</c:v>
                </c:pt>
                <c:pt idx="32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B-4506-A3C7-65D4405FA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.200000000000000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951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Ask: if a pure tone enters an LTI filter, what can change—frequency, amplitude, phase?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is the proof. Keep emphasizing what depends on n and what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ordinary sinusoids as real parts of exponentials. An LTI system cannot generate a new frequency from a single sinusoid.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Bridge from eigenfunction proof to intuitive filter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Mention absolute summability as a simple sufficient condition for ordinary convergence; do not derail into distributions unless desired.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Instructor tip: point ahead to sampling/aliasing. π rad/sample corresponds to the Nyquist frequency after a sampling rate is specified.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slide sets up the Week 2 sampling lecture without teaching aliasing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The a^n u[n] pair will be reused for the one-pole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min.
Sketch the proof by substituting y[n]=Σx[k]h[n−k] into the DTFT and changing variables.
Avoid drowning in indices; focus on the separation into X times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Clarify that mel scaling and log magnitude are later nonlinear transformations; Parseval applies before those.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Students should understand this as the same eigenfunction argument, not a separate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min.
Ask students to predict low-pass vs high-pass before plotting.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 active work.
Do not reveal the next slide until pairs have committed to a sketch.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Point out periodic continuation beyond ±π.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Use the provided notebook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 min.
This prevents a major vocabulary problem before later spectrogram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Preview: later weeks will build spectrograms and feed them to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min.
Correct answer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 min.
Exit ticket: “Why can an LTI system change the amplitude and phase of a sinusoid but not its frequency?”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Think-Pair-Share runs long, move the quiz to the start of Week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  •  Week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321040" y="651052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alignment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2, 8-25-26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6583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BFDBF7"/>
                </a:solidFill>
              </a:rPr>
              <a:t>DSP + ML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" y="1298448"/>
            <a:ext cx="722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Eigenfunctions and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</a:rPr>
              <a:t>the DTFT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676656" y="27706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5E2EC"/>
                </a:solidFill>
              </a:rPr>
              <a:t>Week 1 • Lecture 2 • 75 minutes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76656" y="3364992"/>
            <a:ext cx="85039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Why sinusoids survive LTI systems—and why frequency-domain multiplication is so powerful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1323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467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e^{jωn}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probe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66974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904134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95574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LTI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3862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h[n]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957877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095037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86477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H(e^{jω})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04765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eigenvalue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48779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285939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7379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95667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339682" y="5138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76842" y="480060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568282" y="496519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86570" y="527608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Move from time-domain mechanics to frequency-domain structure.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325880"/>
            <a:ext cx="10515600" cy="4389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b="1" dirty="0">
                <a:solidFill>
                  <a:srgbClr val="1D2733"/>
                </a:solidFill>
              </a:rPr>
              <a:t>Prove that complex exponentials are eigenfunctions of LTI systems.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Define the DTFT and inverse DTFT and explain 2π periodicity.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Use time shift, convolution, and Parseval properties.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Derive frequency response directly from a linear constant-coefficient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Interpret a one-pole filter in time and frequency domains.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86600" y="50749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51192" y="51846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expectation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51192" y="5458968"/>
            <a:ext cx="38770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Be able to state convergence or stability assumptions when a transform/frequency response is used.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Recap: an LTI system is convolution by h[n]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Now choose an input that makes convolution simplify dramatically.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280160"/>
            <a:ext cx="457200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800" y="1280160"/>
            <a:ext cx="30175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" y="2514600"/>
            <a:ext cx="4937760" cy="68580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20440"/>
            <a:ext cx="5120640" cy="68580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37960" y="274320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5"/>
          <p:cNvSpPr/>
          <p:nvPr/>
        </p:nvSpPr>
        <p:spPr>
          <a:xfrm>
            <a:off x="6702552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Notice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702552" y="3127248"/>
            <a:ext cx="405993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The input waveform e^{jωn} factors back out. The system can only multiply it by a complex number.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Complex exponentials are eigenfunctions of every LTI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eigenvalue depends on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00–10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466344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423160"/>
            <a:ext cx="5486400" cy="731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What stays the same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35204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Exponential 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Infinite-duration mode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9044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Magnitude: |H(e^{jω})|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Phase: ∠H(e^{jω})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Possibly complete cancellation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35661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Frequency response is a gain-and-phase lookup table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One complex number for each normalized frequency ω.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557784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13232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cos(ω₀n)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4700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51860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43300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Magnitude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61588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× |H(e^{jω₀})|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53328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190488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81928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Phase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300216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+ ∠H(e^{jω₀})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91956" y="285292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929116" y="251460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020556" y="267919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Tone out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038844" y="299008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same ω₀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971800" y="4709160"/>
            <a:ext cx="62179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136392" y="4818888"/>
            <a:ext cx="5888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Audio EQ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136392" y="5093208"/>
            <a:ext cx="58887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 graphic equalizer is approximately a deliberately shaped |H(e^{jω})|.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DTFT analyzes a sequence as a continuous function of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Time is discrete; frequency remains continuous.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325880"/>
            <a:ext cx="530352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6480" y="1325880"/>
            <a:ext cx="530352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232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Forward DTFT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172200" y="28346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Inverse DTFT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786384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Sequence x[n] → function X(e^{jω})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Weighted sum of rotating phasors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Requires convergence in an appropriate sense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45352" y="32186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Integrates one period of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Reconstructs each integer sample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Any interval of length 2π works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989320" y="28803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is the DTFT 2π-periodic?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Because sampled-time exponentials cannot distinguish ω from ω+2πk.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325880"/>
            <a:ext cx="6583680" cy="7315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2514600"/>
            <a:ext cx="4754880" cy="7315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97280" y="4297680"/>
            <a:ext cx="9784080" cy="0"/>
          </a:xfrm>
          <a:prstGeom prst="line">
            <a:avLst/>
          </a:prstGeom>
          <a:noFill/>
          <a:ln w="15240">
            <a:solidFill>
              <a:srgbClr val="1D27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196596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69164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−2π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97764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70332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−π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98932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71500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0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0100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668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π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10012680" y="4114800"/>
            <a:ext cx="0" cy="365760"/>
          </a:xfrm>
          <a:prstGeom prst="line">
            <a:avLst/>
          </a:prstGeom>
          <a:noFill/>
          <a:ln w="12700">
            <a:solidFill>
              <a:srgbClr val="5C68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738360" y="4498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873"/>
                </a:solidFill>
              </a:rPr>
              <a:t>2π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10896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8C"/>
                </a:solidFill>
              </a:rPr>
              <a:t>same spectral content repeats every 2π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Normalized frequency ↔ physical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Week 2 will make this relationship central.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5669280" cy="777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514600"/>
            <a:ext cx="4572000" cy="6858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629400" y="1417320"/>
            <a:ext cx="4480560" cy="1325880"/>
          </a:xfrm>
          <a:prstGeom prst="roundRect">
            <a:avLst>
              <a:gd name="adj" fmla="val 551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793992" y="1527048"/>
            <a:ext cx="4151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Example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793992" y="1801368"/>
            <a:ext cx="415137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At f_s=48 kHz: ω=π/2 ↔ 12 kHz, and ω=π ↔ 24 kHz.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98755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The interval −π≤ω&lt;π represents one unique frequency period.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Frequencies outside that interval wrap into it modulo 2π.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DTFT pairs worth knowing immediately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them as anchors—not as a substitute for reasoning.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10–35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0" y="1325880"/>
            <a:ext cx="36576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331720"/>
            <a:ext cx="5029200" cy="5943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5040" y="1325880"/>
            <a:ext cx="4937760" cy="8229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172200" y="2743200"/>
            <a:ext cx="4754880" cy="14630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6336792" y="2852928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Why the condition?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336792" y="3127248"/>
            <a:ext cx="44256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For |a|&lt;1, the geometric series is absolutely summable; |a|≥1 does not converge on the unit circle in the ordinary sense.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 shifting becomes linear phase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Delays are easy to recognize in the frequency domain.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25880"/>
            <a:ext cx="66751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Magnitude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606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Phase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|e^{-jωn₀}|=1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 pure delay does not change spectral magnitude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2990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Adds −ωn₀ radians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Linear phase slope encodes delay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651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074920"/>
            <a:ext cx="813816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18464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Audio connection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458968"/>
            <a:ext cx="780897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An ideal sample delay preserves the spectrum’s magnitude exactly; it only rotates phase versus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Convolution in time ↔ multiplication in frequency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This is one of the most important DSP simplifications.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371600"/>
            <a:ext cx="3840480" cy="6400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1371600"/>
            <a:ext cx="4937760" cy="640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13232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4672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Time domain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slide / multiply / sum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314700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51860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543300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1588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transform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53328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190488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281928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Frequency domain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0216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pointwise multiply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791956" y="31272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929116" y="2788920"/>
            <a:ext cx="2574036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020556" y="2953512"/>
            <a:ext cx="239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IDTFT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9038844" y="3264408"/>
            <a:ext cx="23545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reconstruct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2743200" y="493776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2907792" y="5047488"/>
            <a:ext cx="63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Computational echo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907792" y="5321808"/>
            <a:ext cx="6345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FFT-based convolution exploits the same multiplication idea numerically for long signals.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Parseval: energy is preserved across representations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spectrum redistributes energy; it does not create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417320"/>
            <a:ext cx="749808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Time-domain view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172200" y="27889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Frequency-domain view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6384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= sum of squared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waveforms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45352" y="31729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Energy density across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Natural for bands and features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989320" y="28346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011680" y="516636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176272" y="5276088"/>
            <a:ext cx="7808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ML bridge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76272" y="5550408"/>
            <a:ext cx="78089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Many audio features—band energies, log spectra, mel features—summarize how signal energy is distributed across frequency.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Difference equations give H(e^{jω})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Use the eigenfunction or DTFT property instead of solving every input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35–55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1234440"/>
            <a:ext cx="5669280" cy="685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188720"/>
            <a:ext cx="50292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971800"/>
            <a:ext cx="1005840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Substitute x[n]=e^{jωn}, y[n]=H(e^{jω})e^{jωn}.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Factor out e^{jωn}.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Solve the remaining algebraic equation for H(e^{jω}).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One-pole example: y[n]=0.5y[n−1]+x[n]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A simple recursive smoother with a strong low-frequency preference.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520" y="1234440"/>
            <a:ext cx="4114800" cy="5943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240280"/>
            <a:ext cx="4389120" cy="685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520" y="3246120"/>
            <a:ext cx="384048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3232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At ω=0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172200" y="416052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At ω=π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6384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H=1/(1−0.5)=2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DC is amplified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245352" y="454456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H=1/(1+0.5)=2/3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Nyquist-frequency alternation is attenuated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5989320" y="420624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Think–Pair–Share: sketch |H(e^{jω})| before computing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a few strategically chosen frequencies.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733"/>
                </a:solidFill>
              </a:rPr>
              <a:t>Given  y[n] = 0.5y[n−1] + x[n]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669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1 minute: derive H(e^{jω}).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evaluate |H| at ω=0, π/2, π.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2 minutes: sketch a smooth 2π-periodic magnitude curve.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Pair discussion: what audio behavior would you expect?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903720" y="210312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68312" y="221284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68312" y="2487168"/>
            <a:ext cx="387705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What feature of the recursion causes “memory” of prior samples?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3794760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EEF4FB"/>
          </a:solidFill>
          <a:ln w="1651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68312" y="390448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Graduate extension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68312" y="4178808"/>
            <a:ext cx="3877056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Relate the coefficient 0.5 to a pole at z=0.5 and explain why moving it toward 1 increases low-frequency selectivity.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Think–Pair–Share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denominator is smallest near ω=0, so the response peaks at low frequency.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7240" y="1234440"/>
            <a:ext cx="4846320" cy="685800"/>
          </a:xfrm>
          <a:prstGeom prst="rect">
            <a:avLst/>
          </a:prstGeom>
        </p:spPr>
      </p:pic>
      <p:graphicFrame>
        <p:nvGraphicFramePr>
          <p:cNvPr id="7" name="Chart 0"/>
          <p:cNvGraphicFramePr/>
          <p:nvPr/>
        </p:nvGraphicFramePr>
        <p:xfrm>
          <a:off x="5715000" y="1234440"/>
          <a:ext cx="53949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822960" y="4754880"/>
            <a:ext cx="4800600" cy="1051560"/>
          </a:xfrm>
          <a:prstGeom prst="roundRect">
            <a:avLst>
              <a:gd name="adj" fmla="val 3478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7552" y="48828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Three checkpoints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987552" y="523951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D2733"/>
                </a:solidFill>
              </a:rPr>
              <a:t>ω=0: 2    •    ω=π/2: 0.894    •    ω=π: 0.667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897880" y="4754880"/>
            <a:ext cx="5074920" cy="1051560"/>
          </a:xfrm>
          <a:prstGeom prst="roundRect">
            <a:avLst>
              <a:gd name="adj" fmla="val 3478"/>
            </a:avLst>
          </a:prstGeom>
          <a:solidFill>
            <a:srgbClr val="EEF4FB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062472" y="48828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62472" y="5221224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D2733"/>
                </a:solidFill>
              </a:rPr>
              <a:t>Smooth low-pass tendency • recursive memory • stable because |0.5|&lt;1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demo: freqz and filtering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numerical tools should confirm—not replace—the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5166360" cy="2377440"/>
          </a:xfrm>
          <a:prstGeom prst="roundRect">
            <a:avLst>
              <a:gd name="adj" fmla="val 153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SciPy frequency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4892040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signal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[1.0]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[1.0, -0.5]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H = signal.freqz(b, a, worN=1024)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 = np.abs(H)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280160"/>
            <a:ext cx="5166360" cy="2011680"/>
          </a:xfrm>
          <a:prstGeom prst="roundRect">
            <a:avLst>
              <a:gd name="adj" fmla="val 1818"/>
            </a:avLst>
          </a:prstGeom>
          <a:solidFill>
            <a:srgbClr val="F6F8FA"/>
          </a:solidFill>
          <a:ln w="12700">
            <a:solidFill>
              <a:srgbClr val="D5D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7A8C"/>
                </a:solidFill>
              </a:rPr>
              <a:t>Filtering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1645920"/>
            <a:ext cx="489204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np.random.randn(48000)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signal.lfilter(b, a, 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F1D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 spectra / listen if desired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65960" y="41605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130552" y="42702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Notebook task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0552" y="4544568"/>
            <a:ext cx="790041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Change the recursion coefficient from 0.5 → 0.9 → 0.99. Predict the shape first; then verify with freqz.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DTFT vs DFT vs FFT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Three related terms that students often collapse into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55–75 MIN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</a:rPr>
              <a:t>DTFT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72200" y="14630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FA5"/>
                </a:solidFill>
              </a:rPr>
              <a:t>DFT / FFT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discrete-time sequence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continuous ω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2π-periodic spectrum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Mathematical transform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45352" y="1847088"/>
            <a:ext cx="507492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Input: finite N samples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Frequency: N discrete bins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DFT is the transform</a:t>
            </a:r>
            <a:endParaRPr lang="en-US" sz="1750" dirty="0"/>
          </a:p>
          <a:p>
            <a:pPr marL="228600" indent="-228600">
              <a:buSzPct val="100000"/>
              <a:buChar char="•"/>
            </a:pPr>
            <a:r>
              <a:rPr lang="en-US" sz="1750" dirty="0">
                <a:solidFill>
                  <a:srgbClr val="1D2733"/>
                </a:solidFill>
              </a:rPr>
              <a:t>FFT is an algorithm for the DFT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989320" y="1508760"/>
            <a:ext cx="0" cy="4800600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65960" y="5074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30552" y="5184648"/>
            <a:ext cx="7900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Practical bridge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30552" y="5458968"/>
            <a:ext cx="7900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In code, we sample the DTFT-like spectrum on a finite grid using the DFT/FFT. The grid and window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ML bridge: spectrograms are structured frequency-domain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DTFT is the conceptual ancestor of the STFT.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BRIDGE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Waveform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x[n]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DTFT/DFT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local spectrum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Stack over time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spectrogram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CNN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learn patterns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DSP explains what the axes and magnitudes mean.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Windowing and sampling choices determine resolution and leakage.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ML operates on features whose structure comes directly from signal-processing choices.</a:t>
            </a:r>
            <a:endParaRPr lang="en-US" sz="19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7">
            <a:extLst>
              <a:ext uri="{FF2B5EF4-FFF2-40B4-BE49-F238E27FC236}">
                <a16:creationId xmlns:a16="http://schemas.microsoft.com/office/drawing/2014/main" id="{34260300-30F3-D474-AEA9-5297EB545196}"/>
              </a:ext>
            </a:extLst>
          </p:cNvPr>
          <p:cNvSpPr/>
          <p:nvPr/>
        </p:nvSpPr>
        <p:spPr>
          <a:xfrm>
            <a:off x="960120" y="2216549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Reason from the denominator, not from memorized filter labels.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CHECK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325880"/>
            <a:ext cx="1074420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D2733"/>
                </a:solidFill>
              </a:rPr>
              <a:t>For H(e^{jω}) = 1/(1 − 0.9e^{−jω}), where is |H| largest?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E9F5F7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33856" y="2368296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A.  Near ω=0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0120" y="2953512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33856" y="3081528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B.  Near ω=π/2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0120" y="3666744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3794760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C.  Near ω=π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0120" y="4379976"/>
            <a:ext cx="10195560" cy="502920"/>
          </a:xfrm>
          <a:prstGeom prst="roundRect">
            <a:avLst>
              <a:gd name="adj" fmla="val 7273"/>
            </a:avLst>
          </a:prstGeom>
          <a:solidFill>
            <a:srgbClr val="F4F7FA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33856" y="4507992"/>
            <a:ext cx="9738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1D2733"/>
                </a:solidFill>
              </a:rPr>
              <a:t>D.  It is constant for all ω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60120" y="5303520"/>
            <a:ext cx="101955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5C6873"/>
                </a:solidFill>
              </a:rPr>
              <a:t>Correct: at ω=0 the terms 1 and 0.9e^{-jω} nearly cancel in the denominator, making the magnitude large.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2 synthesis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The frequency domain turns LTI systems into multiplication.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WRAP-UP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1323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Complex exponential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e^{jωn}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66974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04134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95574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Eigenvalue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3862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H(e^{jω})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957877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95037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86477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DTFT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04765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X(e^{jω})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48779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85939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EF4FB"/>
          </a:solidFill>
          <a:ln w="1397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77379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Convolution theorem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95667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Y=XH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339682" y="1755648"/>
            <a:ext cx="109728" cy="292608"/>
          </a:xfrm>
          <a:prstGeom prst="chevron">
            <a:avLst/>
          </a:prstGeom>
          <a:solidFill>
            <a:srgbClr val="A9B8C5"/>
          </a:solidFill>
          <a:ln w="12700">
            <a:solidFill>
              <a:srgbClr val="A9B8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476842" y="1417320"/>
            <a:ext cx="2026310" cy="1005840"/>
          </a:xfrm>
          <a:prstGeom prst="roundRect">
            <a:avLst>
              <a:gd name="adj" fmla="val 5455"/>
            </a:avLst>
          </a:prstGeom>
          <a:solidFill>
            <a:srgbClr val="E9F5F7"/>
          </a:solidFill>
          <a:ln w="1397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568282" y="1581912"/>
            <a:ext cx="18434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Spectral features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86570" y="1892808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873"/>
                </a:solidFill>
              </a:rPr>
              <a:t>energy / shape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3337560"/>
            <a:ext cx="10058400" cy="1828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derive H(e^{jω}) from h[n] or a difference equation.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explain 2π periodicity and the relation ω=2πf/fs.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D2733"/>
                </a:solidFill>
              </a:rPr>
              <a:t>Be able to reason qualitatively about a response before plotting it.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874520" y="51663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6DF"/>
          </a:solidFill>
          <a:ln w="1651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039112" y="5276088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A441"/>
                </a:solidFill>
              </a:rPr>
              <a:t>Week 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39112" y="5550408"/>
            <a:ext cx="80832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Sampling will explain which analog frequencies map to the same discrete-time frequency—and why aliasing occurs.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Weekly quiz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85216" y="822960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873"/>
                </a:solidFill>
              </a:rPr>
              <a:t>15 minutes • closed notes unless your course policy says otherwise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966960" y="329184"/>
            <a:ext cx="1627632" cy="310896"/>
          </a:xfrm>
          <a:prstGeom prst="roundRect">
            <a:avLst>
              <a:gd name="adj" fmla="val 23529"/>
            </a:avLst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12680" y="393192"/>
            <a:ext cx="1527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60" dirty="0">
                <a:solidFill>
                  <a:srgbClr val="FFFFFF"/>
                </a:solidFill>
              </a:rPr>
              <a:t>ASSESSMENT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996696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Core skills: LTI properties, convolution, eigenfunction reasoning, DTFT periodicity.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short calculation: derive H(e^{jω}) from a first-order difference equation.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D2733"/>
                </a:solidFill>
              </a:rPr>
              <a:t>One conceptual explanation: interpret a frequency response without </a:t>
            </a:r>
            <a:r>
              <a:rPr lang="en-US" sz="2000">
                <a:solidFill>
                  <a:srgbClr val="1D2733"/>
                </a:solidFill>
              </a:rPr>
              <a:t>plotting.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03120" y="4800600"/>
            <a:ext cx="7772400" cy="960120"/>
          </a:xfrm>
          <a:prstGeom prst="roundRect">
            <a:avLst>
              <a:gd name="adj" fmla="val 7619"/>
            </a:avLst>
          </a:prstGeom>
          <a:solidFill>
            <a:srgbClr val="E9F5F7"/>
          </a:solidFill>
          <a:ln w="16510">
            <a:solidFill>
              <a:srgbClr val="1F7A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67712" y="4910328"/>
            <a:ext cx="7443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8C"/>
                </a:solidFill>
              </a:rPr>
              <a:t>Suggested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67712" y="5184648"/>
            <a:ext cx="744321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D2733"/>
                </a:solidFill>
              </a:rPr>
              <a:t>Give the quiz at the start of Week 2 or as the last 15 minutes of Lecture 2, depending on pacing.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40896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5C687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2151</Words>
  <Application>Microsoft Office PowerPoint</Application>
  <PresentationFormat>Widescreen</PresentationFormat>
  <Paragraphs>319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Course 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Lecture 2 — Eigenfunctions and the DTFT</dc:title>
  <dc:subject>Week 1 DSP + ML lecture materials</dc:subject>
  <dc:creator>OpenAI</dc:creator>
  <cp:lastModifiedBy>Peter Mathys</cp:lastModifiedBy>
  <cp:revision>3</cp:revision>
  <dcterms:created xsi:type="dcterms:W3CDTF">2026-08-18T14:03:18Z</dcterms:created>
  <dcterms:modified xsi:type="dcterms:W3CDTF">2026-08-25T14:14:33Z</dcterms:modified>
</cp:coreProperties>
</file>