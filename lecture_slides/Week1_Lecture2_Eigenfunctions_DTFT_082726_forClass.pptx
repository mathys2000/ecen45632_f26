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1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|H|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Sheet1!$A$2:$A$34</c:f>
              <c:strCache>
                <c:ptCount val="33"/>
                <c:pt idx="0">
                  <c:v>−π</c:v>
                </c:pt>
                <c:pt idx="16">
                  <c:v>0</c:v>
                </c:pt>
                <c:pt idx="32">
                  <c:v>π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0.66666666666666663</c:v>
                </c:pt>
                <c:pt idx="1">
                  <c:v>0.66953165488883282</c:v>
                </c:pt>
                <c:pt idx="2">
                  <c:v>0.67823822586899374</c:v>
                </c:pt>
                <c:pt idx="3">
                  <c:v>0.69313042481620968</c:v>
                </c:pt>
                <c:pt idx="4">
                  <c:v>0.7148134886731865</c:v>
                </c:pt>
                <c:pt idx="5">
                  <c:v>0.74420538269740633</c:v>
                </c:pt>
                <c:pt idx="6">
                  <c:v>0.78261651291595802</c:v>
                </c:pt>
                <c:pt idx="7">
                  <c:v>0.83186433271441784</c:v>
                </c:pt>
                <c:pt idx="8">
                  <c:v>0.89442719099991586</c:v>
                </c:pt>
                <c:pt idx="9">
                  <c:v>0.97362644559394429</c:v>
                </c:pt>
                <c:pt idx="10">
                  <c:v>1.073769784186674</c:v>
                </c:pt>
                <c:pt idx="11">
                  <c:v>1.2000126815299599</c:v>
                </c:pt>
                <c:pt idx="12">
                  <c:v>1.3571966890916942</c:v>
                </c:pt>
                <c:pt idx="13">
                  <c:v>1.5457402013595192</c:v>
                </c:pt>
                <c:pt idx="14">
                  <c:v>1.7511000962318997</c:v>
                </c:pt>
                <c:pt idx="15">
                  <c:v>1.927305670340449</c:v>
                </c:pt>
                <c:pt idx="16">
                  <c:v>2</c:v>
                </c:pt>
                <c:pt idx="17">
                  <c:v>1.927305670340449</c:v>
                </c:pt>
                <c:pt idx="18">
                  <c:v>1.7511000962318997</c:v>
                </c:pt>
                <c:pt idx="19">
                  <c:v>1.5457402013595192</c:v>
                </c:pt>
                <c:pt idx="20">
                  <c:v>1.3571966890916942</c:v>
                </c:pt>
                <c:pt idx="21">
                  <c:v>1.2000126815299599</c:v>
                </c:pt>
                <c:pt idx="22">
                  <c:v>1.0737697841866742</c:v>
                </c:pt>
                <c:pt idx="23">
                  <c:v>0.97362644559394429</c:v>
                </c:pt>
                <c:pt idx="24">
                  <c:v>0.89442719099991586</c:v>
                </c:pt>
                <c:pt idx="25">
                  <c:v>0.83186433271441773</c:v>
                </c:pt>
                <c:pt idx="26">
                  <c:v>0.78261651291595791</c:v>
                </c:pt>
                <c:pt idx="27">
                  <c:v>0.74420538269740633</c:v>
                </c:pt>
                <c:pt idx="28">
                  <c:v>0.7148134886731865</c:v>
                </c:pt>
                <c:pt idx="29">
                  <c:v>0.69313042481620968</c:v>
                </c:pt>
                <c:pt idx="30">
                  <c:v>0.67823822586899385</c:v>
                </c:pt>
                <c:pt idx="31">
                  <c:v>0.66953165488883282</c:v>
                </c:pt>
                <c:pt idx="32">
                  <c:v>0.66666666666666663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3B-4506-A3C7-65D4405FA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200000000000000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0:17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1386 60 24575,'10'-3'0,"22"-7"0,-22 7 0,-10 3 0,0 0 0,0 0 0,0 0 0,0 0 0,0 0 0,0 0 0,0 0 0,0 0 0,0 0 0,0 0 0,-1 0 0,1 0 0,0 0 0,0 0 0,0 0 0,0 0 0,0 0 0,0 0 0,0 0 0,0-1 0,0 1 0,0 0 0,0 0 0,0 0 0,0 0 0,0 0 0,0 0 0,0 0 0,0 0 0,0 0 0,0 0 0,0 0 0,0 0 0,0 0 0,0 0 0,0 0 0,-364-4 0,-1-19 0,246 14 0,-268 3 0,240 7 0,145-1-62,0-1 0,-1 1 0,1 0 0,-1 1 0,1-1 0,-1 0 0,1 1 0,0-1 0,-1 1 0,1-1 0,0 1 0,0 0-1,-1 0 1,1 0 0,0 1 0,0-1 0,0 0 0,0 1 0,0-1 0,1 1 0,-4 2 0,1 5-6764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0:22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1508 64 24575,'191'-41'0,"-183"40"0,6-1 0,-29 8 0,4-3 0,0 0 0,0-1 0,0 0 0,-16 0 0,-49-3 0,29 0 0,-177-8 0,-109-12 0,-587 22 0,895-4-1365,15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19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1169 58 24575,'62'-11'0,"91"-5"0,-142 16 0,-14 3 0,-18 3 0,-54 3 0,-1-4 0,-114-6 0,-443-46 0,572 42 0,-118 5 0,135 8 0,16-2 0,12-3 0,12-1 0,-1-1 0,1-1 0,-1 1 0,0-1 0,1 0 0,-1 0 0,1 0 0,-7-1 0,0-1-1365,1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22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1871 30 24575,'6'-4'0,"1"1"0,-1 0 0,1 0 0,-1 1 0,1 0 0,0 0 0,0 1 0,0 0 0,-1 0 0,1 0 0,0 1 0,0 0 0,0 1 0,0-1 0,0 1 0,0 1 0,10 2 0,-16-4 0,-1 0 0,1 0 0,-1 1 0,1-1 0,-1 0 0,1 0 0,-1 0 0,1 1 0,-1-1 0,1 0 0,-1 0 0,1 1 0,-1-1 0,0 0 0,1 1 0,-1-1 0,0 1 0,1-1 0,-1 1 0,0-1 0,1 0 0,-1 1 0,0-1 0,0 1 0,1 0 0,-2 0 0,1-1 0,0 1 0,0-1 0,-1 1 0,1-1 0,0 1 0,-1-1 0,1 0 0,0 1 0,-1-1 0,1 1 0,-1-1 0,1 0 0,0 1 0,-1-1 0,1 0 0,-1 1 0,0-1 0,-4 2 0,0 0 0,0 0 0,-9 1 0,-2-1 0,-1 0 0,-19-2 0,21-1 0,1 1 0,-1 1 0,-19 4 0,3-1 0,0 0 0,0-2 0,-46-3 0,28 0 0,-38-6 0,3 0 0,25 6 0,6 1 0,-64-8 0,54 3 0,-108 3 0,83 4 0,62-2 0,1-1 0,-39-7 0,30 3 0,1 3 0,-1 0 0,-35 4 0,6-1 0,-397-1 0,449-1 0,1 0 0,0 0 0,-12-4 0,-6-1 0,42 7 0,28-1 0,-24-1 0,33 3 0,179 20 0,-199-20 0,295 2 0,-187-5 0,46-8 0,-92 3 0,118 6 0,-130 7 0,27 1 0,222-8 0,-328-1-68,0 1 0,1 0-1,-1 0 1,0 1 0,1-1 0,-1 0-1,0 1 1,1-1 0,-1 1 0,0 0-1,0 0 1,0 0 0,1 0 0,-1 0-1,0 0 1,0 1 0,-1-1-1,1 1 1,2 2 0,3 4-6758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6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31 24575,'0'0'0,"-1"-1"0,1 1 0,0-1 0,0 1 0,0-1 0,-1 1 0,1 0 0,0-1 0,0 1 0,-1-1 0,1 1 0,-1-1 0,1 1 0,0 0 0,-1-1 0,1 1 0,-1 0 0,1-1 0,0 1 0,-1 0 0,1 0 0,-1 0 0,1-1 0,-2 1 0,-14-5 0,11 4 0,-15-4 0,0 1 0,1 1 0,-29-1 0,-62 5 0,45 1 0,59-2 0,-1 0 0,1 0 0,0 1 0,-1 0 0,1 1 0,0-1 0,0 1 0,-11 5 0,15-6 0,1 0 0,-1 0 0,0 0 0,1 0 0,-1 1 0,1-1 0,-1 0 0,1 1 0,-1-1 0,1 1 0,0-1 0,0 1 0,0 0 0,0-1 0,0 1 0,0 0 0,0 0 0,1 0 0,-1 0 0,1 0 0,-1 0 0,1 0 0,0-1 0,0 1 0,0 0 0,0 0 0,0 0 0,0 0 0,0 0 0,1 0 0,0 4 0,2 0 0,-1-1 0,0 1 0,1-1 0,0 1 0,1-1 0,-1 0 0,1-1 0,0 1 0,0 0 0,0-1 0,1 0 0,0 0 0,5 3 0,7 5 0,1-2 0,28 14 0,206 100 0,-206-105 0,-30-12 0,1 0 0,-1 1 0,18 11 0,-33-18 0,0 0 0,0-1 0,0 1 0,0 0 0,0 0 0,-1 0 0,1-1 0,0 1 0,0 0 0,0 0 0,-1 0 0,1 0 0,-1 1 0,2 1 0,-2-3 0,0 1 0,0-1 0,0 0 0,0 1 0,0-1 0,0 1 0,-1-1 0,1 0 0,0 1 0,0-1 0,0 1 0,0-1 0,0 0 0,-1 1 0,1-1 0,0 0 0,0 1 0,-1-1 0,1 0 0,0 1 0,-1-1 0,1 0 0,0 1 0,-1-1 0,1 0 0,0 0 0,-1 1 0,-3 0 0,1 0 0,-1 1 0,1-1 0,-1-1 0,0 1 0,1 0 0,-8-1 0,-39 0 67,-97-15 0,-15-1-1566,148 16-5327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6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24575,'1'14'0,"1"-1"0,0 1 0,1-1 0,0 0 0,9 21 0,34 68 0,-43-94 0,3 3 0,0 0 0,12 17 0,-18-28-39,0 0 0,0 1 0,0-1 0,0 0 0,0 0 0,1 0 0,-1 1 0,0-1 0,0 0 0,0 0 0,0 0 0,1 0 0,-1 1 0,0-1 0,0 0 0,0 0 0,0 0 0,1 0 0,-1 0 0,0 0 0,0 0 0,0 0 0,1 0 0,-1 1 0,0-1 0,0 0 0,1 0 0,-1 0 0,0 0 0,0 0 0,1 0 0,-1 0 0,0-1 0,1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6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502 75 24575,'-27'-9'0,"-14"-7"0,-5 0 0,3 3 0,4 4 0,4 2 0,5 4 0,3 1 0,3 2 0,2 3 0,1 1 0,0 0 0,-2 1 0,1 1 0,-1 1 0,1-1 0,2-1 0,4-1-8191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7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24575,'59'147'0,"-42"-108"0,-5-14 0,1-1 0,18 24 0,-27-41-1365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7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1 117 24575,'9'-17'0,"9"-6"0,4 2 0,0 3 0,1 6 0,0 4 0,-2 1 0,0 2 0,-1 2 0,-1 1 0,-1 2 0,-2-1 0,-1 2 0,-3-1-8191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8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24575,'0'1'0,"0"0"0,0-1 0,1 1 0,-1-1 0,0 1 0,1 0 0,-1-1 0,0 1 0,1-1 0,-1 1 0,1-1 0,-1 1 0,1-1 0,-1 1 0,1-1 0,-1 0 0,1 1 0,0-1 0,-1 0 0,1 0 0,0 1 0,-1-1 0,1 0 0,0 0 0,-1 0 0,1 0 0,1 1 0,21 1 0,-20-2 0,22 1 0,-1-2 0,0-1 0,26-5 0,-40 5 0,11 0 43,12-2-1451,-23 1-5418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8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24575,'2'10'0,"1"0"0,0 0 0,6 12 0,0-1 0,-7-13 0,45 112 0,-35-92 0,2-1 0,21 32 0,-31-53-101,-7-7 257,-8-9-520,8 7-692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1:49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21 24575,'0'0'0,"-1"-1"0,1 1 0,0 0 0,0-1 0,-1 1 0,1-1 0,0 1 0,0 0 0,-1-1 0,1 1 0,0 0 0,-1 0 0,1-1 0,0 1 0,-1 0 0,1 0 0,-1-1 0,1 1 0,0 0 0,-1 0 0,1 0 0,-1 0 0,1 0 0,-1 0 0,1-1 0,-1 1 0,1 0 0,0 0 0,-1 0 0,1 1 0,-1-1 0,1 0 0,-1 0 0,-22 2 0,17-1 0,-49 1 0,-103-9 0,124 4 0,-42-3-1365,57 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6:44:13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951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Ask: if a pure tone enters an LTI filter, what can change—frequency, amplitude, phase?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the proof. Keep emphasizing what depends on n and what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ordinary sinusoids as real parts of exponentials. An LTI system cannot generate a new frequency from a single sinusoid.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Bridge from eigenfunction proof to intuitive filter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Mention absolute summability as a simple sufficient condition for ordinary convergence; do not derail into distributions unless desired.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Instructor tip: point ahead to sampling/aliasing. π rad/sample corresponds to the Nyquist frequency after a sampling rate is 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slide sets up the Week 2 sampling lecture without teaching aliasing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The a^n u[n] pair will be reused for the one-pole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Sketch the proof by substituting y[n]=Σx[k]h[n−k] into the DTFT and changing variables.
Avoid drowning in indices; focus on the separation into X times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Clarify that mel scaling and log magnitude are later nonlinear transformations; Parseval applies before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Students should understand this as the same eigenfunction argument, not a separate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 students to predict low-pass vs high-pass before plotting.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 active work.
Do not reveal the next slide until pairs have committed to a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Point out periodic continuation beyond ±π.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the provided notebook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prevents a major vocabulary problem before later spectrogram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Preview: later weeks will build spectrograms and feed them to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Exit ticket: “Why can an LTI system change the amplitude and phase of a sinusoid but not its frequency?”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Think-Pair-Share runs long, move the quiz to the start of Week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  •  Week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alignment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2</a:t>
            </a:r>
            <a:r>
              <a:rPr lang="en-US" sz="3200" b="1">
                <a:solidFill>
                  <a:schemeClr val="bg1"/>
                </a:solidFill>
              </a:rPr>
              <a:t>, 8-25-26, 8-27-26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BFDBF7"/>
                </a:solidFill>
              </a:rPr>
              <a:t>DSP +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Eigenfunctions and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the DTFT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76656" y="2770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2EC"/>
                </a:solidFill>
              </a:rPr>
              <a:t>Week 1 • Lecture 2 • 75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3364992"/>
            <a:ext cx="85039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Why sinusoids survive LTI systems—and why frequency-domain multiplication is so powerful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e^{jωn}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probe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6974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4134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3862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7877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95037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477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H(e^{jω})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4765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eigenvalue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8779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85939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7379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5667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spectrum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9682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684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6828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657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C4FA8E9-BEEB-9715-D3DA-52F4501CDA77}"/>
                  </a:ext>
                </a:extLst>
              </p14:cNvPr>
              <p14:cNvContentPartPr/>
              <p14:nvPr/>
            </p14:nvContentPartPr>
            <p14:xfrm>
              <a:off x="1439100" y="5257088"/>
              <a:ext cx="518040" cy="216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C4FA8E9-BEEB-9715-D3DA-52F4501CDA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0100" y="5248448"/>
                <a:ext cx="5356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8BA98BA-48D1-7A06-B77D-F05883484ABF}"/>
                  </a:ext>
                </a:extLst>
              </p14:cNvPr>
              <p14:cNvContentPartPr/>
              <p14:nvPr/>
            </p14:nvContentPartPr>
            <p14:xfrm>
              <a:off x="5795460" y="5239808"/>
              <a:ext cx="619560" cy="230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8BA98BA-48D1-7A06-B77D-F05883484A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86460" y="5231168"/>
                <a:ext cx="6372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A20F6CC-856B-0960-14A2-6863C41C3D6E}"/>
                  </a:ext>
                </a:extLst>
              </p14:cNvPr>
              <p14:cNvContentPartPr/>
              <p14:nvPr/>
            </p14:nvContentPartPr>
            <p14:xfrm>
              <a:off x="8073900" y="5241968"/>
              <a:ext cx="502200" cy="212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A20F6CC-856B-0960-14A2-6863C41C3D6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65260" y="5233328"/>
                <a:ext cx="5198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9AC49FF-9E56-D384-C4B7-D87C4C5D11F2}"/>
                  </a:ext>
                </a:extLst>
              </p14:cNvPr>
              <p14:cNvContentPartPr/>
              <p14:nvPr/>
            </p14:nvContentPartPr>
            <p14:xfrm>
              <a:off x="10117260" y="5241968"/>
              <a:ext cx="725040" cy="216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9AC49FF-9E56-D384-C4B7-D87C4C5D11F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08260" y="5233328"/>
                <a:ext cx="74268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6289B870-86BD-A3A1-10C1-6B16795E320F}"/>
              </a:ext>
            </a:extLst>
          </p:cNvPr>
          <p:cNvGrpSpPr/>
          <p:nvPr/>
        </p:nvGrpSpPr>
        <p:grpSpPr>
          <a:xfrm>
            <a:off x="9818460" y="5568848"/>
            <a:ext cx="759600" cy="167760"/>
            <a:chOff x="9818460" y="5568848"/>
            <a:chExt cx="75960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EB107BC-B082-CF94-2F36-6908E3DA8798}"/>
                    </a:ext>
                  </a:extLst>
                </p14:cNvPr>
                <p14:cNvContentPartPr/>
                <p14:nvPr/>
              </p14:nvContentPartPr>
              <p14:xfrm>
                <a:off x="9818460" y="5589368"/>
                <a:ext cx="192240" cy="147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EB107BC-B082-CF94-2F36-6908E3DA879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809820" y="5580368"/>
                  <a:ext cx="209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18744A7-F1E7-7D45-5169-3A3CDB6DED34}"/>
                    </a:ext>
                  </a:extLst>
                </p14:cNvPr>
                <p14:cNvContentPartPr/>
                <p14:nvPr/>
              </p14:nvContentPartPr>
              <p14:xfrm>
                <a:off x="10115460" y="5631848"/>
                <a:ext cx="39240" cy="9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18744A7-F1E7-7D45-5169-3A3CDB6DED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06460" y="5622848"/>
                  <a:ext cx="56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86E2F7E-492A-67CE-3AD7-381FEE28B462}"/>
                    </a:ext>
                  </a:extLst>
                </p14:cNvPr>
                <p14:cNvContentPartPr/>
                <p14:nvPr/>
              </p14:nvContentPartPr>
              <p14:xfrm>
                <a:off x="10012860" y="5583968"/>
                <a:ext cx="181080" cy="27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86E2F7E-492A-67CE-3AD7-381FEE28B46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003860" y="5574968"/>
                  <a:ext cx="198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0971A8E-9DFA-22F6-1B21-E0A6D64B3659}"/>
                    </a:ext>
                  </a:extLst>
                </p14:cNvPr>
                <p14:cNvContentPartPr/>
                <p14:nvPr/>
              </p14:nvContentPartPr>
              <p14:xfrm>
                <a:off x="10291860" y="5631848"/>
                <a:ext cx="49320" cy="104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0971A8E-9DFA-22F6-1B21-E0A6D64B365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83220" y="5622848"/>
                  <a:ext cx="66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E017A54-B957-9F34-01CB-3A8E30D88F42}"/>
                    </a:ext>
                  </a:extLst>
                </p14:cNvPr>
                <p14:cNvContentPartPr/>
                <p14:nvPr/>
              </p14:nvContentPartPr>
              <p14:xfrm>
                <a:off x="10276380" y="5568848"/>
                <a:ext cx="93960" cy="42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E017A54-B957-9F34-01CB-3A8E30D88F4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67740" y="5559848"/>
                  <a:ext cx="111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27A686-32E9-4BEF-1A2E-9803ED4BC3AB}"/>
                    </a:ext>
                  </a:extLst>
                </p14:cNvPr>
                <p14:cNvContentPartPr/>
                <p14:nvPr/>
              </p14:nvContentPartPr>
              <p14:xfrm>
                <a:off x="10286820" y="5655248"/>
                <a:ext cx="86040" cy="7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27A686-32E9-4BEF-1A2E-9803ED4BC3A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277820" y="5646608"/>
                  <a:ext cx="103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BE1F80-F1A8-1E5E-F687-E290C698C671}"/>
                    </a:ext>
                  </a:extLst>
                </p14:cNvPr>
                <p14:cNvContentPartPr/>
                <p14:nvPr/>
              </p14:nvContentPartPr>
              <p14:xfrm>
                <a:off x="10510380" y="5610968"/>
                <a:ext cx="50760" cy="115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BE1F80-F1A8-1E5E-F687-E290C698C67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501380" y="5601968"/>
                  <a:ext cx="68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DFA75E9-A1D3-9344-3E41-A4F4C5C4D974}"/>
                    </a:ext>
                  </a:extLst>
                </p14:cNvPr>
                <p14:cNvContentPartPr/>
                <p14:nvPr/>
              </p14:nvContentPartPr>
              <p14:xfrm>
                <a:off x="10439460" y="5577488"/>
                <a:ext cx="138600" cy="7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DFA75E9-A1D3-9344-3E41-A4F4C5C4D97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430820" y="5568488"/>
                  <a:ext cx="15624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ADF71E8-0DE8-5E2A-5B06-50EB613B0726}"/>
                  </a:ext>
                </a:extLst>
              </p14:cNvPr>
              <p14:cNvContentPartPr/>
              <p14:nvPr/>
            </p14:nvContentPartPr>
            <p14:xfrm>
              <a:off x="7252740" y="5236928"/>
              <a:ext cx="360" cy="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ADF71E8-0DE8-5E2A-5B06-50EB613B072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243740" y="522792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Move from time-domain mechanics to frequency-domain structure.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325880"/>
            <a:ext cx="105156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1D2733"/>
                </a:solidFill>
              </a:rPr>
              <a:t>Prove that complex exponentials are eigenfunctions of LTI systems.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Define the DTFT and inverse DTFT and explain 2π periodicity.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Use time shift, convolution, and Parseval properties.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Derive frequency response directly from a linear constant-coefficient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Interpret a one-pole filter in time and frequency domains.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086600" y="50749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51192" y="51846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expectation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51192" y="5458968"/>
            <a:ext cx="3877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Be able to state convergence or stability assumptions when a transform/frequency response is used.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Recap: an LTI system is convolution by h[n]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Now choose an input that makes convolution simplify dramatically.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280160"/>
            <a:ext cx="457200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1280160"/>
            <a:ext cx="30175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514600"/>
            <a:ext cx="4937760" cy="6858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520440"/>
            <a:ext cx="5120640" cy="6858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537960" y="274320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/>
          <p:nvPr/>
        </p:nvSpPr>
        <p:spPr>
          <a:xfrm>
            <a:off x="6702552" y="2852928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Notice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702552" y="3127248"/>
            <a:ext cx="40599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The input waveform e^{jωn} factors back out. The system can only multiply it by a complex number.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exponentials are eigenfunctions of every LTI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eigenvalue depends on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466344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423160"/>
            <a:ext cx="548640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What stays the same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What changes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Exponential 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Infinite-duration mode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Magnitude: |H(e^{jω})|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Phase: ∠H(e^{jω})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Possibly complete cancellation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35661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Frequency response is a gain-and-phase lookup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One complex number for each normalized frequency ω.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557784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4672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cos(ω₀n)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4700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51860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43300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Magnitude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61588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× |H(e^{jω₀})|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53328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90488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81928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Phase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00216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+ ∠H(e^{jω₀})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91956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929116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020556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out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038844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same ω₀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971800" y="4709160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136392" y="4818888"/>
            <a:ext cx="5888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Audio EQ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136392" y="5093208"/>
            <a:ext cx="58887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graphic equalizer is approximately a deliberately shaped |H(e^{jω})|.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DTFT analyzes a sequence as a continuous function of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Time is discrete; frequency remains continuous.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325880"/>
            <a:ext cx="530352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6480" y="1325880"/>
            <a:ext cx="530352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Forward DTFT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Inverse DTFT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Sequence x[n] → function X(e^{jω})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Weighted sum of rotating phasors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Requires convergence in an appropriate sense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Integrates one period of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Reconstructs each integer sample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interval of length 2π works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28803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is the DTFT 2π-periodic?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Because sampled-time exponentials cannot distinguish ω from ω+2πk.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25880"/>
            <a:ext cx="658368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514600"/>
            <a:ext cx="4754880" cy="731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7280" y="4297680"/>
            <a:ext cx="978408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96596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69164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−2π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97764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70332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−π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8932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1500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0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0100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72668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π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001268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73836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2π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108960" y="5074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7A8C"/>
                </a:solidFill>
              </a:rPr>
              <a:t>same spectral content repeats every 2π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Normalized frequency ↔ physical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Week 2 will make this relationship central.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566928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14600"/>
            <a:ext cx="4572000" cy="685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29400" y="141732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793992" y="152704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Example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793992" y="1801368"/>
            <a:ext cx="41513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f_s=48 kHz: ω=π/2 ↔ 12 kHz, and ω=π ↔ 24 kHz.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794760"/>
            <a:ext cx="9875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The interval −π≤ω&lt;π represents one unique frequency period.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Frequencies outside that interval wrap into it modulo 2π.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DTFT pairs worth knowing immediately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them as anchors—not as a substitute for reasoning.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25880"/>
            <a:ext cx="36576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331720"/>
            <a:ext cx="5029200" cy="5943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5040" y="1325880"/>
            <a:ext cx="4937760" cy="8229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172200" y="274320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336792" y="285292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Why the condition?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336792" y="3127248"/>
            <a:ext cx="44256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|a|&lt;1, the geometric series is absolutely summable; |a|≥1 does not converge on the unit circle in the ordinary sense.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shifting becomes linear phase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Delays are easy to recognize in the frequency domain.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66751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Magnitude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Phase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|e^{-jωn₀}|=1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 pure delay does not change spectral magnitude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Adds −ωn₀ radians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Linear phase slope encodes delay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651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07492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18464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Audio connection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458968"/>
            <a:ext cx="78089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An ideal sample delay preserves the spectrum’s magnitude exactly; it only rotates phase versus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in time ↔ multiplication in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This is one of the most important DSP simplifications.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71600"/>
            <a:ext cx="3840480" cy="6400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1371600"/>
            <a:ext cx="4937760" cy="640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13232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04672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Time domain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slide / multiply / sum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14700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451860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543300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1588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transform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53328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90488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281928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Frequency domain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00216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pointwise multiply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791956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929116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9020556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IDTFT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9038844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reconstruct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2743200" y="493776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2907792" y="5047488"/>
            <a:ext cx="6345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Computational echo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907792" y="5321808"/>
            <a:ext cx="63459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FFT-based convolution exploits the same multiplication idea numerically for long signals.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Parseval: energy is preserved across representations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spectrum redistributes energy; it does not create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417320"/>
            <a:ext cx="749808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Time-domain view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Frequency-domain view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= sum of squared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waveforms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density across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bands and features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8346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16636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27608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ML bridge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550408"/>
            <a:ext cx="78089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Many audio features—band energies, log spectra, mel features—summarize how signal energy is distributed across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Difference equations give H(e^{jω}) directly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 eigenfunction or DTFT property instead of solving every input separately.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34440"/>
            <a:ext cx="566928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188720"/>
            <a:ext cx="50292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971800"/>
            <a:ext cx="100584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Substitute x[n]=e^{jωn}, y[n]=H(e^{jω})e^{jωn}.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Factor out 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Solve the remaining algebraic equation for H(e^{jω}).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One-pole example: y[n]=0.5y[n−1]+x[n]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 simple recursive smoother with a strong low-frequency preference.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234440"/>
            <a:ext cx="41148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240280"/>
            <a:ext cx="43891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20" y="3246120"/>
            <a:ext cx="3840480" cy="59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232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At ω=0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172200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At ω=π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86384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H=1/(1−0.5)=2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DC is amplified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245352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H=1/(1+0.5)=2/3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Nyquist-frequency alternation is attenuated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5989320" y="42062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Think–Pair–Share: sketch |H(e^{jω})| before computing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a few strategically chosen frequencies.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733"/>
                </a:solidFill>
              </a:rPr>
              <a:t>Given  y[n] = 0.5y[n−1] + x[n]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5669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1 minute: derive H(e^{jω}).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evaluate |H| at ω=0, π/2, π.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sketch a smooth 2π-periodic magnitude curve.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Pair discussion: what audio behavior would you expect?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903720" y="21031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68312" y="22128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Prompt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68312" y="2487168"/>
            <a:ext cx="38770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feature of the recursion causes “memory” of prior samples?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03720" y="37947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68312" y="390448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extension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68312" y="4178808"/>
            <a:ext cx="38770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Relate the coefficient 0.5 to a pole at z=0.5 and explain why moving it toward 1 increases low-frequency selectivity.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denominator is smallest near ω=0, so the response peaks at low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4846320" cy="685800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5715000" y="123444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822960" y="4754880"/>
            <a:ext cx="4800600" cy="1051560"/>
          </a:xfrm>
          <a:prstGeom prst="roundRect">
            <a:avLst>
              <a:gd name="adj" fmla="val 3478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87552" y="4882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Three checkpoints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87552" y="52395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</a:rPr>
              <a:t>ω=0: 2    •    ω=π/2: 0.894    •    ω=π: 0.667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897880" y="4754880"/>
            <a:ext cx="5074920" cy="1051560"/>
          </a:xfrm>
          <a:prstGeom prst="roundRect">
            <a:avLst>
              <a:gd name="adj" fmla="val 3478"/>
            </a:avLst>
          </a:prstGeom>
          <a:solidFill>
            <a:srgbClr val="EEF4FB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062472" y="4882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62472" y="5221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Smooth low-pass tendency • recursive memory • stable because |0.5|&lt;1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demo: freqz and filtering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numerical tools should confirm—not replace—the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66360" cy="2377440"/>
          </a:xfrm>
          <a:prstGeom prst="roundRect">
            <a:avLst>
              <a:gd name="adj" fmla="val 153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SciPy frequency response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4892040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signal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[1.0]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[1.0, -0.5]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H = signal.freqz(b, a, worN=1024)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 = np.abs(H)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166360" cy="201168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Filtering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892040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np.random.randn(48000)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signal.lfilter(b, a, 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spectra / listen if desired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41605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30552" y="42702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Notebook task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0552" y="4544568"/>
            <a:ext cx="7900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Change the recursion coefficient from 0.5 → 0.9 → 0.99. Predict the shape first; then verify with freqz.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DTFT vs DFT vs FFT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Three related terms that students often collapse into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DTFT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DFT / FFT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discrete-time sequence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continuous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2π-periodic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Mathematical transform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5352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finite N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N discrete bins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DFT is the transform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FFT is an algorithm for the DFT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5960" y="5074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30552" y="51846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Practical bridge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30552" y="5458968"/>
            <a:ext cx="7900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In code, we sample the DTFT-like spectrum on a finite grid using the DFT/FFT. The grid and window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bridge: spectrograms are structured frequency-domain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DTFT is the conceptual ancestor of the STFT.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BRIDGE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Waveform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x[n]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Window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segment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DTFT/DFT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spectrum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Stack over time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CNN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learn patterns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DSP explains what the axes and magnitudes mean.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Windowing and sampling choices determine resolution and leakage.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ML operates on features whose structure comes directly from signal-processing choices.</a:t>
            </a:r>
            <a:endParaRPr lang="en-US" sz="19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7">
            <a:extLst>
              <a:ext uri="{FF2B5EF4-FFF2-40B4-BE49-F238E27FC236}">
                <a16:creationId xmlns:a16="http://schemas.microsoft.com/office/drawing/2014/main" id="{34260300-30F3-D474-AEA9-5297EB545196}"/>
              </a:ext>
            </a:extLst>
          </p:cNvPr>
          <p:cNvSpPr/>
          <p:nvPr/>
        </p:nvSpPr>
        <p:spPr>
          <a:xfrm>
            <a:off x="960120" y="2216549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the denominator, not from memorized filter labels.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H(e^{jω}) = 1/(1 − 0.9e^{−jω}), where is |H| largest?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Near ω=0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Near ω=π/2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Near ω=π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It is constant for all ω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the denominator, not from memorized filter labels.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H(e^{jω}) = 1/(1 − 0.9e^{−jω}), where is |H| largest?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Near ω=0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Near ω=π/2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Near ω=π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It is constant for all ω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60120" y="5303520"/>
            <a:ext cx="10195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C6873"/>
                </a:solidFill>
              </a:rPr>
              <a:t>Correct: at ω=0 the terms 1 and 0.9e^{-jω} nearly cancel in the denominator, making the magnitude large.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2 synthesis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frequency domain turns LTI systems into multiplication.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Complex exponential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e^{jωn}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Eigenvalue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H(e^{jω})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X(e^{jω})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 theorem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Y=XH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Spectral features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energy / shape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derive H(e^{jω}) from h[n] or a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explain 2π periodicity and the relation ω=2πf/fs.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reason qualitatively about a response before plotting it.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874520" y="51663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39112" y="5276088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Week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39112" y="5550408"/>
            <a:ext cx="80832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Sampling will explain which analog frequencies map to the same discrete-time frequency—and why aliasing occurs.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Weekly quiz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15 minutes • closed notes unless your course policy says otherwise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ASSESSMENT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996696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Core skills: LTI properties, convolution, eigenfunction reasoning, DTFT periodicity.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One short calculation: derive H(e^{jω}) from a first-order difference equation.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One conceptual explanation: interpret a frequency response without </a:t>
            </a:r>
            <a:r>
              <a:rPr lang="en-US" sz="2000">
                <a:solidFill>
                  <a:srgbClr val="1D2733"/>
                </a:solidFill>
              </a:rPr>
              <a:t>plotting.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03120" y="4800600"/>
            <a:ext cx="7772400" cy="960120"/>
          </a:xfrm>
          <a:prstGeom prst="roundRect">
            <a:avLst>
              <a:gd name="adj" fmla="val 7619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67712" y="4910328"/>
            <a:ext cx="7443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Suggested 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67712" y="5184648"/>
            <a:ext cx="74432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Give the quiz at the start of Week 2 or as the last 15 minutes of Lecture 2, depending on pacing.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2153</Words>
  <Application>Microsoft Office PowerPoint</Application>
  <PresentationFormat>Widescreen</PresentationFormat>
  <Paragraphs>319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2 — Eigenfunctions and the DTFT</dc:title>
  <dc:subject>Week 1 DSP + ML lecture materials</dc:subject>
  <dc:creator>OpenAI</dc:creator>
  <cp:lastModifiedBy>Peter Mathys</cp:lastModifiedBy>
  <cp:revision>5</cp:revision>
  <dcterms:created xsi:type="dcterms:W3CDTF">2026-08-18T14:03:18Z</dcterms:created>
  <dcterms:modified xsi:type="dcterms:W3CDTF">2026-08-25T18:27:02Z</dcterms:modified>
</cp:coreProperties>
</file>