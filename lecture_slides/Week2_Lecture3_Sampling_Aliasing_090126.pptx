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45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3, 9-01-26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Continuous-to-Discrete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&amp; Aliasing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physical waveform becomes a trustworthy digital array — or permanently loses information.</a:t>
            </a:r>
            <a:endParaRPr lang="en-US" sz="2000" dirty="0"/>
          </a:p>
        </p:txBody>
      </p:sp>
      <p:pic>
        <p:nvPicPr>
          <p:cNvPr id="6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9260"/>
            <a:ext cx="4663440" cy="1182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16052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27024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mathematical sampling model • frequency-domain replication • Nyquist • audio/ML aliasing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Week 2 sits in the audio → ML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downstream assumes the ADC delivered faithful samples.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5741"/>
            <a:ext cx="10789920" cy="27349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572000"/>
            <a:ext cx="10241280" cy="914400"/>
          </a:xfrm>
          <a:prstGeom prst="roundRect">
            <a:avLst>
              <a:gd name="adj" fmla="val 70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6424" y="4681728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especially dangerous for ML because it can create repeatable, structured features that are physically false.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3, students should be able to derive—not just quote—the sampling theorem.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ideal sampling as multiplication by a periodic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replicated spectrum X_s(jΩ) from the CTFT of the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no-overlap condition and explain why it enables perfect reconstruction.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alias frequency of a sinusoid at a given sample rate.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anti-alias filtering must occur before sampling or decimation.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C/D interface: from volts to an indexed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microphone produces a continuous-time voltage; software sees numbers.</a:t>
            </a:r>
            <a:endParaRPr lang="en-US" sz="1550" dirty="0"/>
          </a:p>
        </p:txBody>
      </p:sp>
      <p:pic>
        <p:nvPicPr>
          <p:cNvPr id="4" name="Image 0" descr="/mnt/data/week2_dsp_ml/assets/sampling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83939"/>
            <a:ext cx="5897880" cy="2673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99616"/>
            <a:ext cx="46268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788605"/>
            <a:ext cx="4480560" cy="354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2560320"/>
            <a:ext cx="4526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an integer sample index.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has units of seconds/sample.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f_s=1/T has units of samples/second (Hz).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time; quantization will discretize amplitude.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frequency and discrete frequency are related—but not identical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converts rad/s to rad/sample.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71016"/>
            <a:ext cx="50840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049" y="1325880"/>
            <a:ext cx="256239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continuous-time angular frequency [rad/s].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discrete-time angular frequency [rad/sample].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is only unique modulo 2π.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many analog frequencies can map to one digital frequency.</a:t>
            </a:r>
            <a:endParaRPr lang="en-US" sz="2000" dirty="0"/>
          </a:p>
        </p:txBody>
      </p:sp>
      <p:pic>
        <p:nvPicPr>
          <p:cNvPr id="7" name="Image 1" descr="/mnt/data/week2_dsp_ml/assets/frequency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6642"/>
            <a:ext cx="5532120" cy="2287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impulse-train sampling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sampler is a multiplier.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08406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43" y="1298448"/>
            <a:ext cx="2198011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404" y="2057400"/>
            <a:ext cx="4117688" cy="566928"/>
          </a:xfrm>
          <a:prstGeom prst="rect">
            <a:avLst/>
          </a:prstGeom>
        </p:spPr>
      </p:pic>
      <p:pic>
        <p:nvPicPr>
          <p:cNvPr id="7" name="Image 2" descr="/mnt/data/week2_dsp_ml/assets/impulse_samp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8" y="1234440"/>
            <a:ext cx="5800624" cy="4526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4160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427024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an analysis device—not a literal ADC circuit.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impulses? The sifting property does the bookkeeping for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Multiplying by δ(t−nT) keeps only the value at t=nT.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5528" y="1408176"/>
            <a:ext cx="10204704" cy="859536"/>
          </a:xfrm>
          <a:prstGeom prst="roundRect">
            <a:avLst>
              <a:gd name="adj" fmla="val 531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507305"/>
            <a:ext cx="10058400" cy="66127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423" y="2514600"/>
            <a:ext cx="6867489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93192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4041648"/>
            <a:ext cx="9582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impulse location records one sample value. The sequence x[n] is encoded in the impulse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CB0D8-1C78-80CC-B53D-70C38416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8" y="1202871"/>
            <a:ext cx="4502852" cy="2226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2ACAA-A29C-7BEC-BAB4-5CD008D9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86" y="527957"/>
            <a:ext cx="6065550" cy="4838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EB3118-479B-8019-F782-6C7D0AD2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72" y="5445772"/>
            <a:ext cx="8240486" cy="923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E1053-D9AE-54F3-BDB2-88ABC4AF832B}"/>
              </a:ext>
            </a:extLst>
          </p:cNvPr>
          <p:cNvSpPr txBox="1"/>
          <p:nvPr/>
        </p:nvSpPr>
        <p:spPr>
          <a:xfrm>
            <a:off x="449035" y="402771"/>
            <a:ext cx="5316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From Oppenheim/Schafer Book</a:t>
            </a:r>
          </a:p>
        </p:txBody>
      </p:sp>
    </p:spTree>
    <p:extLst>
      <p:ext uri="{BB962C8B-B14F-4D97-AF65-F5344CB8AC3E}">
        <p14:creationId xmlns:p14="http://schemas.microsoft.com/office/powerpoint/2010/main" val="66277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periodic in both time and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periodic train of impulses transforms to another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398678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326" y="1325880"/>
            <a:ext cx="1263748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593" y="2148840"/>
            <a:ext cx="4065693" cy="896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55448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29984" y="166420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spacing T ↔ frequency spacing Ω_s = 2π/T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0" y="288036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29984" y="299008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that creates spectral replicas.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in time becomes convolution in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central derivation is one line of CTFT algebra.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26110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39795"/>
            <a:ext cx="4114800" cy="5665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88" y="2057400"/>
            <a:ext cx="4443984" cy="71323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8427" y="3063240"/>
            <a:ext cx="3224107" cy="777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95160" y="1828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141464" y="1938528"/>
            <a:ext cx="40050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creates shifted copies of X_c(jΩ), spaced by Ω_s and scaled by 1/T.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Nyquist-Shannon: the no-overlap condition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Ω_M be the largest analog frequency with nonzero spectrum.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41248" y="1271016"/>
            <a:ext cx="4718304" cy="978408"/>
          </a:xfrm>
          <a:prstGeom prst="roundRect">
            <a:avLst>
              <a:gd name="adj" fmla="val 4673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993" y="1325880"/>
            <a:ext cx="3120813" cy="868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177" y="2423160"/>
            <a:ext cx="2586446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325880"/>
            <a:ext cx="54864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condition holds, one spectral replica can be isolated by an ideal low-pass filter.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exact equality, idealized edge cases require care; practical systems use transition bands and margin.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“Nyquist frequency” f_s/2 is a property of the sample rate; the “Nyquist rate” 2f_M is a property of the signal bandwidth.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neighboring replicas overlap and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overlap, there is no unique way to separate the original copies.</a:t>
            </a:r>
            <a:endParaRPr lang="en-US" sz="1550" dirty="0"/>
          </a:p>
        </p:txBody>
      </p:sp>
      <p:pic>
        <p:nvPicPr>
          <p:cNvPr id="4" name="Image 0" descr="/mnt/data/week2_dsp_ml/assets/spectral_replicas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4" y="1325880"/>
            <a:ext cx="92501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349240"/>
            <a:ext cx="9966960" cy="603504"/>
          </a:xfrm>
          <a:prstGeom prst="roundRect">
            <a:avLst>
              <a:gd name="adj" fmla="val 10606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3584" y="5458968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irreversible at the sample level: multiple continuous-time spectra are consistent with the same samples.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non-uniqueness—not ordinary additive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analog sinusoids can produce exactly the same sequence.</a:t>
            </a:r>
            <a:endParaRPr lang="en-US" sz="1550" dirty="0"/>
          </a:p>
        </p:txBody>
      </p:sp>
      <p:pic>
        <p:nvPicPr>
          <p:cNvPr id="4" name="Image 0" descr="/mnt/data/week2_dsp_ml/assets/alias_sam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6" y="1417320"/>
            <a:ext cx="9224967" cy="4206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833" y="5719572"/>
            <a:ext cx="3495294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audio example: 10 kHz sampled at 12 kHz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Nyquist frequency is only 6 kHz.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63270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520752"/>
            <a:ext cx="5486400" cy="3417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580063"/>
            <a:ext cx="5760720" cy="280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samples contain a 2 kHz discrete-time cosine.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label attached saying “this used to be 10 kHz.”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spectrogram will confidently display energy at 2 kHz.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16052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270248"/>
            <a:ext cx="9765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demo: what will happen to 7 kHz? 9 kHz? 13 kHz?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fact in normalized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mapping ω = ΩT is periodic modulo 2π.</a:t>
            </a:r>
            <a:endParaRPr lang="en-US" sz="1550" dirty="0"/>
          </a:p>
        </p:txBody>
      </p:sp>
      <p:pic>
        <p:nvPicPr>
          <p:cNvPr id="4" name="Image 0" descr="/mnt/data/week2_dsp_ml/assets/frequency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58361"/>
            <a:ext cx="6035040" cy="24955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35254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7181" y="1463040"/>
            <a:ext cx="2883477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514600"/>
            <a:ext cx="4251960" cy="1554480"/>
          </a:xfrm>
          <a:prstGeom prst="roundRect">
            <a:avLst>
              <a:gd name="adj" fmla="val 411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3544" y="262432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f_s = 12 kHz: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kHz → 5π/3 ≡ −π/3 → real-cosine alias at +π/3 → 2 kHz.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belongs before the sampler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energy above f_s/2 has folded, digital filtering cannot know its origin.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$x_c(t)$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LPF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1091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(sample + quantize)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8835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array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6579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20574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3584" y="4178808"/>
            <a:ext cx="9674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cutoff is designed below f_s/2 so the real analog transition band fits before Nyquist.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another sampling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Going from 48 kHz → 12 kHz creates a new Nyquist limit at 6 kHz.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keep every 4th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Correct: low-pass, then keep every 4th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074920" cy="1188720"/>
          </a:xfrm>
          <a:prstGeom prst="roundRect">
            <a:avLst>
              <a:gd name="adj" fmla="val 384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x_48k[::4]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fast... but aliases &gt; 6 kHz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6792" y="19202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signal.resample_poly(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x_48k, up=1, down=4)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FIR anti-alias filter + decimation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98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 kHz component becomes 2 kHz after naive 4× decimation.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removes energy above the new 6 kHz Nyquist frequency before decimation.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ML system “sees”: original 48 kHz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voice-like signal contains harmonics plus a deliberate 10 kHz component.</a:t>
            </a:r>
            <a:endParaRPr lang="en-US" sz="1550" dirty="0"/>
          </a:p>
        </p:txBody>
      </p:sp>
      <p:pic>
        <p:nvPicPr>
          <p:cNvPr id="4" name="Image 0" descr="/mnt/data/week2_dsp_ml/assets/spe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59" y="1280160"/>
            <a:ext cx="974320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4× decimation creates false low-frequency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10 kHz component folds to 2 kHz at the new 12 kHz sample rate.</a:t>
            </a:r>
            <a:endParaRPr lang="en-US" sz="1550" dirty="0"/>
          </a:p>
        </p:txBody>
      </p:sp>
      <p:pic>
        <p:nvPicPr>
          <p:cNvPr id="4" name="Image 0" descr="/mnt/data/week2_dsp_ml/assets/spec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has no way to know this bright 2 kHz structure is an alias rather than a real acoustic feature.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decimation preserves a physically meaningful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first, then change the sampling grid.</a:t>
            </a:r>
            <a:endParaRPr lang="en-US" sz="1550" dirty="0"/>
          </a:p>
        </p:txBody>
      </p:sp>
      <p:pic>
        <p:nvPicPr>
          <p:cNvPr id="4" name="Image 0" descr="/mnt/data/week2_dsp_ml/assets/spec_anti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lose content above 6 kHz by design—but we do not mislabel that content as lower-frequency energy.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summary: sampling is an information-preservation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model explains exactly when the digital sequence remains invertible.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sampling: multiply x_c(t) by an impulse train.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domain: X_c(jΩ) is replicated every Ω_s and scaled by 1/T.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 requires f_s &gt; 2f_M for a bandlimited signal.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means different analog signals produce the same samples—irreversible without extra assumptions.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filtering must happen before sampling or rate reduction.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55864" y="193852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If the samples are valid, how do we turn them back into a continuous waveform—and what does finite bit depth do?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1468</Words>
  <Application>Microsoft Office PowerPoint</Application>
  <PresentationFormat>Widescreen</PresentationFormat>
  <Paragraphs>179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7</cp:revision>
  <dcterms:created xsi:type="dcterms:W3CDTF">2026-08-18T14:43:54Z</dcterms:created>
  <dcterms:modified xsi:type="dcterms:W3CDTF">2026-09-01T05:11:11Z</dcterms:modified>
</cp:coreProperties>
</file>