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5"/>
  </p:notesMasterIdLst>
  <p:sldIdLst>
    <p:sldId id="280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2" d="100"/>
          <a:sy n="92" d="100"/>
        </p:scale>
        <p:origin x="66" y="1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5745027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Object],[object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[object Object]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0A6A6"/>
          </a:solidFill>
          <a:ln w="1270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6519672"/>
            <a:ext cx="11247120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02920" y="6547104"/>
            <a:ext cx="6217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B879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DSP + ML • Oppenheim &amp; Schafer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sv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sv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svg"/><Relationship Id="rId4" Type="http://schemas.openxmlformats.org/officeDocument/2006/relationships/image" Target="../media/image15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DB04326-6382-23AA-4F6C-A33C0B53EFAD}"/>
              </a:ext>
            </a:extLst>
          </p:cNvPr>
          <p:cNvSpPr txBox="1"/>
          <p:nvPr/>
        </p:nvSpPr>
        <p:spPr>
          <a:xfrm>
            <a:off x="1072733" y="444212"/>
            <a:ext cx="10046533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3200" b="1" dirty="0">
                <a:solidFill>
                  <a:schemeClr val="bg1"/>
                </a:solidFill>
              </a:rPr>
              <a:t>ECEN 4/5632  Theory and Application of Digital Filters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Lecture 3, 9-01-26</a:t>
            </a:r>
          </a:p>
          <a:p>
            <a:pPr algn="ctr"/>
            <a:r>
              <a:rPr lang="en-US" sz="3200" b="1" dirty="0">
                <a:solidFill>
                  <a:schemeClr val="bg1"/>
                </a:solidFill>
              </a:rPr>
              <a:t>Peter Mathys*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5862320-FA96-DD1A-C234-95E03B37257B}"/>
              </a:ext>
            </a:extLst>
          </p:cNvPr>
          <p:cNvSpPr txBox="1"/>
          <p:nvPr/>
        </p:nvSpPr>
        <p:spPr>
          <a:xfrm>
            <a:off x="482600" y="6488668"/>
            <a:ext cx="52661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 With generous help from Gemini Pro and ChatGPT</a:t>
            </a:r>
          </a:p>
        </p:txBody>
      </p:sp>
    </p:spTree>
    <p:extLst>
      <p:ext uri="{BB962C8B-B14F-4D97-AF65-F5344CB8AC3E}">
        <p14:creationId xmlns:p14="http://schemas.microsoft.com/office/powerpoint/2010/main" val="2481203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324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13232" y="777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140" dirty="0">
                <a:solidFill>
                  <a:srgbClr val="8FDC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WEEK 2 • LECTURE 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325880"/>
            <a:ext cx="6858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Continuous-to-Discrete</a:t>
            </a:r>
            <a:endParaRPr lang="en-US" sz="3900" dirty="0"/>
          </a:p>
          <a:p>
            <a:pPr marL="0" indent="0">
              <a:buNone/>
            </a:pPr>
            <a:r>
              <a:rPr lang="en-US" sz="3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Conversion &amp; Aliasing</a:t>
            </a:r>
            <a:endParaRPr lang="en-US" sz="3900" dirty="0"/>
          </a:p>
        </p:txBody>
      </p:sp>
      <p:sp>
        <p:nvSpPr>
          <p:cNvPr id="5" name="Text 3"/>
          <p:cNvSpPr/>
          <p:nvPr/>
        </p:nvSpPr>
        <p:spPr>
          <a:xfrm>
            <a:off x="713232" y="2971800"/>
            <a:ext cx="6217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D7E6E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a physical waveform becomes a trustworthy digital array — or permanently loses information.</a:t>
            </a:r>
            <a:endParaRPr lang="en-US" sz="2000" dirty="0"/>
          </a:p>
        </p:txBody>
      </p:sp>
      <p:pic>
        <p:nvPicPr>
          <p:cNvPr id="6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5160" y="1649260"/>
            <a:ext cx="4663440" cy="118204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13232" y="4160520"/>
            <a:ext cx="10698480" cy="841248"/>
          </a:xfrm>
          <a:prstGeom prst="roundRect">
            <a:avLst>
              <a:gd name="adj" fmla="val 7609"/>
            </a:avLst>
          </a:prstGeom>
          <a:solidFill>
            <a:srgbClr val="203F5B"/>
          </a:solidFill>
          <a:ln w="17780">
            <a:solidFill>
              <a:srgbClr val="5DBDB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9536" y="4270248"/>
            <a:ext cx="1040587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75 minutes • mathematical sampling model • frequency-domain replication • Nyquist • audio/ML aliasing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Where Week 2 sits in the audio → ML pipeline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downstream assumes the ADC delivered faithful samples.</a:t>
            </a:r>
            <a:endParaRPr lang="en-US" sz="1550" dirty="0"/>
          </a:p>
        </p:txBody>
      </p:sp>
      <p:pic>
        <p:nvPicPr>
          <p:cNvPr id="4" name="Image 0" descr="/mnt/data/week2_dsp_ml/assets/audio_ml_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375741"/>
            <a:ext cx="10789920" cy="273491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960120" y="4572000"/>
            <a:ext cx="10241280" cy="914400"/>
          </a:xfrm>
          <a:prstGeom prst="roundRect">
            <a:avLst>
              <a:gd name="adj" fmla="val 7000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106424" y="4681728"/>
            <a:ext cx="994867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is especially dangerous for ML because it can create repeatable, structured features that are physically false.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Learning outcomes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By the end of Lecture 3, students should be able to derive—not just quote—the sampling theorem.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508760"/>
            <a:ext cx="10241280" cy="438912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Model ideal sampling as multiplication by a periodic impulse train.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Derive the replicated spectrum X_s(jΩ) from the CTFT of the impulse train.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State the no-overlap condition and explain why it enables perfect reconstruction.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 the alias frequency of a sinusoid at a given sample rate.</a:t>
            </a:r>
            <a:endParaRPr lang="en-US" sz="2200" dirty="0"/>
          </a:p>
          <a:p>
            <a:pPr marL="228600" indent="-228600">
              <a:buSzPct val="100000"/>
              <a:buChar char="•"/>
            </a:pPr>
            <a:r>
              <a:rPr lang="en-US" sz="22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Explain why anti-alias filtering must occur before sampling or decimation.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C/D interface: from volts to an indexed sequence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microphone produces a continuous-time voltage; software sees numbers.</a:t>
            </a:r>
            <a:endParaRPr lang="en-US" sz="1550" dirty="0"/>
          </a:p>
        </p:txBody>
      </p:sp>
      <p:pic>
        <p:nvPicPr>
          <p:cNvPr id="4" name="Image 0" descr="/mnt/data/week2_dsp_ml/assets/sampling_wavefo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2183939"/>
            <a:ext cx="5897880" cy="267300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99616"/>
            <a:ext cx="4626864" cy="932688"/>
          </a:xfrm>
          <a:prstGeom prst="roundRect">
            <a:avLst>
              <a:gd name="adj" fmla="val 4902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85800" y="1788605"/>
            <a:ext cx="4480560" cy="354711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713232" y="2560320"/>
            <a:ext cx="4526280" cy="23774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 is an integer sample index.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 has units of seconds/sample.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f_s=1/T has units of samples/second (Hz).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discretizes time; quantization will discretize amplitude.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Continuous frequency and discrete frequency are related—but not identical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converts rad/s to rad/sample.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271016"/>
            <a:ext cx="5084064" cy="932688"/>
          </a:xfrm>
          <a:prstGeom prst="roundRect">
            <a:avLst>
              <a:gd name="adj" fmla="val 4902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846049" y="1325880"/>
            <a:ext cx="2562398" cy="8229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77240" y="2331720"/>
            <a:ext cx="4846320" cy="29260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Ω: continuous-time angular frequency [rad/s].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ω: discrete-time angular frequency [rad/sample].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ω is only unique modulo 2π.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Therefore many analog frequencies can map to one digital frequency.</a:t>
            </a:r>
            <a:endParaRPr lang="en-US" sz="2000" dirty="0"/>
          </a:p>
        </p:txBody>
      </p:sp>
      <p:pic>
        <p:nvPicPr>
          <p:cNvPr id="7" name="Image 1" descr="/mnt/data/week2_dsp_ml/assets/frequency_mappin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6440" y="2376642"/>
            <a:ext cx="5532120" cy="2287595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impulse-train sampling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mathematical sampler is a multiplier.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85216" y="1243584"/>
            <a:ext cx="508406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28243" y="1298448"/>
            <a:ext cx="2198011" cy="6400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068404" y="2057400"/>
            <a:ext cx="4117688" cy="566928"/>
          </a:xfrm>
          <a:prstGeom prst="rect">
            <a:avLst/>
          </a:prstGeom>
        </p:spPr>
      </p:pic>
      <p:pic>
        <p:nvPicPr>
          <p:cNvPr id="7" name="Image 2" descr="/mnt/data/week2_dsp_ml/assets/impulse_sampling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57888" y="1234440"/>
            <a:ext cx="5800624" cy="452628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822960" y="4160520"/>
            <a:ext cx="4206240" cy="685800"/>
          </a:xfrm>
          <a:prstGeom prst="roundRect">
            <a:avLst>
              <a:gd name="adj" fmla="val 9333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969264" y="4270248"/>
            <a:ext cx="391363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impulse train is an analysis device—not a literal ADC circuit.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impulses? The sifting property does the bookkeeping for us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Multiplying by δ(t−nT) keeps only the value at t=nT.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95528" y="1408176"/>
            <a:ext cx="10204704" cy="859536"/>
          </a:xfrm>
          <a:prstGeom prst="roundRect">
            <a:avLst>
              <a:gd name="adj" fmla="val 5319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8680" y="1507305"/>
            <a:ext cx="10058400" cy="661279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482423" y="2514600"/>
            <a:ext cx="6867489" cy="86868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1143000" y="3931920"/>
            <a:ext cx="9875520" cy="868680"/>
          </a:xfrm>
          <a:prstGeom prst="roundRect">
            <a:avLst>
              <a:gd name="adj" fmla="val 7368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1289304" y="4041648"/>
            <a:ext cx="9582912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Each impulse location records one sample value. The sequence x[n] is encoded in the impulse weights.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impulse train is periodic in both time and frequency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periodic train of impulses transforms to another impulse train.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3986784" cy="749808"/>
          </a:xfrm>
          <a:prstGeom prst="roundRect">
            <a:avLst>
              <a:gd name="adj" fmla="val 6098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111326" y="1325880"/>
            <a:ext cx="1263748" cy="6400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87593" y="2148840"/>
            <a:ext cx="4065693" cy="896112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6583680" y="1554480"/>
            <a:ext cx="4389120" cy="960120"/>
          </a:xfrm>
          <a:prstGeom prst="roundRect">
            <a:avLst>
              <a:gd name="adj" fmla="val 6667"/>
            </a:avLst>
          </a:prstGeom>
          <a:solidFill>
            <a:srgbClr val="EDF3F7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6729984" y="1664208"/>
            <a:ext cx="409651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 spacing T ↔ frequency spacing Ω_s = 2π/T</a:t>
            </a:r>
            <a:endParaRPr lang="en-US" sz="2100" dirty="0"/>
          </a:p>
        </p:txBody>
      </p:sp>
      <p:sp>
        <p:nvSpPr>
          <p:cNvPr id="9" name="Shape 5"/>
          <p:cNvSpPr/>
          <p:nvPr/>
        </p:nvSpPr>
        <p:spPr>
          <a:xfrm>
            <a:off x="6583680" y="2880360"/>
            <a:ext cx="4389120" cy="960120"/>
          </a:xfrm>
          <a:prstGeom prst="roundRect">
            <a:avLst>
              <a:gd name="adj" fmla="val 6667"/>
            </a:avLst>
          </a:prstGeom>
          <a:solidFill>
            <a:srgbClr val="FFF2E6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Text 6"/>
          <p:cNvSpPr/>
          <p:nvPr/>
        </p:nvSpPr>
        <p:spPr>
          <a:xfrm>
            <a:off x="6729984" y="2990088"/>
            <a:ext cx="4096512" cy="740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mechanism that creates spectral replicas.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in time becomes convolution in frequency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Now the central derivation is one line of CTFT algebra.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749808" y="1271016"/>
            <a:ext cx="4261104" cy="704088"/>
          </a:xfrm>
          <a:prstGeom prst="roundRect">
            <a:avLst>
              <a:gd name="adj" fmla="val 6494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2960" y="1339795"/>
            <a:ext cx="4114800" cy="56653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61288" y="2057400"/>
            <a:ext cx="4443984" cy="713232"/>
          </a:xfrm>
          <a:prstGeom prst="rect">
            <a:avLst/>
          </a:prstGeom>
        </p:spPr>
      </p:pic>
      <p:pic>
        <p:nvPicPr>
          <p:cNvPr id="7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228427" y="3063240"/>
            <a:ext cx="3224107" cy="777240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6995160" y="1828800"/>
            <a:ext cx="4297680" cy="1417320"/>
          </a:xfrm>
          <a:prstGeom prst="roundRect">
            <a:avLst>
              <a:gd name="adj" fmla="val 4516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4"/>
          <p:cNvSpPr/>
          <p:nvPr/>
        </p:nvSpPr>
        <p:spPr>
          <a:xfrm>
            <a:off x="7141464" y="1938528"/>
            <a:ext cx="4005072" cy="11978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Sampling creates shifted copies of X_c(jΩ), spaced by Ω_s and scaled by 1/T.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sampled spectrum looks like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copy contains the same analog information—until the copies overlap.</a:t>
            </a:r>
            <a:endParaRPr lang="en-US" sz="1550" dirty="0"/>
          </a:p>
        </p:txBody>
      </p:sp>
      <p:pic>
        <p:nvPicPr>
          <p:cNvPr id="4" name="Image 0" descr="/mnt/data/week2_dsp_ml/assets/spectral_replicas_g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0597" y="1325880"/>
            <a:ext cx="9151767" cy="425196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325880" y="5257800"/>
            <a:ext cx="9418320" cy="640080"/>
          </a:xfrm>
          <a:prstGeom prst="roundRect">
            <a:avLst>
              <a:gd name="adj" fmla="val 10000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472184" y="5367528"/>
            <a:ext cx="912571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Replica spacing = f_s. Baseband can be isolated only when neighboring replicas do not overlap.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Nyquist-Shannon: the no-overlap condition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Let Ω_M be the largest analog frequency with nonzero spectrum.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41248" y="1271016"/>
            <a:ext cx="4718304" cy="978408"/>
          </a:xfrm>
          <a:prstGeom prst="roundRect">
            <a:avLst>
              <a:gd name="adj" fmla="val 4673"/>
            </a:avLst>
          </a:prstGeom>
          <a:solidFill>
            <a:srgbClr val="E8F7F7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639993" y="1325880"/>
            <a:ext cx="3120813" cy="868680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907177" y="2423160"/>
            <a:ext cx="2586446" cy="8229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715000" y="1325880"/>
            <a:ext cx="5486400" cy="429768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If the condition holds, one spectral replica can be isolated by an ideal low-pass filter.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exact equality, idealized edge cases require care; practical systems use transition bands and margin.</a:t>
            </a:r>
            <a:endParaRPr lang="en-US" sz="1850" dirty="0"/>
          </a:p>
          <a:p>
            <a:pPr marL="228600" indent="-228600">
              <a:buSzPct val="100000"/>
              <a:buChar char="•"/>
            </a:pPr>
            <a:r>
              <a:rPr lang="en-US" sz="185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“Nyquist frequency” f_s/2 is a property of the sample rate; the “Nyquist rate” 2f_M is a property of the signal bandwidth.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Aliasing: neighboring replicas overlap and add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After overlap, there is no unique way to separate the original copies.</a:t>
            </a:r>
            <a:endParaRPr lang="en-US" sz="1550" dirty="0"/>
          </a:p>
        </p:txBody>
      </p:sp>
      <p:pic>
        <p:nvPicPr>
          <p:cNvPr id="4" name="Image 0" descr="/mnt/data/week2_dsp_ml/assets/spectral_replicas_al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1394" y="1325880"/>
            <a:ext cx="9250173" cy="42976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097280" y="5349240"/>
            <a:ext cx="9966960" cy="603504"/>
          </a:xfrm>
          <a:prstGeom prst="roundRect">
            <a:avLst>
              <a:gd name="adj" fmla="val 10606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243584" y="5458968"/>
            <a:ext cx="96743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irreversible at the sample level: multiple continuous-time spectra are consistent with the same samples.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is non-uniqueness—not ordinary additive noise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different analog sinusoids can produce exactly the same sequence.</a:t>
            </a:r>
            <a:endParaRPr lang="en-US" sz="1550" dirty="0"/>
          </a:p>
        </p:txBody>
      </p:sp>
      <p:pic>
        <p:nvPicPr>
          <p:cNvPr id="4" name="Image 0" descr="/mnt/data/week2_dsp_ml/assets/alias_same_samp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8276" y="1417320"/>
            <a:ext cx="9224967" cy="420624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78833" y="5719572"/>
            <a:ext cx="3495294" cy="502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Worked audio example: 10 kHz sampled at 12 kHz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New Nyquist frequency is only 6 kHz.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658368" y="1271016"/>
            <a:ext cx="5632704" cy="841248"/>
          </a:xfrm>
          <a:prstGeom prst="roundRect">
            <a:avLst>
              <a:gd name="adj" fmla="val 5435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520" y="1520752"/>
            <a:ext cx="5486400" cy="341776"/>
          </a:xfrm>
          <a:prstGeom prst="rect">
            <a:avLst/>
          </a:prstGeom>
        </p:spPr>
      </p:pic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31520" y="2580063"/>
            <a:ext cx="5760720" cy="28055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92240" y="1417320"/>
            <a:ext cx="4846320" cy="274320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samples contain a 2 kHz discrete-time cosine.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There is no label attached saying “this used to be 10 kHz.”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spectrogram will confidently display energy at 2 kHz.</a:t>
            </a:r>
            <a:endParaRPr lang="en-US" sz="2000" dirty="0"/>
          </a:p>
        </p:txBody>
      </p:sp>
      <p:sp>
        <p:nvSpPr>
          <p:cNvPr id="8" name="Shape 4"/>
          <p:cNvSpPr/>
          <p:nvPr/>
        </p:nvSpPr>
        <p:spPr>
          <a:xfrm>
            <a:off x="1097280" y="4160520"/>
            <a:ext cx="10058400" cy="777240"/>
          </a:xfrm>
          <a:prstGeom prst="roundRect">
            <a:avLst>
              <a:gd name="adj" fmla="val 8235"/>
            </a:avLst>
          </a:prstGeom>
          <a:solidFill>
            <a:srgbClr val="FFF7E8"/>
          </a:solidFill>
          <a:ln w="17780">
            <a:solidFill>
              <a:srgbClr val="C99A2E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1243584" y="4270248"/>
            <a:ext cx="97657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7052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Prediction before demo: what will happen to 7 kHz? 9 kHz? 13 kHz?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fact in normalized frequency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mapping ω = ΩT is periodic modulo 2π.</a:t>
            </a:r>
            <a:endParaRPr lang="en-US" sz="1550" dirty="0"/>
          </a:p>
        </p:txBody>
      </p:sp>
      <p:pic>
        <p:nvPicPr>
          <p:cNvPr id="4" name="Image 0" descr="/mnt/data/week2_dsp_ml/assets/frequency_mapp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2158361"/>
            <a:ext cx="6035040" cy="2495558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12648" y="1408176"/>
            <a:ext cx="4352544" cy="795528"/>
          </a:xfrm>
          <a:prstGeom prst="roundRect">
            <a:avLst>
              <a:gd name="adj" fmla="val 5747"/>
            </a:avLst>
          </a:prstGeom>
          <a:solidFill>
            <a:srgbClr val="F7FAFC"/>
          </a:solidFill>
          <a:ln w="12700">
            <a:solidFill>
              <a:srgbClr val="DCE6E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347181" y="1463040"/>
            <a:ext cx="2883477" cy="6858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777240" y="2514600"/>
            <a:ext cx="4251960" cy="1554480"/>
          </a:xfrm>
          <a:prstGeom prst="roundRect">
            <a:avLst>
              <a:gd name="adj" fmla="val 4118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4"/>
          <p:cNvSpPr/>
          <p:nvPr/>
        </p:nvSpPr>
        <p:spPr>
          <a:xfrm>
            <a:off x="923544" y="2624328"/>
            <a:ext cx="3959352" cy="1335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At f_s = 12 kHz:</a:t>
            </a:r>
            <a:endParaRPr lang="en-US" sz="1800" dirty="0"/>
          </a:p>
          <a:p>
            <a:pPr marL="0" indent="0" algn="l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 kHz → 5π/3 ≡ −π/3 → real-cosine alias at +π/3 → 2 kHz.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anti-alias filter belongs before the sampler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Once energy above f_s/2 has folded, digital filtering cannot know its origin.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59436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8580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Microphone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$x_c(t)$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263347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97180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FFF2E6"/>
          </a:solidFill>
          <a:ln w="19050">
            <a:solidFill>
              <a:srgbClr val="F28E2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06324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Analog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 LPF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1091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34924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44068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ADC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(sample + quantize)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8835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7726680" y="2057400"/>
            <a:ext cx="1965960" cy="1005840"/>
          </a:xfrm>
          <a:prstGeom prst="roundRect">
            <a:avLst>
              <a:gd name="adj" fmla="val 5455"/>
            </a:avLst>
          </a:prstGeom>
          <a:solidFill>
            <a:srgbClr val="EDF3F7"/>
          </a:solidFill>
          <a:ln w="19050">
            <a:solidFill>
              <a:srgbClr val="1632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818120" y="224028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Digital array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$x[n]$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765792" y="2386584"/>
            <a:ext cx="320040" cy="347472"/>
          </a:xfrm>
          <a:prstGeom prst="chevron">
            <a:avLst/>
          </a:prstGeom>
          <a:solidFill>
            <a:srgbClr val="8CA0AC"/>
          </a:solidFill>
          <a:ln w="12700">
            <a:solidFill>
              <a:srgbClr val="8CA0A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9784080" y="2057400"/>
            <a:ext cx="1737360" cy="1005840"/>
          </a:xfrm>
          <a:prstGeom prst="roundRect">
            <a:avLst>
              <a:gd name="adj" fmla="val 5455"/>
            </a:avLst>
          </a:prstGeom>
          <a:solidFill>
            <a:srgbClr val="E8F7F7"/>
          </a:solidFill>
          <a:ln w="1905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9875520" y="224028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PyTorch</a:t>
            </a:r>
            <a:endParaRPr lang="en-US" sz="1800" dirty="0"/>
          </a:p>
          <a:p>
            <a:pPr marL="0" indent="0" algn="ctr">
              <a:buNone/>
            </a:pPr>
            <a:r>
              <a:rPr lang="en-US" sz="18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features</a:t>
            </a:r>
            <a:endParaRPr lang="en-US" sz="1800" dirty="0"/>
          </a:p>
        </p:txBody>
      </p:sp>
      <p:sp>
        <p:nvSpPr>
          <p:cNvPr id="18" name="Shape 16"/>
          <p:cNvSpPr/>
          <p:nvPr/>
        </p:nvSpPr>
        <p:spPr>
          <a:xfrm>
            <a:off x="1097280" y="4069080"/>
            <a:ext cx="9966960" cy="822960"/>
          </a:xfrm>
          <a:prstGeom prst="roundRect">
            <a:avLst>
              <a:gd name="adj" fmla="val 7778"/>
            </a:avLst>
          </a:prstGeom>
          <a:solidFill>
            <a:srgbClr val="F7FAFC"/>
          </a:solidFill>
          <a:ln w="17780">
            <a:solidFill>
              <a:srgbClr val="B9CDD8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1243584" y="4178808"/>
            <a:ext cx="967435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cutoff is designed below f_s/2 so the real analog transition band fits before Nyquist.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Downsampling is another sampling problem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Going from 48 kHz → 12 kHz creates a new Nyquist limit at 6 kHz.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658368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A6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Naive: keep every 4th sample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309360" y="13258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28E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Correct: low-pass, then keep every 4th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85800" y="1783080"/>
            <a:ext cx="5074920" cy="1188720"/>
          </a:xfrm>
          <a:prstGeom prst="roundRect">
            <a:avLst>
              <a:gd name="adj" fmla="val 3846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0392" y="1920240"/>
            <a:ext cx="474573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x_12k = x_48k[::4]</a:t>
            </a:r>
            <a:endParaRPr lang="en-US" sz="1800" dirty="0"/>
          </a:p>
          <a:p>
            <a:pPr marL="0" indent="0">
              <a:buNone/>
            </a:pPr>
            <a:r>
              <a:rPr lang="en-US" sz="18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fast... but aliases &gt; 6 kHz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172200" y="1783080"/>
            <a:ext cx="5257800" cy="1417320"/>
          </a:xfrm>
          <a:prstGeom prst="roundRect">
            <a:avLst>
              <a:gd name="adj" fmla="val 3226"/>
            </a:avLst>
          </a:prstGeom>
          <a:solidFill>
            <a:srgbClr val="0D1821"/>
          </a:solidFill>
          <a:ln w="15240">
            <a:solidFill>
              <a:srgbClr val="20344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336792" y="1920240"/>
            <a:ext cx="492861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x_12k = signal.resample_poly(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    x_48k, up=1, down=4)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EAF2F6"/>
                </a:solidFill>
                <a:latin typeface="Aptos Mono" pitchFamily="34" charset="0"/>
                <a:ea typeface="Aptos Mono" pitchFamily="34" charset="-122"/>
                <a:cs typeface="Aptos Mono" pitchFamily="34" charset="-120"/>
              </a:rPr>
              <a:t># FIR anti-alias filter + decimation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868680" y="3749040"/>
            <a:ext cx="4617720" cy="914400"/>
          </a:xfrm>
          <a:prstGeom prst="roundRect">
            <a:avLst>
              <a:gd name="adj" fmla="val 7000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014984" y="3858768"/>
            <a:ext cx="4325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900" b="1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10 kHz component becomes 2 kHz after naive 4× decimation.</a:t>
            </a:r>
            <a:endParaRPr lang="en-US" sz="1900" dirty="0"/>
          </a:p>
        </p:txBody>
      </p:sp>
      <p:sp>
        <p:nvSpPr>
          <p:cNvPr id="12" name="Shape 10"/>
          <p:cNvSpPr/>
          <p:nvPr/>
        </p:nvSpPr>
        <p:spPr>
          <a:xfrm>
            <a:off x="6400800" y="3749040"/>
            <a:ext cx="4617720" cy="914400"/>
          </a:xfrm>
          <a:prstGeom prst="roundRect">
            <a:avLst>
              <a:gd name="adj" fmla="val 70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547104" y="3858768"/>
            <a:ext cx="432511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anti-alias filter removes energy above the new 6 kHz Nyquist frequency before decimation.</a:t>
            </a:r>
            <a:endParaRPr 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the ML system “sees”: original 48 kHz spectrogram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synthetic voice-like signal contains harmonics plus a deliberate 10 kHz component.</a:t>
            </a:r>
            <a:endParaRPr lang="en-US" sz="1550" dirty="0"/>
          </a:p>
        </p:txBody>
      </p:sp>
      <p:pic>
        <p:nvPicPr>
          <p:cNvPr id="4" name="Image 0" descr="/mnt/data/week2_dsp_ml/assets/spec_cle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9159" y="1280160"/>
            <a:ext cx="9743203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Naive 4× decimation creates false low-frequency structure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10 kHz component folds to 2 kHz at the new 12 kHz sample rate.</a:t>
            </a:r>
            <a:endParaRPr lang="en-US" sz="1550" dirty="0"/>
          </a:p>
        </p:txBody>
      </p:sp>
      <p:pic>
        <p:nvPicPr>
          <p:cNvPr id="4" name="Image 0" descr="/mnt/data/week2_dsp_ml/assets/spec_al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471" y="1280160"/>
            <a:ext cx="971857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34440" y="5349240"/>
            <a:ext cx="9784080" cy="548640"/>
          </a:xfrm>
          <a:prstGeom prst="roundRect">
            <a:avLst>
              <a:gd name="adj" fmla="val 11667"/>
            </a:avLst>
          </a:prstGeom>
          <a:solidFill>
            <a:srgbClr val="FDEDEC"/>
          </a:solidFill>
          <a:ln w="17780">
            <a:solidFill>
              <a:srgbClr val="D84A3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380744" y="5458968"/>
            <a:ext cx="9491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7E292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CNN has no way to know this bright 2 kHz structure is an alias rather than a real acoustic feature.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Anti-aliased decimation preserves a physically meaningful spectrum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Filter first, then change the sampling grid.</a:t>
            </a:r>
            <a:endParaRPr lang="en-US" sz="1550" dirty="0"/>
          </a:p>
        </p:txBody>
      </p:sp>
      <p:pic>
        <p:nvPicPr>
          <p:cNvPr id="4" name="Image 0" descr="/mnt/data/week2_dsp_ml/assets/spec_antiali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1471" y="1280160"/>
            <a:ext cx="9718578" cy="457200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1234440" y="5349240"/>
            <a:ext cx="9784080" cy="548640"/>
          </a:xfrm>
          <a:prstGeom prst="roundRect">
            <a:avLst>
              <a:gd name="adj" fmla="val 11667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1380744" y="5458968"/>
            <a:ext cx="9491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5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 lose content above 6 kHz by design—but we do not mislabel that content as lower-frequency energy.</a:t>
            </a:r>
            <a:endParaRPr lang="en-US" sz="17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Think–Pair–Share: three checks before data enters a model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minutes individually • 2 minutes in pairs • quick debrief</a:t>
            </a:r>
            <a:endParaRPr lang="en-US" sz="1550" dirty="0"/>
          </a:p>
        </p:txBody>
      </p:sp>
      <p:sp>
        <p:nvSpPr>
          <p:cNvPr id="4" name="Shape 2"/>
          <p:cNvSpPr/>
          <p:nvPr/>
        </p:nvSpPr>
        <p:spPr>
          <a:xfrm>
            <a:off x="822960" y="141732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16324F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969264" y="152704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 A sensor signal is bandlimited to 18 kHz. Is f_s = 32 kHz sufficient for ideal sampling?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822960" y="251460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F28E2B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9264" y="262432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7A4212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 A 17 kHz tone is sampled at 20 kHz. What alias frequency appears in [0,10] kHz?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822960" y="3611880"/>
            <a:ext cx="10515600" cy="777240"/>
          </a:xfrm>
          <a:prstGeom prst="roundRect">
            <a:avLst>
              <a:gd name="adj" fmla="val 8235"/>
            </a:avLst>
          </a:prstGeom>
          <a:solidFill>
            <a:srgbClr val="F7FAFC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969264" y="3721608"/>
            <a:ext cx="10222992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  Why can a digital low-pass filter after the ADC not “remove aliasing” in general?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1018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3 summary: sampling is an information-preservation theorem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94360" y="886968"/>
            <a:ext cx="10789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5361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mathematical model explains exactly when the digital sequence remains invertible.</a:t>
            </a:r>
            <a:endParaRPr lang="en-US" sz="15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6766560" cy="4206240"/>
          </a:xfrm>
          <a:prstGeom prst="rect">
            <a:avLst/>
          </a:prstGeom>
          <a:noFill/>
          <a:ln/>
        </p:spPr>
        <p:txBody>
          <a:bodyPr wrap="square" lIns="508" tIns="508" rIns="508" bIns="508" rtlCol="0" anchor="t"/>
          <a:lstStyle/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Ideal sampling: multiply x_c(t) by an impulse train.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Frequency domain: X_c(jΩ) is replicated every Ω_s and scaled by 1/T.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overlap requires f_s &gt; 2f_M for a bandlimited signal.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Aliasing means different analog signals produce the same samples—irreversible without extra assumptions.</a:t>
            </a:r>
            <a:endParaRPr lang="en-US" sz="2000" dirty="0"/>
          </a:p>
          <a:p>
            <a:pPr marL="228600" indent="-228600">
              <a:buSzPct val="100000"/>
              <a:buChar char="•"/>
            </a:pPr>
            <a:r>
              <a:rPr lang="en-US" sz="2000" dirty="0">
                <a:solidFill>
                  <a:srgbClr val="17212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Anti-alias filtering must happen before sampling or rate reduction.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7909560" y="1828800"/>
            <a:ext cx="3429000" cy="2286000"/>
          </a:xfrm>
          <a:prstGeom prst="roundRect">
            <a:avLst>
              <a:gd name="adj" fmla="val 2800"/>
            </a:avLst>
          </a:prstGeom>
          <a:solidFill>
            <a:srgbClr val="E8F7F7"/>
          </a:solidFill>
          <a:ln w="17780">
            <a:solidFill>
              <a:srgbClr val="00A6A6"/>
            </a:solidFill>
            <a:prstDash val="solid"/>
          </a:ln>
          <a:effectLst>
            <a:outerShdw blurRad="19050" dist="7620" dir="27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8055864" y="1938528"/>
            <a:ext cx="3136392" cy="2066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6324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Next: If the samples are valid, how do we turn them back into a continuous waveform—and what does finite bit depth do?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01400" y="6547104"/>
            <a:ext cx="502920" cy="16459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900">
                <a:solidFill>
                  <a:srgbClr val="7B8790"/>
                </a:solidFill>
                <a:latin typeface="Aptos"/>
                <a:ea typeface="Aptos"/>
                <a:cs typeface="Aptos"/>
              </a:defRPr>
            </a:lvl1pPr>
          </a:lstStyle>
          <a:p>
            <a:pPr algn="r"/>
            <a:fld id="{F7021451-1387-4CA6-816F-3879F97B5CBC}" type="slidenum">
              <a:rPr lang="en-US" b="0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1463</Words>
  <Application>Microsoft Office PowerPoint</Application>
  <PresentationFormat>Widescreen</PresentationFormat>
  <Paragraphs>178</Paragraphs>
  <Slides>23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Aptos</vt:lpstr>
      <vt:lpstr>Aptos Mono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ECE DSP + ML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2 Lecture 3 — Continuous-to-Discrete Conversion &amp; Aliasing</dc:title>
  <dc:subject>Week 2 DSP + ML course materials</dc:subject>
  <dc:creator>OpenAI</dc:creator>
  <cp:lastModifiedBy>Peter Mathys</cp:lastModifiedBy>
  <cp:revision>6</cp:revision>
  <dcterms:created xsi:type="dcterms:W3CDTF">2026-08-18T14:43:54Z</dcterms:created>
  <dcterms:modified xsi:type="dcterms:W3CDTF">2026-08-27T18:30:09Z</dcterms:modified>
</cp:coreProperties>
</file>