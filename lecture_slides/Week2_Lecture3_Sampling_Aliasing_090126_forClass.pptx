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8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8" r:id="rId25"/>
    <p:sldId id="277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494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450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59481-73BB-5B80-8B9F-79B361B5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D82C8B-57D1-DF70-7415-D37E787E2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104EF-6EC2-3338-3661-5B9A498F6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11A97-98F7-BA95-C4A9-4A77146D4B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3604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3, 9-01-26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40" dirty="0">
                <a:solidFill>
                  <a:srgbClr val="8FDC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LECTURE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Continuous-to-Discrete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&amp; Aliasing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13232" y="29718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7E6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physical waveform becomes a trustworthy digital array — or permanently loses information.</a:t>
            </a:r>
            <a:endParaRPr lang="en-US" sz="2000" dirty="0"/>
          </a:p>
        </p:txBody>
      </p:sp>
      <p:pic>
        <p:nvPicPr>
          <p:cNvPr id="6" name="Image 0" descr="/mnt/data/week2_dsp_ml/assets/audio_ml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649260"/>
            <a:ext cx="4663440" cy="118204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4160520"/>
            <a:ext cx="10698480" cy="841248"/>
          </a:xfrm>
          <a:prstGeom prst="roundRect">
            <a:avLst>
              <a:gd name="adj" fmla="val 7609"/>
            </a:avLst>
          </a:prstGeom>
          <a:solidFill>
            <a:srgbClr val="203F5B"/>
          </a:solidFill>
          <a:ln w="17780">
            <a:solidFill>
              <a:srgbClr val="5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4270248"/>
            <a:ext cx="10405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minutes • mathematical sampling model • frequency-domain replication • Nyquist • audio/ML aliasing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Week 2 sits in the audio → ML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downstream assumes the ADC delivered faithful samples.</a:t>
            </a:r>
            <a:endParaRPr lang="en-US" sz="1550" dirty="0"/>
          </a:p>
        </p:txBody>
      </p:sp>
      <p:pic>
        <p:nvPicPr>
          <p:cNvPr id="4" name="Image 0" descr="/mnt/data/week2_dsp_ml/assets/audio_ml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5741"/>
            <a:ext cx="10789920" cy="273491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4572000"/>
            <a:ext cx="10241280" cy="914400"/>
          </a:xfrm>
          <a:prstGeom prst="roundRect">
            <a:avLst>
              <a:gd name="adj" fmla="val 7000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06424" y="4681728"/>
            <a:ext cx="9948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is especially dangerous for ML because it can create repeatable, structured features that are physically false.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Lecture 3, students should be able to derive—not just quote—the sampling theorem.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102412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ideal sampling as multiplication by a periodic impulse train.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the replicated spectrum X_s(jΩ) from the CTFT of the impulse train.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the no-overlap condition and explain why it enables perfect reconstruction.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the alias frequency of a sinusoid at a given sample rate.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anti-alias filtering must occur before sampling or decimation.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C/D interface: from volts to an indexed sequence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microphone produces a continuous-time voltage; software sees numbers.</a:t>
            </a:r>
            <a:endParaRPr lang="en-US" sz="1550" dirty="0"/>
          </a:p>
        </p:txBody>
      </p:sp>
      <p:pic>
        <p:nvPicPr>
          <p:cNvPr id="4" name="Image 0" descr="/mnt/data/week2_dsp_ml/assets/sampling_wave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183939"/>
            <a:ext cx="5897880" cy="26730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1499616"/>
            <a:ext cx="4626864" cy="932688"/>
          </a:xfrm>
          <a:prstGeom prst="roundRect">
            <a:avLst>
              <a:gd name="adj" fmla="val 4902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1788605"/>
            <a:ext cx="4480560" cy="3547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232" y="2560320"/>
            <a:ext cx="452628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is an integer sample index.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has units of seconds/sample.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f_s=1/T has units of samples/second (Hz).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discretizes time; quantization will discretize amplitude.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frequency and discrete frequency are related—but not identical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converts rad/s to rad/sample.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5216" y="1271016"/>
            <a:ext cx="5084064" cy="932688"/>
          </a:xfrm>
          <a:prstGeom prst="roundRect">
            <a:avLst>
              <a:gd name="adj" fmla="val 4902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6049" y="1325880"/>
            <a:ext cx="2562398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484632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Ω: continuous-time angular frequency [rad/s].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ω: discrete-time angular frequency [rad/sample].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 is only unique modulo 2π.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many analog frequencies can map to one digital frequency.</a:t>
            </a:r>
            <a:endParaRPr lang="en-US" sz="2000" dirty="0"/>
          </a:p>
        </p:txBody>
      </p:sp>
      <p:pic>
        <p:nvPicPr>
          <p:cNvPr id="7" name="Image 1" descr="/mnt/data/week2_dsp_ml/assets/frequency_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376642"/>
            <a:ext cx="5532120" cy="22875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impulse-train sampling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mathematical sampler is a multiplier.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5216" y="1243584"/>
            <a:ext cx="5084064" cy="749808"/>
          </a:xfrm>
          <a:prstGeom prst="roundRect">
            <a:avLst>
              <a:gd name="adj" fmla="val 6098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8243" y="1298448"/>
            <a:ext cx="2198011" cy="6400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404" y="2057400"/>
            <a:ext cx="4117688" cy="566928"/>
          </a:xfrm>
          <a:prstGeom prst="rect">
            <a:avLst/>
          </a:prstGeom>
        </p:spPr>
      </p:pic>
      <p:pic>
        <p:nvPicPr>
          <p:cNvPr id="7" name="Image 2" descr="/mnt/data/week2_dsp_ml/assets/impulse_sampl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7888" y="1234440"/>
            <a:ext cx="5800624" cy="452628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4160520"/>
            <a:ext cx="4206240" cy="685800"/>
          </a:xfrm>
          <a:prstGeom prst="roundRect">
            <a:avLst>
              <a:gd name="adj" fmla="val 9333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969264" y="4270248"/>
            <a:ext cx="3913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impulse train is an analysis device—not a literal ADC circuit.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impulses? The sifting property does the bookkeeping for 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Multiplying by δ(t−nT) keeps only the value at t=nT.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5528" y="1408176"/>
            <a:ext cx="10204704" cy="859536"/>
          </a:xfrm>
          <a:prstGeom prst="roundRect">
            <a:avLst>
              <a:gd name="adj" fmla="val 5319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507305"/>
            <a:ext cx="10058400" cy="661279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82423" y="2514600"/>
            <a:ext cx="6867489" cy="868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43000" y="393192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289304" y="4041648"/>
            <a:ext cx="9582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impulse location records one sample value. The sequence x[n] is encoded in the impulse weights.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0CB0D8-1C78-80CC-B53D-70C384168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78" y="1202871"/>
            <a:ext cx="4502852" cy="22261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D2ACAA-A29C-7BEC-BAB4-5CD008D97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686" y="527957"/>
            <a:ext cx="6065550" cy="48382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EB3118-479B-8019-F782-6C7D0AD25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72" y="5445772"/>
            <a:ext cx="8240486" cy="9231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1E1053-D9AE-54F3-BDB2-88ABC4AF832B}"/>
              </a:ext>
            </a:extLst>
          </p:cNvPr>
          <p:cNvSpPr txBox="1"/>
          <p:nvPr/>
        </p:nvSpPr>
        <p:spPr>
          <a:xfrm>
            <a:off x="449035" y="402771"/>
            <a:ext cx="5316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From Oppenheim/Schafer Book</a:t>
            </a:r>
          </a:p>
        </p:txBody>
      </p:sp>
    </p:spTree>
    <p:extLst>
      <p:ext uri="{BB962C8B-B14F-4D97-AF65-F5344CB8AC3E}">
        <p14:creationId xmlns:p14="http://schemas.microsoft.com/office/powerpoint/2010/main" val="662772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impulse train is periodic in both time and frequency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periodic train of impulses transforms to another impulse train.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9808" y="1271016"/>
            <a:ext cx="3986784" cy="749808"/>
          </a:xfrm>
          <a:prstGeom prst="roundRect">
            <a:avLst>
              <a:gd name="adj" fmla="val 6098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1326" y="1325880"/>
            <a:ext cx="1263748" cy="6400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7593" y="2148840"/>
            <a:ext cx="4065693" cy="8961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83680" y="1554480"/>
            <a:ext cx="4389120" cy="960120"/>
          </a:xfrm>
          <a:prstGeom prst="roundRect">
            <a:avLst>
              <a:gd name="adj" fmla="val 6667"/>
            </a:avLst>
          </a:prstGeom>
          <a:solidFill>
            <a:srgbClr val="EDF3F7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729984" y="1664208"/>
            <a:ext cx="4096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spacing T ↔ frequency spacing Ω_s = 2π/T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6583680" y="2880360"/>
            <a:ext cx="4389120" cy="960120"/>
          </a:xfrm>
          <a:prstGeom prst="roundRect">
            <a:avLst>
              <a:gd name="adj" fmla="val 6667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729984" y="2990088"/>
            <a:ext cx="4096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mechanism that creates spectral replicas.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in time becomes convolution in frequency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the central derivation is one line of CTFT algebra.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9808" y="1271016"/>
            <a:ext cx="4261104" cy="704088"/>
          </a:xfrm>
          <a:prstGeom prst="roundRect">
            <a:avLst>
              <a:gd name="adj" fmla="val 6494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339795"/>
            <a:ext cx="4114800" cy="56653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288" y="2057400"/>
            <a:ext cx="4443984" cy="71323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8427" y="3063240"/>
            <a:ext cx="3224107" cy="7772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995160" y="1828800"/>
            <a:ext cx="4297680" cy="1417320"/>
          </a:xfrm>
          <a:prstGeom prst="roundRect">
            <a:avLst>
              <a:gd name="adj" fmla="val 4516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7141464" y="1938528"/>
            <a:ext cx="400507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creates shifted copies of X_c(jΩ), spaced by Ω_s and scaled by 1/T.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sampled spectrum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copy contains the same analog information—until the copies overlap.</a:t>
            </a:r>
            <a:endParaRPr lang="en-US" sz="1550" dirty="0"/>
          </a:p>
        </p:txBody>
      </p:sp>
      <p:pic>
        <p:nvPicPr>
          <p:cNvPr id="4" name="Image 0" descr="/mnt/data/week2_dsp_ml/assets/spectral_replicas_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97" y="1325880"/>
            <a:ext cx="9151767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25880" y="5257800"/>
            <a:ext cx="9418320" cy="64008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472184" y="5367528"/>
            <a:ext cx="9125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 spacing = f_s. Baseband can be isolated only when neighboring replicas do not overlap.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Nyquist-Shannon: the no-overlap condition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Ω_M be the largest analog frequency with nonzero spectrum.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41248" y="1271016"/>
            <a:ext cx="4718304" cy="978408"/>
          </a:xfrm>
          <a:prstGeom prst="roundRect">
            <a:avLst>
              <a:gd name="adj" fmla="val 4673"/>
            </a:avLst>
          </a:prstGeom>
          <a:solidFill>
            <a:srgbClr val="E8F7F7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9993" y="1325880"/>
            <a:ext cx="3120813" cy="8686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7177" y="2423160"/>
            <a:ext cx="2586446" cy="822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0" y="1325880"/>
            <a:ext cx="54864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condition holds, one spectral replica can be isolated by an ideal low-pass filter.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exact equality, idealized edge cases require care; practical systems use transition bands and margin.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“Nyquist frequency” f_s/2 is a property of the sample rate; the “Nyquist rate” 2f_M is a property of the signal bandwidth.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Aliasing: neighboring replicas overlap and add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overlap, there is no unique way to separate the original copies.</a:t>
            </a:r>
            <a:endParaRPr lang="en-US" sz="1550" dirty="0"/>
          </a:p>
        </p:txBody>
      </p:sp>
      <p:pic>
        <p:nvPicPr>
          <p:cNvPr id="4" name="Image 0" descr="/mnt/data/week2_dsp_ml/assets/spectral_replicas_al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394" y="1325880"/>
            <a:ext cx="9250173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97280" y="5349240"/>
            <a:ext cx="9966960" cy="603504"/>
          </a:xfrm>
          <a:prstGeom prst="roundRect">
            <a:avLst>
              <a:gd name="adj" fmla="val 10606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243584" y="5458968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irreversible at the sample level: multiple continuous-time spectra are consistent with the same samples.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is non-uniqueness—not ordinary additive noise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different analog sinusoids can produce exactly the same sequence.</a:t>
            </a:r>
            <a:endParaRPr lang="en-US" sz="1550" dirty="0"/>
          </a:p>
        </p:txBody>
      </p:sp>
      <p:pic>
        <p:nvPicPr>
          <p:cNvPr id="4" name="Image 0" descr="/mnt/data/week2_dsp_ml/assets/alias_same_s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276" y="1417320"/>
            <a:ext cx="9224967" cy="420624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8833" y="5719572"/>
            <a:ext cx="3495294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audio example: 10 kHz sampled at 12 kHz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Nyquist frequency is only 6 kHz.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271016"/>
            <a:ext cx="5632704" cy="841248"/>
          </a:xfrm>
          <a:prstGeom prst="roundRect">
            <a:avLst>
              <a:gd name="adj" fmla="val 5435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520752"/>
            <a:ext cx="5486400" cy="34177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580063"/>
            <a:ext cx="5760720" cy="2805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2240" y="1417320"/>
            <a:ext cx="484632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samples contain a 2 kHz discrete-time cosine.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label attached saying “this used to be 10 kHz.”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spectrogram will confidently display energy at 2 kHz.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1097280" y="4160520"/>
            <a:ext cx="10058400" cy="777240"/>
          </a:xfrm>
          <a:prstGeom prst="roundRect">
            <a:avLst>
              <a:gd name="adj" fmla="val 8235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243584" y="4270248"/>
            <a:ext cx="97657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before demo: what will happen to 7 kHz? 9 kHz? 13 kHz?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fact in normalized frequency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mapping ω = ΩT is periodic modulo 2π.</a:t>
            </a:r>
            <a:endParaRPr lang="en-US" sz="1550" dirty="0"/>
          </a:p>
        </p:txBody>
      </p:sp>
      <p:pic>
        <p:nvPicPr>
          <p:cNvPr id="4" name="Image 0" descr="/mnt/data/week2_dsp_ml/assets/frequency_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158361"/>
            <a:ext cx="6035040" cy="24955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1408176"/>
            <a:ext cx="435254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7181" y="1463040"/>
            <a:ext cx="2883477" cy="685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7240" y="2514600"/>
            <a:ext cx="4251960" cy="1554480"/>
          </a:xfrm>
          <a:prstGeom prst="roundRect">
            <a:avLst>
              <a:gd name="adj" fmla="val 4118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923544" y="2624328"/>
            <a:ext cx="39593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f_s = 12 kHz: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kHz → 5π/3 ≡ −π/3 → real-cosine alias at +π/3 → 2 kHz.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anti-alias filter belongs before the sampler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energy above f_s/2 has folded, digital filtering cannot know its origin.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9436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Microphone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$x_c(t)$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63347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2E6"/>
          </a:solidFill>
          <a:ln w="1905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6324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 LPF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1091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4924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4068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ADC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(sample + quantize)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8835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2668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1812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array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$x[n]$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76579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784080" y="205740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E8F7F7"/>
          </a:solidFill>
          <a:ln w="1905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87552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PyTorch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97280" y="4069080"/>
            <a:ext cx="9966960" cy="822960"/>
          </a:xfrm>
          <a:prstGeom prst="roundRect">
            <a:avLst>
              <a:gd name="adj" fmla="val 7778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43584" y="4178808"/>
            <a:ext cx="9674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cutoff is designed below f_s/2 so the real analog transition band fits before Nyquist.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is another sampling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Going from 48 kHz → 12 kHz creates a new Nyquist limit at 6 kHz.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Naive: keep every 4th sample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Correct: low-pass, then keep every 4th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5074920" cy="1188720"/>
          </a:xfrm>
          <a:prstGeom prst="roundRect">
            <a:avLst>
              <a:gd name="adj" fmla="val 3846"/>
            </a:avLst>
          </a:prstGeom>
          <a:solidFill>
            <a:srgbClr val="0D1821"/>
          </a:solidFill>
          <a:ln w="15240">
            <a:solidFill>
              <a:srgbClr val="2034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1920240"/>
            <a:ext cx="4745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x_12k = x_48k[::4]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fast... but aliases &gt; 6 kHz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0D1821"/>
          </a:solidFill>
          <a:ln w="15240">
            <a:solidFill>
              <a:srgbClr val="2034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36792" y="1920240"/>
            <a:ext cx="49286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x_12k = signal.resample_poly(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x_48k, up=1, down=4)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FIR anti-alias filter + decimation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8680" y="3749040"/>
            <a:ext cx="4617720" cy="914400"/>
          </a:xfrm>
          <a:prstGeom prst="roundRect">
            <a:avLst>
              <a:gd name="adj" fmla="val 7000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14984" y="3858768"/>
            <a:ext cx="4325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10 kHz component becomes 2 kHz after naive 4× decimation.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0" y="3749040"/>
            <a:ext cx="461772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47104" y="3858768"/>
            <a:ext cx="4325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anti-alias filter removes energy above the new 6 kHz Nyquist frequency before decimation.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ML system “sees”: original 48 kHz spectrogram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synthetic voice-like signal contains harmonics plus a deliberate 10 kHz component.</a:t>
            </a:r>
            <a:endParaRPr lang="en-US" sz="1550" dirty="0"/>
          </a:p>
        </p:txBody>
      </p:sp>
      <p:pic>
        <p:nvPicPr>
          <p:cNvPr id="4" name="Image 0" descr="/mnt/data/week2_dsp_ml/assets/spec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159" y="1280160"/>
            <a:ext cx="9743203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4× decimation creates false low-frequency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10 kHz component folds to 2 kHz at the new 12 kHz sample rate.</a:t>
            </a:r>
            <a:endParaRPr lang="en-US" sz="1550" dirty="0"/>
          </a:p>
        </p:txBody>
      </p:sp>
      <p:pic>
        <p:nvPicPr>
          <p:cNvPr id="4" name="Image 0" descr="/mnt/data/week2_dsp_ml/assets/spec_al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71" y="1280160"/>
            <a:ext cx="9718578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34440" y="5349240"/>
            <a:ext cx="9784080" cy="548640"/>
          </a:xfrm>
          <a:prstGeom prst="roundRect">
            <a:avLst>
              <a:gd name="adj" fmla="val 11667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380744" y="5458968"/>
            <a:ext cx="9491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CNN has no way to know this bright 2 kHz structure is an alias rather than a real acoustic feature.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decimation preserves a physically meaningful spectrum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first, then change the sampling grid.</a:t>
            </a:r>
            <a:endParaRPr lang="en-US" sz="1550" dirty="0"/>
          </a:p>
        </p:txBody>
      </p:sp>
      <p:pic>
        <p:nvPicPr>
          <p:cNvPr id="4" name="Image 0" descr="/mnt/data/week2_dsp_ml/assets/spec_antial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71" y="1280160"/>
            <a:ext cx="9718578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34440" y="5349240"/>
            <a:ext cx="9784080" cy="548640"/>
          </a:xfrm>
          <a:prstGeom prst="roundRect">
            <a:avLst>
              <a:gd name="adj" fmla="val 11667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380744" y="5458968"/>
            <a:ext cx="9491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lose content above 6 kHz by design—but we do not mislabel that content as lower-frequency energy.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Think–Pair–Share: three checks before data enters 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minutes individually • 2 minutes in pairs • quick debrief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9264" y="152704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 sensor signal is bandlimited to 18 kHz. Is f_s = 32 kHz sufficient for ideal sampling?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262432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A 17 kHz tone is sampled at 20 kHz. What alias frequency appears in [0,10] kHz?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61188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9264" y="372160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Why can a digital low-pass filter after the ADC not “remove aliasing” in general?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1CCCA-2D84-E172-6F3B-581691710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F04DFB-7531-8C2D-B57F-7D3F32D17D63}"/>
              </a:ext>
            </a:extLst>
          </p:cNvPr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Think–Pair–Share: three checks before data enters a model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191371-C6E5-0FCC-DF9C-3C86CB2841C7}"/>
              </a:ext>
            </a:extLst>
          </p:cNvPr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minutes individually • 2 minutes in pairs • quick debrief</a:t>
            </a:r>
            <a:endParaRPr lang="en-US" sz="15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C46A666-A7FA-BAE8-011B-9A2CBD70B4FB}"/>
              </a:ext>
            </a:extLst>
          </p:cNvPr>
          <p:cNvSpPr/>
          <p:nvPr/>
        </p:nvSpPr>
        <p:spPr>
          <a:xfrm>
            <a:off x="822960" y="141732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BA55F3-5638-1D29-6074-2B0B8C31FCDD}"/>
              </a:ext>
            </a:extLst>
          </p:cNvPr>
          <p:cNvSpPr/>
          <p:nvPr/>
        </p:nvSpPr>
        <p:spPr>
          <a:xfrm>
            <a:off x="969264" y="152704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 sensor signal is bandlimited to 18 kHz. Is f_s = 32 kHz sufficient for ideal sampling?</a:t>
            </a:r>
            <a:endParaRPr lang="en-U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DE4FADD-8B34-1AD8-503B-04A250A42830}"/>
              </a:ext>
            </a:extLst>
          </p:cNvPr>
          <p:cNvSpPr/>
          <p:nvPr/>
        </p:nvSpPr>
        <p:spPr>
          <a:xfrm>
            <a:off x="822960" y="251460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6615F03-219D-75F9-3AD9-A626F6782D05}"/>
              </a:ext>
            </a:extLst>
          </p:cNvPr>
          <p:cNvSpPr/>
          <p:nvPr/>
        </p:nvSpPr>
        <p:spPr>
          <a:xfrm>
            <a:off x="969264" y="262432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A 17 kHz tone is sampled at 20 kHz. What alias frequency appears in [0,10] kHz?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FF5579-EB7A-ECEA-053B-53A2EA53D55D}"/>
              </a:ext>
            </a:extLst>
          </p:cNvPr>
          <p:cNvSpPr/>
          <p:nvPr/>
        </p:nvSpPr>
        <p:spPr>
          <a:xfrm>
            <a:off x="822960" y="361188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EC12C41-D909-D29B-23E5-58C13CA5D5A1}"/>
              </a:ext>
            </a:extLst>
          </p:cNvPr>
          <p:cNvSpPr/>
          <p:nvPr/>
        </p:nvSpPr>
        <p:spPr>
          <a:xfrm>
            <a:off x="969264" y="372160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Why can a digital low-pass filter after the ADC not “remove aliasing” in general?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2EEEB23-B0D2-19A2-E27C-124D7589133B}"/>
              </a:ext>
            </a:extLst>
          </p:cNvPr>
          <p:cNvSpPr/>
          <p:nvPr/>
        </p:nvSpPr>
        <p:spPr>
          <a:xfrm>
            <a:off x="1005840" y="48006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i="1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Answers: 1) No: 32 &lt; 36 kHz.  2) 3 kHz.  3) Aliased and genuine in-band components are no longer distinguishable.</a:t>
            </a:r>
            <a:endParaRPr lang="en-US" sz="175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7B6DE55-A7CE-4396-EB81-27DFC8D8D1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53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 summary: sampling is an information-preservation theorem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mathematical model explains exactly when the digital sequence remains invertible.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67665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sampling: multiply x_c(t) by an impulse train.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domain: X_c(jΩ) is replicated every Ω_s and scaled by 1/T.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overlap requires f_s &gt; 2f_M for a bandlimited signal.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means different analog signals produce the same samples—irreversible without extra assumptions.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 filtering must happen before sampling or rate reduction.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09560" y="1828800"/>
            <a:ext cx="3429000" cy="2286000"/>
          </a:xfrm>
          <a:prstGeom prst="roundRect">
            <a:avLst>
              <a:gd name="adj" fmla="val 28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55864" y="1938528"/>
            <a:ext cx="313639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If the samples are valid, how do we turn them back into a continuous waveform—and what does finite bit depth do?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1590</Words>
  <Application>Microsoft Office PowerPoint</Application>
  <PresentationFormat>Widescreen</PresentationFormat>
  <Paragraphs>188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3 — Continuous-to-Discrete Conversion &amp; Aliasing</dc:title>
  <dc:subject>Week 2 DSP + ML course materials</dc:subject>
  <dc:creator>OpenAI</dc:creator>
  <cp:lastModifiedBy>Peter Mathys</cp:lastModifiedBy>
  <cp:revision>7</cp:revision>
  <dcterms:created xsi:type="dcterms:W3CDTF">2026-08-18T14:43:54Z</dcterms:created>
  <dcterms:modified xsi:type="dcterms:W3CDTF">2026-09-01T05:09:31Z</dcterms:modified>
</cp:coreProperties>
</file>