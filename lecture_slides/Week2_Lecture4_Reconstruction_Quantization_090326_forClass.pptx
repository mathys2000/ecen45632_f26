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81" r:id="rId2"/>
    <p:sldId id="256" r:id="rId3"/>
    <p:sldId id="257" r:id="rId4"/>
    <p:sldId id="258" r:id="rId5"/>
    <p:sldId id="259" r:id="rId6"/>
    <p:sldId id="282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80" r:id="rId27"/>
    <p:sldId id="279" r:id="rId28"/>
  </p:sldIdLst>
  <p:sldSz cx="12192000" cy="6858000"/>
  <p:notesSz cx="7315200" cy="960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66" y="5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80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2498-E17C-2A42-C8DF-7F06B051D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402C2-9F9E-6249-9D74-AC84AFCD4A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7FA77-D640-D06C-9F0F-1A333C10D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656D5-5DC8-10DA-2B57-5ED8B3EF4F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047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519672"/>
            <a:ext cx="11247120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4710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DSP + ML • Oppenheim &amp; Schafer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4, 9-03-26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777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40" dirty="0">
                <a:solidFill>
                  <a:srgbClr val="8FDC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LECTURE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Reconstruction, D/A,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Quantization Noise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297180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7E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interpolation gives the theory; ZOH and finite bit depth explain what hardware actually does.</a:t>
            </a:r>
            <a:endParaRPr lang="en-US" sz="2000" dirty="0"/>
          </a:p>
        </p:txBody>
      </p:sp>
      <p:pic>
        <p:nvPicPr>
          <p:cNvPr id="6" name="Image 0" descr="/mnt/data/week2_dsp_ml/assets/sinc_reco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278" y="960120"/>
            <a:ext cx="4898605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" y="4251960"/>
            <a:ext cx="10698480" cy="841248"/>
          </a:xfrm>
          <a:prstGeom prst="roundRect">
            <a:avLst>
              <a:gd name="adj" fmla="val 7609"/>
            </a:avLst>
          </a:prstGeom>
          <a:solidFill>
            <a:srgbClr val="203F5B"/>
          </a:solidFill>
          <a:ln w="17780">
            <a:solidFill>
              <a:srgbClr val="5DBD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9536" y="4361688"/>
            <a:ext cx="10405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minutes • ideal D/C • sinc interpolation • zero-order hold • quantization • SQNR • PyTorch dtype bridge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Recap: after Lecture 3, we trust the sample times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we ask how to reconstruct between samples and represent amplitudes.</a:t>
            </a:r>
            <a:endParaRPr lang="en-US" sz="1550" dirty="0"/>
          </a:p>
        </p:txBody>
      </p:sp>
      <p:pic>
        <p:nvPicPr>
          <p:cNvPr id="4" name="Image 0" descr="/mnt/data/week2_dsp_ml/assets/audio_ml_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4301"/>
            <a:ext cx="10789920" cy="27349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error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58368" y="1707857"/>
            <a:ext cx="23447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 error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77240" y="3977640"/>
            <a:ext cx="5120640" cy="1051560"/>
          </a:xfrm>
          <a:prstGeom prst="roundRect">
            <a:avLst>
              <a:gd name="adj" fmla="val 6087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23544" y="4087368"/>
            <a:ext cx="48280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moves energy to the wrong frequency. It is fundamentally non-unique.</a:t>
            </a:r>
            <a:endParaRPr lang="en-US" sz="1850" dirty="0"/>
          </a:p>
        </p:txBody>
      </p:sp>
      <p:sp>
        <p:nvSpPr>
          <p:cNvPr id="9" name="Shape 6"/>
          <p:cNvSpPr/>
          <p:nvPr/>
        </p:nvSpPr>
        <p:spPr>
          <a:xfrm>
            <a:off x="6263640" y="3977640"/>
            <a:ext cx="5120640" cy="1051560"/>
          </a:xfrm>
          <a:prstGeom prst="roundRect">
            <a:avLst>
              <a:gd name="adj" fmla="val 608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9944" y="4087368"/>
            <a:ext cx="48280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 maps a continuous amplitude to one of finitely many levels.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Lecture 4, students should be able to move between ideal theory and real hardware.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508760"/>
            <a:ext cx="10241280" cy="4389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ideal bandlimited interpolation formula from the reconstruction low-pass filter.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zero-order hold behavior in time and its sinc-shaped magnitude droop.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 uniform B-bit quantizer and compute Δ and quantization-error variance.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and use SQNR ≈ 6.02B + 1.76 dB for a full-scale sine.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the difference between 16-bit PCM storage and float32 computation in PyTorch.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reconstruction in the frequency domain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spectral replicas do not overlap, simply isolate the baseband copy.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5907024" cy="822960"/>
          </a:xfrm>
          <a:prstGeom prst="roundRect">
            <a:avLst>
              <a:gd name="adj" fmla="val 5556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1746" y="1280160"/>
            <a:ext cx="4017388" cy="71323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0080" y="2369554"/>
            <a:ext cx="4754880" cy="100332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26480" y="1737360"/>
            <a:ext cx="475488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6272784" y="1847088"/>
            <a:ext cx="4462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factor T cancels the 1/T introduced by ideal sampling.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6126480" y="3017520"/>
            <a:ext cx="4754880" cy="914400"/>
          </a:xfrm>
          <a:prstGeom prst="roundRect">
            <a:avLst>
              <a:gd name="adj" fmla="val 7000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272784" y="3127248"/>
            <a:ext cx="4462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Ω_M &lt; Ω_c &lt; Ω_s − Ω_M so only one replica passes.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sampled spectrum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copy contains the same analog information—until the copies overlap.</a:t>
            </a:r>
            <a:endParaRPr lang="en-US" sz="1550" dirty="0"/>
          </a:p>
        </p:txBody>
      </p:sp>
      <p:pic>
        <p:nvPicPr>
          <p:cNvPr id="4" name="Image 0" descr="/mnt/data/week2_dsp_ml/assets/spectral_replicas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597" y="1325880"/>
            <a:ext cx="9151767" cy="4251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257800"/>
            <a:ext cx="9418320" cy="64008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472184" y="5367528"/>
            <a:ext cx="9125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Replica spacing = f_s. Baseband can be isolated only when neighboring replicas do not overlap.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ideal low-pass filtering to sinc interpolation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inverse transform of a brick-wall low-pass filter is a sinc.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1047902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9369" y="1325880"/>
            <a:ext cx="8794143" cy="7315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61741" y="2423160"/>
            <a:ext cx="4380839" cy="8412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43000" y="3840480"/>
            <a:ext cx="987552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289304" y="3950208"/>
            <a:ext cx="9582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Here sinc(u)=sin(πu)/(πu). Every sample contributes one shifted, scaled interpolation kernel.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the sinc basis passes through every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integer offsets, normalized sinc is zero—except at the center.</a:t>
            </a:r>
            <a:endParaRPr lang="en-US" sz="1550" dirty="0"/>
          </a:p>
        </p:txBody>
      </p:sp>
      <p:pic>
        <p:nvPicPr>
          <p:cNvPr id="4" name="Image 0" descr="/mnt/data/week2_dsp_ml/assets/sinc_ba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11900"/>
            <a:ext cx="6583680" cy="3017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24928" y="1682496"/>
            <a:ext cx="3803904" cy="1252728"/>
          </a:xfrm>
          <a:prstGeom prst="roundRect">
            <a:avLst>
              <a:gd name="adj" fmla="val 3650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98080" y="2272284"/>
            <a:ext cx="3657600" cy="7315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635240" y="3246120"/>
            <a:ext cx="3474720" cy="1234440"/>
          </a:xfrm>
          <a:prstGeom prst="roundRect">
            <a:avLst>
              <a:gd name="adj" fmla="val 5185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7781544" y="3355848"/>
            <a:ext cx="318211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t=mT, only the n=m kernel survives → x_r(mT)=x[m].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illustration of ideal interpolation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true ideal sum is infinite; a finite example still shows the geometry.</a:t>
            </a:r>
            <a:endParaRPr lang="en-US" sz="1550" dirty="0"/>
          </a:p>
        </p:txBody>
      </p:sp>
      <p:pic>
        <p:nvPicPr>
          <p:cNvPr id="4" name="Image 0" descr="/mnt/data/week2_dsp_ml/assets/sinc_reco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206" y="1280160"/>
            <a:ext cx="9605108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 real DAC does not implement ideal sinc directly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ideal impulse response is infinite in duration and noncausal when centered at t=0.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mathematical interpolator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hardware strategy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93776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Infinite support in time.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Symmetric around the interpolation instant.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Brick-wall frequency response.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Perfect only under ideal bandlimiting assumptions.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355080" y="1737360"/>
            <a:ext cx="489204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a simple analog waveform from each code.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 is extremely natural in a DAC.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with an analog reconstruction / anti-imaging filter.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Oversampling reduces the burden on analog filtering.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286000" y="5074920"/>
            <a:ext cx="7680960" cy="640080"/>
          </a:xfrm>
          <a:prstGeom prst="roundRect">
            <a:avLst>
              <a:gd name="adj" fmla="val 10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32304" y="5184648"/>
            <a:ext cx="7388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theory tells us the target; implementation approximates it.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 (ZOH): hold each sample for one period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rectangular pulse is convolved with the weighted impulse train.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316736"/>
            <a:ext cx="4718304" cy="749808"/>
          </a:xfrm>
          <a:prstGeom prst="roundRect">
            <a:avLst>
              <a:gd name="adj" fmla="val 6098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493311"/>
            <a:ext cx="4572000" cy="396658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2353112"/>
            <a:ext cx="4754880" cy="414416"/>
          </a:xfrm>
          <a:prstGeom prst="rect">
            <a:avLst/>
          </a:prstGeom>
        </p:spPr>
      </p:pic>
      <p:pic>
        <p:nvPicPr>
          <p:cNvPr id="7" name="Image 2" descr="/mnt/data/week2_dsp_ml/assets/zoh_wavef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2125720"/>
            <a:ext cx="5852160" cy="2652281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94760"/>
            <a:ext cx="4343400" cy="1143000"/>
          </a:xfrm>
          <a:prstGeom prst="roundRect">
            <a:avLst>
              <a:gd name="adj" fmla="val 5600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969264" y="3904488"/>
            <a:ext cx="405079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staircase is already a continuous-time waveform—but it contains spectral images and amplitude droop.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Deriving the ZOH frequency response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 the rectangular hold pulse.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71016"/>
            <a:ext cx="5175504" cy="73152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8335" y="1325880"/>
            <a:ext cx="2655570" cy="62179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2342" y="2240280"/>
            <a:ext cx="2910516" cy="731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675120" y="1508760"/>
            <a:ext cx="4572000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phase term: e^{-jΩT/2} corresponds to a T/2 delay.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Magnitude term: sinc-shaped envelope.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frequencies are attenuated more than low frequencies.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097280" y="4069080"/>
            <a:ext cx="9784080" cy="777240"/>
          </a:xfrm>
          <a:prstGeom prst="roundRect">
            <a:avLst>
              <a:gd name="adj" fmla="val 8235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1243584" y="4178808"/>
            <a:ext cx="949147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ΩT=π: |H|/T = 2/π ≈ 0.637 → −3.92 dB.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ZOH creates sinc-shaped amplitude droop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deterministic frequency response—not random noise.</a:t>
            </a:r>
            <a:endParaRPr lang="en-US" sz="1550" dirty="0"/>
          </a:p>
        </p:txBody>
      </p:sp>
      <p:pic>
        <p:nvPicPr>
          <p:cNvPr id="4" name="Image 0" descr="/mnt/data/week2_dsp_ml/assets/zoh_dr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65" y="1325880"/>
            <a:ext cx="9886191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828800" y="5303520"/>
            <a:ext cx="8503920" cy="566928"/>
          </a:xfrm>
          <a:prstGeom prst="roundRect">
            <a:avLst>
              <a:gd name="adj" fmla="val 1129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975104" y="5413248"/>
            <a:ext cx="8211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 filtering can both suppress images and compensate some passband droop.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practical D/A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ZOH is only one stage; analog filtering completes the reconstruction.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samples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$x[n]$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83464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10896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FFF2E6"/>
          </a:solidFill>
          <a:ln w="1905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DAC code +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30352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6928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8F7F7"/>
          </a:solidFill>
          <a:ln w="1905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 LPF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6384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2960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2104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output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$x_r(t)$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5840" y="3886200"/>
            <a:ext cx="10058400" cy="914400"/>
          </a:xfrm>
          <a:prstGeom prst="roundRect">
            <a:avLst>
              <a:gd name="adj" fmla="val 7000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52144" y="3995928"/>
            <a:ext cx="97657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analog LPF removes spectral images around multiples of f_s; oversampling gives the filter more transition width.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Quantization: the second discretization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discretizes time. Quantization discretizes amplitude.</a:t>
            </a:r>
            <a:endParaRPr lang="en-US" sz="1550" dirty="0"/>
          </a:p>
        </p:txBody>
      </p:sp>
      <p:pic>
        <p:nvPicPr>
          <p:cNvPr id="4" name="Image 0" descr="/mnt/data/week2_dsp_ml/assets/quant_stair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44548"/>
            <a:ext cx="4754880" cy="38603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" y="1408176"/>
            <a:ext cx="490118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1614211"/>
            <a:ext cx="4754880" cy="383458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28407" y="2423160"/>
            <a:ext cx="1155266" cy="6400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77240" y="3246120"/>
            <a:ext cx="466344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bits → 2^B nominal levels.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is the quantizer step for full-scale range roughly [−A,A].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Overload/clipping is a separate failure mode when |x| exceeds the designed range.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additive quantization-noise 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Useful—but only under assumptions.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49808" y="1271016"/>
            <a:ext cx="4169664" cy="704088"/>
          </a:xfrm>
          <a:prstGeom prst="roundRect">
            <a:avLst>
              <a:gd name="adj" fmla="val 6494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363488"/>
            <a:ext cx="4023360" cy="519143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" y="2235376"/>
            <a:ext cx="4572000" cy="485296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64139" y="3063240"/>
            <a:ext cx="3786922" cy="713232"/>
          </a:xfrm>
          <a:prstGeom prst="rect">
            <a:avLst/>
          </a:prstGeom>
        </p:spPr>
      </p:pic>
      <p:pic>
        <p:nvPicPr>
          <p:cNvPr id="8" name="Image 3" descr="/mnt/data/week2_dsp_ml/assets/quant_error_hi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807203"/>
            <a:ext cx="4663440" cy="251207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217920" y="4572000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4"/>
          <p:cNvSpPr/>
          <p:nvPr/>
        </p:nvSpPr>
        <p:spPr>
          <a:xfrm>
            <a:off x="6364224" y="4681728"/>
            <a:ext cx="4645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50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approximation when the signal spans many levels and the error is sufficiently decorrelated from the signal.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quantization-noise variance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Uniform error over one quantization interval.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25296"/>
            <a:ext cx="51755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6158" y="1280160"/>
            <a:ext cx="4659923" cy="6858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7768" y="2286000"/>
            <a:ext cx="3402623" cy="822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51560" y="3794760"/>
            <a:ext cx="996696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197864" y="3904488"/>
            <a:ext cx="9674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additional bit halves Δ → noise power falls by a factor of 4 → about 6 dB improvement.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Full-scale sine SQNR: where 6.02B + 1.76 dB comes from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not an arbitrary rule of thumb; it follows from signal and error power.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21208" y="1271016"/>
            <a:ext cx="1093622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16349" y="1325880"/>
            <a:ext cx="5545942" cy="7315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25583" y="2331720"/>
            <a:ext cx="5761714" cy="7772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350008" y="3419856"/>
            <a:ext cx="7461504" cy="950976"/>
          </a:xfrm>
          <a:prstGeom prst="roundRect">
            <a:avLst>
              <a:gd name="adj" fmla="val 4808"/>
            </a:avLst>
          </a:prstGeom>
          <a:solidFill>
            <a:srgbClr val="E8F7F7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5723" y="3474720"/>
            <a:ext cx="6790073" cy="84124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828800" y="4709160"/>
            <a:ext cx="8503920" cy="685800"/>
          </a:xfrm>
          <a:prstGeom prst="roundRect">
            <a:avLst>
              <a:gd name="adj" fmla="val 9333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1975104" y="4818888"/>
            <a:ext cx="82113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+1.76 dB constant is specific to a full-scale sine and the ideal uniform-quantizer model.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6 dB per bit—verified numerically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simple model is remarkably accurate at moderate/high resolution.</a:t>
            </a:r>
            <a:endParaRPr lang="en-US" sz="1550" dirty="0"/>
          </a:p>
        </p:txBody>
      </p:sp>
      <p:pic>
        <p:nvPicPr>
          <p:cNvPr id="4" name="Image 0" descr="/mnt/data/week2_dsp_ml/assets/sqnr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82843"/>
            <a:ext cx="7498080" cy="387519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2926080" cy="1234440"/>
          </a:xfrm>
          <a:prstGeom prst="roundRect">
            <a:avLst>
              <a:gd name="adj" fmla="val 5185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558784" y="1755648"/>
            <a:ext cx="263347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results deviate more because the high-resolution assumptions are weak.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8412480" y="3337560"/>
            <a:ext cx="2926080" cy="1097280"/>
          </a:xfrm>
          <a:prstGeom prst="roundRect">
            <a:avLst>
              <a:gd name="adj" fmla="val 5833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58784" y="3447288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full-scale sine theory: 98.08 dB SQNR.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audio: “96 dB” and “98 dB” can both appear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refer to slightly different reference calculations.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dB/bit rule of thumb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Full-scale sine SQNR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04088" y="1819656"/>
            <a:ext cx="49469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954701"/>
            <a:ext cx="4800600" cy="52543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90488" y="1819656"/>
            <a:ext cx="49469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63640" y="2014728"/>
            <a:ext cx="4800600" cy="40538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22960" y="3108960"/>
            <a:ext cx="4754880" cy="1051560"/>
          </a:xfrm>
          <a:prstGeom prst="roundRect">
            <a:avLst>
              <a:gd name="adj" fmla="val 6087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969264" y="3218688"/>
            <a:ext cx="44622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96.3 dB is the amplitude ratio across 16 binary bits.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754880" cy="1051560"/>
          </a:xfrm>
          <a:prstGeom prst="roundRect">
            <a:avLst>
              <a:gd name="adj" fmla="val 608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455664" y="3218688"/>
            <a:ext cx="44622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98.1 dB includes the RMS power of a full-scale sine and uniform error model.</a:t>
            </a:r>
            <a:endParaRPr lang="en-US" sz="1850" dirty="0"/>
          </a:p>
        </p:txBody>
      </p:sp>
      <p:sp>
        <p:nvSpPr>
          <p:cNvPr id="14" name="Shape 10"/>
          <p:cNvSpPr/>
          <p:nvPr/>
        </p:nvSpPr>
        <p:spPr>
          <a:xfrm>
            <a:off x="2834640" y="4754880"/>
            <a:ext cx="6583680" cy="594360"/>
          </a:xfrm>
          <a:prstGeom prst="roundRect">
            <a:avLst>
              <a:gd name="adj" fmla="val 10769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2980944" y="4864608"/>
            <a:ext cx="62910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precise about what quantity is being compared.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PCM storage is not the same thing as ML compute dtype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Casting to float changes representation—not the information already captured.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5303520" cy="1920240"/>
          </a:xfrm>
          <a:prstGeom prst="roundRect">
            <a:avLst>
              <a:gd name="adj" fmla="val 2381"/>
            </a:avLst>
          </a:prstGeom>
          <a:solidFill>
            <a:srgbClr val="0D1821"/>
          </a:solidFill>
          <a:ln w="15240">
            <a:solidFill>
              <a:srgbClr val="2034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0392" y="1554480"/>
            <a:ext cx="49743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pcm = np.array(..., dtype=np.int16)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 = pcm.astype(np.float32) / 32768.0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xt = torch.from_numpy(x)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xt.dtype == torch.float32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263640" y="1417320"/>
            <a:ext cx="512064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PCM: discrete integer codes from the recording/ADC pipeline.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float32 tensor: convenient numerical format for DSP and neural-network arithmetic.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Converting int16 → float32 cannot recreate amplitude values between the original quantization levels.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float32 tensor can still contain badly aliased or coarsely quantized data.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1097280" y="4160520"/>
            <a:ext cx="9966960" cy="777240"/>
          </a:xfrm>
          <a:prstGeom prst="roundRect">
            <a:avLst>
              <a:gd name="adj" fmla="val 8235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43584" y="4270248"/>
            <a:ext cx="96743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bits in the variable ≠ more bits of information in the measurement.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audio demo: listen in this order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package includes pre-generated WAV files and notebook code.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502920" cy="502920"/>
          </a:xfrm>
          <a:prstGeom prst="ellipse">
            <a:avLst/>
          </a:prstGeom>
          <a:solidFill>
            <a:srgbClr val="00A6A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3533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08760" y="12618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48 kHz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0" y="12801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77240" y="2075688"/>
            <a:ext cx="502920" cy="502920"/>
          </a:xfrm>
          <a:prstGeom prst="ellipse">
            <a:avLst/>
          </a:prstGeom>
          <a:solidFill>
            <a:srgbClr val="D84A3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103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48→12 kHz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0" y="212140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 aliasing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916936"/>
            <a:ext cx="502920" cy="502920"/>
          </a:xfrm>
          <a:prstGeom prst="ellipse">
            <a:avLst/>
          </a:prstGeom>
          <a:solidFill>
            <a:srgbClr val="2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035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08760" y="29443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Filtered 48→12 kHz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0" y="296265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controlled bandwidth loss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77240" y="3758184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8770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8-bit quantized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72000" y="380390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notice noise floor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77240" y="4599432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1830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08760" y="46268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quantized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72000" y="46451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granular/fuzzy error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23760" y="5394960"/>
            <a:ext cx="3840480" cy="594360"/>
          </a:xfrm>
          <a:prstGeom prst="roundRect">
            <a:avLst>
              <a:gd name="adj" fmla="val 10769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70064" y="5504688"/>
            <a:ext cx="35478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students to predict what changes before playing each file.</a:t>
            </a:r>
            <a:endParaRPr lang="en-US" sz="17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4-bit quantization does to a spectrogram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error is often broad-band, but it need not be perfectly white or independent.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</a:t>
            </a:r>
            <a:endParaRPr lang="en-US" sz="1800" dirty="0"/>
          </a:p>
        </p:txBody>
      </p:sp>
      <p:pic>
        <p:nvPicPr>
          <p:cNvPr id="6" name="Image 0" descr="/mnt/data/week2_dsp_ml/assets/spec_quant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46087"/>
            <a:ext cx="5394960" cy="2531586"/>
          </a:xfrm>
          <a:prstGeom prst="rect">
            <a:avLst/>
          </a:prstGeom>
        </p:spPr>
      </p:pic>
      <p:pic>
        <p:nvPicPr>
          <p:cNvPr id="7" name="Image 1" descr="/mnt/data/week2_dsp_ml/assets/spec_quant_4b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46087"/>
            <a:ext cx="5394960" cy="253158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Graduate nuance: when the “white quantization noise” story breaks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Dither is one tool for trading correlated distortion for more noise-like error.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667512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Low-level sinusoids can produce periodic, signal-correlated error rather than white noise.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Overload clipping is nonlinear distortion and is not captured by Δ²/12.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Dither intentionally adds noise before quantization to decorrelate the quantization error.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Noise shaping can push quantization noise toward frequency regions that matter less—but requires feedback/oversampling ideas beyond today.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818120" y="1737360"/>
            <a:ext cx="3337560" cy="2194560"/>
          </a:xfrm>
          <a:prstGeom prst="roundRect">
            <a:avLst>
              <a:gd name="adj" fmla="val 291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964424" y="1847088"/>
            <a:ext cx="30449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Modeling lesson for ML: know which “noise assumptions” are physics and which are convenient approximations.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check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answer individually; collect or discuss in the last two minutes.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9264" y="152704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Why does ideal reconstruction use sinc functions?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9264" y="253288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What deterministic frequency-domain effect does a ZOH introduce?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42900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9264" y="353872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A full-scale 12-bit sine has approximately what ideal SQNR?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EF478-CC9C-4D6F-91BE-8A6733530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B402028-2CF1-2113-87CD-3107422BBCDD}"/>
              </a:ext>
            </a:extLst>
          </p:cNvPr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check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4A7E21-4033-46F7-3D99-714B664684B5}"/>
              </a:ext>
            </a:extLst>
          </p:cNvPr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answer individually; collect or discuss in the last two minutes.</a:t>
            </a:r>
            <a:endParaRPr lang="en-US" sz="15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FCF963A-C328-337D-7B58-C30DE45DEDCF}"/>
              </a:ext>
            </a:extLst>
          </p:cNvPr>
          <p:cNvSpPr/>
          <p:nvPr/>
        </p:nvSpPr>
        <p:spPr>
          <a:xfrm>
            <a:off x="822960" y="141732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131F8D4-02BE-B8DD-F0C8-5EDECF8A343A}"/>
              </a:ext>
            </a:extLst>
          </p:cNvPr>
          <p:cNvSpPr/>
          <p:nvPr/>
        </p:nvSpPr>
        <p:spPr>
          <a:xfrm>
            <a:off x="969264" y="152704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Why does ideal reconstruction use sinc functions?</a:t>
            </a:r>
            <a:endParaRPr lang="en-US" sz="2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4ADA08F-9250-A6EF-092D-2D2E9132AC45}"/>
              </a:ext>
            </a:extLst>
          </p:cNvPr>
          <p:cNvSpPr/>
          <p:nvPr/>
        </p:nvSpPr>
        <p:spPr>
          <a:xfrm>
            <a:off x="822960" y="242316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54FD53B-E5C9-0219-B91E-1383A54F5E45}"/>
              </a:ext>
            </a:extLst>
          </p:cNvPr>
          <p:cNvSpPr/>
          <p:nvPr/>
        </p:nvSpPr>
        <p:spPr>
          <a:xfrm>
            <a:off x="969264" y="253288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What deterministic frequency-domain effect does a ZOH introduce?</a:t>
            </a:r>
            <a:endParaRPr lang="en-US" sz="2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B5F559B-CF7F-8F9C-55A2-694DB4B5B6B7}"/>
              </a:ext>
            </a:extLst>
          </p:cNvPr>
          <p:cNvSpPr/>
          <p:nvPr/>
        </p:nvSpPr>
        <p:spPr>
          <a:xfrm>
            <a:off x="822960" y="342900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29941B5-269A-84EE-EC32-FA71C175A690}"/>
              </a:ext>
            </a:extLst>
          </p:cNvPr>
          <p:cNvSpPr/>
          <p:nvPr/>
        </p:nvSpPr>
        <p:spPr>
          <a:xfrm>
            <a:off x="969264" y="353872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A full-scale 12-bit sine has approximately what ideal SQNR?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8A417D4-47D2-820B-2823-2F211C6BF30D}"/>
              </a:ext>
            </a:extLst>
          </p:cNvPr>
          <p:cNvSpPr/>
          <p:nvPr/>
        </p:nvSpPr>
        <p:spPr>
          <a:xfrm>
            <a:off x="960120" y="46177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i="1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Answers: 1) sinc is the impulse response of the ideal bandlimiting reconstruction filter.  2) sinc-shaped magnitude droop (plus linear phase/delay).  3) ≈ 74 dB.</a:t>
            </a:r>
            <a:endParaRPr lang="en-US" sz="17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C460C52-7C8F-0DD4-2CA5-90F05B094CB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5544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4 summary: faithful digital audio needs both time and amplitude integrity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theory, reconstruction, and quantization are one end-to-end system.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371600"/>
            <a:ext cx="685800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D/C isolates one spectrum replica and yields sinc interpolation.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zero-order hold is practical but imposes sinc-shaped passband droop and spectral images.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B-bit uniform quantizer has step Δ≈2A/2^B; under standard assumptions σ_e²≈Δ²/12.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full-scale sine gives SQNR≈6.02B+1.76 dB.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int16→float32 is a computational conversion; it does not undo aliasing or quantization.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8001000" y="1737360"/>
            <a:ext cx="3337560" cy="2240280"/>
          </a:xfrm>
          <a:prstGeom prst="roundRect">
            <a:avLst>
              <a:gd name="adj" fmla="val 285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47304" y="1847088"/>
            <a:ext cx="30449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principle: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acquisition creates “features” that no downstream ML method can reliably repair.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1750</Words>
  <Application>Microsoft Office PowerPoint</Application>
  <PresentationFormat>Widescreen</PresentationFormat>
  <Paragraphs>236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Aptos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ECE DSP + ML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Lecture 4 — Reconstruction, D/A, and Quantization Noise</dc:title>
  <dc:subject>Week 2 DSP + ML course materials</dc:subject>
  <dc:creator>OpenAI</dc:creator>
  <cp:lastModifiedBy>Peter Mathys</cp:lastModifiedBy>
  <cp:revision>4</cp:revision>
  <cp:lastPrinted>2026-08-19T22:38:57Z</cp:lastPrinted>
  <dcterms:created xsi:type="dcterms:W3CDTF">2026-08-18T14:43:54Z</dcterms:created>
  <dcterms:modified xsi:type="dcterms:W3CDTF">2026-08-27T19:09:53Z</dcterms:modified>
</cp:coreProperties>
</file>