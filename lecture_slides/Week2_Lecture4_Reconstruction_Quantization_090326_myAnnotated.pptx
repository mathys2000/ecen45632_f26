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81" r:id="rId2"/>
    <p:sldId id="284" r:id="rId3"/>
    <p:sldId id="256" r:id="rId4"/>
    <p:sldId id="257" r:id="rId5"/>
    <p:sldId id="258" r:id="rId6"/>
    <p:sldId id="259" r:id="rId7"/>
    <p:sldId id="282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83" r:id="rId24"/>
    <p:sldId id="275" r:id="rId25"/>
    <p:sldId id="276" r:id="rId26"/>
    <p:sldId id="277" r:id="rId27"/>
    <p:sldId id="278" r:id="rId28"/>
    <p:sldId id="280" r:id="rId29"/>
    <p:sldId id="279" r:id="rId30"/>
  </p:sldIdLst>
  <p:sldSz cx="12192000" cy="6858000"/>
  <p:notesSz cx="7315200" cy="9601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66" y="11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68014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B5791A-485C-2BF3-4FFB-F2B7FAE87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E1C814-A12B-225E-F134-8769C13B1B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DA40F2-EC79-6B1D-8AD4-465DE32708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E9BD0C-7A2F-405A-F9FB-FBB39BA601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1986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32498-E17C-2A42-C8DF-7F06B051D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F402C2-9F9E-6249-9D74-AC84AFCD4A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C7FA77-D640-D06C-9F0F-1A333C10D5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5656D5-5DC8-10DA-2B57-5ED8B3EF4F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00476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6519672"/>
            <a:ext cx="11247120" cy="0"/>
          </a:xfrm>
          <a:prstGeom prst="line">
            <a:avLst/>
          </a:prstGeom>
          <a:noFill/>
          <a:ln w="12700">
            <a:solidFill>
              <a:srgbClr val="D6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6547104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2 • DSP + ML • Oppenheim &amp; Schafer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michaelbach.de/ot/mot-wagonWheel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svg"/><Relationship Id="rId4" Type="http://schemas.openxmlformats.org/officeDocument/2006/relationships/image" Target="../media/image22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svg"/><Relationship Id="rId4" Type="http://schemas.openxmlformats.org/officeDocument/2006/relationships/image" Target="../media/image28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sv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B04326-6382-23AA-4F6C-A33C0B53EFAD}"/>
              </a:ext>
            </a:extLst>
          </p:cNvPr>
          <p:cNvSpPr txBox="1"/>
          <p:nvPr/>
        </p:nvSpPr>
        <p:spPr>
          <a:xfrm>
            <a:off x="1072733" y="444212"/>
            <a:ext cx="1004653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ECEN 4/5632  Theory and Application of Digital Filters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Lecture 4, 9-03-26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Peter Mathys*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862320-FA96-DD1A-C234-95E03B37257B}"/>
              </a:ext>
            </a:extLst>
          </p:cNvPr>
          <p:cNvSpPr txBox="1"/>
          <p:nvPr/>
        </p:nvSpPr>
        <p:spPr>
          <a:xfrm>
            <a:off x="482600" y="6488668"/>
            <a:ext cx="5266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* With generous help from Gemini Pro and ChatGPT</a:t>
            </a:r>
          </a:p>
        </p:txBody>
      </p:sp>
    </p:spTree>
    <p:extLst>
      <p:ext uri="{BB962C8B-B14F-4D97-AF65-F5344CB8AC3E}">
        <p14:creationId xmlns:p14="http://schemas.microsoft.com/office/powerpoint/2010/main" val="2481203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7F70AB8-F949-F2BA-C553-07A8AE7404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675" y="613578"/>
            <a:ext cx="8334229" cy="578722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6EC28F8-D35D-EAB6-8D9B-CAD4805C8119}"/>
              </a:ext>
            </a:extLst>
          </p:cNvPr>
          <p:cNvSpPr txBox="1"/>
          <p:nvPr/>
        </p:nvSpPr>
        <p:spPr>
          <a:xfrm>
            <a:off x="7091796" y="192232"/>
            <a:ext cx="4727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https://michaelbach.de/ot/mot-wagonWheel/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557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" y="777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40" dirty="0">
                <a:solidFill>
                  <a:srgbClr val="8FDC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2 • LECTURE 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6858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Reconstruction, D/A,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 Quantization Noise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13232" y="297180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7E6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Ideal interpolation gives the theory; ZOH and finite bit depth explain what hardware actually does.</a:t>
            </a:r>
            <a:endParaRPr lang="en-US" sz="2000" dirty="0"/>
          </a:p>
        </p:txBody>
      </p:sp>
      <p:pic>
        <p:nvPicPr>
          <p:cNvPr id="6" name="Image 0" descr="/mnt/data/week2_dsp_ml/assets/sinc_reconstru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3278" y="960120"/>
            <a:ext cx="4898605" cy="23317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13232" y="4251960"/>
            <a:ext cx="10698480" cy="841248"/>
          </a:xfrm>
          <a:prstGeom prst="roundRect">
            <a:avLst>
              <a:gd name="adj" fmla="val 7609"/>
            </a:avLst>
          </a:prstGeom>
          <a:solidFill>
            <a:srgbClr val="203F5B"/>
          </a:solidFill>
          <a:ln w="17780">
            <a:solidFill>
              <a:srgbClr val="5DBD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59536" y="4361688"/>
            <a:ext cx="104058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75 minutes • ideal D/C • sinc interpolation • zero-order hold • quantization • SQNR • PyTorch dtype bridge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Recap: after Lecture 3, we trust the sample times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Now we ask how to reconstruct between samples and represent amplitudes.</a:t>
            </a:r>
            <a:endParaRPr lang="en-US" sz="1550" dirty="0"/>
          </a:p>
        </p:txBody>
      </p:sp>
      <p:pic>
        <p:nvPicPr>
          <p:cNvPr id="4" name="Image 0" descr="/mnt/data/week2_dsp_ml/assets/audio_ml_ch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284301"/>
            <a:ext cx="10789920" cy="273491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13258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Sampling error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58368" y="1707857"/>
            <a:ext cx="234478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8E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Quantization error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777240" y="3977640"/>
            <a:ext cx="5120640" cy="1051560"/>
          </a:xfrm>
          <a:prstGeom prst="roundRect">
            <a:avLst>
              <a:gd name="adj" fmla="val 6087"/>
            </a:avLst>
          </a:prstGeom>
          <a:solidFill>
            <a:srgbClr val="FDEDEC"/>
          </a:solidFill>
          <a:ln w="17780">
            <a:solidFill>
              <a:srgbClr val="D84A3A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923544" y="4087368"/>
            <a:ext cx="482803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50" dirty="0">
                <a:solidFill>
                  <a:srgbClr val="7E29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Aliasing moves energy to the wrong frequency. It is fundamentally non-unique.</a:t>
            </a:r>
            <a:endParaRPr lang="en-US" sz="1850" dirty="0"/>
          </a:p>
        </p:txBody>
      </p:sp>
      <p:sp>
        <p:nvSpPr>
          <p:cNvPr id="9" name="Shape 6"/>
          <p:cNvSpPr/>
          <p:nvPr/>
        </p:nvSpPr>
        <p:spPr>
          <a:xfrm>
            <a:off x="6263640" y="3977640"/>
            <a:ext cx="5120640" cy="1051560"/>
          </a:xfrm>
          <a:prstGeom prst="roundRect">
            <a:avLst>
              <a:gd name="adj" fmla="val 6087"/>
            </a:avLst>
          </a:prstGeom>
          <a:solidFill>
            <a:srgbClr val="FFF2E6"/>
          </a:solidFill>
          <a:ln w="17780">
            <a:solidFill>
              <a:srgbClr val="F28E2B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409944" y="4087368"/>
            <a:ext cx="482803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50" dirty="0">
                <a:solidFill>
                  <a:srgbClr val="7A4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Quantization maps a continuous amplitude to one of finitely many levels.</a:t>
            </a:r>
            <a:endParaRPr lang="en-US" sz="1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outcomes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 the end of Lecture 4, students should be able to move between ideal theory and real hardware.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868680" y="1508760"/>
            <a:ext cx="10241280" cy="4389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Derive the ideal bandlimited interpolation formula from the reconstruction low-pass filter.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zero-order hold behavior in time and its sinc-shaped magnitude droop.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a uniform B-bit quantizer and compute Δ and quantization-error variance.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Derive and use SQNR ≈ 6.02B + 1.76 dB for a full-scale sine.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the difference between 16-bit PCM storage and float32 computation in PyTorch.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Ideal reconstruction in the frequency domain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spectral replicas do not overlap, simply isolate the baseband copy.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566928" y="1225296"/>
            <a:ext cx="5907024" cy="822960"/>
          </a:xfrm>
          <a:prstGeom prst="roundRect">
            <a:avLst>
              <a:gd name="adj" fmla="val 5556"/>
            </a:avLst>
          </a:prstGeom>
          <a:solidFill>
            <a:srgbClr val="F7FAFC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11746" y="1280160"/>
            <a:ext cx="4017388" cy="713232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0080" y="2369554"/>
            <a:ext cx="4754880" cy="1003323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126480" y="1737360"/>
            <a:ext cx="4754880" cy="914400"/>
          </a:xfrm>
          <a:prstGeom prst="roundRect">
            <a:avLst>
              <a:gd name="adj" fmla="val 7000"/>
            </a:avLst>
          </a:prstGeom>
          <a:solidFill>
            <a:srgbClr val="E8F7F7"/>
          </a:solidFill>
          <a:ln w="17780">
            <a:solidFill>
              <a:srgbClr val="00A6A6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6272784" y="1847088"/>
            <a:ext cx="44622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factor T cancels the 1/T introduced by ideal sampling.</a:t>
            </a:r>
            <a:endParaRPr lang="en-US" sz="2000" dirty="0"/>
          </a:p>
        </p:txBody>
      </p:sp>
      <p:sp>
        <p:nvSpPr>
          <p:cNvPr id="9" name="Shape 5"/>
          <p:cNvSpPr/>
          <p:nvPr/>
        </p:nvSpPr>
        <p:spPr>
          <a:xfrm>
            <a:off x="6126480" y="3017520"/>
            <a:ext cx="4754880" cy="914400"/>
          </a:xfrm>
          <a:prstGeom prst="roundRect">
            <a:avLst>
              <a:gd name="adj" fmla="val 7000"/>
            </a:avLst>
          </a:prstGeom>
          <a:solidFill>
            <a:srgbClr val="F7FAFC"/>
          </a:solidFill>
          <a:ln w="17780">
            <a:solidFill>
              <a:srgbClr val="16324F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6272784" y="3127248"/>
            <a:ext cx="44622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5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Ω_M &lt; Ω_c &lt; Ω_s − Ω_M so only one replica passes.</a:t>
            </a:r>
            <a:endParaRPr lang="en-US" sz="1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sampled spectrum looks like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copy contains the same analog information—until the copies overlap.</a:t>
            </a:r>
            <a:endParaRPr lang="en-US" sz="1550" dirty="0"/>
          </a:p>
        </p:txBody>
      </p:sp>
      <p:pic>
        <p:nvPicPr>
          <p:cNvPr id="4" name="Image 0" descr="/mnt/data/week2_dsp_ml/assets/spectral_replicas_goo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0597" y="1325880"/>
            <a:ext cx="9151767" cy="4251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325880" y="5257800"/>
            <a:ext cx="9418320" cy="640080"/>
          </a:xfrm>
          <a:prstGeom prst="roundRect">
            <a:avLst>
              <a:gd name="adj" fmla="val 10000"/>
            </a:avLst>
          </a:prstGeom>
          <a:solidFill>
            <a:srgbClr val="F7FAFC"/>
          </a:solidFill>
          <a:ln w="17780">
            <a:solidFill>
              <a:srgbClr val="B9C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472184" y="5367528"/>
            <a:ext cx="91257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Replica spacing = f_s. Baseband can be isolated only when neighboring replicas do not overlap.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ideal low-pass filtering to sinc interpolation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inverse transform of a brick-wall low-pass filter is a sinc.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566928" y="1271016"/>
            <a:ext cx="10479024" cy="841248"/>
          </a:xfrm>
          <a:prstGeom prst="roundRect">
            <a:avLst>
              <a:gd name="adj" fmla="val 5435"/>
            </a:avLst>
          </a:prstGeom>
          <a:solidFill>
            <a:srgbClr val="F7FAFC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09369" y="1325880"/>
            <a:ext cx="8794143" cy="73152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61741" y="2423160"/>
            <a:ext cx="4380839" cy="84124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143000" y="3840480"/>
            <a:ext cx="9875520" cy="914400"/>
          </a:xfrm>
          <a:prstGeom prst="roundRect">
            <a:avLst>
              <a:gd name="adj" fmla="val 7000"/>
            </a:avLst>
          </a:prstGeom>
          <a:solidFill>
            <a:srgbClr val="E8F7F7"/>
          </a:solidFill>
          <a:ln w="17780">
            <a:solidFill>
              <a:srgbClr val="00A6A6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1289304" y="3950208"/>
            <a:ext cx="95829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Here sinc(u)=sin(πu)/(πu). Every sample contributes one shifted, scaled interpolation kernel.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the sinc basis passes through every sample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integer offsets, normalized sinc is zero—except at the center.</a:t>
            </a:r>
            <a:endParaRPr lang="en-US" sz="1550" dirty="0"/>
          </a:p>
        </p:txBody>
      </p:sp>
      <p:pic>
        <p:nvPicPr>
          <p:cNvPr id="4" name="Image 0" descr="/mnt/data/week2_dsp_ml/assets/sinc_bas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011900"/>
            <a:ext cx="6583680" cy="3017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24928" y="1682496"/>
            <a:ext cx="3803904" cy="1252728"/>
          </a:xfrm>
          <a:prstGeom prst="roundRect">
            <a:avLst>
              <a:gd name="adj" fmla="val 3650"/>
            </a:avLst>
          </a:prstGeom>
          <a:solidFill>
            <a:srgbClr val="F7FAFC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98080" y="2272284"/>
            <a:ext cx="3657600" cy="7315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635240" y="3246120"/>
            <a:ext cx="3474720" cy="1234440"/>
          </a:xfrm>
          <a:prstGeom prst="roundRect">
            <a:avLst>
              <a:gd name="adj" fmla="val 5185"/>
            </a:avLst>
          </a:prstGeom>
          <a:solidFill>
            <a:srgbClr val="FFF2E6"/>
          </a:solidFill>
          <a:ln w="17780">
            <a:solidFill>
              <a:srgbClr val="F28E2B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7781544" y="3355848"/>
            <a:ext cx="3182112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7A4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t=mT, only the n=m kernel survives → x_r(mT)=x[m].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finite illustration of ideal interpolation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true ideal sum is infinite; a finite example still shows the geometry.</a:t>
            </a:r>
            <a:endParaRPr lang="en-US" sz="1550" dirty="0"/>
          </a:p>
        </p:txBody>
      </p:sp>
      <p:pic>
        <p:nvPicPr>
          <p:cNvPr id="4" name="Image 0" descr="/mnt/data/week2_dsp_ml/assets/sinc_reconstru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8206" y="1280160"/>
            <a:ext cx="9605108" cy="4572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a real DAC does not implement ideal sinc directly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ideal impulse response is infinite in duration and noncausal when centered at t=0.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658368" y="13258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Ideal mathematical interpolator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309360" y="13258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8E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Practical hardware strategy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1737360"/>
            <a:ext cx="4937760" cy="3108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Infinite support in time.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Symmetric around the interpolation instant.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Brick-wall frequency response.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Perfect only under ideal bandlimiting assumptions.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355080" y="1737360"/>
            <a:ext cx="4892040" cy="3108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 a simple analog waveform from each code.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Zero-order hold is extremely natural in a DAC.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Follow with an analog reconstruction / anti-imaging filter.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Oversampling reduces the burden on analog filtering.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286000" y="5074920"/>
            <a:ext cx="7680960" cy="640080"/>
          </a:xfrm>
          <a:prstGeom prst="roundRect">
            <a:avLst>
              <a:gd name="adj" fmla="val 10000"/>
            </a:avLst>
          </a:prstGeom>
          <a:solidFill>
            <a:srgbClr val="E8F7F7"/>
          </a:solidFill>
          <a:ln w="1778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432304" y="5184648"/>
            <a:ext cx="7388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Ideal theory tells us the target; implementation approximates it.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Zero-order hold (ZOH): hold each sample for one period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rectangular pulse is convolved with the weighted impulse train.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658368" y="1316736"/>
            <a:ext cx="4718304" cy="749808"/>
          </a:xfrm>
          <a:prstGeom prst="roundRect">
            <a:avLst>
              <a:gd name="adj" fmla="val 6098"/>
            </a:avLst>
          </a:prstGeom>
          <a:solidFill>
            <a:srgbClr val="F7FAFC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520" y="1493311"/>
            <a:ext cx="4572000" cy="396658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1520" y="2353112"/>
            <a:ext cx="4754880" cy="414416"/>
          </a:xfrm>
          <a:prstGeom prst="rect">
            <a:avLst/>
          </a:prstGeom>
        </p:spPr>
      </p:pic>
      <p:pic>
        <p:nvPicPr>
          <p:cNvPr id="7" name="Image 2" descr="/mnt/data/week2_dsp_ml/assets/zoh_wavefor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2125720"/>
            <a:ext cx="5852160" cy="2652281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822960" y="3794760"/>
            <a:ext cx="4343400" cy="1143000"/>
          </a:xfrm>
          <a:prstGeom prst="roundRect">
            <a:avLst>
              <a:gd name="adj" fmla="val 5600"/>
            </a:avLst>
          </a:prstGeom>
          <a:solidFill>
            <a:srgbClr val="FFF2E6"/>
          </a:solidFill>
          <a:ln w="17780">
            <a:solidFill>
              <a:srgbClr val="F28E2B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4"/>
          <p:cNvSpPr/>
          <p:nvPr/>
        </p:nvSpPr>
        <p:spPr>
          <a:xfrm>
            <a:off x="969264" y="3904488"/>
            <a:ext cx="405079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50" dirty="0">
                <a:solidFill>
                  <a:srgbClr val="7A4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staircase is already a continuous-time waveform—but it contains spectral images and amplitude droop.</a:t>
            </a:r>
            <a:endParaRPr lang="en-US" sz="1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Deriving the ZOH frequency response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 the rectangular hold pulse.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658368" y="1271016"/>
            <a:ext cx="5175504" cy="731520"/>
          </a:xfrm>
          <a:prstGeom prst="roundRect">
            <a:avLst>
              <a:gd name="adj" fmla="val 6250"/>
            </a:avLst>
          </a:prstGeom>
          <a:solidFill>
            <a:srgbClr val="F7FAFC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18335" y="1325880"/>
            <a:ext cx="2655570" cy="621792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02342" y="2240280"/>
            <a:ext cx="2910516" cy="7315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675120" y="1508760"/>
            <a:ext cx="4572000" cy="2834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Linear phase term: e^{-jΩT/2} corresponds to a T/2 delay.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Magnitude term: sinc-shaped envelope.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frequencies are attenuated more than low frequencies.</a:t>
            </a:r>
            <a:endParaRPr lang="en-US" sz="2000" dirty="0"/>
          </a:p>
        </p:txBody>
      </p:sp>
      <p:sp>
        <p:nvSpPr>
          <p:cNvPr id="8" name="Shape 4"/>
          <p:cNvSpPr/>
          <p:nvPr/>
        </p:nvSpPr>
        <p:spPr>
          <a:xfrm>
            <a:off x="1097280" y="4069080"/>
            <a:ext cx="9784080" cy="777240"/>
          </a:xfrm>
          <a:prstGeom prst="roundRect">
            <a:avLst>
              <a:gd name="adj" fmla="val 8235"/>
            </a:avLst>
          </a:prstGeom>
          <a:solidFill>
            <a:srgbClr val="E8F7F7"/>
          </a:solidFill>
          <a:ln w="17780">
            <a:solidFill>
              <a:srgbClr val="00A6A6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1243584" y="4178808"/>
            <a:ext cx="949147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ΩT=π: |H|/T = 2/π ≈ 0.637 → −3.92 dB.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ZOH creates sinc-shaped amplitude droop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deterministic frequency response—not random noise.</a:t>
            </a:r>
            <a:endParaRPr lang="en-US" sz="1550" dirty="0"/>
          </a:p>
        </p:txBody>
      </p:sp>
      <p:pic>
        <p:nvPicPr>
          <p:cNvPr id="4" name="Image 0" descr="/mnt/data/week2_dsp_ml/assets/zoh_dro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7665" y="1325880"/>
            <a:ext cx="9886191" cy="4480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828800" y="5303520"/>
            <a:ext cx="8503920" cy="566928"/>
          </a:xfrm>
          <a:prstGeom prst="roundRect">
            <a:avLst>
              <a:gd name="adj" fmla="val 11290"/>
            </a:avLst>
          </a:prstGeom>
          <a:solidFill>
            <a:srgbClr val="F7FAFC"/>
          </a:solidFill>
          <a:ln w="17780">
            <a:solidFill>
              <a:srgbClr val="B9C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975104" y="5413248"/>
            <a:ext cx="8211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Reconstruction filtering can both suppress images and compensate some passband droop.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practical D/A chain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ZOH is only one stage; analog filtering completes the reconstruction.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2103120" cy="1005840"/>
          </a:xfrm>
          <a:prstGeom prst="roundRect">
            <a:avLst>
              <a:gd name="adj" fmla="val 5455"/>
            </a:avLst>
          </a:prstGeom>
          <a:solidFill>
            <a:srgbClr val="EDF3F7"/>
          </a:solidFill>
          <a:ln w="1905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2249424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 samples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$x[n]$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834640" y="2377440"/>
            <a:ext cx="347472" cy="347472"/>
          </a:xfrm>
          <a:prstGeom prst="chevron">
            <a:avLst/>
          </a:prstGeom>
          <a:solidFill>
            <a:srgbClr val="8CA0AC"/>
          </a:solidFill>
          <a:ln w="12700">
            <a:solidFill>
              <a:srgbClr val="8CA0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108960" y="2057400"/>
            <a:ext cx="2103120" cy="1005840"/>
          </a:xfrm>
          <a:prstGeom prst="roundRect">
            <a:avLst>
              <a:gd name="adj" fmla="val 5455"/>
            </a:avLst>
          </a:prstGeom>
          <a:solidFill>
            <a:srgbClr val="FFF2E6"/>
          </a:solidFill>
          <a:ln w="19050">
            <a:solidFill>
              <a:srgbClr val="F28E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0" y="2249424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DAC code +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zero-order hold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303520" y="2377440"/>
            <a:ext cx="347472" cy="347472"/>
          </a:xfrm>
          <a:prstGeom prst="chevron">
            <a:avLst/>
          </a:prstGeom>
          <a:solidFill>
            <a:srgbClr val="8CA0AC"/>
          </a:solidFill>
          <a:ln w="12700">
            <a:solidFill>
              <a:srgbClr val="8CA0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669280" y="2057400"/>
            <a:ext cx="2103120" cy="1005840"/>
          </a:xfrm>
          <a:prstGeom prst="roundRect">
            <a:avLst>
              <a:gd name="adj" fmla="val 5455"/>
            </a:avLst>
          </a:prstGeom>
          <a:solidFill>
            <a:srgbClr val="E8F7F7"/>
          </a:solidFill>
          <a:ln w="1905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760720" y="2249424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Analog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reconstruction LPF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863840" y="2377440"/>
            <a:ext cx="347472" cy="347472"/>
          </a:xfrm>
          <a:prstGeom prst="chevron">
            <a:avLst/>
          </a:prstGeom>
          <a:solidFill>
            <a:srgbClr val="8CA0AC"/>
          </a:solidFill>
          <a:ln w="12700">
            <a:solidFill>
              <a:srgbClr val="8CA0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229600" y="2057400"/>
            <a:ext cx="2103120" cy="1005840"/>
          </a:xfrm>
          <a:prstGeom prst="roundRect">
            <a:avLst>
              <a:gd name="adj" fmla="val 5455"/>
            </a:avLst>
          </a:prstGeom>
          <a:solidFill>
            <a:srgbClr val="EDF3F7"/>
          </a:solidFill>
          <a:ln w="1905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321040" y="2249424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 output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$x_r(t)$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005840" y="3886200"/>
            <a:ext cx="10058400" cy="914400"/>
          </a:xfrm>
          <a:prstGeom prst="roundRect">
            <a:avLst>
              <a:gd name="adj" fmla="val 7000"/>
            </a:avLst>
          </a:prstGeom>
          <a:solidFill>
            <a:srgbClr val="F7FAFC"/>
          </a:solidFill>
          <a:ln w="17780">
            <a:solidFill>
              <a:srgbClr val="16324F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152144" y="3995928"/>
            <a:ext cx="976579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analog LPF removes spectral images around multiples of f_s; oversampling gives the filter more transition width.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Quantization: the second discretization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Sampling discretizes time. Quantization discretizes amplitude.</a:t>
            </a:r>
            <a:endParaRPr lang="en-US" sz="1550" dirty="0"/>
          </a:p>
        </p:txBody>
      </p:sp>
      <p:pic>
        <p:nvPicPr>
          <p:cNvPr id="4" name="Image 0" descr="/mnt/data/week2_dsp_ml/assets/quant_stairc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544548"/>
            <a:ext cx="4754880" cy="386034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12648" y="1408176"/>
            <a:ext cx="4901184" cy="795528"/>
          </a:xfrm>
          <a:prstGeom prst="roundRect">
            <a:avLst>
              <a:gd name="adj" fmla="val 5747"/>
            </a:avLst>
          </a:prstGeom>
          <a:solidFill>
            <a:srgbClr val="F7FAFC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5800" y="1614211"/>
            <a:ext cx="4754880" cy="383458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28407" y="2423160"/>
            <a:ext cx="1155266" cy="64008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77240" y="3246120"/>
            <a:ext cx="4663440" cy="1920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 bits → 2^B nominal levels.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Δ is the quantizer step for full-scale range roughly [−A,A].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Overload/clipping is a separate failure mode when |x| exceeds the designed range.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additive quantization-noise model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Useful—but only under assumptions.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49808" y="1271016"/>
            <a:ext cx="4169664" cy="704088"/>
          </a:xfrm>
          <a:prstGeom prst="roundRect">
            <a:avLst>
              <a:gd name="adj" fmla="val 6494"/>
            </a:avLst>
          </a:prstGeom>
          <a:solidFill>
            <a:srgbClr val="F7FAFC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2960" y="1363488"/>
            <a:ext cx="4023360" cy="519143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2960" y="2235376"/>
            <a:ext cx="4572000" cy="485296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64139" y="3063240"/>
            <a:ext cx="3786922" cy="713232"/>
          </a:xfrm>
          <a:prstGeom prst="rect">
            <a:avLst/>
          </a:prstGeom>
        </p:spPr>
      </p:pic>
      <p:pic>
        <p:nvPicPr>
          <p:cNvPr id="8" name="Image 3" descr="/mnt/data/week2_dsp_ml/assets/quant_error_his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1807203"/>
            <a:ext cx="4663440" cy="2512074"/>
          </a:xfrm>
          <a:prstGeom prst="rect">
            <a:avLst/>
          </a:prstGeom>
        </p:spPr>
      </p:pic>
      <p:sp>
        <p:nvSpPr>
          <p:cNvPr id="9" name="Shape 3"/>
          <p:cNvSpPr/>
          <p:nvPr/>
        </p:nvSpPr>
        <p:spPr>
          <a:xfrm>
            <a:off x="6217920" y="4572000"/>
            <a:ext cx="4937760" cy="868680"/>
          </a:xfrm>
          <a:prstGeom prst="roundRect">
            <a:avLst>
              <a:gd name="adj" fmla="val 7368"/>
            </a:avLst>
          </a:prstGeom>
          <a:solidFill>
            <a:srgbClr val="FFF7E8"/>
          </a:solidFill>
          <a:ln w="17780">
            <a:solidFill>
              <a:srgbClr val="C99A2E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4"/>
          <p:cNvSpPr/>
          <p:nvPr/>
        </p:nvSpPr>
        <p:spPr>
          <a:xfrm>
            <a:off x="6364224" y="4681728"/>
            <a:ext cx="464515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50" dirty="0">
                <a:solidFill>
                  <a:srgbClr val="7052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approximation when the signal spans many levels and the error is sufficiently decorrelated from the signal.</a:t>
            </a:r>
            <a:endParaRPr lang="en-US" sz="1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Derive the quantization-noise variance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Uniform error over one quantization interval.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658368" y="1225296"/>
            <a:ext cx="5175504" cy="795528"/>
          </a:xfrm>
          <a:prstGeom prst="roundRect">
            <a:avLst>
              <a:gd name="adj" fmla="val 5747"/>
            </a:avLst>
          </a:prstGeom>
          <a:solidFill>
            <a:srgbClr val="F7FAFC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6158" y="1280160"/>
            <a:ext cx="4659923" cy="68580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67768" y="2286000"/>
            <a:ext cx="3402623" cy="8229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051560" y="3794760"/>
            <a:ext cx="9966960" cy="914400"/>
          </a:xfrm>
          <a:prstGeom prst="roundRect">
            <a:avLst>
              <a:gd name="adj" fmla="val 7000"/>
            </a:avLst>
          </a:prstGeom>
          <a:solidFill>
            <a:srgbClr val="E8F7F7"/>
          </a:solidFill>
          <a:ln w="17780">
            <a:solidFill>
              <a:srgbClr val="00A6A6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1197864" y="3904488"/>
            <a:ext cx="9674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additional bit halves Δ → noise power falls by a factor of 4 → about 6 dB improvement.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Full-scale sine SQNR: where 6.02B + 1.76 dB comes from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not an arbitrary rule of thumb; it follows from signal and error power.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521208" y="1271016"/>
            <a:ext cx="10936224" cy="841248"/>
          </a:xfrm>
          <a:prstGeom prst="roundRect">
            <a:avLst>
              <a:gd name="adj" fmla="val 5435"/>
            </a:avLst>
          </a:prstGeom>
          <a:solidFill>
            <a:srgbClr val="F7FAFC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16349" y="1325880"/>
            <a:ext cx="5545942" cy="73152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25583" y="2331720"/>
            <a:ext cx="5761714" cy="7772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2350008" y="3419856"/>
            <a:ext cx="7461504" cy="950976"/>
          </a:xfrm>
          <a:prstGeom prst="roundRect">
            <a:avLst>
              <a:gd name="adj" fmla="val 4808"/>
            </a:avLst>
          </a:prstGeom>
          <a:solidFill>
            <a:srgbClr val="E8F7F7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85723" y="3474720"/>
            <a:ext cx="6790073" cy="841248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1828800" y="4709160"/>
            <a:ext cx="8503920" cy="685800"/>
          </a:xfrm>
          <a:prstGeom prst="roundRect">
            <a:avLst>
              <a:gd name="adj" fmla="val 9333"/>
            </a:avLst>
          </a:prstGeom>
          <a:solidFill>
            <a:srgbClr val="FFF2E6"/>
          </a:solidFill>
          <a:ln w="17780">
            <a:solidFill>
              <a:srgbClr val="F28E2B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5"/>
          <p:cNvSpPr/>
          <p:nvPr/>
        </p:nvSpPr>
        <p:spPr>
          <a:xfrm>
            <a:off x="1975104" y="4818888"/>
            <a:ext cx="821131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50" dirty="0">
                <a:solidFill>
                  <a:srgbClr val="7A4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+1.76 dB constant is specific to a full-scale sine and the ideal uniform-quantizer model.</a:t>
            </a:r>
            <a:endParaRPr lang="en-US" sz="1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About 6 dB per bit—verified numerically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simple model is remarkably accurate at moderate/high resolution.</a:t>
            </a:r>
            <a:endParaRPr lang="en-US" sz="1550" dirty="0"/>
          </a:p>
        </p:txBody>
      </p:sp>
      <p:pic>
        <p:nvPicPr>
          <p:cNvPr id="4" name="Image 0" descr="/mnt/data/week2_dsp_ml/assets/sqnr_ru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582843"/>
            <a:ext cx="7498080" cy="387519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412480" y="1645920"/>
            <a:ext cx="2926080" cy="1234440"/>
          </a:xfrm>
          <a:prstGeom prst="roundRect">
            <a:avLst>
              <a:gd name="adj" fmla="val 5185"/>
            </a:avLst>
          </a:prstGeom>
          <a:solidFill>
            <a:srgbClr val="FFF7E8"/>
          </a:solidFill>
          <a:ln w="17780">
            <a:solidFill>
              <a:srgbClr val="C99A2E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558784" y="1755648"/>
            <a:ext cx="2633472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7052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4-bit results deviate more because the high-resolution assumptions are weak.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8412480" y="3337560"/>
            <a:ext cx="2926080" cy="1097280"/>
          </a:xfrm>
          <a:prstGeom prst="roundRect">
            <a:avLst>
              <a:gd name="adj" fmla="val 5833"/>
            </a:avLst>
          </a:prstGeom>
          <a:solidFill>
            <a:srgbClr val="E8F7F7"/>
          </a:solidFill>
          <a:ln w="17780">
            <a:solidFill>
              <a:srgbClr val="00A6A6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558784" y="3447288"/>
            <a:ext cx="263347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16-bit full-scale sine theory: 98.08 dB SQNR.</a:t>
            </a:r>
            <a:endParaRPr lang="en-US" sz="1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16-bit audio: “96 dB” and “98 dB” can both appear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They refer to slightly different reference calculations.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658368" y="13258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dB/bit rule of thumb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309360" y="13258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8E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Full-scale sine SQNR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04088" y="1819656"/>
            <a:ext cx="4946904" cy="795528"/>
          </a:xfrm>
          <a:prstGeom prst="roundRect">
            <a:avLst>
              <a:gd name="adj" fmla="val 5747"/>
            </a:avLst>
          </a:prstGeom>
          <a:solidFill>
            <a:srgbClr val="F7FAFC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7240" y="1954701"/>
            <a:ext cx="4800600" cy="525439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190488" y="1819656"/>
            <a:ext cx="4946904" cy="795528"/>
          </a:xfrm>
          <a:prstGeom prst="roundRect">
            <a:avLst>
              <a:gd name="adj" fmla="val 5747"/>
            </a:avLst>
          </a:prstGeom>
          <a:solidFill>
            <a:srgbClr val="F7FAFC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63640" y="2014728"/>
            <a:ext cx="4800600" cy="40538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822960" y="3108960"/>
            <a:ext cx="4754880" cy="1051560"/>
          </a:xfrm>
          <a:prstGeom prst="roundRect">
            <a:avLst>
              <a:gd name="adj" fmla="val 6087"/>
            </a:avLst>
          </a:prstGeom>
          <a:solidFill>
            <a:srgbClr val="F7FAFC"/>
          </a:solidFill>
          <a:ln w="17780">
            <a:solidFill>
              <a:srgbClr val="16324F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969264" y="3218688"/>
            <a:ext cx="446227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96.3 dB is the amplitude ratio across 16 binary bits.</a:t>
            </a:r>
            <a:endParaRPr lang="en-US" sz="1900" dirty="0"/>
          </a:p>
        </p:txBody>
      </p:sp>
      <p:sp>
        <p:nvSpPr>
          <p:cNvPr id="12" name="Shape 8"/>
          <p:cNvSpPr/>
          <p:nvPr/>
        </p:nvSpPr>
        <p:spPr>
          <a:xfrm>
            <a:off x="6309360" y="3108960"/>
            <a:ext cx="4754880" cy="1051560"/>
          </a:xfrm>
          <a:prstGeom prst="roundRect">
            <a:avLst>
              <a:gd name="adj" fmla="val 6087"/>
            </a:avLst>
          </a:prstGeom>
          <a:solidFill>
            <a:srgbClr val="E8F7F7"/>
          </a:solidFill>
          <a:ln w="17780">
            <a:solidFill>
              <a:srgbClr val="00A6A6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6455664" y="3218688"/>
            <a:ext cx="446227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5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98.1 dB includes the RMS power of a full-scale sine and uniform error model.</a:t>
            </a:r>
            <a:endParaRPr lang="en-US" sz="1850" dirty="0"/>
          </a:p>
        </p:txBody>
      </p:sp>
      <p:sp>
        <p:nvSpPr>
          <p:cNvPr id="14" name="Shape 10"/>
          <p:cNvSpPr/>
          <p:nvPr/>
        </p:nvSpPr>
        <p:spPr>
          <a:xfrm>
            <a:off x="2834640" y="4754880"/>
            <a:ext cx="6583680" cy="594360"/>
          </a:xfrm>
          <a:prstGeom prst="roundRect">
            <a:avLst>
              <a:gd name="adj" fmla="val 10769"/>
            </a:avLst>
          </a:prstGeom>
          <a:solidFill>
            <a:srgbClr val="FFF2E6"/>
          </a:solidFill>
          <a:ln w="17780">
            <a:solidFill>
              <a:srgbClr val="F28E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2980944" y="4864608"/>
            <a:ext cx="62910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7A4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 precise about what quantity is being compared.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PCM storage is not the same thing as ML compute dtype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Casting to float changes representation—not the information already captured.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5303520" cy="1920240"/>
          </a:xfrm>
          <a:prstGeom prst="roundRect">
            <a:avLst>
              <a:gd name="adj" fmla="val 2381"/>
            </a:avLst>
          </a:prstGeom>
          <a:solidFill>
            <a:srgbClr val="0D1821"/>
          </a:solidFill>
          <a:ln w="15240">
            <a:solidFill>
              <a:srgbClr val="2034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0392" y="1554480"/>
            <a:ext cx="497433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50" dirty="0">
                <a:solidFill>
                  <a:srgbClr val="EAF2F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pcm = np.array(..., dtype=np.int16)</a:t>
            </a:r>
            <a:endParaRPr lang="en-US" sz="1750" dirty="0"/>
          </a:p>
          <a:p>
            <a:pPr marL="0" indent="0">
              <a:buNone/>
            </a:pPr>
            <a:r>
              <a:rPr lang="en-US" sz="1750" dirty="0">
                <a:solidFill>
                  <a:srgbClr val="EAF2F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x = pcm.astype(np.float32) / 32768.0</a:t>
            </a:r>
            <a:endParaRPr lang="en-US" sz="1750" dirty="0"/>
          </a:p>
          <a:p>
            <a:pPr marL="0" indent="0">
              <a:buNone/>
            </a:pPr>
            <a:r>
              <a:rPr lang="en-US" sz="1750" dirty="0">
                <a:solidFill>
                  <a:srgbClr val="EAF2F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xt = torch.from_numpy(x)</a:t>
            </a:r>
            <a:endParaRPr lang="en-US" sz="1750" dirty="0"/>
          </a:p>
          <a:p>
            <a:pPr marL="0" indent="0">
              <a:buNone/>
            </a:pPr>
            <a:r>
              <a:rPr lang="en-US" sz="1750" dirty="0">
                <a:solidFill>
                  <a:srgbClr val="EAF2F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 xt.dtype == torch.float32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6263640" y="1417320"/>
            <a:ext cx="5120640" cy="3566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buSzPct val="100000"/>
              <a:buChar char="•"/>
            </a:pPr>
            <a:r>
              <a:rPr lang="en-US" sz="18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16-bit PCM: discrete integer codes from the recording/ADC pipeline.</a:t>
            </a:r>
            <a:endParaRPr lang="en-US" sz="1850" dirty="0"/>
          </a:p>
          <a:p>
            <a:pPr marL="228600" indent="-228600">
              <a:buSzPct val="100000"/>
              <a:buChar char="•"/>
            </a:pPr>
            <a:r>
              <a:rPr lang="en-US" sz="18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float32 tensor: convenient numerical format for DSP and neural-network arithmetic.</a:t>
            </a:r>
            <a:endParaRPr lang="en-US" sz="1850" dirty="0"/>
          </a:p>
          <a:p>
            <a:pPr marL="228600" indent="-228600">
              <a:buSzPct val="100000"/>
              <a:buChar char="•"/>
            </a:pPr>
            <a:r>
              <a:rPr lang="en-US" sz="18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Converting int16 → float32 cannot recreate amplitude values between the original quantization levels.</a:t>
            </a:r>
            <a:endParaRPr lang="en-US" sz="1850" dirty="0"/>
          </a:p>
          <a:p>
            <a:pPr marL="228600" indent="-228600">
              <a:buSzPct val="100000"/>
              <a:buChar char="•"/>
            </a:pPr>
            <a:r>
              <a:rPr lang="en-US" sz="18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float32 tensor can still contain badly aliased or coarsely quantized data.</a:t>
            </a:r>
            <a:endParaRPr lang="en-US" sz="1850" dirty="0"/>
          </a:p>
        </p:txBody>
      </p:sp>
      <p:sp>
        <p:nvSpPr>
          <p:cNvPr id="7" name="Shape 5"/>
          <p:cNvSpPr/>
          <p:nvPr/>
        </p:nvSpPr>
        <p:spPr>
          <a:xfrm>
            <a:off x="1097280" y="4160520"/>
            <a:ext cx="9966960" cy="777240"/>
          </a:xfrm>
          <a:prstGeom prst="roundRect">
            <a:avLst>
              <a:gd name="adj" fmla="val 8235"/>
            </a:avLst>
          </a:prstGeom>
          <a:solidFill>
            <a:srgbClr val="E8F7F7"/>
          </a:solidFill>
          <a:ln w="17780">
            <a:solidFill>
              <a:srgbClr val="00A6A6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243584" y="4270248"/>
            <a:ext cx="967435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bits in the variable ≠ more bits of information in the measurement.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5014A7-F089-9479-1F95-04134F229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5E0DF6C-A2A7-FD7C-2108-89EA1810D7D4}"/>
              </a:ext>
            </a:extLst>
          </p:cNvPr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audio demo: listen in this order</a:t>
            </a:r>
            <a:endParaRPr lang="en-US" sz="3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54FC120-B5E6-AE5E-BB85-E5FE02B17EA6}"/>
              </a:ext>
            </a:extLst>
          </p:cNvPr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package includes pre-generated WAV files and notebook code.</a:t>
            </a:r>
            <a:endParaRPr lang="en-US" sz="155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2BDC1C6-595B-C85B-CE8A-D9DF611759F1}"/>
              </a:ext>
            </a:extLst>
          </p:cNvPr>
          <p:cNvSpPr/>
          <p:nvPr/>
        </p:nvSpPr>
        <p:spPr>
          <a:xfrm>
            <a:off x="777240" y="1234440"/>
            <a:ext cx="502920" cy="502920"/>
          </a:xfrm>
          <a:prstGeom prst="ellipse">
            <a:avLst/>
          </a:prstGeom>
          <a:solidFill>
            <a:srgbClr val="00A6A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6903BA3-0725-11C1-4D94-63F5DA0BCD9E}"/>
              </a:ext>
            </a:extLst>
          </p:cNvPr>
          <p:cNvSpPr/>
          <p:nvPr/>
        </p:nvSpPr>
        <p:spPr>
          <a:xfrm>
            <a:off x="777240" y="135331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0D0B0C5-3047-AFE8-C5F7-4C457565B81C}"/>
              </a:ext>
            </a:extLst>
          </p:cNvPr>
          <p:cNvSpPr/>
          <p:nvPr/>
        </p:nvSpPr>
        <p:spPr>
          <a:xfrm>
            <a:off x="1508760" y="12618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 48 kHz</a:t>
            </a:r>
            <a:endParaRPr lang="en-US" sz="20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EAED76A-F3CB-F127-E62A-FE9910A00A9F}"/>
              </a:ext>
            </a:extLst>
          </p:cNvPr>
          <p:cNvSpPr/>
          <p:nvPr/>
        </p:nvSpPr>
        <p:spPr>
          <a:xfrm>
            <a:off x="4572000" y="128016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</a:t>
            </a:r>
            <a:endParaRPr lang="en-US" sz="18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D881A843-1742-6565-857F-B56821646C6F}"/>
              </a:ext>
            </a:extLst>
          </p:cNvPr>
          <p:cNvSpPr/>
          <p:nvPr/>
        </p:nvSpPr>
        <p:spPr>
          <a:xfrm>
            <a:off x="777240" y="2075688"/>
            <a:ext cx="502920" cy="502920"/>
          </a:xfrm>
          <a:prstGeom prst="ellipse">
            <a:avLst/>
          </a:prstGeom>
          <a:solidFill>
            <a:srgbClr val="D84A3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859AC50-CA38-B9BF-50CA-32028768116C}"/>
              </a:ext>
            </a:extLst>
          </p:cNvPr>
          <p:cNvSpPr/>
          <p:nvPr/>
        </p:nvSpPr>
        <p:spPr>
          <a:xfrm>
            <a:off x="777240" y="219456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62C8286B-0F76-6A62-DD66-B21C1BBE3B05}"/>
              </a:ext>
            </a:extLst>
          </p:cNvPr>
          <p:cNvSpPr/>
          <p:nvPr/>
        </p:nvSpPr>
        <p:spPr>
          <a:xfrm>
            <a:off x="1508760" y="21031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Naive 48→12 kHz</a:t>
            </a:r>
            <a:endParaRPr lang="en-US" sz="20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4224055A-4AEB-DC22-9758-CF5DE50A08F1}"/>
              </a:ext>
            </a:extLst>
          </p:cNvPr>
          <p:cNvSpPr/>
          <p:nvPr/>
        </p:nvSpPr>
        <p:spPr>
          <a:xfrm>
            <a:off x="777240" y="2916936"/>
            <a:ext cx="502920" cy="502920"/>
          </a:xfrm>
          <a:prstGeom prst="ellipse">
            <a:avLst/>
          </a:prstGeom>
          <a:solidFill>
            <a:srgbClr val="2C8C6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2428B322-F1DC-69F6-1AE0-44C9CF3C14F4}"/>
              </a:ext>
            </a:extLst>
          </p:cNvPr>
          <p:cNvSpPr/>
          <p:nvPr/>
        </p:nvSpPr>
        <p:spPr>
          <a:xfrm>
            <a:off x="777240" y="303580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020EFC7E-AD20-AFF5-0F16-B1774E9BF8CB}"/>
              </a:ext>
            </a:extLst>
          </p:cNvPr>
          <p:cNvSpPr/>
          <p:nvPr/>
        </p:nvSpPr>
        <p:spPr>
          <a:xfrm>
            <a:off x="1508760" y="29443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Filtered 48→12 kHz</a:t>
            </a:r>
            <a:endParaRPr lang="en-US" sz="20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5D3CB554-4087-87C2-A72F-5D935486DE13}"/>
              </a:ext>
            </a:extLst>
          </p:cNvPr>
          <p:cNvSpPr/>
          <p:nvPr/>
        </p:nvSpPr>
        <p:spPr>
          <a:xfrm>
            <a:off x="777240" y="3758184"/>
            <a:ext cx="502920" cy="5029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7803718D-6D50-0658-4E6C-736530F557E0}"/>
              </a:ext>
            </a:extLst>
          </p:cNvPr>
          <p:cNvSpPr/>
          <p:nvPr/>
        </p:nvSpPr>
        <p:spPr>
          <a:xfrm>
            <a:off x="777240" y="387705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3B9C1E35-6A43-E2F2-4520-444B6E7A9961}"/>
              </a:ext>
            </a:extLst>
          </p:cNvPr>
          <p:cNvSpPr/>
          <p:nvPr/>
        </p:nvSpPr>
        <p:spPr>
          <a:xfrm>
            <a:off x="1508760" y="378561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8-bit quantized</a:t>
            </a:r>
            <a:endParaRPr lang="en-US" sz="20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16D99859-5D27-2FD9-3BB5-2C8C0A5B4295}"/>
              </a:ext>
            </a:extLst>
          </p:cNvPr>
          <p:cNvSpPr/>
          <p:nvPr/>
        </p:nvSpPr>
        <p:spPr>
          <a:xfrm>
            <a:off x="777240" y="4599432"/>
            <a:ext cx="502920" cy="5029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FF82A659-ED76-8102-E671-ACB8AADC0312}"/>
              </a:ext>
            </a:extLst>
          </p:cNvPr>
          <p:cNvSpPr/>
          <p:nvPr/>
        </p:nvSpPr>
        <p:spPr>
          <a:xfrm>
            <a:off x="777240" y="471830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825453B2-C090-1685-1462-B784CAA5C70D}"/>
              </a:ext>
            </a:extLst>
          </p:cNvPr>
          <p:cNvSpPr/>
          <p:nvPr/>
        </p:nvSpPr>
        <p:spPr>
          <a:xfrm>
            <a:off x="1508760" y="462686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4-bit quantized</a:t>
            </a:r>
            <a:endParaRPr lang="en-US" sz="200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CED2C40C-FE41-3644-015F-666D09CAAF76}"/>
              </a:ext>
            </a:extLst>
          </p:cNvPr>
          <p:cNvSpPr/>
          <p:nvPr/>
        </p:nvSpPr>
        <p:spPr>
          <a:xfrm>
            <a:off x="7223760" y="5394960"/>
            <a:ext cx="3840480" cy="594360"/>
          </a:xfrm>
          <a:prstGeom prst="roundRect">
            <a:avLst>
              <a:gd name="adj" fmla="val 10769"/>
            </a:avLst>
          </a:prstGeom>
          <a:solidFill>
            <a:srgbClr val="FFF7E8"/>
          </a:solidFill>
          <a:ln w="17780">
            <a:solidFill>
              <a:srgbClr val="C99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943B7CD6-107A-F6BB-F8A3-61212647E704}"/>
              </a:ext>
            </a:extLst>
          </p:cNvPr>
          <p:cNvSpPr/>
          <p:nvPr/>
        </p:nvSpPr>
        <p:spPr>
          <a:xfrm>
            <a:off x="7370064" y="5504688"/>
            <a:ext cx="35478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7052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students to predict what changes before playing each file.</a:t>
            </a:r>
            <a:endParaRPr lang="en-US" sz="1700" dirty="0"/>
          </a:p>
        </p:txBody>
      </p:sp>
      <p:sp>
        <p:nvSpPr>
          <p:cNvPr id="26" name="Slide Number Placeholder 0">
            <a:extLst>
              <a:ext uri="{FF2B5EF4-FFF2-40B4-BE49-F238E27FC236}">
                <a16:creationId xmlns:a16="http://schemas.microsoft.com/office/drawing/2014/main" id="{0057754A-19DE-6E49-DED1-B4451C2FEA8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8805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audio demo: listen in this order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package includes pre-generated WAV files and notebook code.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77240" y="1234440"/>
            <a:ext cx="502920" cy="502920"/>
          </a:xfrm>
          <a:prstGeom prst="ellipse">
            <a:avLst/>
          </a:prstGeom>
          <a:solidFill>
            <a:srgbClr val="00A6A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35331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508760" y="12618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 48 kHz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0" y="128016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77240" y="2075688"/>
            <a:ext cx="502920" cy="502920"/>
          </a:xfrm>
          <a:prstGeom prst="ellipse">
            <a:avLst/>
          </a:prstGeom>
          <a:solidFill>
            <a:srgbClr val="D84A3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219456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508760" y="21031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Naive 48→12 kHz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0" y="212140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hear aliasing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77240" y="2916936"/>
            <a:ext cx="502920" cy="502920"/>
          </a:xfrm>
          <a:prstGeom prst="ellipse">
            <a:avLst/>
          </a:prstGeom>
          <a:solidFill>
            <a:srgbClr val="2C8C6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77240" y="303580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508760" y="29443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Filtered 48→12 kHz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72000" y="296265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controlled bandwidth loss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77240" y="3758184"/>
            <a:ext cx="502920" cy="5029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7240" y="387705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508760" y="378561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8-bit quantized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572000" y="3803904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notice noise floor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77240" y="4599432"/>
            <a:ext cx="502920" cy="5029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77240" y="471830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508760" y="462686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4-bit quantized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572000" y="464515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 granular/fuzzy error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223760" y="5394960"/>
            <a:ext cx="3840480" cy="594360"/>
          </a:xfrm>
          <a:prstGeom prst="roundRect">
            <a:avLst>
              <a:gd name="adj" fmla="val 10769"/>
            </a:avLst>
          </a:prstGeom>
          <a:solidFill>
            <a:srgbClr val="FFF7E8"/>
          </a:solidFill>
          <a:ln w="17780">
            <a:solidFill>
              <a:srgbClr val="C99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370064" y="5504688"/>
            <a:ext cx="35478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7052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students to predict what changes before playing each file.</a:t>
            </a:r>
            <a:endParaRPr lang="en-US" sz="17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4-bit quantization does to a spectrogram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error is often broad-band, but it need not be perfectly white or independent.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658368" y="13258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309360" y="13258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8E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4-bit</a:t>
            </a:r>
            <a:endParaRPr lang="en-US" sz="1800" dirty="0"/>
          </a:p>
        </p:txBody>
      </p:sp>
      <p:pic>
        <p:nvPicPr>
          <p:cNvPr id="6" name="Image 0" descr="/mnt/data/week2_dsp_ml/assets/spec_quant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346087"/>
            <a:ext cx="5394960" cy="2531586"/>
          </a:xfrm>
          <a:prstGeom prst="rect">
            <a:avLst/>
          </a:prstGeom>
        </p:spPr>
      </p:pic>
      <p:pic>
        <p:nvPicPr>
          <p:cNvPr id="7" name="Image 1" descr="/mnt/data/week2_dsp_ml/assets/spec_quant_4b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2346087"/>
            <a:ext cx="5394960" cy="253158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Graduate nuance: when the “white quantization noise” story breaks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Dither is one tool for trading correlated distortion for more noise-like error.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6675120" cy="4206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buSzPct val="100000"/>
              <a:buChar char="•"/>
            </a:pPr>
            <a:r>
              <a:rPr lang="en-US" sz="19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Low-level sinusoids can produce periodic, signal-correlated error rather than white noise.</a:t>
            </a:r>
            <a:endParaRPr lang="en-US" sz="1950" dirty="0"/>
          </a:p>
          <a:p>
            <a:pPr marL="228600" indent="-228600">
              <a:buSzPct val="100000"/>
              <a:buChar char="•"/>
            </a:pPr>
            <a:r>
              <a:rPr lang="en-US" sz="19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Overload clipping is nonlinear distortion and is not captured by Δ²/12.</a:t>
            </a:r>
            <a:endParaRPr lang="en-US" sz="1950" dirty="0"/>
          </a:p>
          <a:p>
            <a:pPr marL="228600" indent="-228600">
              <a:buSzPct val="100000"/>
              <a:buChar char="•"/>
            </a:pPr>
            <a:r>
              <a:rPr lang="en-US" sz="19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Dither intentionally adds noise before quantization to decorrelate the quantization error.</a:t>
            </a:r>
            <a:endParaRPr lang="en-US" sz="1950" dirty="0"/>
          </a:p>
          <a:p>
            <a:pPr marL="228600" indent="-228600">
              <a:buSzPct val="100000"/>
              <a:buChar char="•"/>
            </a:pPr>
            <a:r>
              <a:rPr lang="en-US" sz="19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Noise shaping can push quantization noise toward frequency regions that matter less—but requires feedback/oversampling ideas beyond today.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7818120" y="1737360"/>
            <a:ext cx="3337560" cy="2194560"/>
          </a:xfrm>
          <a:prstGeom prst="roundRect">
            <a:avLst>
              <a:gd name="adj" fmla="val 2917"/>
            </a:avLst>
          </a:prstGeom>
          <a:solidFill>
            <a:srgbClr val="FFF2E6"/>
          </a:solidFill>
          <a:ln w="17780">
            <a:solidFill>
              <a:srgbClr val="F28E2B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964424" y="1847088"/>
            <a:ext cx="3044952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7A4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Modeling lesson for ML: know which “noise assumptions” are physics and which are convenient approximations.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Exit check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Students answer individually; collect or discuss in the last two minutes.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822960" y="1417320"/>
            <a:ext cx="10515600" cy="685800"/>
          </a:xfrm>
          <a:prstGeom prst="roundRect">
            <a:avLst>
              <a:gd name="adj" fmla="val 9333"/>
            </a:avLst>
          </a:prstGeom>
          <a:solidFill>
            <a:srgbClr val="F7FAFC"/>
          </a:solidFill>
          <a:ln w="17780">
            <a:solidFill>
              <a:srgbClr val="16324F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9264" y="1527048"/>
            <a:ext cx="1022299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 Why does ideal reconstruction use sinc functions?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2960" y="2423160"/>
            <a:ext cx="10515600" cy="685800"/>
          </a:xfrm>
          <a:prstGeom prst="roundRect">
            <a:avLst>
              <a:gd name="adj" fmla="val 9333"/>
            </a:avLst>
          </a:prstGeom>
          <a:solidFill>
            <a:srgbClr val="F7FAFC"/>
          </a:solidFill>
          <a:ln w="17780">
            <a:solidFill>
              <a:srgbClr val="F28E2B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69264" y="2532888"/>
            <a:ext cx="1022299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7A4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 What deterministic frequency-domain effect does a ZOH introduce?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3429000"/>
            <a:ext cx="10515600" cy="685800"/>
          </a:xfrm>
          <a:prstGeom prst="roundRect">
            <a:avLst>
              <a:gd name="adj" fmla="val 9333"/>
            </a:avLst>
          </a:prstGeom>
          <a:solidFill>
            <a:srgbClr val="F7FAFC"/>
          </a:solidFill>
          <a:ln w="17780">
            <a:solidFill>
              <a:srgbClr val="00A6A6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69264" y="3538728"/>
            <a:ext cx="1022299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 A full-scale 12-bit sine has approximately what ideal SQNR?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EF478-CC9C-4D6F-91BE-8A6733530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B402028-2CF1-2113-87CD-3107422BBCDD}"/>
              </a:ext>
            </a:extLst>
          </p:cNvPr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Exit check</a:t>
            </a:r>
            <a:endParaRPr lang="en-US" sz="3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34A7E21-4033-46F7-3D99-714B664684B5}"/>
              </a:ext>
            </a:extLst>
          </p:cNvPr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Students answer individually; collect or discuss in the last two minutes.</a:t>
            </a:r>
            <a:endParaRPr lang="en-US" sz="155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FCF963A-C328-337D-7B58-C30DE45DEDCF}"/>
              </a:ext>
            </a:extLst>
          </p:cNvPr>
          <p:cNvSpPr/>
          <p:nvPr/>
        </p:nvSpPr>
        <p:spPr>
          <a:xfrm>
            <a:off x="822960" y="1417320"/>
            <a:ext cx="10515600" cy="685800"/>
          </a:xfrm>
          <a:prstGeom prst="roundRect">
            <a:avLst>
              <a:gd name="adj" fmla="val 9333"/>
            </a:avLst>
          </a:prstGeom>
          <a:solidFill>
            <a:srgbClr val="F7FAFC"/>
          </a:solidFill>
          <a:ln w="17780">
            <a:solidFill>
              <a:srgbClr val="16324F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131F8D4-02BE-B8DD-F0C8-5EDECF8A343A}"/>
              </a:ext>
            </a:extLst>
          </p:cNvPr>
          <p:cNvSpPr/>
          <p:nvPr/>
        </p:nvSpPr>
        <p:spPr>
          <a:xfrm>
            <a:off x="969264" y="1527048"/>
            <a:ext cx="1022299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 Why does ideal reconstruction use sinc functions?</a:t>
            </a:r>
            <a:endParaRPr lang="en-US" sz="20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4ADA08F-9250-A6EF-092D-2D2E9132AC45}"/>
              </a:ext>
            </a:extLst>
          </p:cNvPr>
          <p:cNvSpPr/>
          <p:nvPr/>
        </p:nvSpPr>
        <p:spPr>
          <a:xfrm>
            <a:off x="822960" y="2423160"/>
            <a:ext cx="10515600" cy="685800"/>
          </a:xfrm>
          <a:prstGeom prst="roundRect">
            <a:avLst>
              <a:gd name="adj" fmla="val 9333"/>
            </a:avLst>
          </a:prstGeom>
          <a:solidFill>
            <a:srgbClr val="F7FAFC"/>
          </a:solidFill>
          <a:ln w="17780">
            <a:solidFill>
              <a:srgbClr val="F28E2B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54FD53B-E5C9-0219-B91E-1383A54F5E45}"/>
              </a:ext>
            </a:extLst>
          </p:cNvPr>
          <p:cNvSpPr/>
          <p:nvPr/>
        </p:nvSpPr>
        <p:spPr>
          <a:xfrm>
            <a:off x="969264" y="2532888"/>
            <a:ext cx="1022299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7A4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 What deterministic frequency-domain effect does a ZOH introduce?</a:t>
            </a:r>
            <a:endParaRPr lang="en-US" sz="20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9B5F559B-CF7F-8F9C-55A2-694DB4B5B6B7}"/>
              </a:ext>
            </a:extLst>
          </p:cNvPr>
          <p:cNvSpPr/>
          <p:nvPr/>
        </p:nvSpPr>
        <p:spPr>
          <a:xfrm>
            <a:off x="822960" y="3429000"/>
            <a:ext cx="10515600" cy="685800"/>
          </a:xfrm>
          <a:prstGeom prst="roundRect">
            <a:avLst>
              <a:gd name="adj" fmla="val 9333"/>
            </a:avLst>
          </a:prstGeom>
          <a:solidFill>
            <a:srgbClr val="F7FAFC"/>
          </a:solidFill>
          <a:ln w="17780">
            <a:solidFill>
              <a:srgbClr val="00A6A6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29941B5-269A-84EE-EC32-FA71C175A690}"/>
              </a:ext>
            </a:extLst>
          </p:cNvPr>
          <p:cNvSpPr/>
          <p:nvPr/>
        </p:nvSpPr>
        <p:spPr>
          <a:xfrm>
            <a:off x="969264" y="3538728"/>
            <a:ext cx="1022299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 A full-scale 12-bit sine has approximately what ideal SQNR?</a:t>
            </a:r>
            <a:endParaRPr lang="en-US" sz="20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78A417D4-47D2-820B-2823-2F211C6BF30D}"/>
              </a:ext>
            </a:extLst>
          </p:cNvPr>
          <p:cNvSpPr/>
          <p:nvPr/>
        </p:nvSpPr>
        <p:spPr>
          <a:xfrm>
            <a:off x="960120" y="461772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50" i="1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Answers: 1) sinc is the impulse response of the ideal bandlimiting reconstruction filter.  2) sinc-shaped magnitude droop (plus linear phase/delay).  3) ≈ 74 dB.</a:t>
            </a:r>
            <a:endParaRPr lang="en-US" sz="175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6C460C52-7C8F-0DD4-2CA5-90F05B094CB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5544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4 summary: faithful digital audio needs both time and amplitude integrity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Sampling theory, reconstruction, and quantization are one end-to-end system.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868680" y="1371600"/>
            <a:ext cx="6858000" cy="4297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buSzPct val="100000"/>
              <a:buChar char="•"/>
            </a:pPr>
            <a:r>
              <a:rPr lang="en-US" sz="19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Ideal D/C isolates one spectrum replica and yields sinc interpolation.</a:t>
            </a:r>
            <a:endParaRPr lang="en-US" sz="1950" dirty="0"/>
          </a:p>
          <a:p>
            <a:pPr marL="228600" indent="-228600">
              <a:buSzPct val="100000"/>
              <a:buChar char="•"/>
            </a:pPr>
            <a:r>
              <a:rPr lang="en-US" sz="19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zero-order hold is practical but imposes sinc-shaped passband droop and spectral images.</a:t>
            </a:r>
            <a:endParaRPr lang="en-US" sz="1950" dirty="0"/>
          </a:p>
          <a:p>
            <a:pPr marL="228600" indent="-228600">
              <a:buSzPct val="100000"/>
              <a:buChar char="•"/>
            </a:pPr>
            <a:r>
              <a:rPr lang="en-US" sz="19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B-bit uniform quantizer has step Δ≈2A/2^B; under standard assumptions σ_e²≈Δ²/12.</a:t>
            </a:r>
            <a:endParaRPr lang="en-US" sz="1950" dirty="0"/>
          </a:p>
          <a:p>
            <a:pPr marL="228600" indent="-228600">
              <a:buSzPct val="100000"/>
              <a:buChar char="•"/>
            </a:pPr>
            <a:r>
              <a:rPr lang="en-US" sz="19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full-scale sine gives SQNR≈6.02B+1.76 dB.</a:t>
            </a:r>
            <a:endParaRPr lang="en-US" sz="1950" dirty="0"/>
          </a:p>
          <a:p>
            <a:pPr marL="228600" indent="-228600">
              <a:buSzPct val="100000"/>
              <a:buChar char="•"/>
            </a:pPr>
            <a:r>
              <a:rPr lang="en-US" sz="19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int16→float32 is a computational conversion; it does not undo aliasing or quantization.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8001000" y="1737360"/>
            <a:ext cx="3337560" cy="2240280"/>
          </a:xfrm>
          <a:prstGeom prst="roundRect">
            <a:avLst>
              <a:gd name="adj" fmla="val 2857"/>
            </a:avLst>
          </a:prstGeom>
          <a:solidFill>
            <a:srgbClr val="E8F7F7"/>
          </a:solidFill>
          <a:ln w="17780">
            <a:solidFill>
              <a:srgbClr val="00A6A6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147304" y="1847088"/>
            <a:ext cx="3044952" cy="2020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2 principle: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Bad acquisition creates “features” that no downstream ML method can reliably repair.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671</TotalTime>
  <Words>1821</Words>
  <Application>Microsoft Office PowerPoint</Application>
  <PresentationFormat>Widescreen</PresentationFormat>
  <Paragraphs>254</Paragraphs>
  <Slides>29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Aptos</vt:lpstr>
      <vt:lpstr>Aptos Mono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ECE DSP + ML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2 Lecture 4 — Reconstruction, D/A, and Quantization Noise</dc:title>
  <dc:subject>Week 2 DSP + ML course materials</dc:subject>
  <dc:creator>OpenAI</dc:creator>
  <cp:lastModifiedBy>Peter Mathys</cp:lastModifiedBy>
  <cp:revision>6</cp:revision>
  <cp:lastPrinted>2026-08-19T22:38:57Z</cp:lastPrinted>
  <dcterms:created xsi:type="dcterms:W3CDTF">2026-08-18T14:43:54Z</dcterms:created>
  <dcterms:modified xsi:type="dcterms:W3CDTF">2026-09-03T14:13:08Z</dcterms:modified>
</cp:coreProperties>
</file>