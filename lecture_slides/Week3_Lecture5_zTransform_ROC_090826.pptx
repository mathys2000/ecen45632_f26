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2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2" d="100"/>
          <a:sy n="92" d="100"/>
        </p:scale>
        <p:origin x="66" y="1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6519672"/>
            <a:ext cx="11247120" cy="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47104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87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2 • DSP + ML • Oppenheim &amp; Schafer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5029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7B879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072733" y="444212"/>
            <a:ext cx="10046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>
                <a:solidFill>
                  <a:schemeClr val="bg1"/>
                </a:solidFill>
              </a:rPr>
              <a:t>Lecture 5, 9-08-26</a:t>
            </a:r>
            <a:endParaRPr lang="en-US" sz="3200" b="1" dirty="0">
              <a:solidFill>
                <a:schemeClr val="bg1"/>
              </a:solidFill>
            </a:endParaRP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777240"/>
            <a:ext cx="34747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00A6A6"/>
                </a:solidFill>
                <a:latin typeface="Aptos"/>
              </a:rPr>
              <a:t>WEEK 3 • LECTURE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658368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16324F"/>
                </a:solidFill>
                <a:latin typeface="Aptos"/>
              </a:rPr>
              <a:t>The z-Transform and
the Region of Convergence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017520"/>
            <a:ext cx="594360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53616E"/>
                </a:solidFill>
                <a:latin typeface="Aptos"/>
              </a:rPr>
              <a:t>Beyond the DTFT: convergence becomes geometry.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1417320"/>
            <a:ext cx="4297680" cy="22402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69480" y="1691640"/>
            <a:ext cx="3840480" cy="1645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16324F"/>
                </a:solidFill>
                <a:latin typeface="Aptos"/>
              </a:rPr>
              <a:t>DTFT = z-transform
on the unit circle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4224528"/>
            <a:ext cx="10698480" cy="8046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4343400"/>
            <a:ext cx="1033272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  <a:latin typeface="Aptos"/>
              </a:rPr>
              <a:t>75 minutes • rigorous DSP foundations • audio examples • Python sandbox • ML bridge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Learning outcomes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00–15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By the end, students should reason from both algebra and ROC geometry.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241280" cy="420624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Explain why the DTFT can fail while a z-transform exists elsewhere in the z-plane.</a:t>
            </a:r>
          </a:p>
          <a:p>
            <a:pPr>
              <a:spcAft>
                <a:spcPts val="5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Compute bilateral z-transforms of common right- and left-sided sequences.</a:t>
            </a:r>
          </a:p>
          <a:p>
            <a:pPr>
              <a:spcAft>
                <a:spcPts val="5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Use the ROC to distinguish sequences with the same rational expression.</a:t>
            </a:r>
          </a:p>
          <a:p>
            <a:pPr>
              <a:spcAft>
                <a:spcPts val="5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Perform inverse z-transforms by partial fraction expansion.</a:t>
            </a:r>
          </a:p>
          <a:p>
            <a:pPr>
              <a:spcAft>
                <a:spcPts val="500"/>
              </a:spcAft>
              <a:defRPr sz="1800">
                <a:solidFill>
                  <a:srgbClr val="17212B"/>
                </a:solidFill>
                <a:latin typeface="Aptos"/>
              </a:defRPr>
            </a:pPr>
            <a:r>
              <a:t>• Connect unit-circle inclusion to the existence of the DTFT.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Beyond the DTFT: sometimes the unit circle is the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00–15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The DTFT is only one radial slice of a larger transform.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200400" cy="146304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435607"/>
            <a:ext cx="287121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801368"/>
            <a:ext cx="2871216" cy="8961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x[n] = 2ⁿu[n] grows too quickly.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325880"/>
            <a:ext cx="3657600" cy="146304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D8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33672" y="1435607"/>
            <a:ext cx="332841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On the unit circle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33672" y="1801368"/>
            <a:ext cx="3328416" cy="4924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dirty="0">
                <a:solidFill>
                  <a:srgbClr val="53616E"/>
                </a:solidFill>
                <a:latin typeface="Aptos"/>
              </a:rPr>
              <a:t>Σ 2ⁿ</a:t>
            </a:r>
            <a:r>
              <a:rPr sz="1300" b="0" dirty="0" err="1">
                <a:solidFill>
                  <a:srgbClr val="53616E"/>
                </a:solidFill>
                <a:latin typeface="Aptos"/>
              </a:rPr>
              <a:t>e⁻ʲ</a:t>
            </a:r>
            <a:r>
              <a:rPr sz="1300" b="0" baseline="30000" dirty="0" err="1">
                <a:solidFill>
                  <a:srgbClr val="53616E"/>
                </a:solidFill>
                <a:latin typeface="Aptos"/>
              </a:rPr>
              <a:t>ω</a:t>
            </a:r>
            <a:r>
              <a:rPr sz="1300" b="0" dirty="0">
                <a:solidFill>
                  <a:srgbClr val="53616E"/>
                </a:solidFill>
                <a:latin typeface="Aptos"/>
              </a:rPr>
              <a:t>ⁿ does not converge in the ordinary sense.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325880"/>
            <a:ext cx="3566160" cy="146304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74152" y="1435607"/>
            <a:ext cx="323697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Move radially outward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1801368"/>
            <a:ext cx="3236976" cy="4924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dirty="0">
                <a:solidFill>
                  <a:srgbClr val="53616E"/>
                </a:solidFill>
                <a:latin typeface="Aptos"/>
              </a:rPr>
              <a:t>z⁻ⁿ = r⁻ⁿ</a:t>
            </a:r>
            <a:r>
              <a:rPr sz="1300" b="0" dirty="0" err="1">
                <a:solidFill>
                  <a:srgbClr val="53616E"/>
                </a:solidFill>
                <a:latin typeface="Aptos"/>
              </a:rPr>
              <a:t>e⁻ʲ</a:t>
            </a:r>
            <a:r>
              <a:rPr sz="1300" b="0" baseline="30000" dirty="0" err="1">
                <a:solidFill>
                  <a:srgbClr val="53616E"/>
                </a:solidFill>
                <a:latin typeface="Aptos"/>
              </a:rPr>
              <a:t>ω</a:t>
            </a:r>
            <a:r>
              <a:rPr sz="1300" b="0" dirty="0">
                <a:solidFill>
                  <a:srgbClr val="53616E"/>
                </a:solidFill>
                <a:latin typeface="Aptos"/>
              </a:rPr>
              <a:t>ⁿ adds damping. For r&gt;2, (2/r)ⁿ decays.</a:t>
            </a:r>
          </a:p>
        </p:txBody>
      </p:sp>
      <p:pic>
        <p:nvPicPr>
          <p:cNvPr id="15" name="Picture 14" descr="z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19" y="2971800"/>
            <a:ext cx="8366760" cy="2880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The damping-factor interpretation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00–15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Write z in polar form: radius controls convergence; angle probes frequency.</a:t>
            </a:r>
          </a:p>
        </p:txBody>
      </p:sp>
      <p:pic>
        <p:nvPicPr>
          <p:cNvPr id="6" name="Picture 5" descr="z_pl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4937760" cy="4480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97880" y="1325880"/>
            <a:ext cx="5394960" cy="411480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72200" y="1572768"/>
            <a:ext cx="48463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800" b="1">
                <a:solidFill>
                  <a:srgbClr val="16324F"/>
                </a:solidFill>
                <a:latin typeface="Aptos"/>
              </a:rPr>
              <a:t>z = r e^{jω}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331720"/>
            <a:ext cx="4572000" cy="265176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r^{-n} changes the weighting of positive-time samples.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ω supplies the familiar complex sinusoidal rotation.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At r=1 there is no radial damping: this is exactly the DTFT.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Convergence can hold for some radii and fail for others.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Definition of the bilateral z-transform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15–35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A transform value exists only where the infinite sum converges.</a:t>
            </a:r>
          </a:p>
        </p:txBody>
      </p:sp>
      <p:pic>
        <p:nvPicPr>
          <p:cNvPr id="6" name="Picture 5" descr="eq_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417320"/>
            <a:ext cx="9052560" cy="12573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2743200"/>
            <a:ext cx="3383280" cy="146304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30540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Complex 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218688"/>
            <a:ext cx="3054096" cy="8961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z can be anywhere in the complex plane—not just on the unit circle.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2743200"/>
            <a:ext cx="3383280" cy="146304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2852928"/>
            <a:ext cx="30540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Transform + ROC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218688"/>
            <a:ext cx="3054096" cy="8961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A rational formula without its ROC is incomplete information.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2743200"/>
            <a:ext cx="3383280" cy="146304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56448" y="2852928"/>
            <a:ext cx="30540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Bilateral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3218688"/>
            <a:ext cx="3054096" cy="8961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Both positive and negative n may contribute; this is why annular ROCs appear.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The DTFT lives on the unit circle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15–35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The z-transform generalizes frequency analysis radially.</a:t>
            </a:r>
          </a:p>
        </p:txBody>
      </p:sp>
      <p:pic>
        <p:nvPicPr>
          <p:cNvPr id="6" name="Picture 5" descr="eq_dtft_r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280160"/>
            <a:ext cx="8412480" cy="1142436"/>
          </a:xfrm>
          <a:prstGeom prst="rect">
            <a:avLst/>
          </a:prstGeom>
        </p:spPr>
      </p:pic>
      <p:pic>
        <p:nvPicPr>
          <p:cNvPr id="7" name="Picture 6" descr="z_pla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31720"/>
            <a:ext cx="4297680" cy="35661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394960" y="2487168"/>
            <a:ext cx="557784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0" y="2743200"/>
            <a:ext cx="5029200" cy="256032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If the ROC includes |z|=1, the DTFT exists in the ordinary sense.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Move around the unit circle: z=e^{jω}.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A pole on the unit circle prevents a finite frequency response at that angle.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Later: stability of an LTI system is tied to the unit circle lying in the ROC.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Standard pair: right-sided exponential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15–35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Derive it as a geometric series—do not memorize the ROC separately.</a:t>
            </a:r>
          </a:p>
        </p:txBody>
      </p:sp>
      <p:pic>
        <p:nvPicPr>
          <p:cNvPr id="6" name="Picture 5" descr="eq_p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143000"/>
            <a:ext cx="9692640" cy="105563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68680" y="2468880"/>
            <a:ext cx="4754880" cy="283464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429768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6324F"/>
                </a:solidFill>
                <a:latin typeface="Aptos"/>
              </a:rPr>
              <a:t>Derivation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08960"/>
            <a:ext cx="4114800" cy="187451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12B"/>
                </a:solidFill>
                <a:latin typeface="Aptos"/>
              </a:rPr>
              <a:t>X(z)=Σₙ₌₀∞ aⁿz⁻ⁿ = Σₙ₌₀∞(az⁻¹)ⁿ
Geometric series converges when |a z⁻¹|&lt;1
⇒ |z|&gt;|a|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2468880"/>
            <a:ext cx="5303520" cy="283464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44768" y="2651760"/>
            <a:ext cx="480060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6324F"/>
                </a:solidFill>
                <a:latin typeface="Aptos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3108960"/>
            <a:ext cx="4480560" cy="192024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Pole at z=a.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ROC extends outward from the pole.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Right-sided sequences naturally produce exterior ROCs.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If |a|&lt;1, the unit circle lies in the ROC and the DTFT exists.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Same rational expression, different sequence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35–55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The ROC is what tells you which time support is intended.</a:t>
            </a:r>
          </a:p>
        </p:txBody>
      </p:sp>
      <p:pic>
        <p:nvPicPr>
          <p:cNvPr id="6" name="Picture 5" descr="roc_same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234440"/>
            <a:ext cx="10149840" cy="4114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14400" y="5440680"/>
            <a:ext cx="10332720" cy="68580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D8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5541264"/>
            <a:ext cx="9966960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Key fact:  1/(1−az⁻¹)  alone does NOT uniquely determine x[n].  The ROC is part of the transform.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Left-sided exponential: why the minus sign appears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35–55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Expand the same rational function in powers appropriate to |z|&lt;|a|.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166360" cy="42976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554480"/>
            <a:ext cx="466344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6324F"/>
                </a:solidFill>
                <a:latin typeface="Aptos"/>
              </a:rPr>
              <a:t>For |z|&lt;|a|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4572000" cy="31546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0">
                <a:solidFill>
                  <a:srgbClr val="17212B"/>
                </a:solidFill>
                <a:latin typeface="Aptos"/>
              </a:rPr>
              <a:t>1/(1−az⁻¹) = z/(z−a)
Rewrite so the geometric ratio has magnitude &lt; 1:
= −(z/a)/(1−z/a)
= −Σₖ₌₁∞ (z/a)ᵏ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166360" cy="429768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466344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6324F"/>
                </a:solidFill>
                <a:latin typeface="Aptos"/>
              </a:rPr>
              <a:t>Inverse sequence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148840"/>
            <a:ext cx="4389120" cy="2834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17212B"/>
                </a:solidFill>
                <a:latin typeface="Aptos"/>
              </a:rPr>
              <a:t>−aⁿ u[−n−1]
Nonzero only for n≤−1.
Same pole at z=a.
Different support.
Different ROC.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ROC geometry: annuli bounded by poles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35–55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For rational transforms, the ROC cannot contain a pole.</a:t>
            </a:r>
          </a:p>
        </p:txBody>
      </p:sp>
      <p:pic>
        <p:nvPicPr>
          <p:cNvPr id="6" name="Picture 5" descr="roc_annul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25880"/>
            <a:ext cx="10424160" cy="3291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0" y="4754880"/>
            <a:ext cx="3154680" cy="114300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36592" y="4864608"/>
            <a:ext cx="28254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Right-sided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36592" y="5230368"/>
            <a:ext cx="2825496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ROC is outside the outermost pole.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4754880"/>
            <a:ext cx="3154680" cy="114300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48472" y="4864608"/>
            <a:ext cx="28254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Left-sided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8472" y="5230368"/>
            <a:ext cx="2825496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ROC is inside the innermost pole.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10</a:t>
            </a:r>
          </a:p>
        </p:txBody>
      </p:sp>
      <p:sp>
        <p:nvSpPr>
          <p:cNvPr id="19" name="Rounded Rectangle 12">
            <a:extLst>
              <a:ext uri="{FF2B5EF4-FFF2-40B4-BE49-F238E27FC236}">
                <a16:creationId xmlns:a16="http://schemas.microsoft.com/office/drawing/2014/main" id="{86548733-B26D-1F55-6EA4-A79274D4A5D7}"/>
              </a:ext>
            </a:extLst>
          </p:cNvPr>
          <p:cNvSpPr/>
          <p:nvPr/>
        </p:nvSpPr>
        <p:spPr>
          <a:xfrm>
            <a:off x="960120" y="4754880"/>
            <a:ext cx="3154680" cy="114300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A5FD82-D608-82EB-107A-48BFD02DCEF6}"/>
              </a:ext>
            </a:extLst>
          </p:cNvPr>
          <p:cNvSpPr txBox="1"/>
          <p:nvPr/>
        </p:nvSpPr>
        <p:spPr>
          <a:xfrm>
            <a:off x="1124712" y="4864608"/>
            <a:ext cx="28254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Two-sided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344309-091A-97D0-1144-58AA7D814C3A}"/>
              </a:ext>
            </a:extLst>
          </p:cNvPr>
          <p:cNvSpPr txBox="1"/>
          <p:nvPr/>
        </p:nvSpPr>
        <p:spPr>
          <a:xfrm>
            <a:off x="1124712" y="5230368"/>
            <a:ext cx="2825496" cy="5760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ROC lies between pole radii.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ROC rules worth being able to reason from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35–55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These are consequences of convergence, not arbitrary conventions.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50749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60120" y="1508760"/>
            <a:ext cx="502920" cy="502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517904"/>
            <a:ext cx="466344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1490472"/>
            <a:ext cx="402336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0">
                <a:solidFill>
                  <a:srgbClr val="17212B"/>
                </a:solidFill>
                <a:latin typeface="Aptos"/>
              </a:rPr>
              <a:t>ROC is a connected annulus centered at the origin.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325880"/>
            <a:ext cx="50749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92240" y="1508760"/>
            <a:ext cx="502920" cy="502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0528" y="1517904"/>
            <a:ext cx="466344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9752" y="1490472"/>
            <a:ext cx="402336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0">
                <a:solidFill>
                  <a:srgbClr val="17212B"/>
                </a:solidFill>
                <a:latin typeface="Aptos"/>
              </a:rPr>
              <a:t>ROC contains no poles.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770632"/>
            <a:ext cx="50749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60120" y="2953512"/>
            <a:ext cx="502920" cy="502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8408" y="2962656"/>
            <a:ext cx="466344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7632" y="2935224"/>
            <a:ext cx="402336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0">
                <a:solidFill>
                  <a:srgbClr val="17212B"/>
                </a:solidFill>
                <a:latin typeface="Aptos"/>
              </a:rPr>
              <a:t>Right-sided rational sequence → ROC outside outermost pole.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770632"/>
            <a:ext cx="50749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92240" y="2953512"/>
            <a:ext cx="502920" cy="502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10528" y="2962656"/>
            <a:ext cx="466344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9752" y="2935224"/>
            <a:ext cx="402336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0">
                <a:solidFill>
                  <a:srgbClr val="17212B"/>
                </a:solidFill>
                <a:latin typeface="Aptos"/>
              </a:rPr>
              <a:t>Left-sided rational sequence → ROC inside innermost pole.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215384"/>
            <a:ext cx="50749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60120" y="4398264"/>
            <a:ext cx="502920" cy="502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78408" y="4407408"/>
            <a:ext cx="466344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27632" y="4379976"/>
            <a:ext cx="402336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0">
                <a:solidFill>
                  <a:srgbClr val="17212B"/>
                </a:solidFill>
                <a:latin typeface="Aptos"/>
              </a:rPr>
              <a:t>Finite two-sided sequence: ROC is essentially entire z-plane except possible 0 or ∞.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4215384"/>
            <a:ext cx="50749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492240" y="4398264"/>
            <a:ext cx="502920" cy="502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10528" y="4407408"/>
            <a:ext cx="466344" cy="45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  <a:latin typeface="Apto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9752" y="4379976"/>
            <a:ext cx="4023360" cy="7772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0">
                <a:solidFill>
                  <a:srgbClr val="17212B"/>
                </a:solidFill>
                <a:latin typeface="Aptos"/>
              </a:rPr>
              <a:t>DTFT exists iff the unit circle lies in the ROC.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Quick classification: infer support from the ROC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35–55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Think first; compute only if needed.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80160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444751"/>
            <a:ext cx="4572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389888"/>
            <a:ext cx="585216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7212B"/>
                </a:solidFill>
                <a:latin typeface="Aptos"/>
              </a:rPr>
              <a:t>X(z)=1/(1−0.7z⁻¹),  |z|&gt;0.7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50591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615184"/>
            <a:ext cx="4572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560320"/>
            <a:ext cx="585216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7212B"/>
                </a:solidFill>
                <a:latin typeface="Aptos"/>
              </a:rPr>
              <a:t>X(z)=1/(1−1.2z⁻¹),  |z|&gt;1.2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21024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785615"/>
            <a:ext cx="4572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730752"/>
            <a:ext cx="585216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7212B"/>
                </a:solidFill>
                <a:latin typeface="Aptos"/>
              </a:rPr>
              <a:t>X(z)=1/(1−1.2z⁻¹),  |z|&lt;1.2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791456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4956048"/>
            <a:ext cx="45720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00A6A6"/>
                </a:solidFill>
                <a:latin typeface="Aptos"/>
              </a:rPr>
              <a:t>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901184"/>
            <a:ext cx="5852160" cy="6217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7212B"/>
                </a:solidFill>
                <a:latin typeface="Aptos"/>
              </a:rPr>
              <a:t>poles at 0.5 and 0.9, 0.5&lt;|z|&lt;0.9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Inverse z-transform: practical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55–75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For rational functions, partial fractions turns algebra back into transform pairs.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920240"/>
            <a:ext cx="1874519" cy="224028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72768" y="2103120"/>
            <a:ext cx="5486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761488"/>
            <a:ext cx="155448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17212B"/>
                </a:solidFill>
                <a:latin typeface="Aptos"/>
              </a:rPr>
              <a:t>Express X(z) in powers of z⁻¹.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98064" y="3017520"/>
            <a:ext cx="219456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063240" y="1920240"/>
            <a:ext cx="1874519" cy="22402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21608" y="2103120"/>
            <a:ext cx="5486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27832" y="2761488"/>
            <a:ext cx="155448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17212B"/>
                </a:solidFill>
                <a:latin typeface="Aptos"/>
              </a:rPr>
              <a:t>Factor the denominator into first-order or quadratic factors.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946904" y="3017520"/>
            <a:ext cx="219456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212080" y="1920240"/>
            <a:ext cx="1874519" cy="224028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70448" y="2103120"/>
            <a:ext cx="5486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76672" y="2761488"/>
            <a:ext cx="155448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17212B"/>
                </a:solidFill>
                <a:latin typeface="Aptos"/>
              </a:rPr>
              <a:t>Compute partial-fraction coefficients.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95744" y="3017520"/>
            <a:ext cx="219456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60920" y="1920240"/>
            <a:ext cx="1874519" cy="22402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19288" y="2103120"/>
            <a:ext cx="5486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5512" y="2761488"/>
            <a:ext cx="155448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17212B"/>
                </a:solidFill>
                <a:latin typeface="Aptos"/>
              </a:rPr>
              <a:t>Use the ROC to choose right-sided vs left-sided form for each pole.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244584" y="3017520"/>
            <a:ext cx="219456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509760" y="1920240"/>
            <a:ext cx="1874519" cy="224028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168128" y="2103120"/>
            <a:ext cx="5486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>
                <a:solidFill>
                  <a:srgbClr val="00A6A6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74352" y="2761488"/>
            <a:ext cx="1554480" cy="10058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17212B"/>
                </a:solidFill>
                <a:latin typeface="Aptos"/>
              </a:rPr>
              <a:t>Check by recomputing poles / a few samples.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" y="4754880"/>
            <a:ext cx="10149840" cy="82296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88720" y="4882896"/>
            <a:ext cx="978408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16324F"/>
                </a:solidFill>
                <a:latin typeface="Aptos"/>
              </a:rPr>
              <a:t>Do not invert the algebraic expression without the ROC: the same residues can map to different time-domain supports.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Worked partial fractions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55–75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One rational expression; multiple inverse transforms depending on ROC.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1024128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>
                <a:solidFill>
                  <a:srgbClr val="16324F"/>
                </a:solidFill>
                <a:latin typeface="Aptos"/>
              </a:rPr>
              <a:t>X(z) = 1 / [(1−0.5z⁻¹)(1−0.8z⁻¹)]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24128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17212B"/>
                </a:solidFill>
                <a:latin typeface="Aptos"/>
              </a:rPr>
              <a:t>=  −5/3 · 1/(1−0.5z⁻¹)  +  8/3 · 1/(1−0.8z⁻¹)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17520"/>
            <a:ext cx="4846320" cy="1874519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3127248"/>
            <a:ext cx="451713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ROC |z|&gt;0.8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493008"/>
            <a:ext cx="4517136" cy="13075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Both terms are right-sided.
x[n]=−(5/3)(0.5)ⁿu[n]+(8/3)(0.8)ⁿu[n]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3017520"/>
            <a:ext cx="5212080" cy="1874519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45352" y="3127248"/>
            <a:ext cx="488289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ROC 0.5&lt;|z|&lt;0.8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5352" y="3493008"/>
            <a:ext cx="4882896" cy="130759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0.5-pole term is right-sided; 0.8-pole term is left-sided.
x[n]=−(5/3)(0.5)ⁿu[n]−(8/3)(0.8)ⁿu[−n−1]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The ROC changes the time-domain signal dramatically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55–75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Same poles and residues do not imply the same sequence.</a:t>
            </a:r>
          </a:p>
        </p:txBody>
      </p:sp>
      <p:pic>
        <p:nvPicPr>
          <p:cNvPr id="6" name="Picture 5" descr="inverse_roc_sequen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280160"/>
            <a:ext cx="10058400" cy="38862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05840" y="5349240"/>
            <a:ext cx="10058400" cy="6400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5458968"/>
            <a:ext cx="9692640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  <a:latin typeface="Aptos"/>
              </a:rPr>
              <a:t>This is why “X(z)=rational function” is incomplete unless the ROC (or an equivalent support/causality condition) is specified.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Python demo: see convergence and residues numerically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55–75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Numerical tools confirm the analysis; they do not decide the ROC for you.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34440"/>
            <a:ext cx="5212080" cy="4251960"/>
          </a:xfrm>
          <a:prstGeom prst="roundRect">
            <a:avLst/>
          </a:prstGeom>
          <a:solidFill>
            <a:srgbClr val="17212B"/>
          </a:solidFill>
          <a:ln w="12700">
            <a:solidFill>
              <a:srgbClr val="172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" y="1508760"/>
            <a:ext cx="4709160" cy="3611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 Mono"/>
              </a:rPr>
              <a:t>from scipy import signal
b = [1.0]
a = [1.0, -1.3, 0.4]
r, p, k = signal.residuez(b, a)
print(r, p)
# residues ≈ [-5/3, 8/3]
# poles = [0.5, 0.8]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4937760" cy="425196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1508760"/>
            <a:ext cx="43891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6324F"/>
                </a:solidFill>
                <a:latin typeface="Aptos"/>
              </a:rPr>
              <a:t>What SciPy knows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057400"/>
            <a:ext cx="4297680" cy="164592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Algebraic residues and pole locations.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A rational transfer-function representation.</a:t>
            </a:r>
          </a:p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Frequency response if a stable interpretation is appropriate.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886200"/>
            <a:ext cx="43891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16324F"/>
                </a:solidFill>
                <a:latin typeface="Aptos"/>
              </a:rPr>
              <a:t>What SciPy does NOT infer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4315968"/>
            <a:ext cx="4297680" cy="73152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7212B"/>
                </a:solidFill>
                <a:latin typeface="Aptos"/>
              </a:defRPr>
            </a:pPr>
            <a:r>
              <a:t>• Whether each term is right- or left-sided without an ROC/support condition.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Audio connection: poles forecast decay and resonance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55–75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Lecture 6 will turn ROC geometry into filter behavior.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3291840" cy="164592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527048"/>
            <a:ext cx="296265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Pole magnitude |p|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892808"/>
            <a:ext cx="2962656" cy="107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Sets exponential growth/decay rate in impulse-response terms.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291840" cy="164592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9431" y="1527048"/>
            <a:ext cx="296265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Pole angle ∠p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1892808"/>
            <a:ext cx="2962656" cy="107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Sets oscillatory frequency of a complex-conjugate pole pair.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17320"/>
            <a:ext cx="3291840" cy="164592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11312" y="1527048"/>
            <a:ext cx="2962656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16324F"/>
                </a:solidFill>
                <a:latin typeface="Aptos"/>
              </a:rPr>
              <a:t>Unit circle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1892808"/>
            <a:ext cx="2962656" cy="10789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3616E"/>
                </a:solidFill>
                <a:latin typeface="Aptos"/>
              </a:rPr>
              <a:t>Frequency response is evaluated here—if this circle lies in the ROC.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3794760"/>
            <a:ext cx="9829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17320" y="4096512"/>
            <a:ext cx="928116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900" b="1">
                <a:solidFill>
                  <a:srgbClr val="16324F"/>
                </a:solidFill>
                <a:latin typeface="Aptos"/>
              </a:rPr>
              <a:t>Preview: moving a pole closer to the unit circle makes the associated resonance sharper and the time-domain ringing last longer.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Concept check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The expression and ROC must be interpreted together.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2412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200" b="1">
                <a:solidFill>
                  <a:srgbClr val="16324F"/>
                </a:solidFill>
                <a:latin typeface="Aptos"/>
              </a:rPr>
              <a:t>For  X(z)=1/(1−1.1z⁻¹), which ROC gives a DTFT?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468880"/>
            <a:ext cx="47548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" y="2633472"/>
            <a:ext cx="43891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Aptos"/>
              </a:rPr>
              <a:t>A. |z|&gt;1.1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468880"/>
            <a:ext cx="47548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2633472"/>
            <a:ext cx="43891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Aptos"/>
              </a:rPr>
              <a:t>B. |z|&lt;1.1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703320"/>
            <a:ext cx="47548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80160" y="3867912"/>
            <a:ext cx="43891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Aptos"/>
              </a:rPr>
              <a:t>C. Both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703320"/>
            <a:ext cx="47548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3867912"/>
            <a:ext cx="43891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Aptos"/>
              </a:rPr>
              <a:t>D. Neither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Common mistakes to prevent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These are high-value exam and debugging traps.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80160"/>
            <a:ext cx="10515600" cy="91440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D8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417319"/>
            <a:ext cx="38862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D84A3A"/>
                </a:solidFill>
                <a:latin typeface="Aptos"/>
              </a:rPr>
              <a:t>“The rational formula determines x[n].”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450591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587751"/>
            <a:ext cx="38862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D84A3A"/>
                </a:solidFill>
                <a:latin typeface="Aptos"/>
              </a:rPr>
              <a:t>“The z-transform always exists.”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21024"/>
            <a:ext cx="10515600" cy="91440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D84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3758184"/>
            <a:ext cx="38862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D84A3A"/>
                </a:solidFill>
                <a:latin typeface="Aptos"/>
              </a:rPr>
              <a:t>“DTFT and z-transform are separate ideas.”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791456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4928616"/>
            <a:ext cx="3886200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D84A3A"/>
                </a:solidFill>
                <a:latin typeface="Aptos"/>
              </a:rPr>
              <a:t>“A pole can lie in the ROC.”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Lecture 5 synthesis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The z-transform is frequency analysis plus convergence geometry.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20240"/>
            <a:ext cx="1828800" cy="15544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87752"/>
            <a:ext cx="1645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x[n]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32888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71800" y="1920240"/>
            <a:ext cx="1828800" cy="155448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63240" y="21488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z-transform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587752"/>
            <a:ext cx="1645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X(z)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18888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257800" y="1920240"/>
            <a:ext cx="1828800" cy="155448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49240" y="21488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ROC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587752"/>
            <a:ext cx="1645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where it converges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04888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543800" y="1920240"/>
            <a:ext cx="1828800" cy="15544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35240" y="21488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unit circle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2587752"/>
            <a:ext cx="1645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DTFT if included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90888" y="2697480"/>
            <a:ext cx="365760" cy="0"/>
          </a:xfrm>
          <a:prstGeom prst="line">
            <a:avLst/>
          </a:prstGeom>
          <a:ln w="25400">
            <a:solidFill>
              <a:srgbClr val="F2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829800" y="1920240"/>
            <a:ext cx="1828800" cy="1554480"/>
          </a:xfrm>
          <a:prstGeom prst="roundRect">
            <a:avLst/>
          </a:prstGeom>
          <a:solidFill>
            <a:srgbClr val="EDF3F7"/>
          </a:solidFill>
          <a:ln w="12700">
            <a:solidFill>
              <a:srgbClr val="DC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21240" y="2148840"/>
            <a:ext cx="164592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53616E"/>
                </a:solidFill>
                <a:latin typeface="Aptos"/>
              </a:rPr>
              <a:t>inverse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2587752"/>
            <a:ext cx="16459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700" b="1">
                <a:solidFill>
                  <a:srgbClr val="16324F"/>
                </a:solidFill>
                <a:latin typeface="Aptos"/>
              </a:rPr>
              <a:t>PFE + ROC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" y="4343400"/>
            <a:ext cx="10241280" cy="1005840"/>
          </a:xfrm>
          <a:prstGeom prst="roundRect">
            <a:avLst/>
          </a:prstGeom>
          <a:solidFill>
            <a:srgbClr val="FFF2E6"/>
          </a:solidFill>
          <a:ln w="1270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88720" y="4667899"/>
            <a:ext cx="9784080" cy="33855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dirty="0">
                <a:solidFill>
                  <a:srgbClr val="16324F"/>
                </a:solidFill>
                <a:latin typeface="Aptos"/>
              </a:rPr>
              <a:t>Exit ticket: Why can the same rational X(z) correspond to different sequences? 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01752"/>
            <a:ext cx="9692640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400" b="1">
                <a:solidFill>
                  <a:srgbClr val="16324F"/>
                </a:solidFill>
                <a:latin typeface="Aptos"/>
              </a:rPr>
              <a:t>Next: transfer functions, poles, zeros, stability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283464"/>
            <a:ext cx="1234440" cy="347472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351008" y="292608"/>
            <a:ext cx="1197864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16324F"/>
                </a:solidFill>
                <a:latin typeface="Aptos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65276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0">
                <a:solidFill>
                  <a:srgbClr val="53616E"/>
                </a:solidFill>
                <a:latin typeface="Aptos"/>
              </a:rPr>
              <a:t>Lecture 6 turns the z-plane into a filter-design map.</a:t>
            </a:r>
          </a:p>
        </p:txBody>
      </p:sp>
      <p:pic>
        <p:nvPicPr>
          <p:cNvPr id="6" name="Picture 5" descr="pz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4983480" cy="4114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080760" y="1417320"/>
            <a:ext cx="4937760" cy="3840480"/>
          </a:xfrm>
          <a:prstGeom prst="roundRect">
            <a:avLst/>
          </a:prstGeom>
          <a:solidFill>
            <a:srgbClr val="E8F7F7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297680" cy="3108960"/>
          </a:xfrm>
          <a:prstGeom prst="rect">
            <a:avLst/>
          </a:prstGeom>
          <a:noFill/>
        </p:spPr>
        <p:txBody>
          <a:bodyPr wrap="square" lIns="73152" rIns="36576" anchor="t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Difference equations become rational H(z).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Poles + ROC determine causality and stability.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Zeros suppress nearby unit-circle frequencies.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Poles enhance nearby frequencies.</a:t>
            </a:r>
          </a:p>
          <a:p>
            <a:pPr>
              <a:spcAft>
                <a:spcPts val="500"/>
              </a:spcAft>
              <a:defRPr sz="1700">
                <a:solidFill>
                  <a:srgbClr val="17212B"/>
                </a:solidFill>
                <a:latin typeface="Aptos"/>
              </a:defRPr>
            </a:pPr>
            <a:r>
              <a:t>• Audio filters become geometry you can see.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475488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53616E"/>
                </a:solidFill>
                <a:latin typeface="Aptos"/>
              </a:rPr>
              <a:t>Week 3 • DSP + ML • Oppenheim &amp; Schafer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320040" cy="16459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800" b="0">
                <a:solidFill>
                  <a:srgbClr val="53616E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1867</Words>
  <Application>Microsoft Office PowerPoint</Application>
  <PresentationFormat>Widescreen</PresentationFormat>
  <Paragraphs>232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ECE DSP + ML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 Lecture 3 — Continuous-to-Discrete Conversion &amp; Aliasing</dc:title>
  <dc:subject>Week 2 DSP + ML course materials</dc:subject>
  <dc:creator>OpenAI</dc:creator>
  <cp:lastModifiedBy>Peter Mathys</cp:lastModifiedBy>
  <cp:revision>5</cp:revision>
  <dcterms:created xsi:type="dcterms:W3CDTF">2026-08-18T14:43:54Z</dcterms:created>
  <dcterms:modified xsi:type="dcterms:W3CDTF">2026-09-08T00:09:36Z</dcterms:modified>
</cp:coreProperties>
</file>