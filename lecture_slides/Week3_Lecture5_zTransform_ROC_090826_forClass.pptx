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2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8" r:id="rId15"/>
    <p:sldId id="268" r:id="rId16"/>
    <p:sldId id="269" r:id="rId17"/>
    <p:sldId id="270" r:id="rId18"/>
    <p:sldId id="271" r:id="rId19"/>
    <p:sldId id="272" r:id="rId20"/>
    <p:sldId id="273" r:id="rId21"/>
    <p:sldId id="279" r:id="rId22"/>
    <p:sldId id="274" r:id="rId23"/>
    <p:sldId id="280" r:id="rId24"/>
    <p:sldId id="275" r:id="rId25"/>
    <p:sldId id="281" r:id="rId26"/>
    <p:sldId id="276" r:id="rId27"/>
    <p:sldId id="277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66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6519672"/>
            <a:ext cx="11247120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4710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• DSP + ML • Oppenheim &amp; Schafer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>
                <a:solidFill>
                  <a:schemeClr val="bg1"/>
                </a:solidFill>
              </a:rPr>
              <a:t>Lecture 5, 9-08-26</a:t>
            </a:r>
            <a:endParaRPr lang="en-US" sz="3200" b="1" dirty="0">
              <a:solidFill>
                <a:schemeClr val="bg1"/>
              </a:solidFill>
            </a:endParaRP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777240"/>
            <a:ext cx="34747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00A6A6"/>
                </a:solidFill>
                <a:latin typeface="Aptos"/>
              </a:rPr>
              <a:t>WEEK 3 • LECTURE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658368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16324F"/>
                </a:solidFill>
                <a:latin typeface="Aptos"/>
              </a:rPr>
              <a:t>The z-Transform and
the Region of Convergence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017520"/>
            <a:ext cx="594360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53616E"/>
                </a:solidFill>
                <a:latin typeface="Aptos"/>
              </a:rPr>
              <a:t>Beyond the DTFT: convergence becomes geometry.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1417320"/>
            <a:ext cx="4297680" cy="22402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69480" y="1691640"/>
            <a:ext cx="3840480" cy="1645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16324F"/>
                </a:solidFill>
                <a:latin typeface="Aptos"/>
              </a:rPr>
              <a:t>DTFT = z-transform
on the unit circle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224528"/>
            <a:ext cx="10698480" cy="8046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4343400"/>
            <a:ext cx="103327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75 minutes • rigorous DSP foundations • audio examples • Python sandbox • ML bridge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Learning outcomes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00–15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By the end, students should reason from both algebra and ROC geometry.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241280" cy="420624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Explain why the DTFT can fail while a z-transform exists elsewhere in the z-plane.</a:t>
            </a:r>
          </a:p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Compute bilateral z-transforms of common right- and left-sided sequences.</a:t>
            </a:r>
          </a:p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Use the ROC to distinguish sequences with the same rational expression.</a:t>
            </a:r>
          </a:p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Perform inverse z-transforms by partial fraction expansion.</a:t>
            </a:r>
          </a:p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Connect unit-circle inclusion to the existence of the DTFT.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Beyond the DTFT: sometimes the unit circle is 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00–15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 DTFT is only one radial slice of a larger transform.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200400" cy="146304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435607"/>
            <a:ext cx="287121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801368"/>
            <a:ext cx="2871216" cy="8961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x[n] = 2ⁿu[n] grows too quickly.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325880"/>
            <a:ext cx="3657600" cy="146304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D8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33672" y="1435607"/>
            <a:ext cx="332841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On the unit circle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33672" y="1801368"/>
            <a:ext cx="3328416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dirty="0">
                <a:solidFill>
                  <a:srgbClr val="53616E"/>
                </a:solidFill>
                <a:latin typeface="Aptos"/>
              </a:rPr>
              <a:t>Σ 2ⁿ</a:t>
            </a:r>
            <a:r>
              <a:rPr sz="1300" b="0" dirty="0" err="1">
                <a:solidFill>
                  <a:srgbClr val="53616E"/>
                </a:solidFill>
                <a:latin typeface="Aptos"/>
              </a:rPr>
              <a:t>e⁻ʲ</a:t>
            </a:r>
            <a:r>
              <a:rPr sz="1300" b="0" baseline="30000" dirty="0" err="1">
                <a:solidFill>
                  <a:srgbClr val="53616E"/>
                </a:solidFill>
                <a:latin typeface="Aptos"/>
              </a:rPr>
              <a:t>ω</a:t>
            </a:r>
            <a:r>
              <a:rPr sz="1300" b="0" dirty="0">
                <a:solidFill>
                  <a:srgbClr val="53616E"/>
                </a:solidFill>
                <a:latin typeface="Aptos"/>
              </a:rPr>
              <a:t>ⁿ does not converge in the ordinary sense.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325880"/>
            <a:ext cx="3566160" cy="146304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74152" y="1435607"/>
            <a:ext cx="323697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Move radially outward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1801368"/>
            <a:ext cx="3236976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dirty="0">
                <a:solidFill>
                  <a:srgbClr val="53616E"/>
                </a:solidFill>
                <a:latin typeface="Aptos"/>
              </a:rPr>
              <a:t>z⁻ⁿ = r⁻ⁿ</a:t>
            </a:r>
            <a:r>
              <a:rPr sz="1300" b="0" dirty="0" err="1">
                <a:solidFill>
                  <a:srgbClr val="53616E"/>
                </a:solidFill>
                <a:latin typeface="Aptos"/>
              </a:rPr>
              <a:t>e⁻ʲ</a:t>
            </a:r>
            <a:r>
              <a:rPr sz="1300" b="0" baseline="30000" dirty="0" err="1">
                <a:solidFill>
                  <a:srgbClr val="53616E"/>
                </a:solidFill>
                <a:latin typeface="Aptos"/>
              </a:rPr>
              <a:t>ω</a:t>
            </a:r>
            <a:r>
              <a:rPr sz="1300" b="0" dirty="0">
                <a:solidFill>
                  <a:srgbClr val="53616E"/>
                </a:solidFill>
                <a:latin typeface="Aptos"/>
              </a:rPr>
              <a:t>ⁿ adds damping. For r&gt;2, (2/r)ⁿ decays.</a:t>
            </a:r>
          </a:p>
        </p:txBody>
      </p:sp>
      <p:pic>
        <p:nvPicPr>
          <p:cNvPr id="15" name="Picture 14" descr="z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19" y="2971800"/>
            <a:ext cx="8366760" cy="2880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The damping-factor interpretation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00–15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Write z in polar form: radius controls convergence; angle probes frequency.</a:t>
            </a:r>
          </a:p>
        </p:txBody>
      </p:sp>
      <p:pic>
        <p:nvPicPr>
          <p:cNvPr id="6" name="Picture 5" descr="z_pl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4937760" cy="4480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97880" y="1325880"/>
            <a:ext cx="5394960" cy="411480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72200" y="1572768"/>
            <a:ext cx="48463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800" b="1">
                <a:solidFill>
                  <a:srgbClr val="16324F"/>
                </a:solidFill>
                <a:latin typeface="Aptos"/>
              </a:rPr>
              <a:t>z = r e^{jω}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331720"/>
            <a:ext cx="4572000" cy="265176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r^{-n} changes the weighting of positive-time samples.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ω supplies the familiar complex sinusoidal rotation.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At r=1 there is no radial damping: this is exactly the DTFT.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Convergence can hold for some radii and fail for others.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Definition of the bilateral z-transform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15–35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A transform value exists only where the infinite sum converges.</a:t>
            </a:r>
          </a:p>
        </p:txBody>
      </p:sp>
      <p:pic>
        <p:nvPicPr>
          <p:cNvPr id="6" name="Picture 5" descr="eq_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417320"/>
            <a:ext cx="9052560" cy="12573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2743200"/>
            <a:ext cx="3383280" cy="146304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30540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Complex 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218688"/>
            <a:ext cx="3054096" cy="8961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z can be anywhere in the complex plane—not just on the unit circle.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2743200"/>
            <a:ext cx="3383280" cy="146304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2852928"/>
            <a:ext cx="30540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Transform + ROC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218688"/>
            <a:ext cx="3054096" cy="8961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A rational formula without its ROC is incomplete information.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2743200"/>
            <a:ext cx="3383280" cy="146304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56448" y="2852928"/>
            <a:ext cx="30540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Bilateral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3218688"/>
            <a:ext cx="3054096" cy="8961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Both positive and negative n may contribute; this is why annular ROCs appear.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The DTFT lives on the unit circle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15–35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 z-transform generalizes frequency analysis radially.</a:t>
            </a:r>
          </a:p>
        </p:txBody>
      </p:sp>
      <p:pic>
        <p:nvPicPr>
          <p:cNvPr id="6" name="Picture 5" descr="eq_dtft_r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280160"/>
            <a:ext cx="8412480" cy="1142436"/>
          </a:xfrm>
          <a:prstGeom prst="rect">
            <a:avLst/>
          </a:prstGeom>
        </p:spPr>
      </p:pic>
      <p:pic>
        <p:nvPicPr>
          <p:cNvPr id="7" name="Picture 6" descr="z_pla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31720"/>
            <a:ext cx="4297680" cy="3566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394960" y="2487168"/>
            <a:ext cx="557784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0" y="2743200"/>
            <a:ext cx="5029200" cy="256032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If the ROC includes |z|=1, the DTFT exists in the ordinary sense.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Move around the unit circle: z=e^{jω}.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A pole on the unit circle prevents a finite frequency response at that angle.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Later: stability of an LTI system is tied to the unit circle lying in the ROC.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Standard pair: right-sided exponential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15–35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Derive it as a geometric series—do not memorize the ROC separately.</a:t>
            </a:r>
          </a:p>
        </p:txBody>
      </p:sp>
      <p:pic>
        <p:nvPicPr>
          <p:cNvPr id="6" name="Picture 5" descr="eq_p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143000"/>
            <a:ext cx="9692640" cy="105563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8680" y="2468880"/>
            <a:ext cx="4754880" cy="283464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429768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6324F"/>
                </a:solidFill>
                <a:latin typeface="Aptos"/>
              </a:rPr>
              <a:t>Derivation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08960"/>
            <a:ext cx="4114800" cy="187451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12B"/>
                </a:solidFill>
                <a:latin typeface="Aptos"/>
              </a:rPr>
              <a:t>X(z)=Σₙ₌₀∞ aⁿz⁻ⁿ = Σₙ₌₀∞(az⁻¹)ⁿ
Geometric series converges when |a z⁻¹|&lt;1
⇒ |z|&gt;|a|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2468880"/>
            <a:ext cx="5303520" cy="283464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44768" y="2651760"/>
            <a:ext cx="48006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6324F"/>
                </a:solidFill>
                <a:latin typeface="Aptos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3108960"/>
            <a:ext cx="4480560" cy="192024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Pole at z=a.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ROC extends outward from the pole.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Right-sided sequences naturally produce exterior ROCs.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If |a|&lt;1, the unit circle lies in the ROC and the DTFT exists.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Same rational expression, different sequence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35–55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 ROC is what tells you which time support is intended.</a:t>
            </a:r>
          </a:p>
        </p:txBody>
      </p:sp>
      <p:pic>
        <p:nvPicPr>
          <p:cNvPr id="6" name="Picture 5" descr="roc_same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234440"/>
            <a:ext cx="10149840" cy="4114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14400" y="5440680"/>
            <a:ext cx="10332720" cy="6858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D8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5541264"/>
            <a:ext cx="99669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Key fact:  1/(1−az⁻¹)  alone does NOT uniquely determine x[n].  The ROC is part of the transform.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Left-sided exponential: why the minus sign appears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35–55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Expand the same rational function in powers appropriate to |z|&lt;|a|.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166360" cy="42976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466344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6324F"/>
                </a:solidFill>
                <a:latin typeface="Aptos"/>
              </a:rPr>
              <a:t>For |z|&lt;|a|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4572000" cy="31546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12B"/>
                </a:solidFill>
                <a:latin typeface="Aptos"/>
              </a:rPr>
              <a:t>1/(1−az⁻¹) = z/(z−a)
Rewrite so the geometric ratio has magnitude &lt; 1:
= −(z/a)/(1−z/a)
= −Σₖ₌₁∞ (z/a)ᵏ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166360" cy="429768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466344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6324F"/>
                </a:solidFill>
                <a:latin typeface="Aptos"/>
              </a:rPr>
              <a:t>Inverse sequence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148840"/>
            <a:ext cx="4389120" cy="2834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17212B"/>
                </a:solidFill>
                <a:latin typeface="Aptos"/>
              </a:rPr>
              <a:t>−aⁿ u[−n−1]
Nonzero only for n≤−1.
Same pole at z=a.
Different support.
Different ROC.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ROC geometry: annuli bounded by poles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35–55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For rational transforms, the ROC cannot contain a pole.</a:t>
            </a:r>
          </a:p>
        </p:txBody>
      </p:sp>
      <p:pic>
        <p:nvPicPr>
          <p:cNvPr id="6" name="Picture 5" descr="roc_annul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25880"/>
            <a:ext cx="10424160" cy="3291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14400" y="4709160"/>
            <a:ext cx="3154680" cy="114300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" y="4818888"/>
            <a:ext cx="28254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Right-sided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5184648"/>
            <a:ext cx="2825496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ROC is outside the outermost pole.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4709160"/>
            <a:ext cx="3154680" cy="114300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90872" y="4818888"/>
            <a:ext cx="28254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Left-sided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5184648"/>
            <a:ext cx="2825496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ROC is inside the innermost pole.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4709160"/>
            <a:ext cx="3154680" cy="114300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02752" y="4818888"/>
            <a:ext cx="28254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Two-sided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5184648"/>
            <a:ext cx="2825496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ROC lies between pole radii.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ROC rules worth being able to reason from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35–55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These are consequences of convergence, not arbitrary conventions.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50749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60120" y="1508760"/>
            <a:ext cx="502920" cy="502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517904"/>
            <a:ext cx="466344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1490472"/>
            <a:ext cx="402336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0">
                <a:solidFill>
                  <a:srgbClr val="17212B"/>
                </a:solidFill>
                <a:latin typeface="Aptos"/>
              </a:rPr>
              <a:t>ROC is a connected annulus centered at the origin.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25880"/>
            <a:ext cx="50749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92240" y="1508760"/>
            <a:ext cx="502920" cy="502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0528" y="1517904"/>
            <a:ext cx="466344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9752" y="1490472"/>
            <a:ext cx="402336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0">
                <a:solidFill>
                  <a:srgbClr val="17212B"/>
                </a:solidFill>
                <a:latin typeface="Aptos"/>
              </a:rPr>
              <a:t>ROC contains no poles.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770632"/>
            <a:ext cx="50749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60120" y="2953512"/>
            <a:ext cx="502920" cy="502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8408" y="2962656"/>
            <a:ext cx="466344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7632" y="2935224"/>
            <a:ext cx="402336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0">
                <a:solidFill>
                  <a:srgbClr val="17212B"/>
                </a:solidFill>
                <a:latin typeface="Aptos"/>
              </a:rPr>
              <a:t>Right-sided rational sequence → ROC outside outermost pole.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770632"/>
            <a:ext cx="50749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92240" y="2953512"/>
            <a:ext cx="502920" cy="502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0528" y="2962656"/>
            <a:ext cx="466344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9752" y="2935224"/>
            <a:ext cx="402336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0">
                <a:solidFill>
                  <a:srgbClr val="17212B"/>
                </a:solidFill>
                <a:latin typeface="Aptos"/>
              </a:rPr>
              <a:t>Left-sided rational sequence → ROC inside innermost pole.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215384"/>
            <a:ext cx="50749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60120" y="4398264"/>
            <a:ext cx="502920" cy="502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8408" y="4407408"/>
            <a:ext cx="466344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27632" y="4379976"/>
            <a:ext cx="402336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0">
                <a:solidFill>
                  <a:srgbClr val="17212B"/>
                </a:solidFill>
                <a:latin typeface="Aptos"/>
              </a:rPr>
              <a:t>Finite two-sided sequence: ROC is essentially entire z-plane except possible 0 or ∞.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4215384"/>
            <a:ext cx="50749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492240" y="4398264"/>
            <a:ext cx="502920" cy="502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10528" y="4407408"/>
            <a:ext cx="466344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9752" y="4379976"/>
            <a:ext cx="402336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0">
                <a:solidFill>
                  <a:srgbClr val="17212B"/>
                </a:solidFill>
                <a:latin typeface="Aptos"/>
              </a:rPr>
              <a:t>DTFT exists iff the unit circle lies in the ROC.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Quick classification: infer support from the ROC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35–55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Think first; compute only if needed.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80160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444751"/>
            <a:ext cx="4572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389888"/>
            <a:ext cx="585216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7212B"/>
                </a:solidFill>
                <a:latin typeface="Aptos"/>
              </a:rPr>
              <a:t>X(z)=1/(1−0.7z⁻¹),  |z|&gt;0.7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50591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615184"/>
            <a:ext cx="4572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560320"/>
            <a:ext cx="585216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7212B"/>
                </a:solidFill>
                <a:latin typeface="Aptos"/>
              </a:rPr>
              <a:t>X(z)=1/(1−1.2z⁻¹),  |z|&gt;1.2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21024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785615"/>
            <a:ext cx="4572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730752"/>
            <a:ext cx="585216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7212B"/>
                </a:solidFill>
                <a:latin typeface="Aptos"/>
              </a:rPr>
              <a:t>X(z)=1/(1−1.2z⁻¹),  |z|&lt;1.2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791456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4956048"/>
            <a:ext cx="4572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901184"/>
            <a:ext cx="585216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7212B"/>
                </a:solidFill>
                <a:latin typeface="Aptos"/>
              </a:rPr>
              <a:t>poles at 0.5 and 0.9, 0.5&lt;|z|&lt;0.9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054C7-266C-5728-565F-DE0B6D2CF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44B66E-7044-B112-B36E-B8F445A55CB3}"/>
              </a:ext>
            </a:extLst>
          </p:cNvPr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Quick classification: infer support from the ROC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DB42B79-19BC-4998-0935-5D090A470C38}"/>
              </a:ext>
            </a:extLst>
          </p:cNvPr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F275D5-523A-361F-E7AD-D25EA4DC9489}"/>
              </a:ext>
            </a:extLst>
          </p:cNvPr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35–55 MIN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04E752-AFDF-CF4E-5D8A-69909E5867E3}"/>
              </a:ext>
            </a:extLst>
          </p:cNvPr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Think first; compute only if needed.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943A3C3-29FE-DCA6-D1DA-115BD118087C}"/>
              </a:ext>
            </a:extLst>
          </p:cNvPr>
          <p:cNvSpPr/>
          <p:nvPr/>
        </p:nvSpPr>
        <p:spPr>
          <a:xfrm>
            <a:off x="822960" y="1280160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776C93-3B0D-2612-01C5-E5C6689F4A76}"/>
              </a:ext>
            </a:extLst>
          </p:cNvPr>
          <p:cNvSpPr txBox="1"/>
          <p:nvPr/>
        </p:nvSpPr>
        <p:spPr>
          <a:xfrm>
            <a:off x="1005840" y="1444751"/>
            <a:ext cx="4572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F8A53A-7D12-9AD2-6C26-B65FBCE0624B}"/>
              </a:ext>
            </a:extLst>
          </p:cNvPr>
          <p:cNvSpPr txBox="1"/>
          <p:nvPr/>
        </p:nvSpPr>
        <p:spPr>
          <a:xfrm>
            <a:off x="1600200" y="1389888"/>
            <a:ext cx="585216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7212B"/>
                </a:solidFill>
                <a:latin typeface="Aptos"/>
              </a:rPr>
              <a:t>X(z)=1/(1−0.7z⁻¹),  |z|&gt;0.7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EB906D-7CFB-6908-6387-9EEE0B36D220}"/>
              </a:ext>
            </a:extLst>
          </p:cNvPr>
          <p:cNvSpPr txBox="1"/>
          <p:nvPr/>
        </p:nvSpPr>
        <p:spPr>
          <a:xfrm>
            <a:off x="7406640" y="1389888"/>
            <a:ext cx="36576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53616E"/>
                </a:solidFill>
                <a:latin typeface="Aptos"/>
              </a:rPr>
              <a:t>Good answer: right-sided; DTFT exists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91F739E-0BF6-CD07-53D0-0B3A44ADC91E}"/>
              </a:ext>
            </a:extLst>
          </p:cNvPr>
          <p:cNvSpPr/>
          <p:nvPr/>
        </p:nvSpPr>
        <p:spPr>
          <a:xfrm>
            <a:off x="822960" y="2450591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30C01A-0D51-E6DF-290E-F3ECA95E1760}"/>
              </a:ext>
            </a:extLst>
          </p:cNvPr>
          <p:cNvSpPr txBox="1"/>
          <p:nvPr/>
        </p:nvSpPr>
        <p:spPr>
          <a:xfrm>
            <a:off x="1005840" y="2615184"/>
            <a:ext cx="4572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2AD889-8811-E955-68A0-A616144C42AC}"/>
              </a:ext>
            </a:extLst>
          </p:cNvPr>
          <p:cNvSpPr txBox="1"/>
          <p:nvPr/>
        </p:nvSpPr>
        <p:spPr>
          <a:xfrm>
            <a:off x="1600200" y="2560320"/>
            <a:ext cx="585216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7212B"/>
                </a:solidFill>
                <a:latin typeface="Aptos"/>
              </a:rPr>
              <a:t>X(z)=1/(1−1.2z⁻¹),  |z|&gt;1.2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BB72A1-58D6-7C00-C2FB-DAA57AD03E6C}"/>
              </a:ext>
            </a:extLst>
          </p:cNvPr>
          <p:cNvSpPr txBox="1"/>
          <p:nvPr/>
        </p:nvSpPr>
        <p:spPr>
          <a:xfrm>
            <a:off x="7406640" y="2560320"/>
            <a:ext cx="36576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53616E"/>
                </a:solidFill>
                <a:latin typeface="Aptos"/>
              </a:rPr>
              <a:t>Good answer: right-sided; DTFT does not exist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7C0DEF7-9B94-C861-B648-B9A75D1E2C64}"/>
              </a:ext>
            </a:extLst>
          </p:cNvPr>
          <p:cNvSpPr/>
          <p:nvPr/>
        </p:nvSpPr>
        <p:spPr>
          <a:xfrm>
            <a:off x="822960" y="3621024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54B7F6-51A5-DEEB-36ED-35EE12D77E05}"/>
              </a:ext>
            </a:extLst>
          </p:cNvPr>
          <p:cNvSpPr txBox="1"/>
          <p:nvPr/>
        </p:nvSpPr>
        <p:spPr>
          <a:xfrm>
            <a:off x="1005840" y="3785615"/>
            <a:ext cx="4572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61C2A5-4B99-19B1-5C1B-80F38B15F2DC}"/>
              </a:ext>
            </a:extLst>
          </p:cNvPr>
          <p:cNvSpPr txBox="1"/>
          <p:nvPr/>
        </p:nvSpPr>
        <p:spPr>
          <a:xfrm>
            <a:off x="1600200" y="3730752"/>
            <a:ext cx="585216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7212B"/>
                </a:solidFill>
                <a:latin typeface="Aptos"/>
              </a:rPr>
              <a:t>X(z)=1/(1−1.2z⁻¹),  |z|&lt;1.2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4A3200-35AD-DC61-DC14-15BD714DB9D4}"/>
              </a:ext>
            </a:extLst>
          </p:cNvPr>
          <p:cNvSpPr txBox="1"/>
          <p:nvPr/>
        </p:nvSpPr>
        <p:spPr>
          <a:xfrm>
            <a:off x="7406640" y="3730752"/>
            <a:ext cx="36576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53616E"/>
                </a:solidFill>
                <a:latin typeface="Aptos"/>
              </a:rPr>
              <a:t>Good answer: left-sided; DTFT exists because unit circle is inside ROC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2E6D456-E216-94B4-02D4-1B83EB2D3B16}"/>
              </a:ext>
            </a:extLst>
          </p:cNvPr>
          <p:cNvSpPr/>
          <p:nvPr/>
        </p:nvSpPr>
        <p:spPr>
          <a:xfrm>
            <a:off x="822960" y="4791456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540A86-3E38-71D9-98F0-EB3651E37AFC}"/>
              </a:ext>
            </a:extLst>
          </p:cNvPr>
          <p:cNvSpPr txBox="1"/>
          <p:nvPr/>
        </p:nvSpPr>
        <p:spPr>
          <a:xfrm>
            <a:off x="1005840" y="4956048"/>
            <a:ext cx="4572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7E72A7-3764-0B2B-DB8E-72B978E26057}"/>
              </a:ext>
            </a:extLst>
          </p:cNvPr>
          <p:cNvSpPr txBox="1"/>
          <p:nvPr/>
        </p:nvSpPr>
        <p:spPr>
          <a:xfrm>
            <a:off x="1600200" y="4901184"/>
            <a:ext cx="585216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7212B"/>
                </a:solidFill>
                <a:latin typeface="Aptos"/>
              </a:rPr>
              <a:t>poles at 0.5 and 0.9, 0.5&lt;|z|&lt;0.9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D0B11B-1C61-23F2-1447-1DAF76841B5D}"/>
              </a:ext>
            </a:extLst>
          </p:cNvPr>
          <p:cNvSpPr txBox="1"/>
          <p:nvPr/>
        </p:nvSpPr>
        <p:spPr>
          <a:xfrm>
            <a:off x="7406640" y="4901184"/>
            <a:ext cx="365760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0">
                <a:solidFill>
                  <a:srgbClr val="53616E"/>
                </a:solidFill>
                <a:latin typeface="Aptos"/>
              </a:rPr>
              <a:t>Good answer: two-sided; DTFT does not exist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1D5044-85F8-1B3C-C1CC-6390486EB304}"/>
              </a:ext>
            </a:extLst>
          </p:cNvPr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243B03-8A39-326D-09BB-FB863F2B5D12}"/>
              </a:ext>
            </a:extLst>
          </p:cNvPr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806289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Inverse z-transform: practical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55–75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For rational functions, partial fractions turns algebra back into transform pairs.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1874519" cy="224028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72768" y="2103120"/>
            <a:ext cx="5486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761488"/>
            <a:ext cx="155448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17212B"/>
                </a:solidFill>
                <a:latin typeface="Aptos"/>
              </a:rPr>
              <a:t>Express X(z) in powers of z⁻¹.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98064" y="3017520"/>
            <a:ext cx="219456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063240" y="1920240"/>
            <a:ext cx="1874519" cy="22402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21608" y="2103120"/>
            <a:ext cx="5486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7832" y="2761488"/>
            <a:ext cx="155448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17212B"/>
                </a:solidFill>
                <a:latin typeface="Aptos"/>
              </a:rPr>
              <a:t>Factor the denominator into first-order or quadratic factors.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946904" y="3017520"/>
            <a:ext cx="219456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12080" y="1920240"/>
            <a:ext cx="1874519" cy="224028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70448" y="2103120"/>
            <a:ext cx="5486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6672" y="2761488"/>
            <a:ext cx="155448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17212B"/>
                </a:solidFill>
                <a:latin typeface="Aptos"/>
              </a:rPr>
              <a:t>Compute partial-fraction coefficients.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95744" y="3017520"/>
            <a:ext cx="219456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60920" y="1920240"/>
            <a:ext cx="1874519" cy="22402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19288" y="2103120"/>
            <a:ext cx="5486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5512" y="2761488"/>
            <a:ext cx="155448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17212B"/>
                </a:solidFill>
                <a:latin typeface="Aptos"/>
              </a:rPr>
              <a:t>Use the ROC to choose right-sided vs left-sided form for each pole.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244584" y="3017520"/>
            <a:ext cx="219456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509760" y="1920240"/>
            <a:ext cx="1874519" cy="224028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168128" y="2103120"/>
            <a:ext cx="5486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74352" y="2761488"/>
            <a:ext cx="155448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17212B"/>
                </a:solidFill>
                <a:latin typeface="Aptos"/>
              </a:rPr>
              <a:t>Check by recomputing poles / a few samples.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4754880"/>
            <a:ext cx="10149840" cy="82296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88720" y="4882896"/>
            <a:ext cx="978408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Do not invert the algebraic expression without the ROC: the same residues can map to different time-domain supports.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Worked partial fractions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55–75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One rational expression; multiple inverse transforms depending on ROC.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1024128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>
                <a:solidFill>
                  <a:srgbClr val="16324F"/>
                </a:solidFill>
                <a:latin typeface="Aptos"/>
              </a:rPr>
              <a:t>X(z) = 1 / [(1−0.5z⁻¹)(1−0.8z⁻¹)]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24128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17212B"/>
                </a:solidFill>
                <a:latin typeface="Aptos"/>
              </a:rPr>
              <a:t>=  −5/3 · 1/(1−0.5z⁻¹)  +  8/3 · 1/(1−0.8z⁻¹)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17520"/>
            <a:ext cx="4846320" cy="1874519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3127248"/>
            <a:ext cx="451713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ROC |z|&gt;0.8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493008"/>
            <a:ext cx="4517136" cy="13075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Both terms are right-sided.
x[n]=−(5/3)(0.5)ⁿu[n]+(8/3)(0.8)ⁿu[n]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3017520"/>
            <a:ext cx="5212080" cy="1874519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45352" y="3127248"/>
            <a:ext cx="48828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ROC 0.5&lt;|z|&lt;0.8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5352" y="3493008"/>
            <a:ext cx="4882896" cy="13075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0.5-pole term is right-sided; 0.8-pole term is left-sided.
x[n]=−(5/3)(0.5)ⁿu[n]−(8/3)(0.8)ⁿu[−n−1]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The ROC changes the time-domain signal dramatically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55–75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Same poles and residues do not imply the same sequence.</a:t>
            </a:r>
          </a:p>
        </p:txBody>
      </p:sp>
      <p:pic>
        <p:nvPicPr>
          <p:cNvPr id="6" name="Picture 5" descr="inverse_roc_seque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280160"/>
            <a:ext cx="10058400" cy="3886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05840" y="5349240"/>
            <a:ext cx="10058400" cy="6400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5458968"/>
            <a:ext cx="9692640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This is why “X(z)=rational function” is incomplete unless the ROC (or an equivalent support/causality condition) is specified.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Python demo: see convergence and residues numerically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55–75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Numerical tools confirm the analysis; they do not decide the ROC for you.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5212080" cy="4251960"/>
          </a:xfrm>
          <a:prstGeom prst="roundRect">
            <a:avLst/>
          </a:prstGeom>
          <a:solidFill>
            <a:srgbClr val="17212B"/>
          </a:solidFill>
          <a:ln w="12700">
            <a:solidFill>
              <a:srgbClr val="172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1508760"/>
            <a:ext cx="4709160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 Mono"/>
              </a:rPr>
              <a:t>from scipy import signal
b = [1.0]
a = [1.0, -1.3, 0.4]
r, p, k = signal.residuez(b, a)
print(r, p)
# residues ≈ [-5/3, 8/3]
# poles = [0.5, 0.8]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4937760" cy="425196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508760"/>
            <a:ext cx="43891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6324F"/>
                </a:solidFill>
                <a:latin typeface="Aptos"/>
              </a:rPr>
              <a:t>What SciPy knows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057400"/>
            <a:ext cx="4297680" cy="164592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Algebraic residues and pole locations.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A rational transfer-function representation.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Frequency response if a stable interpretation is appropriate.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886200"/>
            <a:ext cx="43891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6324F"/>
                </a:solidFill>
                <a:latin typeface="Aptos"/>
              </a:rPr>
              <a:t>What SciPy does NOT infer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4315968"/>
            <a:ext cx="4297680" cy="73152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Whether each term is right- or left-sided without an ROC/support condition.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Audio connection: poles forecast decay and resonance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55–75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Lecture 6 will turn ROC geometry into filter behavior.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3291840" cy="1645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527048"/>
            <a:ext cx="296265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Pole magnitude |p|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892808"/>
            <a:ext cx="2962656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Sets exponential growth/decay rate in impulse-response terms.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291840" cy="164592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9431" y="1527048"/>
            <a:ext cx="296265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Pole angle ∠p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1892808"/>
            <a:ext cx="2962656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Sets oscillatory frequency of a complex-conjugate pole pair.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291840" cy="164592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11312" y="1527048"/>
            <a:ext cx="296265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Unit circle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1892808"/>
            <a:ext cx="2962656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Frequency response is evaluated here—if this circle lies in the ROC.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3794760"/>
            <a:ext cx="9829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17320" y="4096512"/>
            <a:ext cx="928116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900" b="1">
                <a:solidFill>
                  <a:srgbClr val="16324F"/>
                </a:solidFill>
                <a:latin typeface="Aptos"/>
              </a:rPr>
              <a:t>Preview: moving a pole closer to the unit circle makes the associated resonance sharper and the time-domain ringing last longer.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Concept check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 expression and ROC must be interpreted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2412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16324F"/>
                </a:solidFill>
                <a:latin typeface="Aptos"/>
              </a:rPr>
              <a:t>For  X(z)=1/(1−1.1z⁻¹), which ROC gives a DTFT?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468880"/>
            <a:ext cx="4754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2633472"/>
            <a:ext cx="43891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A. |z|&gt;1.1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468880"/>
            <a:ext cx="4754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2633472"/>
            <a:ext cx="43891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B. |z|&lt;1.1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703320"/>
            <a:ext cx="4754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0160" y="3867912"/>
            <a:ext cx="43891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C. Both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703320"/>
            <a:ext cx="4754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3867912"/>
            <a:ext cx="43891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D. Neither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FD377-6C9F-A4AC-DB78-C7497A11C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FBDF84-2854-0547-52C0-976D1E54CAFF}"/>
              </a:ext>
            </a:extLst>
          </p:cNvPr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Concept check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F509E35-1C86-EADA-FED7-E07A9AEC3317}"/>
              </a:ext>
            </a:extLst>
          </p:cNvPr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83E5FC-833D-1300-E2A1-18B3CE936614}"/>
              </a:ext>
            </a:extLst>
          </p:cNvPr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CHECK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CA0DB6-A952-4192-6B62-2AD39BA9E189}"/>
              </a:ext>
            </a:extLst>
          </p:cNvPr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 expression and ROC must be interpreted together.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5DD60B-76DF-5DED-08C4-C5DB2522DF38}"/>
              </a:ext>
            </a:extLst>
          </p:cNvPr>
          <p:cNvSpPr txBox="1"/>
          <p:nvPr/>
        </p:nvSpPr>
        <p:spPr>
          <a:xfrm>
            <a:off x="914400" y="1371600"/>
            <a:ext cx="102412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16324F"/>
                </a:solidFill>
                <a:latin typeface="Aptos"/>
              </a:rPr>
              <a:t>For  X(z)=1/(1−1.1z⁻¹), which ROC gives a DTFT?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2850925-C266-D4D6-8993-706FD17BA4FE}"/>
              </a:ext>
            </a:extLst>
          </p:cNvPr>
          <p:cNvSpPr/>
          <p:nvPr/>
        </p:nvSpPr>
        <p:spPr>
          <a:xfrm>
            <a:off x="1097280" y="2468880"/>
            <a:ext cx="4754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DD430-668A-989A-C832-CDA39CF02B01}"/>
              </a:ext>
            </a:extLst>
          </p:cNvPr>
          <p:cNvSpPr txBox="1"/>
          <p:nvPr/>
        </p:nvSpPr>
        <p:spPr>
          <a:xfrm>
            <a:off x="1280160" y="2633472"/>
            <a:ext cx="43891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A. |z|&gt;1.1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FA357CA-BA97-278C-2996-B8A05C7FF3C2}"/>
              </a:ext>
            </a:extLst>
          </p:cNvPr>
          <p:cNvSpPr/>
          <p:nvPr/>
        </p:nvSpPr>
        <p:spPr>
          <a:xfrm>
            <a:off x="6400800" y="2468880"/>
            <a:ext cx="4754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1FF280-FD1E-28A8-5585-0920235ED03E}"/>
              </a:ext>
            </a:extLst>
          </p:cNvPr>
          <p:cNvSpPr txBox="1"/>
          <p:nvPr/>
        </p:nvSpPr>
        <p:spPr>
          <a:xfrm>
            <a:off x="6583680" y="2633472"/>
            <a:ext cx="43891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B. |z|&lt;1.1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D8B32AA-D6A0-1117-4039-9B495EF7E4C9}"/>
              </a:ext>
            </a:extLst>
          </p:cNvPr>
          <p:cNvSpPr/>
          <p:nvPr/>
        </p:nvSpPr>
        <p:spPr>
          <a:xfrm>
            <a:off x="1097280" y="3703320"/>
            <a:ext cx="4754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5D7999-0678-6150-A650-E644F01BC3B2}"/>
              </a:ext>
            </a:extLst>
          </p:cNvPr>
          <p:cNvSpPr txBox="1"/>
          <p:nvPr/>
        </p:nvSpPr>
        <p:spPr>
          <a:xfrm>
            <a:off x="1280160" y="3867912"/>
            <a:ext cx="43891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C. Both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B9B44BB-33BA-D957-FA9B-A6BFC2DDC63F}"/>
              </a:ext>
            </a:extLst>
          </p:cNvPr>
          <p:cNvSpPr/>
          <p:nvPr/>
        </p:nvSpPr>
        <p:spPr>
          <a:xfrm>
            <a:off x="6400800" y="3703320"/>
            <a:ext cx="4754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4311E7-8729-6D4E-FE73-E9E731A75573}"/>
              </a:ext>
            </a:extLst>
          </p:cNvPr>
          <p:cNvSpPr txBox="1"/>
          <p:nvPr/>
        </p:nvSpPr>
        <p:spPr>
          <a:xfrm>
            <a:off x="6583680" y="3867912"/>
            <a:ext cx="43891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D. Neither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5C937AB-6C9C-420E-F377-94CBB70B275B}"/>
              </a:ext>
            </a:extLst>
          </p:cNvPr>
          <p:cNvSpPr/>
          <p:nvPr/>
        </p:nvSpPr>
        <p:spPr>
          <a:xfrm>
            <a:off x="1417320" y="5120640"/>
            <a:ext cx="9326880" cy="658368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649B5F-811B-00FF-F438-5A0F8287D203}"/>
              </a:ext>
            </a:extLst>
          </p:cNvPr>
          <p:cNvSpPr txBox="1"/>
          <p:nvPr/>
        </p:nvSpPr>
        <p:spPr>
          <a:xfrm>
            <a:off x="1645920" y="5230368"/>
            <a:ext cx="8869680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Correct: B.  The unit circle |z|=1 lies inside the ROC |z|&lt;1.1.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CC452C-DC28-71EF-2B8A-D2FFC6A9CBCE}"/>
              </a:ext>
            </a:extLst>
          </p:cNvPr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89DE9A-917B-D738-63E5-64570E86AE1F}"/>
              </a:ext>
            </a:extLst>
          </p:cNvPr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2967889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Common mistakes to prevent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These are high-value exam and debugging traps.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80160"/>
            <a:ext cx="10515600" cy="9144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D8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417319"/>
            <a:ext cx="38862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D84A3A"/>
                </a:solidFill>
                <a:latin typeface="Aptos"/>
              </a:rPr>
              <a:t>“The rational formula determines x[n].”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50591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587751"/>
            <a:ext cx="38862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D84A3A"/>
                </a:solidFill>
                <a:latin typeface="Aptos"/>
              </a:rPr>
              <a:t>“The z-transform always exists.”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21024"/>
            <a:ext cx="10515600" cy="9144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D8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3758184"/>
            <a:ext cx="38862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D84A3A"/>
                </a:solidFill>
                <a:latin typeface="Aptos"/>
              </a:rPr>
              <a:t>“DTFT and z-transform are separate ideas.”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791456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4928616"/>
            <a:ext cx="38862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D84A3A"/>
                </a:solidFill>
                <a:latin typeface="Aptos"/>
              </a:rPr>
              <a:t>“A pole can lie in the ROC.”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193E6-CD9B-2E99-0CD1-194DDE0C4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2FB12E-66B4-AB54-002B-C921295A4F3C}"/>
              </a:ext>
            </a:extLst>
          </p:cNvPr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Common mistakes to prevent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FB5911A-EF9A-CB19-F043-C0FB7316904E}"/>
              </a:ext>
            </a:extLst>
          </p:cNvPr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2F98C2-FFE4-17C6-E6C6-2B6F12F6EC75}"/>
              </a:ext>
            </a:extLst>
          </p:cNvPr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WRAP-UP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109C68-5052-1F0D-0431-B496552FB8C2}"/>
              </a:ext>
            </a:extLst>
          </p:cNvPr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These are high-value exam and debugging traps.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C7410AF-F9CD-D654-CE19-C8F38E4878E8}"/>
              </a:ext>
            </a:extLst>
          </p:cNvPr>
          <p:cNvSpPr/>
          <p:nvPr/>
        </p:nvSpPr>
        <p:spPr>
          <a:xfrm>
            <a:off x="822960" y="1280160"/>
            <a:ext cx="10515600" cy="9144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D8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877AEF-B8D6-1C18-0873-1DB3CDA88DDA}"/>
              </a:ext>
            </a:extLst>
          </p:cNvPr>
          <p:cNvSpPr txBox="1"/>
          <p:nvPr/>
        </p:nvSpPr>
        <p:spPr>
          <a:xfrm>
            <a:off x="1051560" y="1417319"/>
            <a:ext cx="38862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D84A3A"/>
                </a:solidFill>
                <a:latin typeface="Aptos"/>
              </a:rPr>
              <a:t>“The rational formula determines x[n].”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8BA75E-2919-5268-8F88-3827BC3E003F}"/>
              </a:ext>
            </a:extLst>
          </p:cNvPr>
          <p:cNvSpPr txBox="1"/>
          <p:nvPr/>
        </p:nvSpPr>
        <p:spPr>
          <a:xfrm>
            <a:off x="5120640" y="1417319"/>
            <a:ext cx="57150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7212B"/>
                </a:solidFill>
                <a:latin typeface="Aptos"/>
              </a:rPr>
              <a:t>No—the ROC/support is part of the transform.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A9D7E20-5F4E-48B9-DE48-A6B029B59791}"/>
              </a:ext>
            </a:extLst>
          </p:cNvPr>
          <p:cNvSpPr/>
          <p:nvPr/>
        </p:nvSpPr>
        <p:spPr>
          <a:xfrm>
            <a:off x="822960" y="2450591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B3E8A6-6922-12C5-4A62-8FC97AE8E541}"/>
              </a:ext>
            </a:extLst>
          </p:cNvPr>
          <p:cNvSpPr txBox="1"/>
          <p:nvPr/>
        </p:nvSpPr>
        <p:spPr>
          <a:xfrm>
            <a:off x="1051560" y="2587751"/>
            <a:ext cx="38862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D84A3A"/>
                </a:solidFill>
                <a:latin typeface="Aptos"/>
              </a:rPr>
              <a:t>“The z-transform always exists.”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876697-1FA5-32EE-6AFF-DE761B6E41D6}"/>
              </a:ext>
            </a:extLst>
          </p:cNvPr>
          <p:cNvSpPr txBox="1"/>
          <p:nvPr/>
        </p:nvSpPr>
        <p:spPr>
          <a:xfrm>
            <a:off x="5120640" y="2587751"/>
            <a:ext cx="57150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7212B"/>
                </a:solidFill>
                <a:latin typeface="Aptos"/>
              </a:rPr>
              <a:t>No—the ROC may be empty for some sequences.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AD86725-53B0-002E-660C-E1EF912D2696}"/>
              </a:ext>
            </a:extLst>
          </p:cNvPr>
          <p:cNvSpPr/>
          <p:nvPr/>
        </p:nvSpPr>
        <p:spPr>
          <a:xfrm>
            <a:off x="822960" y="3621024"/>
            <a:ext cx="10515600" cy="9144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D8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5C2C4A-1CFD-4F69-B1AC-80D58157CA36}"/>
              </a:ext>
            </a:extLst>
          </p:cNvPr>
          <p:cNvSpPr txBox="1"/>
          <p:nvPr/>
        </p:nvSpPr>
        <p:spPr>
          <a:xfrm>
            <a:off x="1051560" y="3758184"/>
            <a:ext cx="38862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D84A3A"/>
                </a:solidFill>
                <a:latin typeface="Aptos"/>
              </a:rPr>
              <a:t>“DTFT and z-transform are separate ideas.”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D5CD43-1D0A-96A9-D1BB-78E113EF0805}"/>
              </a:ext>
            </a:extLst>
          </p:cNvPr>
          <p:cNvSpPr txBox="1"/>
          <p:nvPr/>
        </p:nvSpPr>
        <p:spPr>
          <a:xfrm>
            <a:off x="5120640" y="3758184"/>
            <a:ext cx="57150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7212B"/>
                </a:solidFill>
                <a:latin typeface="Aptos"/>
              </a:rPr>
              <a:t>DTFT is the unit-circle evaluation when the ROC includes it.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FCDA933-89C5-ADC7-7450-EEB7F6E8FF1C}"/>
              </a:ext>
            </a:extLst>
          </p:cNvPr>
          <p:cNvSpPr/>
          <p:nvPr/>
        </p:nvSpPr>
        <p:spPr>
          <a:xfrm>
            <a:off x="822960" y="4791456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7B5D33-4FBB-DC6F-0357-0DC389D2179B}"/>
              </a:ext>
            </a:extLst>
          </p:cNvPr>
          <p:cNvSpPr txBox="1"/>
          <p:nvPr/>
        </p:nvSpPr>
        <p:spPr>
          <a:xfrm>
            <a:off x="1051560" y="4928616"/>
            <a:ext cx="38862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D84A3A"/>
                </a:solidFill>
                <a:latin typeface="Aptos"/>
              </a:rPr>
              <a:t>“A pole can lie in the ROC.”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0E13F4-B622-9DCC-987F-432F08F30683}"/>
              </a:ext>
            </a:extLst>
          </p:cNvPr>
          <p:cNvSpPr txBox="1"/>
          <p:nvPr/>
        </p:nvSpPr>
        <p:spPr>
          <a:xfrm>
            <a:off x="5120640" y="4928616"/>
            <a:ext cx="57150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7212B"/>
                </a:solidFill>
                <a:latin typeface="Aptos"/>
              </a:rPr>
              <a:t>Never: the transform diverges at a pole.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A0B419-687D-8A87-B4E5-CAB3253079A0}"/>
              </a:ext>
            </a:extLst>
          </p:cNvPr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EA74F4-7D2D-4BC1-C5FF-B53B36D323FE}"/>
              </a:ext>
            </a:extLst>
          </p:cNvPr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1869966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Lecture 5 synthesis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 z-transform is frequency analysis plus convergence geometry.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1828800" cy="15544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87752"/>
            <a:ext cx="1645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x[n]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32888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71800" y="1920240"/>
            <a:ext cx="1828800" cy="155448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63240" y="21488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z-transform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587752"/>
            <a:ext cx="1645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X(z)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18888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57800" y="1920240"/>
            <a:ext cx="1828800" cy="155448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49240" y="21488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ROC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587752"/>
            <a:ext cx="1645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where it converges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04888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43800" y="1920240"/>
            <a:ext cx="1828800" cy="15544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35240" y="21488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unit circle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2587752"/>
            <a:ext cx="1645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DTFT if included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90888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829800" y="1920240"/>
            <a:ext cx="1828800" cy="15544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21240" y="21488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inverse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2587752"/>
            <a:ext cx="1645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PFE + ROC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" y="4343400"/>
            <a:ext cx="10241280" cy="100584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88720" y="4667899"/>
            <a:ext cx="9784080" cy="33855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dirty="0">
                <a:solidFill>
                  <a:srgbClr val="16324F"/>
                </a:solidFill>
                <a:latin typeface="Aptos"/>
              </a:rPr>
              <a:t>Exit ticket: Why can the same rational X(z) correspond to different sequences? 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E8F65-B626-5D74-6C33-039C388CA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033BE2-8954-E3F8-37C4-59205B1C20CD}"/>
              </a:ext>
            </a:extLst>
          </p:cNvPr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Lecture 5 synthesis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6D78322-0DA8-37B9-8AA9-BB966DB81EF7}"/>
              </a:ext>
            </a:extLst>
          </p:cNvPr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8F5A8-6A8C-A41B-0866-8B403A9ED9BA}"/>
              </a:ext>
            </a:extLst>
          </p:cNvPr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WRAP-UP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96EF19-CF3E-13F0-1AE1-9BF3FC029723}"/>
              </a:ext>
            </a:extLst>
          </p:cNvPr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 z-transform is frequency analysis plus convergence geometry.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AF7F261-3020-8882-22D3-31E867353BFE}"/>
              </a:ext>
            </a:extLst>
          </p:cNvPr>
          <p:cNvSpPr/>
          <p:nvPr/>
        </p:nvSpPr>
        <p:spPr>
          <a:xfrm>
            <a:off x="685800" y="1920240"/>
            <a:ext cx="1828800" cy="15544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9728C5-8F2C-7772-3FCA-EC0E2D51FEC5}"/>
              </a:ext>
            </a:extLst>
          </p:cNvPr>
          <p:cNvSpPr txBox="1"/>
          <p:nvPr/>
        </p:nvSpPr>
        <p:spPr>
          <a:xfrm>
            <a:off x="777240" y="21488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sequence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CC7FC8-939B-3B6A-D271-42B22C0F8951}"/>
              </a:ext>
            </a:extLst>
          </p:cNvPr>
          <p:cNvSpPr txBox="1"/>
          <p:nvPr/>
        </p:nvSpPr>
        <p:spPr>
          <a:xfrm>
            <a:off x="777240" y="2587752"/>
            <a:ext cx="1645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x[n]</a:t>
            </a:r>
          </a:p>
        </p:txBody>
      </p:sp>
      <p:cxnSp>
        <p:nvCxnSpPr>
          <p:cNvPr id="9" name="Connector 8">
            <a:extLst>
              <a:ext uri="{FF2B5EF4-FFF2-40B4-BE49-F238E27FC236}">
                <a16:creationId xmlns:a16="http://schemas.microsoft.com/office/drawing/2014/main" id="{9B799338-A948-AD9A-AEC3-AFE61AA1C182}"/>
              </a:ext>
            </a:extLst>
          </p:cNvPr>
          <p:cNvCxnSpPr/>
          <p:nvPr/>
        </p:nvCxnSpPr>
        <p:spPr>
          <a:xfrm>
            <a:off x="2532888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875E58A-311C-FF32-90C7-227B8E483FFE}"/>
              </a:ext>
            </a:extLst>
          </p:cNvPr>
          <p:cNvSpPr/>
          <p:nvPr/>
        </p:nvSpPr>
        <p:spPr>
          <a:xfrm>
            <a:off x="2971800" y="1920240"/>
            <a:ext cx="1828800" cy="155448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7138DF-348C-2BB5-7BDD-EA03387D1352}"/>
              </a:ext>
            </a:extLst>
          </p:cNvPr>
          <p:cNvSpPr txBox="1"/>
          <p:nvPr/>
        </p:nvSpPr>
        <p:spPr>
          <a:xfrm>
            <a:off x="3063240" y="21488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z-transform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A17E5D-82EF-7FC8-7885-7B3742C95703}"/>
              </a:ext>
            </a:extLst>
          </p:cNvPr>
          <p:cNvSpPr txBox="1"/>
          <p:nvPr/>
        </p:nvSpPr>
        <p:spPr>
          <a:xfrm>
            <a:off x="3063240" y="2587752"/>
            <a:ext cx="1645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X(z)</a:t>
            </a:r>
          </a:p>
        </p:txBody>
      </p: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65BE3590-BCD7-2711-9AC0-BD9324E1A3F0}"/>
              </a:ext>
            </a:extLst>
          </p:cNvPr>
          <p:cNvCxnSpPr/>
          <p:nvPr/>
        </p:nvCxnSpPr>
        <p:spPr>
          <a:xfrm>
            <a:off x="4818888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774D32E-E87C-C07F-6DFA-A408AD706479}"/>
              </a:ext>
            </a:extLst>
          </p:cNvPr>
          <p:cNvSpPr/>
          <p:nvPr/>
        </p:nvSpPr>
        <p:spPr>
          <a:xfrm>
            <a:off x="5257800" y="1920240"/>
            <a:ext cx="1828800" cy="155448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F26942-0588-9867-6974-3A75BCA941FD}"/>
              </a:ext>
            </a:extLst>
          </p:cNvPr>
          <p:cNvSpPr txBox="1"/>
          <p:nvPr/>
        </p:nvSpPr>
        <p:spPr>
          <a:xfrm>
            <a:off x="5349240" y="21488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ROC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C9056B-E41D-510E-3F16-D9F51FF016B9}"/>
              </a:ext>
            </a:extLst>
          </p:cNvPr>
          <p:cNvSpPr txBox="1"/>
          <p:nvPr/>
        </p:nvSpPr>
        <p:spPr>
          <a:xfrm>
            <a:off x="5349240" y="2587752"/>
            <a:ext cx="1645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where it converges</a:t>
            </a:r>
          </a:p>
        </p:txBody>
      </p:sp>
      <p:cxnSp>
        <p:nvCxnSpPr>
          <p:cNvPr id="17" name="Connector 16">
            <a:extLst>
              <a:ext uri="{FF2B5EF4-FFF2-40B4-BE49-F238E27FC236}">
                <a16:creationId xmlns:a16="http://schemas.microsoft.com/office/drawing/2014/main" id="{C67332B9-A2D5-E2CB-C829-421024D65A37}"/>
              </a:ext>
            </a:extLst>
          </p:cNvPr>
          <p:cNvCxnSpPr/>
          <p:nvPr/>
        </p:nvCxnSpPr>
        <p:spPr>
          <a:xfrm>
            <a:off x="7104888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65F1808-65C7-064C-617C-F897EB97B4DB}"/>
              </a:ext>
            </a:extLst>
          </p:cNvPr>
          <p:cNvSpPr/>
          <p:nvPr/>
        </p:nvSpPr>
        <p:spPr>
          <a:xfrm>
            <a:off x="7543800" y="1920240"/>
            <a:ext cx="1828800" cy="15544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443EC0-9AEC-6045-F46A-90E7EDCA5C2E}"/>
              </a:ext>
            </a:extLst>
          </p:cNvPr>
          <p:cNvSpPr txBox="1"/>
          <p:nvPr/>
        </p:nvSpPr>
        <p:spPr>
          <a:xfrm>
            <a:off x="7635240" y="21488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unit circle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66B2AC-F51D-9FB5-5EF8-0803C2906B83}"/>
              </a:ext>
            </a:extLst>
          </p:cNvPr>
          <p:cNvSpPr txBox="1"/>
          <p:nvPr/>
        </p:nvSpPr>
        <p:spPr>
          <a:xfrm>
            <a:off x="7635240" y="2587752"/>
            <a:ext cx="1645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DTFT if included</a:t>
            </a:r>
          </a:p>
        </p:txBody>
      </p:sp>
      <p:cxnSp>
        <p:nvCxnSpPr>
          <p:cNvPr id="21" name="Connector 20">
            <a:extLst>
              <a:ext uri="{FF2B5EF4-FFF2-40B4-BE49-F238E27FC236}">
                <a16:creationId xmlns:a16="http://schemas.microsoft.com/office/drawing/2014/main" id="{92C8230F-B05C-0B47-7E8E-089E339D34D4}"/>
              </a:ext>
            </a:extLst>
          </p:cNvPr>
          <p:cNvCxnSpPr/>
          <p:nvPr/>
        </p:nvCxnSpPr>
        <p:spPr>
          <a:xfrm>
            <a:off x="9390888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DAD299C-1F74-0A57-D60D-5226ABB9E05F}"/>
              </a:ext>
            </a:extLst>
          </p:cNvPr>
          <p:cNvSpPr/>
          <p:nvPr/>
        </p:nvSpPr>
        <p:spPr>
          <a:xfrm>
            <a:off x="9829800" y="1920240"/>
            <a:ext cx="1828800" cy="15544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C2B7E5-518B-4079-6128-A29EBF8E907F}"/>
              </a:ext>
            </a:extLst>
          </p:cNvPr>
          <p:cNvSpPr txBox="1"/>
          <p:nvPr/>
        </p:nvSpPr>
        <p:spPr>
          <a:xfrm>
            <a:off x="9921240" y="21488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inverse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FFF145-DF27-3EA1-8EE5-4A10951D36D5}"/>
              </a:ext>
            </a:extLst>
          </p:cNvPr>
          <p:cNvSpPr txBox="1"/>
          <p:nvPr/>
        </p:nvSpPr>
        <p:spPr>
          <a:xfrm>
            <a:off x="9921240" y="2587752"/>
            <a:ext cx="1645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PFE + ROC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B168B05-50A9-B47C-578A-353AE2A68B50}"/>
              </a:ext>
            </a:extLst>
          </p:cNvPr>
          <p:cNvSpPr/>
          <p:nvPr/>
        </p:nvSpPr>
        <p:spPr>
          <a:xfrm>
            <a:off x="960120" y="4343400"/>
            <a:ext cx="10241280" cy="100584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96CDEE-E598-124B-F9EE-C45B4F6007AF}"/>
              </a:ext>
            </a:extLst>
          </p:cNvPr>
          <p:cNvSpPr txBox="1"/>
          <p:nvPr/>
        </p:nvSpPr>
        <p:spPr>
          <a:xfrm>
            <a:off x="1188720" y="4480560"/>
            <a:ext cx="9784080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Exit ticket: Why can the same rational X(z) correspond to different sequences?  Good answer: because different power-series expansions converge in different ROCs, producing different time supports.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ED738BC-1A46-E991-80E1-D44CFCB12626}"/>
              </a:ext>
            </a:extLst>
          </p:cNvPr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E5EDB64-9C98-A1D7-3CCB-E7CF90DC0A77}"/>
              </a:ext>
            </a:extLst>
          </p:cNvPr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1946812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Board reserve: finite-duration sequences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RESERVE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Use if students need an easy ROC anchor before rational examples.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24128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>
                <a:solidFill>
                  <a:srgbClr val="16324F"/>
                </a:solidFill>
                <a:latin typeface="Aptos"/>
              </a:rPr>
              <a:t>x[n] = 2δ[n+1] − δ[n] + 3δ[n−2]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24128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>
                <a:solidFill>
                  <a:srgbClr val="17212B"/>
                </a:solidFill>
                <a:latin typeface="Aptos"/>
              </a:rPr>
              <a:t>X(z) = 2z − 1 + 3z⁻²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3246120"/>
            <a:ext cx="9509760" cy="141732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90472" y="3355848"/>
            <a:ext cx="918057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ROC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0472" y="3721608"/>
            <a:ext cx="9180576" cy="8503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Only finitely many terms are present. Divergence can occur only at z=0 because of negative powers, or at z=∞ because of positive powers.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983480"/>
            <a:ext cx="978408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900" b="1">
                <a:solidFill>
                  <a:srgbClr val="16324F"/>
                </a:solidFill>
                <a:latin typeface="Aptos"/>
              </a:rPr>
              <a:t>Here both positive and negative powers occur ⇒ 0 &lt; |z| &lt; ∞.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Next: transfer functions, poles, zeros, stability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Lecture 6 turns the z-plane into a filter-design map.</a:t>
            </a:r>
          </a:p>
        </p:txBody>
      </p:sp>
      <p:pic>
        <p:nvPicPr>
          <p:cNvPr id="6" name="Picture 5" descr="pz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4983480" cy="4114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080760" y="1417320"/>
            <a:ext cx="4937760" cy="384048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297680" cy="310896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Difference equations become rational H(z).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Poles + ROC determine causality and stability.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Zeros suppress nearby unit-circle frequencies.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Poles enhance nearby frequencies.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Audio filters become geometry you can see.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2369</Words>
  <Application>Microsoft Office PowerPoint</Application>
  <PresentationFormat>Widescreen</PresentationFormat>
  <Paragraphs>299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Aptos</vt:lpstr>
      <vt:lpstr>Aptos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ECE DSP + ML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Lecture 3 — Continuous-to-Discrete Conversion &amp; Aliasing</dc:title>
  <dc:subject>Week 2 DSP + ML course materials</dc:subject>
  <dc:creator>OpenAI</dc:creator>
  <cp:lastModifiedBy>Peter Mathys</cp:lastModifiedBy>
  <cp:revision>3</cp:revision>
  <dcterms:created xsi:type="dcterms:W3CDTF">2026-08-18T14:43:54Z</dcterms:created>
  <dcterms:modified xsi:type="dcterms:W3CDTF">2026-09-03T05:13:03Z</dcterms:modified>
</cp:coreProperties>
</file>