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8" r:id="rId15"/>
    <p:sldId id="268" r:id="rId16"/>
    <p:sldId id="269" r:id="rId17"/>
    <p:sldId id="270" r:id="rId18"/>
    <p:sldId id="271" r:id="rId19"/>
    <p:sldId id="272" r:id="rId20"/>
    <p:sldId id="273" r:id="rId21"/>
    <p:sldId id="279" r:id="rId22"/>
    <p:sldId id="274" r:id="rId23"/>
    <p:sldId id="280" r:id="rId24"/>
    <p:sldId id="275" r:id="rId25"/>
    <p:sldId id="281" r:id="rId26"/>
    <p:sldId id="276" r:id="rId27"/>
    <p:sldId id="27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Lecture 5, 9-08-26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The z-Transform and
the Region of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Beyond the DTFT: convergence becomes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DTFT = z-transform
on the unit circle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reason from both algebra and ROC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Explain why the DTFT can fail while a z-transform exists elsewhere in the z-plane.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Compute bilateral z-transforms of common right- and left-sided sequences.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the ROC to distinguish sequences with the same rational expression.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Perform inverse z-transforms by partial fraction expansion.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Connect unit-circle inclusion to the existence of the DTFT.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Beyond the DTFT: sometimes the unit circle is 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DTFT is only one radial slice of a larger transform.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0040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28712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287121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x[n] = 2ⁿu[n] grows too quickly.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657600" cy="14630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33672" y="1435607"/>
            <a:ext cx="33284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On the unit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801368"/>
            <a:ext cx="332841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Σ 2ⁿ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does not converge in the ordinary sense.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325880"/>
            <a:ext cx="356616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1435607"/>
            <a:ext cx="32369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Move radially outward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801368"/>
            <a:ext cx="323697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z⁻ⁿ = r⁻ⁿ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adds damping. For r&gt;2, (2/r)ⁿ decays.</a:t>
            </a:r>
          </a:p>
        </p:txBody>
      </p:sp>
      <p:pic>
        <p:nvPicPr>
          <p:cNvPr id="15" name="Picture 14" descr="z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2971800"/>
            <a:ext cx="8366760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damping-factor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Write z in polar form: radius controls convergence; angle probes frequency.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25880"/>
            <a:ext cx="5394960" cy="4114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572768"/>
            <a:ext cx="48463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>
                <a:solidFill>
                  <a:srgbClr val="16324F"/>
                </a:solidFill>
                <a:latin typeface="Aptos"/>
              </a:rPr>
              <a:t>z = r e^{jω}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457200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r^{-n} changes the weighting of positive-time samples.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 supplies the familiar complex sinusoidal rotation.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At r=1 there is no radial damping: this is exactly the DTFT.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Convergence can hold for some radii and fail for others.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Definition of the bilateral z-transform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transform value exists only where the infinite sum converges.</a:t>
            </a:r>
          </a:p>
        </p:txBody>
      </p:sp>
      <p:pic>
        <p:nvPicPr>
          <p:cNvPr id="6" name="Picture 5" descr="eq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9052560" cy="12573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Complex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 can be anywhere in the complex plane—not just on the unit circle.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743200"/>
            <a:ext cx="338328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Transform + 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rational formula without its ROC is incomplete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743200"/>
            <a:ext cx="3383280" cy="14630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Bilateral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positive and negative n may contribute; this is why annular ROCs appear.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DTFT lives on the unit circle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generalizes frequency analysis radially.</a:t>
            </a:r>
          </a:p>
        </p:txBody>
      </p:sp>
      <p:pic>
        <p:nvPicPr>
          <p:cNvPr id="6" name="Picture 5" descr="eq_dtft_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412480" cy="1142436"/>
          </a:xfrm>
          <a:prstGeom prst="rect">
            <a:avLst/>
          </a:prstGeom>
        </p:spPr>
      </p:pic>
      <p:pic>
        <p:nvPicPr>
          <p:cNvPr id="7" name="Picture 6" descr="z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4297680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94960" y="2487168"/>
            <a:ext cx="5577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2743200"/>
            <a:ext cx="5029200" cy="25603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the ROC includes |z|=1, the DTFT exists in the ordinary sense.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Move around the unit circle: z=e^{jω}.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pole on the unit circle prevents a finite frequency response at that angle.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Later: stability of an LTI system is tied to the unit circle lying in the ROC.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Standard pair: right-sided exponential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Derive it as a geometric series—do not memorize the ROC separately.</a:t>
            </a:r>
          </a:p>
        </p:txBody>
      </p:sp>
      <p:pic>
        <p:nvPicPr>
          <p:cNvPr id="6" name="Picture 5" descr="eq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692640" cy="10556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468880"/>
            <a:ext cx="4754880" cy="2834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Derivation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4114800" cy="18745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X(z)=Σₙ₌₀∞ aⁿz⁻ⁿ = Σₙ₌₀∞(az⁻¹)ⁿ
Geometric series converges when |a z⁻¹|&lt;1
⇒ |z|&gt;|a|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68880"/>
            <a:ext cx="5303520" cy="2834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768" y="2651760"/>
            <a:ext cx="4800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08960"/>
            <a:ext cx="4480560" cy="1920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Pole at z=a.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extends outward from the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Right-sided sequences naturally produce exterior ROCs.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|a|&lt;1, the unit circle lies in the ROC and the DTFT exists.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Same rational expression, different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ROC is what tells you which time support is intended.</a:t>
            </a:r>
          </a:p>
        </p:txBody>
      </p:sp>
      <p:pic>
        <p:nvPicPr>
          <p:cNvPr id="6" name="Picture 5" descr="roc_same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14984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5440680"/>
            <a:ext cx="10332720" cy="685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541264"/>
            <a:ext cx="99669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Key fact:  1/(1−az⁻¹)  alone does NOT uniquely determine x[n].  The ROC is part of the transform.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Left-sided exponential: why the minus sign appears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Expand the same rational function in powers appropriate to |z|&lt;|a|.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2976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For |z|&lt;|a|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572000" cy="3154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1/(1−az⁻¹) = z/(z−a)
Rewrite so the geometric ratio has magnitude &lt; 1:
= −(z/a)/(1−z/a)
= −Σₖ₌₁∞ (z/a)ᵏ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42976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Inverse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389120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−aⁿ u[−n−1]
Nonzero only for n≤−1.
Same pole at z=a.
Different support.
Different ROC.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geometry: annuli bounded by poles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transforms, the ROC cannot contain a pole.</a:t>
            </a:r>
          </a:p>
        </p:txBody>
      </p:sp>
      <p:pic>
        <p:nvPicPr>
          <p:cNvPr id="6" name="Picture 5" descr="roc_annu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424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0" y="4754880"/>
            <a:ext cx="3154680" cy="11430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3659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Right-sided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outside the outermost pole.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4754880"/>
            <a:ext cx="3154680" cy="11430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Left-sided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inside the innermost pole.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86548733-B26D-1F55-6EA4-A79274D4A5D7}"/>
              </a:ext>
            </a:extLst>
          </p:cNvPr>
          <p:cNvSpPr/>
          <p:nvPr/>
        </p:nvSpPr>
        <p:spPr>
          <a:xfrm>
            <a:off x="960120" y="4754880"/>
            <a:ext cx="315468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A5FD82-D608-82EB-107A-48BFD02DCEF6}"/>
              </a:ext>
            </a:extLst>
          </p:cNvPr>
          <p:cNvSpPr txBox="1"/>
          <p:nvPr/>
        </p:nvSpPr>
        <p:spPr>
          <a:xfrm>
            <a:off x="112471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Two-sided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344309-091A-97D0-1144-58AA7D814C3A}"/>
              </a:ext>
            </a:extLst>
          </p:cNvPr>
          <p:cNvSpPr txBox="1"/>
          <p:nvPr/>
        </p:nvSpPr>
        <p:spPr>
          <a:xfrm>
            <a:off x="112471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lies between pole radii.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rules worth being able to reason 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consequences of convergence, not arbitrary conventions.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is a connected annulus centered at the origin.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contains no poles.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Right-sided rational sequence → ROC outside outermost pole.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Left-sided rational sequence → ROC inside innermost pole.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Finite two-sided sequence: ROC is essentially entire z-plane except possible 0 or ∞.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9224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DTFT exists iff the unit circle lies in the ROC.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54C7-266C-5728-565F-DE0B6D2C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4B66E-7044-B112-B36E-B8F445A55CB3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DB42B79-19BC-4998-0935-5D090A470C38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275D5-523A-361F-E7AD-D25EA4DC9489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4E752-AFDF-CF4E-5D8A-69909E5867E3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43A3C3-29FE-DCA6-D1DA-115BD118087C}"/>
              </a:ext>
            </a:extLst>
          </p:cNvPr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76C93-3B0D-2612-01C5-E5C6689F4A76}"/>
              </a:ext>
            </a:extLst>
          </p:cNvPr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8A53A-7D12-9AD2-6C26-B65FBCE0624B}"/>
              </a:ext>
            </a:extLst>
          </p:cNvPr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B906D-7CFB-6908-6387-9EEE0B36D220}"/>
              </a:ext>
            </a:extLst>
          </p:cNvPr>
          <p:cNvSpPr txBox="1"/>
          <p:nvPr/>
        </p:nvSpPr>
        <p:spPr>
          <a:xfrm>
            <a:off x="7406640" y="1389888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right-sided; DTFT exists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1F739E-0BF6-CD07-53D0-0B3A44ADC91E}"/>
              </a:ext>
            </a:extLst>
          </p:cNvPr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0C01A-0D51-E6DF-290E-F3ECA95E1760}"/>
              </a:ext>
            </a:extLst>
          </p:cNvPr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AD889-8811-E955-68A0-A616144C42AC}"/>
              </a:ext>
            </a:extLst>
          </p:cNvPr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B72A1-58D6-7C00-C2FB-DAA57AD03E6C}"/>
              </a:ext>
            </a:extLst>
          </p:cNvPr>
          <p:cNvSpPr txBox="1"/>
          <p:nvPr/>
        </p:nvSpPr>
        <p:spPr>
          <a:xfrm>
            <a:off x="7406640" y="2560320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right-sided; DTFT does not exist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C0DEF7-9B94-C861-B648-B9A75D1E2C64}"/>
              </a:ext>
            </a:extLst>
          </p:cNvPr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4B7F6-51A5-DEEB-36ED-35EE12D77E05}"/>
              </a:ext>
            </a:extLst>
          </p:cNvPr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1C2A5-4B99-19B1-5C1B-80F38B15F2DC}"/>
              </a:ext>
            </a:extLst>
          </p:cNvPr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A3200-35AD-DC61-DC14-15BD714DB9D4}"/>
              </a:ext>
            </a:extLst>
          </p:cNvPr>
          <p:cNvSpPr txBox="1"/>
          <p:nvPr/>
        </p:nvSpPr>
        <p:spPr>
          <a:xfrm>
            <a:off x="7406640" y="3730752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left-sided; DTFT exists because unit circle is inside ROC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2E6D456-E216-94B4-02D4-1B83EB2D3B16}"/>
              </a:ext>
            </a:extLst>
          </p:cNvPr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40A86-3E38-71D9-98F0-EB3651E37AFC}"/>
              </a:ext>
            </a:extLst>
          </p:cNvPr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7E72A7-3764-0B2B-DB8E-72B978E26057}"/>
              </a:ext>
            </a:extLst>
          </p:cNvPr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0B11B-1C61-23F2-1447-1DAF76841B5D}"/>
              </a:ext>
            </a:extLst>
          </p:cNvPr>
          <p:cNvSpPr txBox="1"/>
          <p:nvPr/>
        </p:nvSpPr>
        <p:spPr>
          <a:xfrm>
            <a:off x="7406640" y="4901184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two-sided; DTFT does not exist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1D5044-85F8-1B3C-C1CC-6390486EB304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243B03-8A39-326D-09BB-FB863F2B5D12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062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Inverse z-transform: practical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functions, partial fractions turns algebra back into transform pairs.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Express X(z) in powers of z⁻¹.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9806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Factor the denominator into first-order or quadratic factors.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4690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Compute partial-fraction coefficients.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9574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928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Use the ROC to choose right-sided vs left-sided form for each pole.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4458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6812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Check by recomputing poles / a few samples.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754880"/>
            <a:ext cx="10149840" cy="8229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882896"/>
            <a:ext cx="97840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Do not invert the algebraic expression without the ROC: the same residues can map to different time-domain supports.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Worked partial fractions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One rational expression; multiple inverse transforms depending on ROC.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6324F"/>
                </a:solidFill>
                <a:latin typeface="Aptos"/>
              </a:rPr>
              <a:t>X(z) = 1 / [(1−0.5z⁻¹)(1−0.8z⁻¹)]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=  −5/3 · 1/(1−0.5z⁻¹)  +  8/3 · 1/(1−0.8z⁻¹)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4846320" cy="187451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127248"/>
            <a:ext cx="45171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|z|&gt;0.8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93008"/>
            <a:ext cx="451713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terms are right-sided.
x[n]=−(5/3)(0.5)ⁿu[n]+(8/3)(0.8)ⁿu[n]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017520"/>
            <a:ext cx="5212080" cy="1874519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3127248"/>
            <a:ext cx="4882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0.5&lt;|z|&lt;0.8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3493008"/>
            <a:ext cx="488289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0.5-pole term is right-sided; 0.8-pole term is left-sided.
x[n]=−(5/3)(0.5)ⁿu[n]−(8/3)(0.8)ⁿu[−n−1]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ROC changes the time-domain signal dramatically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Same poles and residues do not imply the same sequence.</a:t>
            </a:r>
          </a:p>
        </p:txBody>
      </p:sp>
      <p:pic>
        <p:nvPicPr>
          <p:cNvPr id="6" name="Picture 5" descr="inverse_roc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5840" y="5349240"/>
            <a:ext cx="10058400" cy="6400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5458968"/>
            <a:ext cx="9692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This is why “X(z)=rational function” is incomplete unless the ROC (or an equivalent support/causality condition) is specified.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see convergence and residues numerically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Numerical tools confirm the analysis; they do not decide the ROC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212080" cy="42519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508760"/>
            <a:ext cx="4709160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from scipy import signal
b = [1.0]
a = [1.0, -1.3, 0.4]
r, p, k = signal.residuez(b, a)
print(r, p)
# residues ≈ [-5/3, 8/3]
# poles = [0.5, 0.8]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937760" cy="42519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knows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297680" cy="16459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Algebraic residues and pole locations.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rational transfer-function representation.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Frequency response if a stable interpretation is appropriate.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8862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does NOT infer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15968"/>
            <a:ext cx="4297680" cy="7315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Whether each term is right- or left-sided without an ROC/support condition.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connection: poles forecast decay and resonance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will turn ROC geometry into filter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9184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magnitude |p|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exponential growth/decay rate in impulse-response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angle ∠p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oscillatory frequency of a complex-conjugate pole 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29184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Unit 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Frequency response is evaluated here—if this circle lies in the ROC.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94760"/>
            <a:ext cx="9829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4096512"/>
            <a:ext cx="92811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Preview: moving a pole closer to the unit circle makes the associated resonance sharper and the time-domain ringing last longer.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D377-6C9F-A4AC-DB78-C7497A11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BDF84-2854-0547-52C0-976D1E54CAFF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509E35-1C86-EADA-FED7-E07A9AEC3317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3E5FC-833D-1300-E2A1-18B3CE936614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A0DB6-A952-4192-6B62-2AD39BA9E189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DD60B-76DF-5DED-08C4-C5DB2522DF38}"/>
              </a:ext>
            </a:extLst>
          </p:cNvPr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850925-C266-D4D6-8993-706FD17BA4FE}"/>
              </a:ext>
            </a:extLst>
          </p:cNvPr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DD430-668A-989A-C832-CDA39CF02B01}"/>
              </a:ext>
            </a:extLst>
          </p:cNvPr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A357CA-BA97-278C-2996-B8A05C7FF3C2}"/>
              </a:ext>
            </a:extLst>
          </p:cNvPr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FF280-FD1E-28A8-5585-0920235ED03E}"/>
              </a:ext>
            </a:extLst>
          </p:cNvPr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8B32AA-D6A0-1117-4039-9B495EF7E4C9}"/>
              </a:ext>
            </a:extLst>
          </p:cNvPr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D7999-0678-6150-A650-E644F01BC3B2}"/>
              </a:ext>
            </a:extLst>
          </p:cNvPr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9B44BB-33BA-D957-FA9B-A6BFC2DDC63F}"/>
              </a:ext>
            </a:extLst>
          </p:cNvPr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4311E7-8729-6D4E-FE73-E9E731A75573}"/>
              </a:ext>
            </a:extLst>
          </p:cNvPr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C937AB-6C9C-420E-F377-94CBB70B275B}"/>
              </a:ext>
            </a:extLst>
          </p:cNvPr>
          <p:cNvSpPr/>
          <p:nvPr/>
        </p:nvSpPr>
        <p:spPr>
          <a:xfrm>
            <a:off x="1417320" y="5120640"/>
            <a:ext cx="9326880" cy="658368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49B5F-811B-00FF-F438-5A0F8287D203}"/>
              </a:ext>
            </a:extLst>
          </p:cNvPr>
          <p:cNvSpPr txBox="1"/>
          <p:nvPr/>
        </p:nvSpPr>
        <p:spPr>
          <a:xfrm>
            <a:off x="1645920" y="5230368"/>
            <a:ext cx="886968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Correct: B.  The unit circle |z|=1 lies inside the ROC |z|&lt;1.1.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C452C-DC28-71EF-2B8A-D2FFC6A9CBCE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9DE9A-917B-D738-63E5-64570E86AE1F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96788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93E6-CD9B-2E99-0CD1-194DDE0C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2FB12E-66B4-AB54-002B-C921295A4F3C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B5911A-EF9A-CB19-F043-C0FB7316904E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F98C2-FFE4-17C6-E6C6-2B6F12F6EC75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09C68-5052-1F0D-0431-B496552FB8C2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7410AF-F9CD-D654-CE19-C8F38E4878E8}"/>
              </a:ext>
            </a:extLst>
          </p:cNvPr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77AEF-B8D6-1C18-0873-1DB3CDA88DDA}"/>
              </a:ext>
            </a:extLst>
          </p:cNvPr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BA75E-2919-5268-8F88-3827BC3E003F}"/>
              </a:ext>
            </a:extLst>
          </p:cNvPr>
          <p:cNvSpPr txBox="1"/>
          <p:nvPr/>
        </p:nvSpPr>
        <p:spPr>
          <a:xfrm>
            <a:off x="5120640" y="1417319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No—the ROC/support is part of the transform.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9D7E20-5F4E-48B9-DE48-A6B029B59791}"/>
              </a:ext>
            </a:extLst>
          </p:cNvPr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3E8A6-6922-12C5-4A62-8FC97AE8E541}"/>
              </a:ext>
            </a:extLst>
          </p:cNvPr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76697-1FA5-32EE-6AFF-DE761B6E41D6}"/>
              </a:ext>
            </a:extLst>
          </p:cNvPr>
          <p:cNvSpPr txBox="1"/>
          <p:nvPr/>
        </p:nvSpPr>
        <p:spPr>
          <a:xfrm>
            <a:off x="5120640" y="2587751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No—the ROC may be empty for some sequences.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AD86725-53B0-002E-660C-E1EF912D2696}"/>
              </a:ext>
            </a:extLst>
          </p:cNvPr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C2C4A-1CFD-4F69-B1AC-80D58157CA36}"/>
              </a:ext>
            </a:extLst>
          </p:cNvPr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5CD43-1D0A-96A9-D1BB-78E113EF0805}"/>
              </a:ext>
            </a:extLst>
          </p:cNvPr>
          <p:cNvSpPr txBox="1"/>
          <p:nvPr/>
        </p:nvSpPr>
        <p:spPr>
          <a:xfrm>
            <a:off x="5120640" y="3758184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DTFT is the unit-circle evaluation when the ROC includes it.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FCDA933-89C5-ADC7-7450-EEB7F6E8FF1C}"/>
              </a:ext>
            </a:extLst>
          </p:cNvPr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B5D33-4FBB-DC6F-0357-0DC389D2179B}"/>
              </a:ext>
            </a:extLst>
          </p:cNvPr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0E13F4-B622-9DCC-987F-432F08F30683}"/>
              </a:ext>
            </a:extLst>
          </p:cNvPr>
          <p:cNvSpPr txBox="1"/>
          <p:nvPr/>
        </p:nvSpPr>
        <p:spPr>
          <a:xfrm>
            <a:off x="5120640" y="4928616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Never: the transform diverges at a pole.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0B419-687D-8A87-B4E5-CAB3253079A0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A74F4-7D2D-4BC1-C5FF-B53B36D323FE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186996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67899"/>
            <a:ext cx="978408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dirty="0">
                <a:solidFill>
                  <a:srgbClr val="16324F"/>
                </a:solidFill>
                <a:latin typeface="Aptos"/>
              </a:rPr>
              <a:t>Exit ticket: Why can the same rational X(z) correspond to different sequences?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8F65-B626-5D74-6C33-039C388CA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33BE2-8954-E3F8-37C4-59205B1C20CD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6D78322-0DA8-37B9-8AA9-BB966DB81EF7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F5A8-6A8C-A41B-0866-8B403A9ED9BA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6EF19-CF3E-13F0-1AE1-9BF3FC029723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F7F261-3020-8882-22D3-31E867353BFE}"/>
              </a:ext>
            </a:extLst>
          </p:cNvPr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728C5-8F2C-7772-3FCA-EC0E2D51FEC5}"/>
              </a:ext>
            </a:extLst>
          </p:cNvPr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C7FC8-939B-3B6A-D271-42B22C0F8951}"/>
              </a:ext>
            </a:extLst>
          </p:cNvPr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9B799338-A948-AD9A-AEC3-AFE61AA1C182}"/>
              </a:ext>
            </a:extLst>
          </p:cNvPr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875E58A-311C-FF32-90C7-227B8E483FFE}"/>
              </a:ext>
            </a:extLst>
          </p:cNvPr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7138DF-348C-2BB5-7BDD-EA03387D1352}"/>
              </a:ext>
            </a:extLst>
          </p:cNvPr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17E5D-82EF-7FC8-7885-7B3742C95703}"/>
              </a:ext>
            </a:extLst>
          </p:cNvPr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65BE3590-BCD7-2711-9AC0-BD9324E1A3F0}"/>
              </a:ext>
            </a:extLst>
          </p:cNvPr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74D32E-E87C-C07F-6DFA-A408AD706479}"/>
              </a:ext>
            </a:extLst>
          </p:cNvPr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F26942-0588-9867-6974-3A75BCA941FD}"/>
              </a:ext>
            </a:extLst>
          </p:cNvPr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C9056B-E41D-510E-3F16-D9F51FF016B9}"/>
              </a:ext>
            </a:extLst>
          </p:cNvPr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C67332B9-A2D5-E2CB-C829-421024D65A37}"/>
              </a:ext>
            </a:extLst>
          </p:cNvPr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5F1808-65C7-064C-617C-F897EB97B4DB}"/>
              </a:ext>
            </a:extLst>
          </p:cNvPr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43EC0-9AEC-6045-F46A-90E7EDCA5C2E}"/>
              </a:ext>
            </a:extLst>
          </p:cNvPr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66B2AC-F51D-9FB5-5EF8-0803C2906B83}"/>
              </a:ext>
            </a:extLst>
          </p:cNvPr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92C8230F-B05C-0B47-7E8E-089E339D34D4}"/>
              </a:ext>
            </a:extLst>
          </p:cNvPr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AD299C-1F74-0A57-D60D-5226ABB9E05F}"/>
              </a:ext>
            </a:extLst>
          </p:cNvPr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C2B7E5-518B-4079-6128-A29EBF8E907F}"/>
              </a:ext>
            </a:extLst>
          </p:cNvPr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FFF145-DF27-3EA1-8EE5-4A10951D36D5}"/>
              </a:ext>
            </a:extLst>
          </p:cNvPr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68B05-50A9-B47C-578A-353AE2A68B50}"/>
              </a:ext>
            </a:extLst>
          </p:cNvPr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6CDEE-E598-124B-F9EE-C45B4F6007AF}"/>
              </a:ext>
            </a:extLst>
          </p:cNvPr>
          <p:cNvSpPr txBox="1"/>
          <p:nvPr/>
        </p:nvSpPr>
        <p:spPr>
          <a:xfrm>
            <a:off x="1188720" y="4480560"/>
            <a:ext cx="978408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Exit ticket: Why can the same rational X(z) correspond to different sequences?  Good answer: because different power-series expansions converge in different ROCs, producing different time supports.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738BC-1A46-E991-80E1-D44CFCB12626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5EDB64-9C98-A1D7-3CCB-E7CF90DC0A77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94681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Board reserve: finite-duration sequences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 if students need an easy ROC anchor before rational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6324F"/>
                </a:solidFill>
                <a:latin typeface="Aptos"/>
              </a:rPr>
              <a:t>x[n] = 2δ[n+1] − δ[n] + 3δ[n−2]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Aptos"/>
              </a:rPr>
              <a:t>X(z) = 2z − 1 + 3z⁻²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3246120"/>
            <a:ext cx="9509760" cy="14173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0472" y="3355848"/>
            <a:ext cx="91805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721608"/>
            <a:ext cx="9180576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Only finitely many terms are present. Divergence can occur only at z=0 because of negative powers, or at z=∞ because of positive powers.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83480"/>
            <a:ext cx="97840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Here both positive and negative powers occur ⇒ 0 &lt; |z| &lt; ∞.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Next: transfer functions, poles, zeros,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turns the z-plane into a filter-design map.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98348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1417320"/>
            <a:ext cx="4937760" cy="3840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2976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Difference equations become rational H(z).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+ ROC determine causality and stability.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Zeros suppress nearby unit-circle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enhance nearby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Audio filters become geometry you can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2369</Words>
  <Application>Microsoft Office PowerPoint</Application>
  <PresentationFormat>Widescreen</PresentationFormat>
  <Paragraphs>299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4</cp:revision>
  <dcterms:created xsi:type="dcterms:W3CDTF">2026-08-18T14:43:54Z</dcterms:created>
  <dcterms:modified xsi:type="dcterms:W3CDTF">2026-09-08T00:04:29Z</dcterms:modified>
</cp:coreProperties>
</file>