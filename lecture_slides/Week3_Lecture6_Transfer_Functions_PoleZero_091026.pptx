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</a:t>
            </a:r>
            <a:r>
              <a:rPr lang="en-US" sz="3200" b="1" dirty="0">
                <a:solidFill>
                  <a:schemeClr val="bg1"/>
                </a:solidFill>
              </a:rPr>
              <a:t>6</a:t>
            </a:r>
            <a:r>
              <a:rPr lang="en-US" sz="3200" b="1">
                <a:solidFill>
                  <a:schemeClr val="bg1"/>
                </a:solidFill>
              </a:rPr>
              <a:t>, 9-10-26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Transfer Functions, Stability,
and Pole–Zero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Turn rational algebra into geometric intuition about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poles push up
zeros pull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predict filter behavior before plotting.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Derive H(z) directly from a linear constant-coefficient difference equation.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Identify poles, zeros, gain, and ROC constraints.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z-domain rules to test causality and BIBO stability.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Estimate frequency-response shape geometrically from a pole-zero plot.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Design and test a hum notch and a resonator in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Difference equation → transfer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Zero initial conditions turn shifts into powers of z⁻¹.</a:t>
            </a:r>
          </a:p>
        </p:txBody>
      </p:sp>
      <p:pic>
        <p:nvPicPr>
          <p:cNvPr id="6" name="Picture 5" descr="eq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692640" cy="15354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926080"/>
            <a:ext cx="5029200" cy="2971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43891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y[n] − 1.2y[n−1] + 0.32y[n−2]
= x[n] + 0.3x[n−1]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H(z)= (1+0.3z⁻¹)/(1−1.2z⁻¹+0.32z⁻²)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26080"/>
            <a:ext cx="5074920" cy="29718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246120"/>
            <a:ext cx="448056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Numerator roots → zeros.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Denominator roots → poles.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Overall scale → gain.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is determined by the intended system support/causality, not merely by the polynomial ratio.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Factor H(z): poles and zeros are the important landmarks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Root locations are more informative than raw coefficients.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371600"/>
            <a:ext cx="52120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For the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480560" cy="2331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zero: z = −0.3
poles: z = 0.8, 0.4
All poles and zeros are distinct, so the pole–zero plot directly exposes the second-order dynamics.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4572000" cy="4114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4389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6324F"/>
                </a:solidFill>
                <a:latin typeface="Aptos"/>
              </a:rPr>
              <a:t>Engineering habit: factor before you sketch.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Causality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rational LTI system, a causal impulse response is right-sided.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4800600" cy="35204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Causal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34340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7212B"/>
                </a:solidFill>
                <a:latin typeface="Aptos"/>
              </a:rPr>
              <a:t>ROC lies outside the outermost pole.
If poles are at radii 0.4 and 0.8:
causal ROC ⇒ |z| &gt; 0.8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4800600" cy="35204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67712"/>
            <a:ext cx="4160520" cy="18288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h[n] is right-sided.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Right-sided rational sequences have exterior ROCs.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 outermost pole sets the convergence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BIBO stability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LTI systems, stability means the unit circle is in the 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4937760" cy="4206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Time-domain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Aptos"/>
              </a:rPr>
              <a:t>Σ |h[n]| &lt; 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ar-AE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l-GR" sz="1700" i="1" dirty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l-GR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converges for every </a:t>
                </a:r>
                <a14:m>
                  <m:oMath xmlns:m="http://schemas.openxmlformats.org/officeDocument/2006/math">
                    <m:r>
                      <a:rPr lang="el-GR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l-GR" sz="1700" b="0" dirty="0">
                    <a:solidFill>
                      <a:srgbClr val="53616E"/>
                    </a:solidFill>
                    <a:latin typeface="Aptos"/>
                  </a:rPr>
                  <a:t>.</a:t>
                </a:r>
                <a:endParaRPr sz="1700" b="0" dirty="0">
                  <a:solidFill>
                    <a:srgbClr val="53616E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blipFill>
                <a:blip r:embed="rId2"/>
                <a:stretch>
                  <a:fillRect l="-709" t="-61538" r="-1560" b="-5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26480" y="1234440"/>
            <a:ext cx="4937760" cy="4206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z-plane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17212B"/>
                </a:solidFill>
                <a:latin typeface="Aptos"/>
              </a:rPr>
              <a:t>unit circle ⊂ 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42976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0">
                <a:solidFill>
                  <a:srgbClr val="53616E"/>
                </a:solidFill>
                <a:latin typeface="Aptos"/>
              </a:rPr>
              <a:t>The frequency response is finite all the way around |z|=1.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golden combination: causal + stable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causal rational system, every pole must lie strictly inside the unit circle.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2976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371600"/>
            <a:ext cx="5486400" cy="374903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ptos"/>
              </a:rPr>
              <a:t>Reasoning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240280"/>
            <a:ext cx="4709160" cy="246888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⇒ ROC is outside the outermost pole.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Stable ⇒ ROC must include |z|=1.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Therefore outermost pole radius must be &lt; 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 exactly on |z|=1 is not BIBO stable for the causal rational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13248"/>
            <a:ext cx="10012680" cy="5943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504688"/>
            <a:ext cx="9646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6324F"/>
                </a:solidFill>
                <a:latin typeface="Aptos"/>
              </a:rPr>
              <a:t>Important nuance: “all poles inside unit circle” is the causal + stable rule—not a stability rule without an ROC/support assumption.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Geometric frequency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Evaluate H(z) at a point moving around the unit circle.</a:t>
            </a:r>
          </a:p>
        </p:txBody>
      </p:sp>
      <p:pic>
        <p:nvPicPr>
          <p:cNvPr id="6" name="Picture 5" descr="eq_g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051560"/>
            <a:ext cx="9418320" cy="1221584"/>
          </a:xfrm>
          <a:prstGeom prst="rect">
            <a:avLst/>
          </a:prstGeom>
        </p:spPr>
      </p:pic>
      <p:pic>
        <p:nvPicPr>
          <p:cNvPr id="7" name="Picture 6" descr="geom_v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484632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428603"/>
            <a:ext cx="5257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748643"/>
            <a:ext cx="461772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Numerator: multiply distances from the unit-circle point to each zero.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Denominator: multiply distances to each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zero → a short numerator vector → small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pole → a short denominator vector → large magnitude.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Zeros pull the magnitude 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zero on the unit circle creates exact cancellation at its angle.</a:t>
            </a:r>
          </a:p>
        </p:txBody>
      </p:sp>
      <p:pic>
        <p:nvPicPr>
          <p:cNvPr id="6" name="Picture 5" descr="zero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At </a:t>
                </a:r>
                <a:r>
                  <a:rPr lang="el-GR" dirty="0"/>
                  <a:t>ω </a:t>
                </a:r>
                <a:r>
                  <a:rPr lang="en-US" dirty="0"/>
                  <a:t>equal to the zero angle,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The zero distance is exactly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Product in the numerator becomes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Therefore |H|=0: a perfect notch.</a:t>
                </a:r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blipFill>
                <a:blip r:embed="rId3"/>
                <a:stretch>
                  <a:fillRect l="-1636" t="-690" r="-2000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Poles push the magnitude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pole close to the unit circle creates a resonant peak near its angle.</a:t>
            </a:r>
          </a:p>
        </p:txBody>
      </p:sp>
      <p:pic>
        <p:nvPicPr>
          <p:cNvPr id="6" name="Picture 5" descr="pole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86000"/>
            <a:ext cx="315468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At a nearby unit-circle angle, the pole distance becomes small.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That distance is in the denominator.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Smaller denominator → larger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Closer pole radius → sharper, longer-lived resonance.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First-order example: pole location predicts low-pass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H(z)=1/(1−0.8z⁻¹) has a pole at +0.8 on the real axis.</a:t>
            </a:r>
          </a:p>
        </p:txBody>
      </p:sp>
      <p:pic>
        <p:nvPicPr>
          <p:cNvPr id="6" name="Picture 5" descr="pz_first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45720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325880"/>
            <a:ext cx="5349240" cy="3977639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61888" y="1755648"/>
            <a:ext cx="47548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ω=0 corresponds to z=+1, close to the pole at +0.8 → large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ω=π corresponds to z=−1, far from the pole → smaller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So the response favors low frequency before we compute a single formula.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This recovers the one-pole smoother from Week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Design example: notch out 60 Hz hum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Place conjugate zeros on the unit circle at the unwanted frequency.</a:t>
            </a:r>
          </a:p>
        </p:txBody>
      </p:sp>
      <p:pic>
        <p:nvPicPr>
          <p:cNvPr id="6" name="Picture 5" descr="notch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08660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25880"/>
            <a:ext cx="3474720" cy="37947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At fₛ=1000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29260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7212B"/>
                </a:solidFill>
                <a:latin typeface="Aptos"/>
              </a:rPr>
              <a:t>ω₀ = 2π·60/1000
≈ 0.377 rad/sample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Zeros: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Nearby poles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make a narrow, well-behaved notch.</a:t>
                </a:r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Choose r&lt;1 for causal stability.</a:t>
                </a:r>
                <a:endParaRPr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blipFill>
                <a:blip r:embed="rId3"/>
                <a:stretch>
                  <a:fillRect l="-1639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Notch-filter equation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second-order section gives an interpretable audio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H(z) = K · (1 − 2cosω₀ z⁻¹ + z⁻²) / (1 − 2r cosω₀ z⁻¹ + r²z⁻²)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15468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Zeros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exactly on unit circle at ±ω₀ → ideal zero response at the hum 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06040"/>
            <a:ext cx="315468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same angle but radius r&lt;1 → control notch width / transient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06040"/>
            <a:ext cx="315468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Gain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often chosen to make DC or passband gain approximately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800600"/>
            <a:ext cx="10149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937760"/>
            <a:ext cx="9692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Audio intuition: zeros do the cancellation; poles nearby keep the rest of the spectrum from being unnecessarily attenuated.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 radius controls resonance and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Move the pole radially without changing its preferred frequency.</a:t>
            </a:r>
          </a:p>
        </p:txBody>
      </p:sp>
      <p:pic>
        <p:nvPicPr>
          <p:cNvPr id="6" name="Picture 5" descr="pole_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65836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40690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719072"/>
            <a:ext cx="3108960" cy="32461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Same angle ⇒ same resonance center.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 closer to 1 ⇒ smaller distance to unit circle.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Peak becomes sharper and stronger.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Impulse response decays roughly like rⁿ, so ringing lasts longer.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r≥1 breaks causal BIBO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Pole–zero sandbox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Predict first. Move a pole or zero. Then listen / plot.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Start with no poles/zeros: flat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325880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Put a zero on |z|=1 at an angle: predict the notch.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4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Move the zero inside the circle: does the notch remain perfect?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Add a pole at the same angle with r=0.9, then 0.98.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3291839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Listen to the 60-Hz hum example before and after filtering.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5120640"/>
            <a:ext cx="3108960" cy="658368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5239512"/>
            <a:ext cx="28803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6324F"/>
                </a:solidFill>
                <a:latin typeface="Aptos"/>
              </a:rPr>
              <a:t>Notebook: pole_zero_sandbox()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poles, zeros, and freqz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code as a geometry checker.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623560" cy="44805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512064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import numpy as np
from scipy import signal
zeros = np.exp(1j*np.array([w0, -w0]))
poles = r * zeros
b = np.poly(zeros).real
a = np.poly(poles).real
w, H = signal.freqz(b, a, fs=fs)
# plot zeros, poles, |H|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572000" cy="44805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152" y="1645920"/>
            <a:ext cx="3977639" cy="32918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`np.roots` moves coefficients → roots.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`np.poly` moves roots → coefficients.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`signal.freqz` evaluates on the unit circle numerically.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The pole-zero plot should let you predict the major features before `freqz` confirms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demo: removing hum without erasing the signal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notch should target a narrow frequency, not broadly low-pass the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754880" cy="2057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Synthetic voice-like harmonics + 60 Hz and 120 Hz hum.
Listen: 01_voice_with_60Hz_hum.wav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4754880" cy="20574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Second-order 60-Hz notch with pole radius r=0.985.
Listen: 02_voice_after_60Hz_notch.wav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114800"/>
            <a:ext cx="982980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79392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Good observation: a very narrow notch removes the targeted hum component while leaving nearby useful content mostly intact. A broad low-pass filter would solve the hum problem by throwing away far more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ML bridge: filter geometry shapes the features a model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Front-end filtering changes spectra, spectrograms, and therefore learned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46120" cy="1691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Notch zeros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Remove a nuisance line such as power hum before spectral feature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91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Resonant poles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Can emphasize a narrow band—useful or dangerous depending on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46120" cy="16916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numerically exploding front end corrupts every downstream feature and gradient.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40480"/>
            <a:ext cx="10149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95097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Design question for ML: are you removing a known nuisance, imposing a useful inductive bias, or accidentally deleting information that the classifier needs?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16324F"/>
                    </a:solidFill>
                    <a:latin typeface="Aptos"/>
                  </a:rPr>
                  <a:t>stability +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  <m:r>
                      <a:rPr lang="ar-AE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dirty="0">
                  <a:solidFill>
                    <a:srgbClr val="16324F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blipFill>
                <a:blip r:embed="rId2"/>
                <a:stretch>
                  <a:fillRect t="-3093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20"/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57305"/>
            <a:ext cx="978408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dirty="0">
                <a:solidFill>
                  <a:srgbClr val="16324F"/>
                </a:solidFill>
                <a:latin typeface="Aptos"/>
              </a:rPr>
              <a:t>Exit ticket: Why does a zero on the unit circle create a notch?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1949</Words>
  <Application>Microsoft Office PowerPoint</Application>
  <PresentationFormat>Widescreen</PresentationFormat>
  <Paragraphs>234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Mono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5</cp:revision>
  <dcterms:created xsi:type="dcterms:W3CDTF">2026-08-18T14:43:54Z</dcterms:created>
  <dcterms:modified xsi:type="dcterms:W3CDTF">2026-09-09T23:45:04Z</dcterms:modified>
</cp:coreProperties>
</file>