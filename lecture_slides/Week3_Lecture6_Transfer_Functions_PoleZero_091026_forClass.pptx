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2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79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80" r:id="rId24"/>
    <p:sldId id="276" r:id="rId25"/>
    <p:sldId id="281" r:id="rId26"/>
    <p:sldId id="277" r:id="rId27"/>
    <p:sldId id="278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3" d="100"/>
          <a:sy n="73" d="100"/>
        </p:scale>
        <p:origin x="66" y="5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6519672"/>
            <a:ext cx="11247120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547104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• DSP + ML • Oppenheim &amp; Schafer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072733" y="444212"/>
            <a:ext cx="1004653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>
                <a:solidFill>
                  <a:schemeClr val="bg1"/>
                </a:solidFill>
              </a:rPr>
              <a:t>Lecture </a:t>
            </a:r>
            <a:r>
              <a:rPr lang="en-US" sz="3200" b="1" dirty="0">
                <a:solidFill>
                  <a:schemeClr val="bg1"/>
                </a:solidFill>
              </a:rPr>
              <a:t>6</a:t>
            </a:r>
            <a:r>
              <a:rPr lang="en-US" sz="3200" b="1">
                <a:solidFill>
                  <a:schemeClr val="bg1"/>
                </a:solidFill>
              </a:rPr>
              <a:t>, 9-10-26</a:t>
            </a:r>
            <a:endParaRPr lang="en-US" sz="3200" b="1" dirty="0">
              <a:solidFill>
                <a:schemeClr val="bg1"/>
              </a:solidFill>
            </a:endParaRP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46304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777240"/>
            <a:ext cx="34747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00A6A6"/>
                </a:solidFill>
                <a:latin typeface="Aptos"/>
              </a:rPr>
              <a:t>WEEK 3 • LECTURE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80160"/>
            <a:ext cx="6583680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400" b="1">
                <a:solidFill>
                  <a:srgbClr val="16324F"/>
                </a:solidFill>
                <a:latin typeface="Aptos"/>
              </a:rPr>
              <a:t>Transfer Functions, Stability,
and Pole–Zero Plots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017520"/>
            <a:ext cx="5943600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0">
                <a:solidFill>
                  <a:srgbClr val="53616E"/>
                </a:solidFill>
                <a:latin typeface="Aptos"/>
              </a:rPr>
              <a:t>Turn rational algebra into geometric intuition about filters.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0" y="1417320"/>
            <a:ext cx="4297680" cy="224028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69480" y="1691640"/>
            <a:ext cx="3840480" cy="1645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200" b="1">
                <a:solidFill>
                  <a:srgbClr val="16324F"/>
                </a:solidFill>
                <a:latin typeface="Aptos"/>
              </a:rPr>
              <a:t>poles push up
zeros pull down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4224528"/>
            <a:ext cx="10698480" cy="8046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4343400"/>
            <a:ext cx="103327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16324F"/>
                </a:solidFill>
                <a:latin typeface="Aptos"/>
              </a:rPr>
              <a:t>75 minutes • rigorous DSP foundations • audio examples • Python sandbox • ML bridge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Learning outcomes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00–20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By the end, students should predict filter behavior before plotting.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371600"/>
            <a:ext cx="10241280" cy="420624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7212B"/>
                </a:solidFill>
                <a:latin typeface="Aptos"/>
              </a:defRPr>
            </a:pPr>
            <a:r>
              <a:t>• Derive H(z) directly from a linear constant-coefficient difference equation.</a:t>
            </a:r>
          </a:p>
          <a:p>
            <a:pPr>
              <a:spcAft>
                <a:spcPts val="500"/>
              </a:spcAft>
              <a:defRPr sz="1800">
                <a:solidFill>
                  <a:srgbClr val="17212B"/>
                </a:solidFill>
                <a:latin typeface="Aptos"/>
              </a:defRPr>
            </a:pPr>
            <a:r>
              <a:t>• Identify poles, zeros, gain, and ROC constraints.</a:t>
            </a:r>
          </a:p>
          <a:p>
            <a:pPr>
              <a:spcAft>
                <a:spcPts val="500"/>
              </a:spcAft>
              <a:defRPr sz="1800">
                <a:solidFill>
                  <a:srgbClr val="17212B"/>
                </a:solidFill>
                <a:latin typeface="Aptos"/>
              </a:defRPr>
            </a:pPr>
            <a:r>
              <a:t>• Use z-domain rules to test causality and BIBO stability.</a:t>
            </a:r>
          </a:p>
          <a:p>
            <a:pPr>
              <a:spcAft>
                <a:spcPts val="500"/>
              </a:spcAft>
              <a:defRPr sz="1800">
                <a:solidFill>
                  <a:srgbClr val="17212B"/>
                </a:solidFill>
                <a:latin typeface="Aptos"/>
              </a:defRPr>
            </a:pPr>
            <a:r>
              <a:t>• Estimate frequency-response shape geometrically from a pole-zero plot.</a:t>
            </a:r>
          </a:p>
          <a:p>
            <a:pPr>
              <a:spcAft>
                <a:spcPts val="500"/>
              </a:spcAft>
              <a:defRPr sz="1800">
                <a:solidFill>
                  <a:srgbClr val="17212B"/>
                </a:solidFill>
                <a:latin typeface="Aptos"/>
              </a:defRPr>
            </a:pPr>
            <a:r>
              <a:t>• Design and test a hum notch and a resonator in Python.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Difference equation → transfer function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00–20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Zero initial conditions turn shifts into powers of z⁻¹.</a:t>
            </a:r>
          </a:p>
        </p:txBody>
      </p:sp>
      <p:pic>
        <p:nvPicPr>
          <p:cNvPr id="6" name="Picture 5" descr="eq_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143000"/>
            <a:ext cx="9692640" cy="15354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2926080"/>
            <a:ext cx="5029200" cy="297180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315468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6324F"/>
                </a:solidFill>
                <a:latin typeface="Aptos"/>
              </a:rPr>
              <a:t>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438912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Aptos"/>
              </a:rPr>
              <a:t>y[n] − 1.2y[n−1] + 0.32y[n−2]
= x[n] + 0.3x[n−1]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029200"/>
            <a:ext cx="457200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16324F"/>
                </a:solidFill>
                <a:latin typeface="Aptos"/>
              </a:rPr>
              <a:t>H(z)= (1+0.3z⁻¹)/(1−1.2z⁻¹+0.32z⁻²)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926080"/>
            <a:ext cx="5074920" cy="297180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3246120"/>
            <a:ext cx="4480560" cy="228600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Numerator roots → zeros.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Denominator roots → poles.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Overall scale → gain.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ROC is determined by the intended system support/causality, not merely by the polynomial ratio.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Factor H(z): poles and zeros are the important landmarks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00–20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Root locations are more informative than raw coefficients.</a:t>
            </a:r>
          </a:p>
        </p:txBody>
      </p:sp>
      <p:pic>
        <p:nvPicPr>
          <p:cNvPr id="6" name="Picture 5" descr="pz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4937760" cy="4069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43600" y="1371600"/>
            <a:ext cx="521208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63640" y="1600200"/>
            <a:ext cx="457200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6324F"/>
                </a:solidFill>
                <a:latin typeface="Aptos"/>
              </a:rPr>
              <a:t>For the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148840"/>
            <a:ext cx="4480560" cy="23317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0">
                <a:solidFill>
                  <a:srgbClr val="17212B"/>
                </a:solidFill>
                <a:latin typeface="Aptos"/>
              </a:rPr>
              <a:t>zero: z = −0.3
poles: z = 0.8, 0.4
All poles and zeros are distinct, so the pole–zero plot directly exposes the second-order dynamics.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4617720"/>
            <a:ext cx="4572000" cy="41148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4617720"/>
            <a:ext cx="43891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16324F"/>
                </a:solidFill>
                <a:latin typeface="Aptos"/>
              </a:rPr>
              <a:t>Engineering habit: factor before you sketch.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Causality in the z-domain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20–40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For a rational LTI system, a causal impulse response is right-sided.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371600"/>
            <a:ext cx="4800600" cy="352044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1664208"/>
            <a:ext cx="434340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16324F"/>
                </a:solidFill>
                <a:latin typeface="Aptos"/>
              </a:rPr>
              <a:t>Causal 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31720"/>
            <a:ext cx="4343400" cy="2011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17212B"/>
                </a:solidFill>
                <a:latin typeface="Aptos"/>
              </a:rPr>
              <a:t>ROC lies outside the outermost pole.
If poles are at radii 0.4 and 0.8:
causal ROC ⇒ |z| &gt; 0.8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371600"/>
            <a:ext cx="4800600" cy="352044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434340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16324F"/>
                </a:solidFill>
                <a:latin typeface="Aptos"/>
              </a:rPr>
              <a:t>Why?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67712"/>
            <a:ext cx="4160520" cy="182880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Causal h[n] is right-sided.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Right-sided rational sequences have exterior ROCs.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The outermost pole sets the convergence boundary.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BIBO stability in the z-domain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20–40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For LTI systems, stability means the unit circle is in the ROC.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234440"/>
            <a:ext cx="4937760" cy="420624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1508760"/>
            <a:ext cx="448056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16324F"/>
                </a:solidFill>
                <a:latin typeface="Aptos"/>
              </a:rPr>
              <a:t>Time-domain condition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48840"/>
            <a:ext cx="448056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600" b="1">
                <a:solidFill>
                  <a:srgbClr val="17212B"/>
                </a:solidFill>
                <a:latin typeface="Aptos"/>
              </a:rPr>
              <a:t>Σ |h[n]| &lt; 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42976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0">
                <a:solidFill>
                  <a:srgbClr val="53616E"/>
                </a:solidFill>
                <a:latin typeface="Aptos"/>
              </a:rPr>
              <a:t>Then H(e^{jω}) = Σ h[n]e^{-jωn} converges for every ω.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234440"/>
            <a:ext cx="4937760" cy="420624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1508760"/>
            <a:ext cx="448056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16324F"/>
                </a:solidFill>
                <a:latin typeface="Aptos"/>
              </a:rPr>
              <a:t>z-plane condition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148840"/>
            <a:ext cx="448056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500" b="1">
                <a:solidFill>
                  <a:srgbClr val="17212B"/>
                </a:solidFill>
                <a:latin typeface="Aptos"/>
              </a:rPr>
              <a:t>unit circle ⊂ ROC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926080"/>
            <a:ext cx="42976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0">
                <a:solidFill>
                  <a:srgbClr val="53616E"/>
                </a:solidFill>
                <a:latin typeface="Aptos"/>
              </a:rPr>
              <a:t>The frequency response is finite all the way around |z|=1.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The golden combination: causal + stable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20–40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For a causal rational system, every pole must lie strictly inside the unit circle.</a:t>
            </a:r>
          </a:p>
        </p:txBody>
      </p:sp>
      <p:pic>
        <p:nvPicPr>
          <p:cNvPr id="6" name="Picture 5" descr="z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80160"/>
            <a:ext cx="4297680" cy="4023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303520" y="1371600"/>
            <a:ext cx="5486400" cy="3749039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577840" y="1645920"/>
            <a:ext cx="493776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16324F"/>
                </a:solidFill>
                <a:latin typeface="Aptos"/>
              </a:rPr>
              <a:t>Reasoning chain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60" y="2240280"/>
            <a:ext cx="4709160" cy="246888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Causal ⇒ ROC is outside the outermost pole.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Stable ⇒ ROC must include |z|=1.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Therefore outermost pole radius must be &lt; 1.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Pole exactly on |z|=1 is not BIBO stable for the causal rational case.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413248"/>
            <a:ext cx="10012680" cy="59436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5504688"/>
            <a:ext cx="964692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16324F"/>
                </a:solidFill>
                <a:latin typeface="Aptos"/>
              </a:rPr>
              <a:t>Important nuance: “all poles inside unit circle” is the causal + stable rule—not a stability rule without an ROC/support assumption.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Classify three systems from poles + ROC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20–40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Require one sentence of justification.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371600"/>
            <a:ext cx="102870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1591056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00A6A6"/>
                </a:solidFill>
                <a:latin typeface="Aptos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536192"/>
            <a:ext cx="50292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poles 0.3, 0.8; ROC |z|&gt;0.8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788920"/>
            <a:ext cx="102870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3008376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00A6A6"/>
                </a:solidFill>
                <a:latin typeface="Aptos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953512"/>
            <a:ext cx="50292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pole 1.1; ROC |z|&gt;1.1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206240"/>
            <a:ext cx="102870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4425696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00A6A6"/>
                </a:solidFill>
                <a:latin typeface="Aptos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370831"/>
            <a:ext cx="50292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pole 1.1; ROC |z|&lt;1.1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96C72-A16E-63EC-12E1-A15A19DDF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607189-E643-7FD9-9BA1-8B6F42FAF55E}"/>
              </a:ext>
            </a:extLst>
          </p:cNvPr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Classify three systems from poles + ROC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CB96000-7872-D46D-DED1-3233DC4A5526}"/>
              </a:ext>
            </a:extLst>
          </p:cNvPr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B0703C-120E-929A-C80A-28F1ADD84D1C}"/>
              </a:ext>
            </a:extLst>
          </p:cNvPr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20–40 MIN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D47A31-795F-AC5A-FFD4-E2ABDC51F196}"/>
              </a:ext>
            </a:extLst>
          </p:cNvPr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Require one sentence of justification.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2440F12-F8DE-3369-151F-8242D9D3A5BE}"/>
              </a:ext>
            </a:extLst>
          </p:cNvPr>
          <p:cNvSpPr/>
          <p:nvPr/>
        </p:nvSpPr>
        <p:spPr>
          <a:xfrm>
            <a:off x="914400" y="1371600"/>
            <a:ext cx="102870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89D63B-5A7E-9725-9FF3-E874672773C7}"/>
              </a:ext>
            </a:extLst>
          </p:cNvPr>
          <p:cNvSpPr txBox="1"/>
          <p:nvPr/>
        </p:nvSpPr>
        <p:spPr>
          <a:xfrm>
            <a:off x="1143000" y="1591056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00A6A6"/>
                </a:solidFill>
                <a:latin typeface="Aptos"/>
              </a:rPr>
              <a:t>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41DDD9-161F-6FAE-8D12-F0D39FD360BF}"/>
              </a:ext>
            </a:extLst>
          </p:cNvPr>
          <p:cNvSpPr txBox="1"/>
          <p:nvPr/>
        </p:nvSpPr>
        <p:spPr>
          <a:xfrm>
            <a:off x="1828800" y="1536192"/>
            <a:ext cx="50292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poles 0.3, 0.8; ROC |z|&gt;0.8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D5E0BE-FF4F-5EF5-3E7C-0A7B64D95ACB}"/>
              </a:ext>
            </a:extLst>
          </p:cNvPr>
          <p:cNvSpPr txBox="1"/>
          <p:nvPr/>
        </p:nvSpPr>
        <p:spPr>
          <a:xfrm>
            <a:off x="6949440" y="1554480"/>
            <a:ext cx="384048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53616E"/>
                </a:solidFill>
                <a:latin typeface="Aptos"/>
              </a:rPr>
              <a:t>Good answer: causal &amp; stable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ADC560B-C491-93CF-2D14-8FCBB36DA1EE}"/>
              </a:ext>
            </a:extLst>
          </p:cNvPr>
          <p:cNvSpPr/>
          <p:nvPr/>
        </p:nvSpPr>
        <p:spPr>
          <a:xfrm>
            <a:off x="914400" y="2788920"/>
            <a:ext cx="102870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10D1CD-4D4C-1282-0A35-08236095B88A}"/>
              </a:ext>
            </a:extLst>
          </p:cNvPr>
          <p:cNvSpPr txBox="1"/>
          <p:nvPr/>
        </p:nvSpPr>
        <p:spPr>
          <a:xfrm>
            <a:off x="1143000" y="3008376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00A6A6"/>
                </a:solidFill>
                <a:latin typeface="Aptos"/>
              </a:rPr>
              <a:t>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DDC21B-2029-F07A-072D-B727AD0F6BCB}"/>
              </a:ext>
            </a:extLst>
          </p:cNvPr>
          <p:cNvSpPr txBox="1"/>
          <p:nvPr/>
        </p:nvSpPr>
        <p:spPr>
          <a:xfrm>
            <a:off x="1828800" y="2953512"/>
            <a:ext cx="50292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pole 1.1; ROC |z|&gt;1.1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B2C957-8E1F-E214-ACB9-28A6A3EE30AD}"/>
              </a:ext>
            </a:extLst>
          </p:cNvPr>
          <p:cNvSpPr txBox="1"/>
          <p:nvPr/>
        </p:nvSpPr>
        <p:spPr>
          <a:xfrm>
            <a:off x="6949440" y="2971800"/>
            <a:ext cx="384048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53616E"/>
                </a:solidFill>
                <a:latin typeface="Aptos"/>
              </a:rPr>
              <a:t>Good answer: causal, unstable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E34A148-5BFA-505F-58B8-8D5B78DC2E27}"/>
              </a:ext>
            </a:extLst>
          </p:cNvPr>
          <p:cNvSpPr/>
          <p:nvPr/>
        </p:nvSpPr>
        <p:spPr>
          <a:xfrm>
            <a:off x="914400" y="4206240"/>
            <a:ext cx="102870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9E6C57-F0DC-56DB-F467-BABD9071381F}"/>
              </a:ext>
            </a:extLst>
          </p:cNvPr>
          <p:cNvSpPr txBox="1"/>
          <p:nvPr/>
        </p:nvSpPr>
        <p:spPr>
          <a:xfrm>
            <a:off x="1143000" y="4425696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00A6A6"/>
                </a:solidFill>
                <a:latin typeface="Aptos"/>
              </a:rPr>
              <a:t>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DB1EE5-62E7-FA65-330C-FC8F8A2CD330}"/>
              </a:ext>
            </a:extLst>
          </p:cNvPr>
          <p:cNvSpPr txBox="1"/>
          <p:nvPr/>
        </p:nvSpPr>
        <p:spPr>
          <a:xfrm>
            <a:off x="1828800" y="4370831"/>
            <a:ext cx="50292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pole 1.1; ROC |z|&lt;1.1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F9AB0F-271A-4E24-8439-EDF58612448C}"/>
              </a:ext>
            </a:extLst>
          </p:cNvPr>
          <p:cNvSpPr txBox="1"/>
          <p:nvPr/>
        </p:nvSpPr>
        <p:spPr>
          <a:xfrm>
            <a:off x="6949440" y="4389120"/>
            <a:ext cx="384048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53616E"/>
                </a:solidFill>
                <a:latin typeface="Aptos"/>
              </a:rPr>
              <a:t>Good answer: anti-causal, stable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A9C8C4-DE6C-DD86-5B66-D71C1347A658}"/>
              </a:ext>
            </a:extLst>
          </p:cNvPr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8ACB99-90E2-9E0E-EE06-0767680048D8}"/>
              </a:ext>
            </a:extLst>
          </p:cNvPr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7514039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Geometric frequency response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40–60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Evaluate H(z) at a point moving around the unit circle.</a:t>
            </a:r>
          </a:p>
        </p:txBody>
      </p:sp>
      <p:pic>
        <p:nvPicPr>
          <p:cNvPr id="6" name="Picture 5" descr="eq_ge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051560"/>
            <a:ext cx="9418320" cy="1221584"/>
          </a:xfrm>
          <a:prstGeom prst="rect">
            <a:avLst/>
          </a:prstGeom>
        </p:spPr>
      </p:pic>
      <p:pic>
        <p:nvPicPr>
          <p:cNvPr id="7" name="Picture 6" descr="geom_vecto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57400"/>
            <a:ext cx="4846320" cy="37947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897880" y="2428603"/>
            <a:ext cx="525780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99632" y="2748643"/>
            <a:ext cx="4617720" cy="265176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rPr dirty="0"/>
              <a:t>• Numerator: multiply distances from the unit-circle point to each zero.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rPr dirty="0"/>
              <a:t>• Denominator: multiply distances to each pole.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rPr dirty="0"/>
              <a:t>• Near a zero → a short numerator vector → small magnitude.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rPr dirty="0"/>
              <a:t>• Near a pole → a short denominator vector → large magnitude.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Zeros pull the magnitude down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40–60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A zero on the unit circle creates exact cancellation at its angle.</a:t>
            </a:r>
          </a:p>
        </p:txBody>
      </p:sp>
      <p:pic>
        <p:nvPicPr>
          <p:cNvPr id="6" name="Picture 5" descr="zero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6446520" cy="4251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417320"/>
            <a:ext cx="3749039" cy="388620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26679" y="1691640"/>
            <a:ext cx="32918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6324F"/>
                </a:solidFill>
                <a:latin typeface="Aptos"/>
              </a:rPr>
              <a:t>Geometric 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2286000"/>
            <a:ext cx="3154680" cy="228600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At ω equal to the zero angle, e^{jω}=z₀.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The zero distance is exactly 0.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Product in the numerator becomes 0.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Therefore |H|=0: a perfect notch.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Poles push the magnitude up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40–60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A pole close to the unit circle creates a resonant peak near its angle.</a:t>
            </a:r>
          </a:p>
        </p:txBody>
      </p:sp>
      <p:pic>
        <p:nvPicPr>
          <p:cNvPr id="6" name="Picture 5" descr="pole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6446520" cy="4251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417320"/>
            <a:ext cx="3749039" cy="388620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26679" y="1691640"/>
            <a:ext cx="32918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6324F"/>
                </a:solidFill>
                <a:latin typeface="Aptos"/>
              </a:rPr>
              <a:t>Geometric 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2286000"/>
            <a:ext cx="3154680" cy="228600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At a nearby unit-circle angle, the pole distance becomes small.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That distance is in the denominator.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Smaller denominator → larger magnitude.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Closer pole radius → sharper, longer-lived resonance.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First-order example: pole location predicts low-pass behavior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40–60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H(z)=1/(1−0.8z⁻¹) has a pole at +0.8 on the real axis.</a:t>
            </a:r>
          </a:p>
        </p:txBody>
      </p:sp>
      <p:pic>
        <p:nvPicPr>
          <p:cNvPr id="6" name="Picture 5" descr="pz_first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4572000" cy="3931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0" y="1325880"/>
            <a:ext cx="5349240" cy="3977639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61888" y="1755648"/>
            <a:ext cx="4754880" cy="310896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ω=0 corresponds to z=+1, close to the pole at +0.8 → large gain.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ω=π corresponds to z=−1, far from the pole → smaller gain.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So the response favors low frequency before we compute a single formula.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This recovers the one-pole smoother from Week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Design example: notch out 60 Hz hum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60–75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Place conjugate zeros on the unit circle at the unwanted frequency.</a:t>
            </a:r>
          </a:p>
        </p:txBody>
      </p:sp>
      <p:pic>
        <p:nvPicPr>
          <p:cNvPr id="6" name="Picture 5" descr="notch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88720"/>
            <a:ext cx="7086600" cy="4023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909560" y="1325880"/>
            <a:ext cx="3474720" cy="379476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38160" y="1600200"/>
            <a:ext cx="30175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At fₛ=1000 Hz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148840"/>
            <a:ext cx="292608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900" b="1">
                <a:solidFill>
                  <a:srgbClr val="17212B"/>
                </a:solidFill>
                <a:latin typeface="Aptos"/>
              </a:rPr>
              <a:t>ω₀ = 2π·60/1000
≈ 0.377 rad/sample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108960"/>
            <a:ext cx="2971800" cy="164592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7212B"/>
                </a:solidFill>
                <a:latin typeface="Aptos"/>
              </a:defRPr>
            </a:pPr>
            <a:r>
              <a:t>• Zeros: e^{±jω₀}</a:t>
            </a:r>
          </a:p>
          <a:p>
            <a:pPr>
              <a:spcAft>
                <a:spcPts val="500"/>
              </a:spcAft>
              <a:defRPr sz="1500">
                <a:solidFill>
                  <a:srgbClr val="17212B"/>
                </a:solidFill>
                <a:latin typeface="Aptos"/>
              </a:defRPr>
            </a:pPr>
            <a:r>
              <a:t>• Nearby poles at r e^{±jω₀} make a narrow, well-behaved notch.</a:t>
            </a:r>
          </a:p>
          <a:p>
            <a:pPr>
              <a:spcAft>
                <a:spcPts val="500"/>
              </a:spcAft>
              <a:defRPr sz="1500">
                <a:solidFill>
                  <a:srgbClr val="17212B"/>
                </a:solidFill>
                <a:latin typeface="Aptos"/>
              </a:defRPr>
            </a:pPr>
            <a:r>
              <a:t>• Choose r&lt;1 for causal stability.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Notch-filter equation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60–75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A second-order section gives an interpretable audio filter.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16324F"/>
                </a:solidFill>
                <a:latin typeface="Aptos"/>
              </a:rPr>
              <a:t>H(z) = K · (1 − 2cosω₀ z⁻¹ + z⁻²) / (1 − 2r cosω₀ z⁻¹ + r²z⁻²)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606040"/>
            <a:ext cx="3154680" cy="164592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78992" y="2715768"/>
            <a:ext cx="28254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Zeros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081528"/>
            <a:ext cx="2825496" cy="10789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exactly on unit circle at ±ω₀ → ideal zero response at the hum frequency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606040"/>
            <a:ext cx="3154680" cy="164592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90872" y="2715768"/>
            <a:ext cx="28254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Poles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3081528"/>
            <a:ext cx="2825496" cy="10789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same angle but radius r&lt;1 → control notch width / transient response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606040"/>
            <a:ext cx="3154680" cy="164592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02752" y="2715768"/>
            <a:ext cx="28254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Gain 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081528"/>
            <a:ext cx="2825496" cy="10789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often chosen to make DC or passband gain approximately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4800600"/>
            <a:ext cx="101498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34440" y="4937760"/>
            <a:ext cx="969264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Audio intuition: zeros do the cancellation; poles nearby keep the rest of the spectrum from being unnecessarily attenuated.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Pole radius controls resonance and memory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60–75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Move the pole radially without changing its preferred frequency.</a:t>
            </a:r>
          </a:p>
        </p:txBody>
      </p:sp>
      <p:pic>
        <p:nvPicPr>
          <p:cNvPr id="6" name="Picture 5" descr="pole_radi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280160"/>
            <a:ext cx="6583680" cy="4297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635240" y="1371600"/>
            <a:ext cx="3657600" cy="406908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09560" y="1719072"/>
            <a:ext cx="3108960" cy="324612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7212B"/>
                </a:solidFill>
                <a:latin typeface="Aptos"/>
              </a:defRPr>
            </a:pPr>
            <a:r>
              <a:t>• Same angle ⇒ same resonance center.</a:t>
            </a:r>
          </a:p>
          <a:p>
            <a:pPr>
              <a:spcAft>
                <a:spcPts val="500"/>
              </a:spcAft>
              <a:defRPr sz="1500">
                <a:solidFill>
                  <a:srgbClr val="17212B"/>
                </a:solidFill>
                <a:latin typeface="Aptos"/>
              </a:defRPr>
            </a:pPr>
            <a:r>
              <a:t>• r closer to 1 ⇒ smaller distance to unit circle.</a:t>
            </a:r>
          </a:p>
          <a:p>
            <a:pPr>
              <a:spcAft>
                <a:spcPts val="500"/>
              </a:spcAft>
              <a:defRPr sz="1500">
                <a:solidFill>
                  <a:srgbClr val="17212B"/>
                </a:solidFill>
                <a:latin typeface="Aptos"/>
              </a:defRPr>
            </a:pPr>
            <a:r>
              <a:t>• Peak becomes sharper and stronger.</a:t>
            </a:r>
          </a:p>
          <a:p>
            <a:pPr>
              <a:spcAft>
                <a:spcPts val="500"/>
              </a:spcAft>
              <a:defRPr sz="1500">
                <a:solidFill>
                  <a:srgbClr val="17212B"/>
                </a:solidFill>
                <a:latin typeface="Aptos"/>
              </a:defRPr>
            </a:pPr>
            <a:r>
              <a:t>• Impulse response decays roughly like rⁿ, so ringing lasts longer.</a:t>
            </a:r>
          </a:p>
          <a:p>
            <a:pPr>
              <a:spcAft>
                <a:spcPts val="500"/>
              </a:spcAft>
              <a:defRPr sz="1500">
                <a:solidFill>
                  <a:srgbClr val="17212B"/>
                </a:solidFill>
                <a:latin typeface="Aptos"/>
              </a:defRPr>
            </a:pPr>
            <a:r>
              <a:t>• r≥1 breaks causal BIBO stability.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Pole–zero sandbox activity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60–75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Predict first. Move a pole or zero. Then listen / plot.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32588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490472"/>
            <a:ext cx="45720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00A6A6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90472"/>
            <a:ext cx="2423160" cy="10789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Start with no poles/zeros: flat response.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53712" y="1325880"/>
            <a:ext cx="3337560" cy="160020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90872" y="1490472"/>
            <a:ext cx="45720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00A6A6"/>
                </a:solidFill>
                <a:latin typeface="Apto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9512" y="1490472"/>
            <a:ext cx="2423160" cy="10789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Put a zero on |z|=1 at an angle: predict the notch.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84464" y="132588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21624" y="1490472"/>
            <a:ext cx="45720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00A6A6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70264" y="1490472"/>
            <a:ext cx="2423160" cy="10789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Move the zero inside the circle: does the notch remain perfect?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291839"/>
            <a:ext cx="3337560" cy="160020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3456432"/>
            <a:ext cx="45720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00A6A6"/>
                </a:solidFill>
                <a:latin typeface="Apto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456432"/>
            <a:ext cx="2423160" cy="10789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Add a pole at the same angle with r=0.9, then 0.98.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53712" y="3291839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90872" y="3456432"/>
            <a:ext cx="45720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00A6A6"/>
                </a:solidFill>
                <a:latin typeface="Apto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3456432"/>
            <a:ext cx="2423160" cy="10789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Listen to the 60-Hz hum example before and after filtering.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53712" y="5120640"/>
            <a:ext cx="3108960" cy="658368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63440" y="5239512"/>
            <a:ext cx="288036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16324F"/>
                </a:solidFill>
                <a:latin typeface="Aptos"/>
              </a:rPr>
              <a:t>Notebook: pole_zero_sandbox()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Python demo: poles, zeros, and freqz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60–75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Use code as a geometry checker.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623560" cy="4480560"/>
          </a:xfrm>
          <a:prstGeom prst="roundRect">
            <a:avLst/>
          </a:prstGeom>
          <a:solidFill>
            <a:srgbClr val="17212B"/>
          </a:solidFill>
          <a:ln w="12700">
            <a:solidFill>
              <a:srgbClr val="172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7552" y="1508760"/>
            <a:ext cx="5120640" cy="3840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ptos Mono"/>
              </a:rPr>
              <a:t>import numpy as np
from scipy import signal
zeros = np.exp(1j*np.array([w0, -w0]))
poles = r * zeros
b = np.poly(zeros).real
a = np.poly(poles).real
w, H = signal.freqz(b, a, fs=fs)
# plot zeros, poles, |H|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1234440"/>
            <a:ext cx="4572000" cy="448056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31152" y="1645920"/>
            <a:ext cx="3977639" cy="329184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`np.roots` moves coefficients → roots.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`np.poly` moves roots → coefficients.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`signal.freqz` evaluates on the unit circle numerically.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The pole-zero plot should let you predict the major features before `freqz` confirms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Audio demo: removing hum without erasing the signal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60–75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The notch should target a narrow frequency, not broadly low-pass the recording.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4754880" cy="2057400"/>
          </a:xfrm>
          <a:prstGeom prst="roundRect">
            <a:avLst/>
          </a:prstGeom>
          <a:solidFill>
            <a:srgbClr val="FDEDEC"/>
          </a:solidFill>
          <a:ln w="12700">
            <a:solidFill>
              <a:srgbClr val="D8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8992" y="1618488"/>
            <a:ext cx="44256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984248"/>
            <a:ext cx="4425696" cy="1490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Synthetic voice-like harmonics + 60 Hz and 120 Hz hum.
Listen: 01_voice_with_60Hz_hum.wav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508760"/>
            <a:ext cx="4754880" cy="205740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45352" y="1618488"/>
            <a:ext cx="44256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After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1984248"/>
            <a:ext cx="4425696" cy="1490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Second-order 60-Hz notch with pole radius r=0.985.
Listen: 02_voice_after_60Hz_notch.wav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114800"/>
            <a:ext cx="9829800" cy="114300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17320" y="4279392"/>
            <a:ext cx="9281160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Good observation: a very narrow notch removes the targeted hum component while leaving nearby useful content mostly intact. A broad low-pass filter would solve the hum problem by throwing away far more information.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ML bridge: filter geometry shapes the features a model sees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Front-end filtering changes spectra, spectrograms, and therefore learned patterns.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3246120" cy="169164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7552" y="1527048"/>
            <a:ext cx="291693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Notch zeros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1892808"/>
            <a:ext cx="2916936" cy="11247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Remove a nuisance line such as power hum before spectral feature extraction.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417320"/>
            <a:ext cx="3246120" cy="169164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45152" y="1527048"/>
            <a:ext cx="291693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Resonant poles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152" y="1892808"/>
            <a:ext cx="2916936" cy="11247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Can emphasize a narrow band—useful or dangerous depending on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417320"/>
            <a:ext cx="3246120" cy="1691640"/>
          </a:xfrm>
          <a:prstGeom prst="roundRect">
            <a:avLst/>
          </a:prstGeom>
          <a:solidFill>
            <a:srgbClr val="FDEDEC"/>
          </a:solidFill>
          <a:ln w="12700">
            <a:solidFill>
              <a:srgbClr val="D8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02752" y="1527048"/>
            <a:ext cx="291693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Stability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1892808"/>
            <a:ext cx="2916936" cy="11247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A numerically exploding front end corrupts every downstream feature and gradient.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3840480"/>
            <a:ext cx="10149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25880" y="4114800"/>
            <a:ext cx="950976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900" b="1">
                <a:solidFill>
                  <a:srgbClr val="16324F"/>
                </a:solidFill>
                <a:latin typeface="Aptos"/>
              </a:rPr>
              <a:t>Design question for ML: are you removing a known nuisance, imposing a useful inductive bias, or accidentally deleting information that the classifier needs?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Concept check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Reason geometrically—no full algebra is needed.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1024128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16324F"/>
                </a:solidFill>
                <a:latin typeface="Aptos"/>
              </a:rPr>
              <a:t>A conjugate pole pair is moved from radius 0.7 to radius 0.97 at the same angle. What changes?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423160"/>
            <a:ext cx="49377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502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00A6A6"/>
                </a:solidFill>
                <a:latin typeface="Aptos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569464"/>
            <a:ext cx="388620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Resonant frequency moves drastically.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423160"/>
            <a:ext cx="49377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2606040"/>
            <a:ext cx="502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00A6A6"/>
                </a:solidFill>
                <a:latin typeface="Aptos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569464"/>
            <a:ext cx="388620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Peak becomes sharper; ringing lasts longer.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657600"/>
            <a:ext cx="49377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3840480"/>
            <a:ext cx="502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00A6A6"/>
                </a:solidFill>
                <a:latin typeface="Aptos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803904"/>
            <a:ext cx="388620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A perfect notch appears.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657600"/>
            <a:ext cx="49377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3840480"/>
            <a:ext cx="502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00A6A6"/>
                </a:solidFill>
                <a:latin typeface="Aptos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3803904"/>
            <a:ext cx="388620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The system becomes time varying.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461CC-7EE3-5EF0-5011-087236390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D3F6CA-B1B5-12E9-0A02-DD2FD0CDF520}"/>
              </a:ext>
            </a:extLst>
          </p:cNvPr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Concept check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C6F9414-C603-DBBE-E16B-45B8E40FF1EA}"/>
              </a:ext>
            </a:extLst>
          </p:cNvPr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8A8589-D166-20B6-5508-1A344E085BD4}"/>
              </a:ext>
            </a:extLst>
          </p:cNvPr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CHECK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B4CBD8-7C45-2802-2C0D-A74779EB11B5}"/>
              </a:ext>
            </a:extLst>
          </p:cNvPr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Reason geometrically—no full algebra is needed.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C2B8A7-6EBB-95B1-6A43-B3A6A38DE7EF}"/>
              </a:ext>
            </a:extLst>
          </p:cNvPr>
          <p:cNvSpPr txBox="1"/>
          <p:nvPr/>
        </p:nvSpPr>
        <p:spPr>
          <a:xfrm>
            <a:off x="914400" y="1280160"/>
            <a:ext cx="1024128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16324F"/>
                </a:solidFill>
                <a:latin typeface="Aptos"/>
              </a:rPr>
              <a:t>A conjugate pole pair is moved from radius 0.7 to radius 0.97 at the same angle. What changes?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4B354E2-5BCF-C1CB-2D02-1DBBD04CB858}"/>
              </a:ext>
            </a:extLst>
          </p:cNvPr>
          <p:cNvSpPr/>
          <p:nvPr/>
        </p:nvSpPr>
        <p:spPr>
          <a:xfrm>
            <a:off x="914400" y="2423160"/>
            <a:ext cx="49377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797CB9-8520-068D-3D37-1A7887FD1360}"/>
              </a:ext>
            </a:extLst>
          </p:cNvPr>
          <p:cNvSpPr txBox="1"/>
          <p:nvPr/>
        </p:nvSpPr>
        <p:spPr>
          <a:xfrm>
            <a:off x="1097280" y="2606040"/>
            <a:ext cx="502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00A6A6"/>
                </a:solidFill>
                <a:latin typeface="Aptos"/>
              </a:rPr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989568-EA2E-8031-6B80-49778C27819A}"/>
              </a:ext>
            </a:extLst>
          </p:cNvPr>
          <p:cNvSpPr txBox="1"/>
          <p:nvPr/>
        </p:nvSpPr>
        <p:spPr>
          <a:xfrm>
            <a:off x="1691640" y="2569464"/>
            <a:ext cx="388620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Resonant frequency moves drastically.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02655F6-74D7-35F1-04F4-AD9068CF4343}"/>
              </a:ext>
            </a:extLst>
          </p:cNvPr>
          <p:cNvSpPr/>
          <p:nvPr/>
        </p:nvSpPr>
        <p:spPr>
          <a:xfrm>
            <a:off x="6309360" y="2423160"/>
            <a:ext cx="49377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81F7D7-76B5-D0F3-5729-30A3B0B2FBE4}"/>
              </a:ext>
            </a:extLst>
          </p:cNvPr>
          <p:cNvSpPr txBox="1"/>
          <p:nvPr/>
        </p:nvSpPr>
        <p:spPr>
          <a:xfrm>
            <a:off x="6492240" y="2606040"/>
            <a:ext cx="502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00A6A6"/>
                </a:solidFill>
                <a:latin typeface="Aptos"/>
              </a:rPr>
              <a:t>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1B2A9-F9C3-BB71-B76D-918D9FA69DE0}"/>
              </a:ext>
            </a:extLst>
          </p:cNvPr>
          <p:cNvSpPr txBox="1"/>
          <p:nvPr/>
        </p:nvSpPr>
        <p:spPr>
          <a:xfrm>
            <a:off x="7086600" y="2569464"/>
            <a:ext cx="388620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Peak becomes sharper; ringing lasts longer.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B646EB1-07B2-E05E-4EF6-51644D64BEC9}"/>
              </a:ext>
            </a:extLst>
          </p:cNvPr>
          <p:cNvSpPr/>
          <p:nvPr/>
        </p:nvSpPr>
        <p:spPr>
          <a:xfrm>
            <a:off x="914400" y="3657600"/>
            <a:ext cx="49377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8FA3E2-B37A-FDCA-FB68-50BA1009B578}"/>
              </a:ext>
            </a:extLst>
          </p:cNvPr>
          <p:cNvSpPr txBox="1"/>
          <p:nvPr/>
        </p:nvSpPr>
        <p:spPr>
          <a:xfrm>
            <a:off x="1097280" y="3840480"/>
            <a:ext cx="502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00A6A6"/>
                </a:solidFill>
                <a:latin typeface="Aptos"/>
              </a:rPr>
              <a:t>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AA066B-E12F-A810-DFCC-4459003890C4}"/>
              </a:ext>
            </a:extLst>
          </p:cNvPr>
          <p:cNvSpPr txBox="1"/>
          <p:nvPr/>
        </p:nvSpPr>
        <p:spPr>
          <a:xfrm>
            <a:off x="1691640" y="3803904"/>
            <a:ext cx="388620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A perfect notch appears.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878CEFE-7911-B462-C017-5596E7A3EF19}"/>
              </a:ext>
            </a:extLst>
          </p:cNvPr>
          <p:cNvSpPr/>
          <p:nvPr/>
        </p:nvSpPr>
        <p:spPr>
          <a:xfrm>
            <a:off x="6309360" y="3657600"/>
            <a:ext cx="49377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876179-2F73-0423-E86B-B913BDCF1E38}"/>
              </a:ext>
            </a:extLst>
          </p:cNvPr>
          <p:cNvSpPr txBox="1"/>
          <p:nvPr/>
        </p:nvSpPr>
        <p:spPr>
          <a:xfrm>
            <a:off x="6492240" y="3840480"/>
            <a:ext cx="502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00A6A6"/>
                </a:solidFill>
                <a:latin typeface="Aptos"/>
              </a:rPr>
              <a:t>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645EAF-BD74-926E-7ED5-D882F69BA9E8}"/>
              </a:ext>
            </a:extLst>
          </p:cNvPr>
          <p:cNvSpPr txBox="1"/>
          <p:nvPr/>
        </p:nvSpPr>
        <p:spPr>
          <a:xfrm>
            <a:off x="7086600" y="3803904"/>
            <a:ext cx="388620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The system becomes time varying.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047E620-BC3F-2BC3-ABBF-07C1BAD2D846}"/>
              </a:ext>
            </a:extLst>
          </p:cNvPr>
          <p:cNvSpPr/>
          <p:nvPr/>
        </p:nvSpPr>
        <p:spPr>
          <a:xfrm>
            <a:off x="1371600" y="5166360"/>
            <a:ext cx="9418320" cy="658368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C65253-699B-F026-1633-E4E2BF1D3131}"/>
              </a:ext>
            </a:extLst>
          </p:cNvPr>
          <p:cNvSpPr txBox="1"/>
          <p:nvPr/>
        </p:nvSpPr>
        <p:spPr>
          <a:xfrm>
            <a:off x="1600200" y="5276088"/>
            <a:ext cx="8961120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16324F"/>
                </a:solidFill>
                <a:latin typeface="Aptos"/>
              </a:rPr>
              <a:t>Correct: B. Same angle → same center frequency; radius closer to 1 → stronger/narrower resonance and slower decay.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06A51C-4A67-30EF-6678-68F2A8C17B0D}"/>
              </a:ext>
            </a:extLst>
          </p:cNvPr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359063-44BE-BAA5-2991-F54728397E5A}"/>
              </a:ext>
            </a:extLst>
          </p:cNvPr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35857555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Lecture 6 synthesis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Poles, zeros, ROC, and the unit circle tell one coherent story.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1828800" cy="164592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difference eq.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coefficients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05456" y="2697480"/>
            <a:ext cx="365759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44368" y="1828800"/>
            <a:ext cx="1828800" cy="164592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35808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factor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5808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poles + zeros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91456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230368" y="1828800"/>
            <a:ext cx="1828800" cy="164592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21807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ROC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1807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causality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077456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516368" y="1828800"/>
            <a:ext cx="1828800" cy="164592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07808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unit circle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8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stability + H(e^{jω})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363456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802368" y="1828800"/>
            <a:ext cx="1828800" cy="164592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893808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geometry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93808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sound / response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343400"/>
            <a:ext cx="10332720" cy="96012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88720" y="4657305"/>
            <a:ext cx="9784080" cy="323165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 dirty="0">
                <a:solidFill>
                  <a:srgbClr val="16324F"/>
                </a:solidFill>
                <a:latin typeface="Aptos"/>
              </a:rPr>
              <a:t>Exit ticket: Why does a zero on the unit circle create a notch? 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6C015-EA51-5C76-236E-EDF040021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A41169-20A6-D698-E3A0-151899E5BF35}"/>
              </a:ext>
            </a:extLst>
          </p:cNvPr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Lecture 6 synthesis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34AD508-C194-3669-1687-3A68585E38DF}"/>
              </a:ext>
            </a:extLst>
          </p:cNvPr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204F45-E6A6-463C-E40C-AD77AA6C521D}"/>
              </a:ext>
            </a:extLst>
          </p:cNvPr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WRAP-UP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0C04E5-7204-D6AC-F46C-2CD00D19E05E}"/>
              </a:ext>
            </a:extLst>
          </p:cNvPr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Poles, zeros, ROC, and the unit circle tell one coherent story.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C8ECAB1-AD36-47CC-8846-30BA97E1C16D}"/>
              </a:ext>
            </a:extLst>
          </p:cNvPr>
          <p:cNvSpPr/>
          <p:nvPr/>
        </p:nvSpPr>
        <p:spPr>
          <a:xfrm>
            <a:off x="658368" y="1828800"/>
            <a:ext cx="1828800" cy="164592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6522E0-3C3D-5F40-9B30-1451E3C4E455}"/>
              </a:ext>
            </a:extLst>
          </p:cNvPr>
          <p:cNvSpPr txBox="1"/>
          <p:nvPr/>
        </p:nvSpPr>
        <p:spPr>
          <a:xfrm>
            <a:off x="749808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difference eq.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DB38A6-5A00-8317-3220-81061B1E11BC}"/>
              </a:ext>
            </a:extLst>
          </p:cNvPr>
          <p:cNvSpPr txBox="1"/>
          <p:nvPr/>
        </p:nvSpPr>
        <p:spPr>
          <a:xfrm>
            <a:off x="749808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coefficients</a:t>
            </a:r>
          </a:p>
        </p:txBody>
      </p: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F31AB312-62D1-6B34-CD67-B07ED737A8E6}"/>
              </a:ext>
            </a:extLst>
          </p:cNvPr>
          <p:cNvCxnSpPr/>
          <p:nvPr/>
        </p:nvCxnSpPr>
        <p:spPr>
          <a:xfrm>
            <a:off x="2505456" y="2697480"/>
            <a:ext cx="365759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85D6057-D253-C60B-5F68-2434C6808602}"/>
              </a:ext>
            </a:extLst>
          </p:cNvPr>
          <p:cNvSpPr/>
          <p:nvPr/>
        </p:nvSpPr>
        <p:spPr>
          <a:xfrm>
            <a:off x="2944368" y="1828800"/>
            <a:ext cx="1828800" cy="164592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F0E6AFF-4948-1480-4A70-62D45BDC86CE}"/>
              </a:ext>
            </a:extLst>
          </p:cNvPr>
          <p:cNvSpPr txBox="1"/>
          <p:nvPr/>
        </p:nvSpPr>
        <p:spPr>
          <a:xfrm>
            <a:off x="3035808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factor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60457D-D6B1-4D9C-06E7-6944DACB8E23}"/>
              </a:ext>
            </a:extLst>
          </p:cNvPr>
          <p:cNvSpPr txBox="1"/>
          <p:nvPr/>
        </p:nvSpPr>
        <p:spPr>
          <a:xfrm>
            <a:off x="3035808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poles + zeros</a:t>
            </a: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BBAC81CD-E811-C210-1192-151BEA048C73}"/>
              </a:ext>
            </a:extLst>
          </p:cNvPr>
          <p:cNvCxnSpPr/>
          <p:nvPr/>
        </p:nvCxnSpPr>
        <p:spPr>
          <a:xfrm>
            <a:off x="4791456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B5C2026-D1DA-7A4F-691C-C44D7BD59CD6}"/>
              </a:ext>
            </a:extLst>
          </p:cNvPr>
          <p:cNvSpPr/>
          <p:nvPr/>
        </p:nvSpPr>
        <p:spPr>
          <a:xfrm>
            <a:off x="5230368" y="1828800"/>
            <a:ext cx="1828800" cy="164592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EE0652-B6DE-2EB7-376D-CA3DE7A6EF10}"/>
              </a:ext>
            </a:extLst>
          </p:cNvPr>
          <p:cNvSpPr txBox="1"/>
          <p:nvPr/>
        </p:nvSpPr>
        <p:spPr>
          <a:xfrm>
            <a:off x="5321807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ROC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10DA7E-F64D-0A64-C08E-C5DFD4CC37AE}"/>
              </a:ext>
            </a:extLst>
          </p:cNvPr>
          <p:cNvSpPr txBox="1"/>
          <p:nvPr/>
        </p:nvSpPr>
        <p:spPr>
          <a:xfrm>
            <a:off x="5321807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causality</a:t>
            </a:r>
          </a:p>
        </p:txBody>
      </p:sp>
      <p:cxnSp>
        <p:nvCxnSpPr>
          <p:cNvPr id="17" name="Connector 16">
            <a:extLst>
              <a:ext uri="{FF2B5EF4-FFF2-40B4-BE49-F238E27FC236}">
                <a16:creationId xmlns:a16="http://schemas.microsoft.com/office/drawing/2014/main" id="{43AB59DE-12B5-487B-1C94-FE8EADC786F1}"/>
              </a:ext>
            </a:extLst>
          </p:cNvPr>
          <p:cNvCxnSpPr/>
          <p:nvPr/>
        </p:nvCxnSpPr>
        <p:spPr>
          <a:xfrm>
            <a:off x="7077456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B46B9468-2D66-55B6-4604-59F422A67232}"/>
              </a:ext>
            </a:extLst>
          </p:cNvPr>
          <p:cNvSpPr/>
          <p:nvPr/>
        </p:nvSpPr>
        <p:spPr>
          <a:xfrm>
            <a:off x="7516368" y="1828800"/>
            <a:ext cx="1828800" cy="164592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A3455B-C229-A581-81E8-E6EB2B27EBD0}"/>
              </a:ext>
            </a:extLst>
          </p:cNvPr>
          <p:cNvSpPr txBox="1"/>
          <p:nvPr/>
        </p:nvSpPr>
        <p:spPr>
          <a:xfrm>
            <a:off x="7607808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unit circle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077022D-37CD-BBB7-A7A5-54275E5758CC}"/>
              </a:ext>
            </a:extLst>
          </p:cNvPr>
          <p:cNvSpPr txBox="1"/>
          <p:nvPr/>
        </p:nvSpPr>
        <p:spPr>
          <a:xfrm>
            <a:off x="7607808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stability + H(e^{jω})</a:t>
            </a:r>
          </a:p>
        </p:txBody>
      </p:sp>
      <p:cxnSp>
        <p:nvCxnSpPr>
          <p:cNvPr id="21" name="Connector 20">
            <a:extLst>
              <a:ext uri="{FF2B5EF4-FFF2-40B4-BE49-F238E27FC236}">
                <a16:creationId xmlns:a16="http://schemas.microsoft.com/office/drawing/2014/main" id="{490872AE-E8D3-45C6-0FE0-935A2136850B}"/>
              </a:ext>
            </a:extLst>
          </p:cNvPr>
          <p:cNvCxnSpPr/>
          <p:nvPr/>
        </p:nvCxnSpPr>
        <p:spPr>
          <a:xfrm>
            <a:off x="9363456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1E0A9A8D-9E5F-7680-BBA0-804A8F5A8DDE}"/>
              </a:ext>
            </a:extLst>
          </p:cNvPr>
          <p:cNvSpPr/>
          <p:nvPr/>
        </p:nvSpPr>
        <p:spPr>
          <a:xfrm>
            <a:off x="9802368" y="1828800"/>
            <a:ext cx="1828800" cy="164592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CED750-4EC7-8CB4-460E-041F6E4DDB5B}"/>
              </a:ext>
            </a:extLst>
          </p:cNvPr>
          <p:cNvSpPr txBox="1"/>
          <p:nvPr/>
        </p:nvSpPr>
        <p:spPr>
          <a:xfrm>
            <a:off x="9893808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geometry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578465-1793-1E98-D3D9-C59DAD0F59AC}"/>
              </a:ext>
            </a:extLst>
          </p:cNvPr>
          <p:cNvSpPr txBox="1"/>
          <p:nvPr/>
        </p:nvSpPr>
        <p:spPr>
          <a:xfrm>
            <a:off x="9893808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sound / response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57D1552A-CB36-07B6-18A8-FE0F60A6A103}"/>
              </a:ext>
            </a:extLst>
          </p:cNvPr>
          <p:cNvSpPr/>
          <p:nvPr/>
        </p:nvSpPr>
        <p:spPr>
          <a:xfrm>
            <a:off x="914400" y="4343400"/>
            <a:ext cx="10332720" cy="96012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63022C8-C130-F2EB-B288-67157DD2B499}"/>
              </a:ext>
            </a:extLst>
          </p:cNvPr>
          <p:cNvSpPr txBox="1"/>
          <p:nvPr/>
        </p:nvSpPr>
        <p:spPr>
          <a:xfrm>
            <a:off x="1188720" y="4480560"/>
            <a:ext cx="9784080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16324F"/>
                </a:solidFill>
                <a:latin typeface="Aptos"/>
              </a:rPr>
              <a:t>Exit ticket: Why does a zero on the unit circle create a notch?  Good answer: at that frequency the evaluation point e^{jω} coincides with the zero, making a numerator distance—and therefore H(e^{jω})—equal to zero.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8B91B3-D16E-6559-BFAB-C91EDF1C06F9}"/>
              </a:ext>
            </a:extLst>
          </p:cNvPr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8D36554-DCAD-7765-B49D-548E9925B97D}"/>
              </a:ext>
            </a:extLst>
          </p:cNvPr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3092648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Weekly quiz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Suggested: 15 minutes at the start of Week 4 or end of Lecture 6.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371600"/>
            <a:ext cx="4892040" cy="192024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8992" y="1481328"/>
            <a:ext cx="4562855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Core 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847088"/>
            <a:ext cx="4562855" cy="1353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z-transform + ROC interpretation; inverse transform by PFE; transfer-function poles/zeros; causality/stability; geometric response.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4892040" cy="192024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36792" y="1481328"/>
            <a:ext cx="4562855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One calculation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847088"/>
            <a:ext cx="4562855" cy="1353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Derive H(z) and identify poles for a first- or second-order difference equation.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77639"/>
            <a:ext cx="992124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17320" y="4224528"/>
            <a:ext cx="937260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900" b="1">
                <a:solidFill>
                  <a:srgbClr val="16324F"/>
                </a:solidFill>
                <a:latin typeface="Aptos"/>
              </a:rPr>
              <a:t>Solutions and grading notes are in the accompanying Week 3 homework + quiz handout.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Board reserve: coefficient ↔ root sanity checks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RESERVE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Useful when students get lost in z⁻¹ polynomial conventions.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17320"/>
            <a:ext cx="1024128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300" b="1">
                <a:solidFill>
                  <a:srgbClr val="16324F"/>
                </a:solidFill>
                <a:latin typeface="Aptos"/>
              </a:rPr>
              <a:t>1 − 1.4z⁻¹ + 0.45z⁻² = (1 − 0.5z⁻¹)(1 − 0.9z⁻¹)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2560320"/>
            <a:ext cx="2926080" cy="137160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0432" y="2670048"/>
            <a:ext cx="25968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Poles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3035808"/>
            <a:ext cx="2596896" cy="8046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z=0.5 and z=0.9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2560320"/>
            <a:ext cx="2926080" cy="137160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82312" y="2670048"/>
            <a:ext cx="25968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Causal ROC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82312" y="3035808"/>
            <a:ext cx="2596896" cy="8046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|z|&gt;0.9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560320"/>
            <a:ext cx="2926080" cy="137160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94192" y="2670048"/>
            <a:ext cx="25968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Stable?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3035808"/>
            <a:ext cx="2596896" cy="8046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Yes: the unit circle is in |z|&gt;0.9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72000"/>
            <a:ext cx="98755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71600" y="4754880"/>
            <a:ext cx="94183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16324F"/>
                </a:solidFill>
                <a:latin typeface="Aptos"/>
              </a:rPr>
              <a:t>Fast check: for a causal rational system, if any pole magnitude ≥1, do not call it BIBO stable.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2437</Words>
  <Application>Microsoft Office PowerPoint</Application>
  <PresentationFormat>Widescreen</PresentationFormat>
  <Paragraphs>302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Aptos</vt:lpstr>
      <vt:lpstr>Aptos Mono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ECE DSP + ML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 Lecture 3 — Continuous-to-Discrete Conversion &amp; Aliasing</dc:title>
  <dc:subject>Week 2 DSP + ML course materials</dc:subject>
  <dc:creator>OpenAI</dc:creator>
  <cp:lastModifiedBy>Peter Mathys</cp:lastModifiedBy>
  <cp:revision>3</cp:revision>
  <dcterms:created xsi:type="dcterms:W3CDTF">2026-08-18T14:43:54Z</dcterms:created>
  <dcterms:modified xsi:type="dcterms:W3CDTF">2026-09-03T05:14:50Z</dcterms:modified>
</cp:coreProperties>
</file>