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2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79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80" r:id="rId24"/>
    <p:sldId id="276" r:id="rId25"/>
    <p:sldId id="281" r:id="rId26"/>
    <p:sldId id="277" r:id="rId27"/>
    <p:sldId id="278" r:id="rId28"/>
    <p:sldId id="283" r:id="rId2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92" d="100"/>
          <a:sy n="92" d="100"/>
        </p:scale>
        <p:origin x="66" y="1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6519672"/>
            <a:ext cx="11247120" cy="0"/>
          </a:xfrm>
          <a:prstGeom prst="line">
            <a:avLst/>
          </a:prstGeom>
          <a:noFill/>
          <a:ln w="12700">
            <a:solidFill>
              <a:srgbClr val="D6E1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47104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2 • DSP + ML • Oppenheim &amp; Schafer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B04326-6382-23AA-4F6C-A33C0B53EFAD}"/>
              </a:ext>
            </a:extLst>
          </p:cNvPr>
          <p:cNvSpPr txBox="1"/>
          <p:nvPr/>
        </p:nvSpPr>
        <p:spPr>
          <a:xfrm>
            <a:off x="1072733" y="444212"/>
            <a:ext cx="1004653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ECEN 4/5632  Theory and Application of Digital Filters</a:t>
            </a:r>
          </a:p>
          <a:p>
            <a:pPr algn="ctr"/>
            <a:r>
              <a:rPr lang="en-US" sz="3200" b="1">
                <a:solidFill>
                  <a:schemeClr val="bg1"/>
                </a:solidFill>
              </a:rPr>
              <a:t>Lecture </a:t>
            </a:r>
            <a:r>
              <a:rPr lang="en-US" sz="3200" b="1" dirty="0">
                <a:solidFill>
                  <a:schemeClr val="bg1"/>
                </a:solidFill>
              </a:rPr>
              <a:t>6</a:t>
            </a:r>
            <a:r>
              <a:rPr lang="en-US" sz="3200" b="1">
                <a:solidFill>
                  <a:schemeClr val="bg1"/>
                </a:solidFill>
              </a:rPr>
              <a:t>, 9-10-26</a:t>
            </a:r>
            <a:endParaRPr lang="en-US" sz="3200" b="1" dirty="0">
              <a:solidFill>
                <a:schemeClr val="bg1"/>
              </a:solidFill>
            </a:endParaRP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Peter Mathys*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862320-FA96-DD1A-C234-95E03B37257B}"/>
              </a:ext>
            </a:extLst>
          </p:cNvPr>
          <p:cNvSpPr txBox="1"/>
          <p:nvPr/>
        </p:nvSpPr>
        <p:spPr>
          <a:xfrm>
            <a:off x="482600" y="6488668"/>
            <a:ext cx="5266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* With generous help from Gemini Pro and ChatGPT</a:t>
            </a:r>
          </a:p>
        </p:txBody>
      </p:sp>
    </p:spTree>
    <p:extLst>
      <p:ext uri="{BB962C8B-B14F-4D97-AF65-F5344CB8AC3E}">
        <p14:creationId xmlns:p14="http://schemas.microsoft.com/office/powerpoint/2010/main" val="2481203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777240"/>
            <a:ext cx="34747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>
                <a:solidFill>
                  <a:srgbClr val="00A6A6"/>
                </a:solidFill>
                <a:latin typeface="Aptos"/>
              </a:rPr>
              <a:t>WEEK 3 • LECTURE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80160"/>
            <a:ext cx="6583680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400" b="1">
                <a:solidFill>
                  <a:srgbClr val="16324F"/>
                </a:solidFill>
                <a:latin typeface="Aptos"/>
              </a:rPr>
              <a:t>Transfer Functions, Stability,
and Pole–Zero Plots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017520"/>
            <a:ext cx="5943600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0">
                <a:solidFill>
                  <a:srgbClr val="53616E"/>
                </a:solidFill>
                <a:latin typeface="Aptos"/>
              </a:rPr>
              <a:t>Turn rational algebra into geometric intuition about filters.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0" y="1417320"/>
            <a:ext cx="4297680" cy="224028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269480" y="1691640"/>
            <a:ext cx="3840480" cy="1645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200" b="1">
                <a:solidFill>
                  <a:srgbClr val="16324F"/>
                </a:solidFill>
                <a:latin typeface="Aptos"/>
              </a:rPr>
              <a:t>poles push up
zeros pull down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4224528"/>
            <a:ext cx="10698480" cy="8046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4343400"/>
            <a:ext cx="10332720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16324F"/>
                </a:solidFill>
                <a:latin typeface="Aptos"/>
              </a:rPr>
              <a:t>75 minutes • rigorous DSP foundations • audio examples • Python sandbox • ML bridge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Learning outcomes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00–20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By the end, students should predict filter behavior before plotting.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10241280" cy="4206240"/>
          </a:xfrm>
          <a:prstGeom prst="rect">
            <a:avLst/>
          </a:prstGeom>
          <a:noFill/>
        </p:spPr>
        <p:txBody>
          <a:bodyPr wrap="square" lIns="73152" rIns="36576" anchor="t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17212B"/>
                </a:solidFill>
                <a:latin typeface="Aptos"/>
              </a:defRPr>
            </a:pPr>
            <a:r>
              <a:t>• Derive H(z) directly from a linear constant-coefficient difference equation.</a:t>
            </a:r>
          </a:p>
          <a:p>
            <a:pPr>
              <a:spcAft>
                <a:spcPts val="500"/>
              </a:spcAft>
              <a:defRPr sz="1800">
                <a:solidFill>
                  <a:srgbClr val="17212B"/>
                </a:solidFill>
                <a:latin typeface="Aptos"/>
              </a:defRPr>
            </a:pPr>
            <a:r>
              <a:t>• Identify poles, zeros, gain, and ROC constraints.</a:t>
            </a:r>
          </a:p>
          <a:p>
            <a:pPr>
              <a:spcAft>
                <a:spcPts val="500"/>
              </a:spcAft>
              <a:defRPr sz="1800">
                <a:solidFill>
                  <a:srgbClr val="17212B"/>
                </a:solidFill>
                <a:latin typeface="Aptos"/>
              </a:defRPr>
            </a:pPr>
            <a:r>
              <a:t>• Use z-domain rules to test causality and BIBO stability.</a:t>
            </a:r>
          </a:p>
          <a:p>
            <a:pPr>
              <a:spcAft>
                <a:spcPts val="500"/>
              </a:spcAft>
              <a:defRPr sz="1800">
                <a:solidFill>
                  <a:srgbClr val="17212B"/>
                </a:solidFill>
                <a:latin typeface="Aptos"/>
              </a:defRPr>
            </a:pPr>
            <a:r>
              <a:t>• Estimate frequency-response shape geometrically from a pole-zero plot.</a:t>
            </a:r>
          </a:p>
          <a:p>
            <a:pPr>
              <a:spcAft>
                <a:spcPts val="500"/>
              </a:spcAft>
              <a:defRPr sz="1800">
                <a:solidFill>
                  <a:srgbClr val="17212B"/>
                </a:solidFill>
                <a:latin typeface="Aptos"/>
              </a:defRPr>
            </a:pPr>
            <a:r>
              <a:t>• Design and test a hum notch and a resonator in Python.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Difference equation → transfer function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00–20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Zero initial conditions turn shifts into powers of z⁻¹.</a:t>
            </a:r>
          </a:p>
        </p:txBody>
      </p:sp>
      <p:pic>
        <p:nvPicPr>
          <p:cNvPr id="6" name="Picture 5" descr="eq_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143000"/>
            <a:ext cx="9692640" cy="153546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" y="2926080"/>
            <a:ext cx="5029200" cy="297180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3154680"/>
            <a:ext cx="457200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16324F"/>
                </a:solidFill>
                <a:latin typeface="Aptos"/>
              </a:rPr>
              <a:t>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657600"/>
            <a:ext cx="4389120" cy="10058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17212B"/>
                </a:solidFill>
                <a:latin typeface="Aptos"/>
              </a:rPr>
              <a:t>y[n] − 1.2y[n−1] + 0.32y[n−2]
= x[n] + 0.3x[n−1]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5029200"/>
            <a:ext cx="45720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16324F"/>
                </a:solidFill>
                <a:latin typeface="Aptos"/>
              </a:rPr>
              <a:t>H(z)= (1+0.3z⁻¹)/(1−1.2z⁻¹+0.32z⁻²)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926080"/>
            <a:ext cx="5074920" cy="297180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73952" y="3246120"/>
            <a:ext cx="4480560" cy="2286000"/>
          </a:xfrm>
          <a:prstGeom prst="rect">
            <a:avLst/>
          </a:prstGeom>
          <a:noFill/>
        </p:spPr>
        <p:txBody>
          <a:bodyPr wrap="square" lIns="73152" rIns="36576" anchor="t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t>• Numerator roots → zeros.</a:t>
            </a:r>
          </a:p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t>• Denominator roots → poles.</a:t>
            </a:r>
          </a:p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t>• Overall scale → gain.</a:t>
            </a:r>
          </a:p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t>• ROC is determined by the intended system support/causality, not merely by the polynomial ratio.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Factor H(z): poles and zeros are the important landmarks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00–20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Root locations are more informative than raw coefficients.</a:t>
            </a:r>
          </a:p>
        </p:txBody>
      </p:sp>
      <p:pic>
        <p:nvPicPr>
          <p:cNvPr id="6" name="Picture 5" descr="pz_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4937760" cy="40690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943600" y="1371600"/>
            <a:ext cx="5212080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63640" y="1600200"/>
            <a:ext cx="457200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16324F"/>
                </a:solidFill>
                <a:latin typeface="Aptos"/>
              </a:rPr>
              <a:t>For the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2148840"/>
            <a:ext cx="4480560" cy="23317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0">
                <a:solidFill>
                  <a:srgbClr val="17212B"/>
                </a:solidFill>
                <a:latin typeface="Aptos"/>
              </a:rPr>
              <a:t>zero: z = −0.3
poles: z = 0.8, 0.4
All poles and zeros are distinct, so the pole–zero plot directly exposes the second-order dynamics.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4617720"/>
            <a:ext cx="4572000" cy="411480"/>
          </a:xfrm>
          <a:prstGeom prst="roundRect">
            <a:avLst/>
          </a:prstGeom>
          <a:solidFill>
            <a:srgbClr val="FFF2E6"/>
          </a:solidFill>
          <a:ln w="12700">
            <a:solidFill>
              <a:srgbClr val="F2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438912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16324F"/>
                </a:solidFill>
                <a:latin typeface="Aptos"/>
              </a:rPr>
              <a:t>Engineering habit: factor before you sketch.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Causality in the z-domain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20–40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For a rational LTI system, a causal impulse response is right-sided.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371600"/>
            <a:ext cx="4800600" cy="352044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1664208"/>
            <a:ext cx="434340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000" b="1">
                <a:solidFill>
                  <a:srgbClr val="16324F"/>
                </a:solidFill>
                <a:latin typeface="Aptos"/>
              </a:rPr>
              <a:t>Causal rule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331720"/>
            <a:ext cx="4343400" cy="20116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000" b="1">
                <a:solidFill>
                  <a:srgbClr val="17212B"/>
                </a:solidFill>
                <a:latin typeface="Aptos"/>
              </a:rPr>
              <a:t>ROC lies outside the outermost pole.
If poles are at radii 0.4 and 0.8:
causal ROC ⇒ |z| &gt; 0.8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1371600"/>
            <a:ext cx="4800600" cy="3520440"/>
          </a:xfrm>
          <a:prstGeom prst="roundRect">
            <a:avLst/>
          </a:prstGeom>
          <a:solidFill>
            <a:srgbClr val="FFF2E6"/>
          </a:solidFill>
          <a:ln w="12700">
            <a:solidFill>
              <a:srgbClr val="F2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09360" y="1664208"/>
            <a:ext cx="434340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000" b="1">
                <a:solidFill>
                  <a:srgbClr val="16324F"/>
                </a:solidFill>
                <a:latin typeface="Aptos"/>
              </a:rPr>
              <a:t>Why?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67712"/>
            <a:ext cx="4160520" cy="1828800"/>
          </a:xfrm>
          <a:prstGeom prst="rect">
            <a:avLst/>
          </a:prstGeom>
          <a:noFill/>
        </p:spPr>
        <p:txBody>
          <a:bodyPr wrap="square" lIns="73152" rIns="36576" anchor="t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17212B"/>
                </a:solidFill>
                <a:latin typeface="Aptos"/>
              </a:defRPr>
            </a:pPr>
            <a:r>
              <a:t>• Causal h[n] is right-sided.</a:t>
            </a:r>
          </a:p>
          <a:p>
            <a:pPr>
              <a:spcAft>
                <a:spcPts val="500"/>
              </a:spcAft>
              <a:defRPr sz="1700">
                <a:solidFill>
                  <a:srgbClr val="17212B"/>
                </a:solidFill>
                <a:latin typeface="Aptos"/>
              </a:defRPr>
            </a:pPr>
            <a:r>
              <a:t>• Right-sided rational sequences have exterior ROCs.</a:t>
            </a:r>
          </a:p>
          <a:p>
            <a:pPr>
              <a:spcAft>
                <a:spcPts val="500"/>
              </a:spcAft>
              <a:defRPr sz="1700">
                <a:solidFill>
                  <a:srgbClr val="17212B"/>
                </a:solidFill>
                <a:latin typeface="Aptos"/>
              </a:defRPr>
            </a:pPr>
            <a:r>
              <a:t>• The outermost pole sets the convergence boundary.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BIBO stability in the z-domain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20–40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For LTI systems, stability means the unit circle is in the ROC.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234440"/>
            <a:ext cx="4937760" cy="420624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1508760"/>
            <a:ext cx="448056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16324F"/>
                </a:solidFill>
                <a:latin typeface="Aptos"/>
              </a:rPr>
              <a:t>Time-domain condition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48840"/>
            <a:ext cx="448056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600" b="1">
                <a:solidFill>
                  <a:srgbClr val="17212B"/>
                </a:solidFill>
                <a:latin typeface="Aptos"/>
              </a:rPr>
              <a:t>Σ |h[n]| &lt; ∞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1188720" y="3156780"/>
                <a:ext cx="4297680" cy="635880"/>
              </a:xfrm>
              <a:prstGeom prst="rect">
                <a:avLst/>
              </a:prstGeom>
              <a:noFill/>
            </p:spPr>
            <p:txBody>
              <a:bodyPr wrap="square" lIns="45720" rIns="45720" anchor="ctr">
                <a:spAutoFit/>
              </a:bodyPr>
              <a:lstStyle/>
              <a:p>
                <a:pPr algn="ctr"/>
                <a:r>
                  <a:rPr lang="en-US" sz="1700" b="0" dirty="0">
                    <a:solidFill>
                      <a:srgbClr val="53616E"/>
                    </a:solidFill>
                    <a:latin typeface="Aptos"/>
                  </a:rPr>
                  <a:t>Then </a:t>
                </a:r>
                <a14:m>
                  <m:oMath xmlns:m="http://schemas.openxmlformats.org/officeDocument/2006/math">
                    <m:r>
                      <a:rPr lang="en-US" sz="1700" b="0" i="1" dirty="0" smtClean="0">
                        <a:solidFill>
                          <a:srgbClr val="53616E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1700" b="0" i="1" dirty="0" smtClean="0">
                        <a:solidFill>
                          <a:srgbClr val="53616E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ar-AE" sz="1700" b="0" i="1" dirty="0" smtClean="0">
                            <a:solidFill>
                              <a:srgbClr val="53616E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700" b="0" i="1" dirty="0" smtClean="0">
                            <a:solidFill>
                              <a:srgbClr val="53616E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ar-AE" sz="1700" b="0" i="1" dirty="0" err="1">
                            <a:solidFill>
                              <a:srgbClr val="53616E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ar-AE" sz="1700" b="0" i="1" dirty="0" err="1">
                            <a:solidFill>
                              <a:srgbClr val="53616E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sup>
                    </m:sSup>
                    <m:r>
                      <a:rPr lang="ar-AE" sz="1700" b="0" i="1" dirty="0">
                        <a:solidFill>
                          <a:srgbClr val="53616E"/>
                        </a:solidFill>
                        <a:latin typeface="Cambria Math" panose="02040503050406030204" pitchFamily="18" charset="0"/>
                      </a:rPr>
                      <m:t>) = 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sz="1700" b="0" i="1" dirty="0" smtClean="0">
                            <a:solidFill>
                              <a:srgbClr val="53616E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sz="1700" b="0" i="1" dirty="0" smtClean="0">
                            <a:solidFill>
                              <a:srgbClr val="53616E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/>
                      <m:e>
                        <m:r>
                          <a:rPr lang="el-GR" sz="1700" i="1" dirty="0">
                            <a:solidFill>
                              <a:srgbClr val="53616E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l-GR" sz="1700" i="1" dirty="0">
                                <a:solidFill>
                                  <a:srgbClr val="53616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l-GR" sz="1700" i="1" dirty="0">
                                <a:solidFill>
                                  <a:srgbClr val="53616E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sSup>
                          <m:sSupPr>
                            <m:ctrlPr>
                              <a:rPr lang="el-GR" sz="1700" i="1" dirty="0">
                                <a:solidFill>
                                  <a:srgbClr val="53616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l-GR" sz="1700" i="1" dirty="0">
                                <a:solidFill>
                                  <a:srgbClr val="53616E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l-GR" sz="1700" i="1" dirty="0">
                                <a:solidFill>
                                  <a:srgbClr val="53616E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l-GR" sz="1700" i="1" dirty="0" err="1">
                                <a:solidFill>
                                  <a:srgbClr val="53616E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l-GR" sz="1700" i="1" dirty="0" err="1">
                                <a:solidFill>
                                  <a:srgbClr val="53616E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l-GR" sz="1700" i="1" dirty="0" err="1">
                                <a:solidFill>
                                  <a:srgbClr val="53616E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nary>
                    <m:r>
                      <a:rPr lang="el-GR" sz="1700" b="0" i="1" dirty="0">
                        <a:solidFill>
                          <a:srgbClr val="53616E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700" b="0" dirty="0">
                    <a:solidFill>
                      <a:srgbClr val="53616E"/>
                    </a:solidFill>
                    <a:latin typeface="Aptos"/>
                  </a:rPr>
                  <a:t>converges for every </a:t>
                </a:r>
                <a14:m>
                  <m:oMath xmlns:m="http://schemas.openxmlformats.org/officeDocument/2006/math">
                    <m:r>
                      <a:rPr lang="el-GR" sz="1700" b="0" i="1" dirty="0" smtClean="0">
                        <a:solidFill>
                          <a:srgbClr val="53616E"/>
                        </a:solidFill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l-GR" sz="1700" b="0" dirty="0">
                    <a:solidFill>
                      <a:srgbClr val="53616E"/>
                    </a:solidFill>
                    <a:latin typeface="Aptos"/>
                  </a:rPr>
                  <a:t>.</a:t>
                </a:r>
                <a:endParaRPr sz="1700" b="0" dirty="0">
                  <a:solidFill>
                    <a:srgbClr val="53616E"/>
                  </a:solidFill>
                  <a:latin typeface="Aptos"/>
                </a:endParaRPr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8720" y="3156780"/>
                <a:ext cx="4297680" cy="635880"/>
              </a:xfrm>
              <a:prstGeom prst="rect">
                <a:avLst/>
              </a:prstGeom>
              <a:blipFill>
                <a:blip r:embed="rId2"/>
                <a:stretch>
                  <a:fillRect l="-709" t="-61538" r="-1560" b="-548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ounded Rectangle 9"/>
          <p:cNvSpPr/>
          <p:nvPr/>
        </p:nvSpPr>
        <p:spPr>
          <a:xfrm>
            <a:off x="6126480" y="1234440"/>
            <a:ext cx="4937760" cy="420624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55080" y="1508760"/>
            <a:ext cx="448056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16324F"/>
                </a:solidFill>
                <a:latin typeface="Aptos"/>
              </a:rPr>
              <a:t>z-plane condition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148840"/>
            <a:ext cx="448056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500" b="1">
                <a:solidFill>
                  <a:srgbClr val="17212B"/>
                </a:solidFill>
                <a:latin typeface="Aptos"/>
              </a:rPr>
              <a:t>unit circle ⊂ ROC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926080"/>
            <a:ext cx="4297680" cy="10972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0">
                <a:solidFill>
                  <a:srgbClr val="53616E"/>
                </a:solidFill>
                <a:latin typeface="Aptos"/>
              </a:rPr>
              <a:t>The frequency response is finite all the way around |z|=1.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The golden combination: causal + stable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20–40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For a causal rational system, every pole must lie strictly inside the unit circle.</a:t>
            </a:r>
          </a:p>
        </p:txBody>
      </p:sp>
      <p:pic>
        <p:nvPicPr>
          <p:cNvPr id="6" name="Picture 5" descr="z_pla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80160"/>
            <a:ext cx="4297680" cy="40233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303520" y="1371600"/>
            <a:ext cx="5486400" cy="3749039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577840" y="1645920"/>
            <a:ext cx="493776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1">
                <a:solidFill>
                  <a:srgbClr val="16324F"/>
                </a:solidFill>
                <a:latin typeface="Aptos"/>
              </a:rPr>
              <a:t>Reasoning chain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23560" y="2240280"/>
            <a:ext cx="4709160" cy="2468880"/>
          </a:xfrm>
          <a:prstGeom prst="rect">
            <a:avLst/>
          </a:prstGeom>
          <a:noFill/>
        </p:spPr>
        <p:txBody>
          <a:bodyPr wrap="square" lIns="73152" rIns="36576" anchor="t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17212B"/>
                </a:solidFill>
                <a:latin typeface="Aptos"/>
              </a:defRPr>
            </a:pPr>
            <a:r>
              <a:t>• Causal ⇒ ROC is outside the outermost pole.</a:t>
            </a:r>
          </a:p>
          <a:p>
            <a:pPr>
              <a:spcAft>
                <a:spcPts val="500"/>
              </a:spcAft>
              <a:defRPr sz="1700">
                <a:solidFill>
                  <a:srgbClr val="17212B"/>
                </a:solidFill>
                <a:latin typeface="Aptos"/>
              </a:defRPr>
            </a:pPr>
            <a:r>
              <a:t>• Stable ⇒ ROC must include |z|=1.</a:t>
            </a:r>
          </a:p>
          <a:p>
            <a:pPr>
              <a:spcAft>
                <a:spcPts val="500"/>
              </a:spcAft>
              <a:defRPr sz="1700">
                <a:solidFill>
                  <a:srgbClr val="17212B"/>
                </a:solidFill>
                <a:latin typeface="Aptos"/>
              </a:defRPr>
            </a:pPr>
            <a:r>
              <a:t>• Therefore outermost pole radius must be &lt; 1.</a:t>
            </a:r>
          </a:p>
          <a:p>
            <a:pPr>
              <a:spcAft>
                <a:spcPts val="500"/>
              </a:spcAft>
              <a:defRPr sz="1700">
                <a:solidFill>
                  <a:srgbClr val="17212B"/>
                </a:solidFill>
                <a:latin typeface="Aptos"/>
              </a:defRPr>
            </a:pPr>
            <a:r>
              <a:t>• Pole exactly on |z|=1 is not BIBO stable for the causal rational case.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5413248"/>
            <a:ext cx="10012680" cy="594360"/>
          </a:xfrm>
          <a:prstGeom prst="roundRect">
            <a:avLst/>
          </a:prstGeom>
          <a:solidFill>
            <a:srgbClr val="FFF2E6"/>
          </a:solidFill>
          <a:ln w="12700">
            <a:solidFill>
              <a:srgbClr val="F2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5504688"/>
            <a:ext cx="964692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16324F"/>
                </a:solidFill>
                <a:latin typeface="Aptos"/>
              </a:rPr>
              <a:t>Important nuance: “all poles inside unit circle” is the causal + stable rule—not a stability rule without an ROC/support assumption.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Classify three systems from poles + ROC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20–40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Require one sentence of justification.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371600"/>
            <a:ext cx="102870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" y="1591056"/>
            <a:ext cx="5029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00A6A6"/>
                </a:solidFill>
                <a:latin typeface="Aptos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536192"/>
            <a:ext cx="502920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1">
                <a:solidFill>
                  <a:srgbClr val="17212B"/>
                </a:solidFill>
                <a:latin typeface="Aptos"/>
              </a:rPr>
              <a:t>poles 0.3, 0.8; ROC |z|&gt;0.8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788920"/>
            <a:ext cx="102870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43000" y="3008376"/>
            <a:ext cx="5029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00A6A6"/>
                </a:solidFill>
                <a:latin typeface="Aptos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953512"/>
            <a:ext cx="502920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1">
                <a:solidFill>
                  <a:srgbClr val="17212B"/>
                </a:solidFill>
                <a:latin typeface="Aptos"/>
              </a:rPr>
              <a:t>pole 1.1; ROC |z|&gt;1.1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206240"/>
            <a:ext cx="102870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43000" y="4425696"/>
            <a:ext cx="5029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00A6A6"/>
                </a:solidFill>
                <a:latin typeface="Apto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370831"/>
            <a:ext cx="502920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1">
                <a:solidFill>
                  <a:srgbClr val="17212B"/>
                </a:solidFill>
                <a:latin typeface="Aptos"/>
              </a:rPr>
              <a:t>pole 1.1; ROC |z|&lt;1.1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96C72-A16E-63EC-12E1-A15A19DDF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1607189-E643-7FD9-9BA1-8B6F42FAF55E}"/>
              </a:ext>
            </a:extLst>
          </p:cNvPr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Classify three systems from poles + ROC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CB96000-7872-D46D-DED1-3233DC4A5526}"/>
              </a:ext>
            </a:extLst>
          </p:cNvPr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B0703C-120E-929A-C80A-28F1ADD84D1C}"/>
              </a:ext>
            </a:extLst>
          </p:cNvPr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20–40 MIN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D47A31-795F-AC5A-FFD4-E2ABDC51F196}"/>
              </a:ext>
            </a:extLst>
          </p:cNvPr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Require one sentence of justification.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2440F12-F8DE-3369-151F-8242D9D3A5BE}"/>
              </a:ext>
            </a:extLst>
          </p:cNvPr>
          <p:cNvSpPr/>
          <p:nvPr/>
        </p:nvSpPr>
        <p:spPr>
          <a:xfrm>
            <a:off x="914400" y="1371600"/>
            <a:ext cx="102870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89D63B-5A7E-9725-9FF3-E874672773C7}"/>
              </a:ext>
            </a:extLst>
          </p:cNvPr>
          <p:cNvSpPr txBox="1"/>
          <p:nvPr/>
        </p:nvSpPr>
        <p:spPr>
          <a:xfrm>
            <a:off x="1143000" y="1591056"/>
            <a:ext cx="5029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00A6A6"/>
                </a:solidFill>
                <a:latin typeface="Aptos"/>
              </a:rPr>
              <a:t>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41DDD9-161F-6FAE-8D12-F0D39FD360BF}"/>
              </a:ext>
            </a:extLst>
          </p:cNvPr>
          <p:cNvSpPr txBox="1"/>
          <p:nvPr/>
        </p:nvSpPr>
        <p:spPr>
          <a:xfrm>
            <a:off x="1828800" y="1536192"/>
            <a:ext cx="502920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1">
                <a:solidFill>
                  <a:srgbClr val="17212B"/>
                </a:solidFill>
                <a:latin typeface="Aptos"/>
              </a:rPr>
              <a:t>poles 0.3, 0.8; ROC |z|&gt;0.8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D5E0BE-FF4F-5EF5-3E7C-0A7B64D95ACB}"/>
              </a:ext>
            </a:extLst>
          </p:cNvPr>
          <p:cNvSpPr txBox="1"/>
          <p:nvPr/>
        </p:nvSpPr>
        <p:spPr>
          <a:xfrm>
            <a:off x="6949440" y="1554480"/>
            <a:ext cx="384048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53616E"/>
                </a:solidFill>
                <a:latin typeface="Aptos"/>
              </a:rPr>
              <a:t>Good answer: causal &amp; stable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ADC560B-C491-93CF-2D14-8FCBB36DA1EE}"/>
              </a:ext>
            </a:extLst>
          </p:cNvPr>
          <p:cNvSpPr/>
          <p:nvPr/>
        </p:nvSpPr>
        <p:spPr>
          <a:xfrm>
            <a:off x="914400" y="2788920"/>
            <a:ext cx="102870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10D1CD-4D4C-1282-0A35-08236095B88A}"/>
              </a:ext>
            </a:extLst>
          </p:cNvPr>
          <p:cNvSpPr txBox="1"/>
          <p:nvPr/>
        </p:nvSpPr>
        <p:spPr>
          <a:xfrm>
            <a:off x="1143000" y="3008376"/>
            <a:ext cx="5029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00A6A6"/>
                </a:solidFill>
                <a:latin typeface="Aptos"/>
              </a:rPr>
              <a:t>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DDC21B-2029-F07A-072D-B727AD0F6BCB}"/>
              </a:ext>
            </a:extLst>
          </p:cNvPr>
          <p:cNvSpPr txBox="1"/>
          <p:nvPr/>
        </p:nvSpPr>
        <p:spPr>
          <a:xfrm>
            <a:off x="1828800" y="2953512"/>
            <a:ext cx="502920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1">
                <a:solidFill>
                  <a:srgbClr val="17212B"/>
                </a:solidFill>
                <a:latin typeface="Aptos"/>
              </a:rPr>
              <a:t>pole 1.1; ROC |z|&gt;1.1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0B2C957-8E1F-E214-ACB9-28A6A3EE30AD}"/>
              </a:ext>
            </a:extLst>
          </p:cNvPr>
          <p:cNvSpPr txBox="1"/>
          <p:nvPr/>
        </p:nvSpPr>
        <p:spPr>
          <a:xfrm>
            <a:off x="6949440" y="2971800"/>
            <a:ext cx="384048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53616E"/>
                </a:solidFill>
                <a:latin typeface="Aptos"/>
              </a:rPr>
              <a:t>Good answer: causal, unstable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DE34A148-5BFA-505F-58B8-8D5B78DC2E27}"/>
              </a:ext>
            </a:extLst>
          </p:cNvPr>
          <p:cNvSpPr/>
          <p:nvPr/>
        </p:nvSpPr>
        <p:spPr>
          <a:xfrm>
            <a:off x="914400" y="4206240"/>
            <a:ext cx="102870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39E6C57-F0DC-56DB-F467-BABD9071381F}"/>
              </a:ext>
            </a:extLst>
          </p:cNvPr>
          <p:cNvSpPr txBox="1"/>
          <p:nvPr/>
        </p:nvSpPr>
        <p:spPr>
          <a:xfrm>
            <a:off x="1143000" y="4425696"/>
            <a:ext cx="5029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00A6A6"/>
                </a:solidFill>
                <a:latin typeface="Aptos"/>
              </a:rPr>
              <a:t>C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DDB1EE5-62E7-FA65-330C-FC8F8A2CD330}"/>
              </a:ext>
            </a:extLst>
          </p:cNvPr>
          <p:cNvSpPr txBox="1"/>
          <p:nvPr/>
        </p:nvSpPr>
        <p:spPr>
          <a:xfrm>
            <a:off x="1828800" y="4370831"/>
            <a:ext cx="502920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1">
                <a:solidFill>
                  <a:srgbClr val="17212B"/>
                </a:solidFill>
                <a:latin typeface="Aptos"/>
              </a:rPr>
              <a:t>pole 1.1; ROC |z|&lt;1.1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F9AB0F-271A-4E24-8439-EDF58612448C}"/>
              </a:ext>
            </a:extLst>
          </p:cNvPr>
          <p:cNvSpPr txBox="1"/>
          <p:nvPr/>
        </p:nvSpPr>
        <p:spPr>
          <a:xfrm>
            <a:off x="6949440" y="4389120"/>
            <a:ext cx="384048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53616E"/>
                </a:solidFill>
                <a:latin typeface="Aptos"/>
              </a:rPr>
              <a:t>Good answer: anti-causal, stable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3A9C8C4-DE6C-DD86-5B66-D71C1347A658}"/>
              </a:ext>
            </a:extLst>
          </p:cNvPr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58ACB99-90E2-9E0E-EE06-0767680048D8}"/>
              </a:ext>
            </a:extLst>
          </p:cNvPr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7514039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Geometric frequency response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40–60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Evaluate H(z) at a point moving around the unit circle.</a:t>
            </a:r>
          </a:p>
        </p:txBody>
      </p:sp>
      <p:pic>
        <p:nvPicPr>
          <p:cNvPr id="6" name="Picture 5" descr="eq_ge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1051560"/>
            <a:ext cx="9418320" cy="1221584"/>
          </a:xfrm>
          <a:prstGeom prst="rect">
            <a:avLst/>
          </a:prstGeom>
        </p:spPr>
      </p:pic>
      <p:pic>
        <p:nvPicPr>
          <p:cNvPr id="7" name="Picture 6" descr="geom_vecto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057400"/>
            <a:ext cx="4846320" cy="37947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897880" y="2428603"/>
            <a:ext cx="525780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99632" y="2748643"/>
            <a:ext cx="4617720" cy="2651760"/>
          </a:xfrm>
          <a:prstGeom prst="rect">
            <a:avLst/>
          </a:prstGeom>
          <a:noFill/>
        </p:spPr>
        <p:txBody>
          <a:bodyPr wrap="square" lIns="73152" rIns="36576" anchor="t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rPr dirty="0"/>
              <a:t>• Numerator: multiply distances from the unit-circle point to each zero.</a:t>
            </a:r>
          </a:p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rPr dirty="0"/>
              <a:t>• Denominator: multiply distances to each pole.</a:t>
            </a:r>
          </a:p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rPr dirty="0"/>
              <a:t>• Near a zero → a short numerator vector → small magnitude.</a:t>
            </a:r>
          </a:p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rPr dirty="0"/>
              <a:t>• Near a pole → a short denominator vector → large magnitude.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Zeros pull the magnitude down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40–60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A zero on the unit circle creates exact cancellation at its angle.</a:t>
            </a:r>
          </a:p>
        </p:txBody>
      </p:sp>
      <p:pic>
        <p:nvPicPr>
          <p:cNvPr id="6" name="Picture 5" descr="zero_influ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25880"/>
            <a:ext cx="6446520" cy="42519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417320"/>
            <a:ext cx="3749039" cy="388620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26679" y="1691640"/>
            <a:ext cx="329184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16324F"/>
                </a:solidFill>
                <a:latin typeface="Aptos"/>
              </a:rPr>
              <a:t>Geometric story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7726678" y="2286000"/>
                <a:ext cx="3350031" cy="1770036"/>
              </a:xfrm>
              <a:prstGeom prst="rect">
                <a:avLst/>
              </a:prstGeom>
              <a:noFill/>
            </p:spPr>
            <p:txBody>
              <a:bodyPr wrap="square" lIns="73152" rIns="36576" anchor="t">
                <a:spAutoFit/>
              </a:bodyPr>
              <a:lstStyle/>
              <a:p>
                <a:pPr>
                  <a:spcAft>
                    <a:spcPts val="500"/>
                  </a:spcAft>
                  <a:defRPr sz="1600">
                    <a:solidFill>
                      <a:srgbClr val="17212B"/>
                    </a:solidFill>
                    <a:latin typeface="Aptos"/>
                  </a:defRPr>
                </a:pPr>
                <a:r>
                  <a:rPr lang="en-US" dirty="0"/>
                  <a:t>• At </a:t>
                </a:r>
                <a:r>
                  <a:rPr lang="el-GR" dirty="0"/>
                  <a:t>ω </a:t>
                </a:r>
                <a:r>
                  <a:rPr lang="en-US" dirty="0"/>
                  <a:t>equal to the zero angle,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ar-AE" dirty="0"/>
              </a:p>
              <a:p>
                <a:pPr>
                  <a:spcAft>
                    <a:spcPts val="500"/>
                  </a:spcAft>
                  <a:defRPr sz="1600">
                    <a:solidFill>
                      <a:srgbClr val="17212B"/>
                    </a:solidFill>
                    <a:latin typeface="Aptos"/>
                  </a:defRPr>
                </a:pPr>
                <a:r>
                  <a:rPr lang="ar-AE" dirty="0"/>
                  <a:t>• </a:t>
                </a:r>
                <a:r>
                  <a:rPr lang="en-US" dirty="0"/>
                  <a:t>The zero distance is exactly 0.</a:t>
                </a:r>
              </a:p>
              <a:p>
                <a:pPr>
                  <a:spcAft>
                    <a:spcPts val="500"/>
                  </a:spcAft>
                  <a:defRPr sz="1600">
                    <a:solidFill>
                      <a:srgbClr val="17212B"/>
                    </a:solidFill>
                    <a:latin typeface="Aptos"/>
                  </a:defRPr>
                </a:pPr>
                <a:r>
                  <a:rPr lang="en-US" dirty="0"/>
                  <a:t>• Product in the numerator becomes 0.</a:t>
                </a:r>
              </a:p>
              <a:p>
                <a:pPr>
                  <a:spcAft>
                    <a:spcPts val="500"/>
                  </a:spcAft>
                  <a:defRPr sz="1600">
                    <a:solidFill>
                      <a:srgbClr val="17212B"/>
                    </a:solidFill>
                    <a:latin typeface="Aptos"/>
                  </a:defRPr>
                </a:pPr>
                <a:r>
                  <a:rPr lang="en-US" dirty="0"/>
                  <a:t>• Therefore |H|=0: a perfect notch.</a:t>
                </a:r>
                <a:endParaRPr dirty="0"/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6678" y="2286000"/>
                <a:ext cx="3350031" cy="1770036"/>
              </a:xfrm>
              <a:prstGeom prst="rect">
                <a:avLst/>
              </a:prstGeom>
              <a:blipFill>
                <a:blip r:embed="rId3"/>
                <a:stretch>
                  <a:fillRect l="-1636" t="-690" r="-2000" b="-34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Poles push the magnitude up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40–60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A pole close to the unit circle creates a resonant peak near its angle.</a:t>
            </a:r>
          </a:p>
        </p:txBody>
      </p:sp>
      <p:pic>
        <p:nvPicPr>
          <p:cNvPr id="6" name="Picture 5" descr="pole_influ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25880"/>
            <a:ext cx="6446520" cy="42519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417320"/>
            <a:ext cx="3749039" cy="3886200"/>
          </a:xfrm>
          <a:prstGeom prst="roundRect">
            <a:avLst/>
          </a:prstGeom>
          <a:solidFill>
            <a:srgbClr val="FFF2E6"/>
          </a:solidFill>
          <a:ln w="12700">
            <a:solidFill>
              <a:srgbClr val="F2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26679" y="1691640"/>
            <a:ext cx="329184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16324F"/>
                </a:solidFill>
                <a:latin typeface="Aptos"/>
              </a:rPr>
              <a:t>Geometric story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2286000"/>
            <a:ext cx="3154680" cy="2286000"/>
          </a:xfrm>
          <a:prstGeom prst="rect">
            <a:avLst/>
          </a:prstGeom>
          <a:noFill/>
        </p:spPr>
        <p:txBody>
          <a:bodyPr wrap="square" lIns="73152" rIns="36576" anchor="t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t>• At a nearby unit-circle angle, the pole distance becomes small.</a:t>
            </a:r>
          </a:p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t>• That distance is in the denominator.</a:t>
            </a:r>
          </a:p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t>• Smaller denominator → larger magnitude.</a:t>
            </a:r>
          </a:p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t>• Closer pole radius → sharper, longer-lived resonance.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First-order example: pole location predicts low-pass behavior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40–60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H(z)=1/(1−0.8z⁻¹) has a pole at +0.8 on the real axis.</a:t>
            </a:r>
          </a:p>
        </p:txBody>
      </p:sp>
      <p:pic>
        <p:nvPicPr>
          <p:cNvPr id="6" name="Picture 5" descr="pz_firstor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4572000" cy="39319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0" y="1325880"/>
            <a:ext cx="5349240" cy="3977639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61888" y="1755648"/>
            <a:ext cx="4754880" cy="3108960"/>
          </a:xfrm>
          <a:prstGeom prst="rect">
            <a:avLst/>
          </a:prstGeom>
          <a:noFill/>
        </p:spPr>
        <p:txBody>
          <a:bodyPr wrap="square" lIns="73152" rIns="36576" anchor="t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17212B"/>
                </a:solidFill>
                <a:latin typeface="Aptos"/>
              </a:defRPr>
            </a:pPr>
            <a:r>
              <a:t>• ω=0 corresponds to z=+1, close to the pole at +0.8 → large gain.</a:t>
            </a:r>
          </a:p>
          <a:p>
            <a:pPr>
              <a:spcAft>
                <a:spcPts val="500"/>
              </a:spcAft>
              <a:defRPr sz="1700">
                <a:solidFill>
                  <a:srgbClr val="17212B"/>
                </a:solidFill>
                <a:latin typeface="Aptos"/>
              </a:defRPr>
            </a:pPr>
            <a:r>
              <a:t>• ω=π corresponds to z=−1, far from the pole → smaller gain.</a:t>
            </a:r>
          </a:p>
          <a:p>
            <a:pPr>
              <a:spcAft>
                <a:spcPts val="500"/>
              </a:spcAft>
              <a:defRPr sz="1700">
                <a:solidFill>
                  <a:srgbClr val="17212B"/>
                </a:solidFill>
                <a:latin typeface="Aptos"/>
              </a:defRPr>
            </a:pPr>
            <a:r>
              <a:t>• So the response favors low frequency before we compute a single formula.</a:t>
            </a:r>
          </a:p>
          <a:p>
            <a:pPr>
              <a:spcAft>
                <a:spcPts val="500"/>
              </a:spcAft>
              <a:defRPr sz="1700">
                <a:solidFill>
                  <a:srgbClr val="17212B"/>
                </a:solidFill>
                <a:latin typeface="Aptos"/>
              </a:defRPr>
            </a:pPr>
            <a:r>
              <a:t>• This recovers the one-pole smoother from Week 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Design example: notch out 60 Hz hum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60–75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Place conjugate zeros on the unit circle at the unwanted frequency.</a:t>
            </a:r>
          </a:p>
        </p:txBody>
      </p:sp>
      <p:pic>
        <p:nvPicPr>
          <p:cNvPr id="6" name="Picture 5" descr="notch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88720"/>
            <a:ext cx="7086600" cy="40233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909560" y="1325880"/>
            <a:ext cx="3474720" cy="379476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38160" y="1600200"/>
            <a:ext cx="30175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16324F"/>
                </a:solidFill>
                <a:latin typeface="Aptos"/>
              </a:rPr>
              <a:t>At fₛ=1000 Hz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2148840"/>
            <a:ext cx="292608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900" b="1">
                <a:solidFill>
                  <a:srgbClr val="17212B"/>
                </a:solidFill>
                <a:latin typeface="Aptos"/>
              </a:rPr>
              <a:t>ω₀ = 2π·60/1000
≈ 0.377 rad/sample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8138160" y="3108960"/>
                <a:ext cx="2971800" cy="1158907"/>
              </a:xfrm>
              <a:prstGeom prst="rect">
                <a:avLst/>
              </a:prstGeom>
              <a:noFill/>
            </p:spPr>
            <p:txBody>
              <a:bodyPr wrap="square" lIns="73152" rIns="36576" anchor="t">
                <a:spAutoFit/>
              </a:bodyPr>
              <a:lstStyle/>
              <a:p>
                <a:pPr>
                  <a:spcAft>
                    <a:spcPts val="500"/>
                  </a:spcAft>
                  <a:defRPr sz="1500">
                    <a:solidFill>
                      <a:srgbClr val="17212B"/>
                    </a:solidFill>
                    <a:latin typeface="Aptos"/>
                  </a:defRPr>
                </a:pPr>
                <a:r>
                  <a:rPr lang="en-US" dirty="0"/>
                  <a:t>• Zeros: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±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p>
                    </m:sSup>
                  </m:oMath>
                </a14:m>
                <a:endParaRPr lang="ar-AE" dirty="0"/>
              </a:p>
              <a:p>
                <a:pPr>
                  <a:spcAft>
                    <a:spcPts val="500"/>
                  </a:spcAft>
                  <a:defRPr sz="1500">
                    <a:solidFill>
                      <a:srgbClr val="17212B"/>
                    </a:solidFill>
                    <a:latin typeface="Aptos"/>
                  </a:defRPr>
                </a:pPr>
                <a:r>
                  <a:rPr lang="ar-AE" dirty="0"/>
                  <a:t>• </a:t>
                </a:r>
                <a:r>
                  <a:rPr lang="en-US" dirty="0"/>
                  <a:t>Nearby poles 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±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p>
                    </m:sSup>
                  </m:oMath>
                </a14:m>
                <a:r>
                  <a:rPr lang="en-US" dirty="0"/>
                  <a:t> make a narrow, well-behaved notch.</a:t>
                </a:r>
              </a:p>
              <a:p>
                <a:pPr>
                  <a:spcAft>
                    <a:spcPts val="500"/>
                  </a:spcAft>
                  <a:defRPr sz="1500">
                    <a:solidFill>
                      <a:srgbClr val="17212B"/>
                    </a:solidFill>
                    <a:latin typeface="Aptos"/>
                  </a:defRPr>
                </a:pPr>
                <a:r>
                  <a:rPr lang="en-US" dirty="0"/>
                  <a:t>• Choose r&lt;1 for causal stability.</a:t>
                </a:r>
                <a:endParaRPr dirty="0"/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8160" y="3108960"/>
                <a:ext cx="2971800" cy="1158907"/>
              </a:xfrm>
              <a:prstGeom prst="rect">
                <a:avLst/>
              </a:prstGeom>
              <a:blipFill>
                <a:blip r:embed="rId3"/>
                <a:stretch>
                  <a:fillRect l="-1639"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Notch-filter equation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60–75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A second-order section gives an interpretable audio filter.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51560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16324F"/>
                </a:solidFill>
                <a:latin typeface="Aptos"/>
              </a:rPr>
              <a:t>H(z) = K · (1 − 2cosω₀ z⁻¹ + z⁻²) / (1 − 2r cosω₀ z⁻¹ + r²z⁻²)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606040"/>
            <a:ext cx="3154680" cy="164592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78992" y="2715768"/>
            <a:ext cx="282549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Zeros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3081528"/>
            <a:ext cx="2825496" cy="10789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3616E"/>
                </a:solidFill>
                <a:latin typeface="Aptos"/>
              </a:rPr>
              <a:t>exactly on unit circle at ±ω₀ → ideal zero response at the hum frequency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2606040"/>
            <a:ext cx="3154680" cy="1645920"/>
          </a:xfrm>
          <a:prstGeom prst="roundRect">
            <a:avLst/>
          </a:prstGeom>
          <a:solidFill>
            <a:srgbClr val="FFF2E6"/>
          </a:solidFill>
          <a:ln w="12700">
            <a:solidFill>
              <a:srgbClr val="F2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90872" y="2715768"/>
            <a:ext cx="282549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Poles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0872" y="3081528"/>
            <a:ext cx="2825496" cy="10789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3616E"/>
                </a:solidFill>
                <a:latin typeface="Aptos"/>
              </a:rPr>
              <a:t>same angle but radius r&lt;1 → control notch width / transient response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2606040"/>
            <a:ext cx="3154680" cy="164592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02752" y="2715768"/>
            <a:ext cx="282549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Gain 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752" y="3081528"/>
            <a:ext cx="2825496" cy="10789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3616E"/>
                </a:solidFill>
                <a:latin typeface="Aptos"/>
              </a:rPr>
              <a:t>often chosen to make DC or passband gain approximately 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" y="4800600"/>
            <a:ext cx="101498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34440" y="4937760"/>
            <a:ext cx="969264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16324F"/>
                </a:solidFill>
                <a:latin typeface="Aptos"/>
              </a:rPr>
              <a:t>Audio intuition: zeros do the cancellation; poles nearby keep the rest of the spectrum from being unnecessarily attenuated.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Pole radius controls resonance and memory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60–75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Move the pole radially without changing its preferred frequency.</a:t>
            </a:r>
          </a:p>
        </p:txBody>
      </p:sp>
      <p:pic>
        <p:nvPicPr>
          <p:cNvPr id="6" name="Picture 5" descr="pole_radi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280160"/>
            <a:ext cx="6583680" cy="42976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635240" y="1371600"/>
            <a:ext cx="3657600" cy="4069080"/>
          </a:xfrm>
          <a:prstGeom prst="roundRect">
            <a:avLst/>
          </a:prstGeom>
          <a:solidFill>
            <a:srgbClr val="FFF2E6"/>
          </a:solidFill>
          <a:ln w="12700">
            <a:solidFill>
              <a:srgbClr val="F2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09560" y="1719072"/>
            <a:ext cx="3108960" cy="3246120"/>
          </a:xfrm>
          <a:prstGeom prst="rect">
            <a:avLst/>
          </a:prstGeom>
          <a:noFill/>
        </p:spPr>
        <p:txBody>
          <a:bodyPr wrap="square" lIns="73152" rIns="36576" anchor="t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7212B"/>
                </a:solidFill>
                <a:latin typeface="Aptos"/>
              </a:defRPr>
            </a:pPr>
            <a:r>
              <a:t>• Same angle ⇒ same resonance center.</a:t>
            </a:r>
          </a:p>
          <a:p>
            <a:pPr>
              <a:spcAft>
                <a:spcPts val="500"/>
              </a:spcAft>
              <a:defRPr sz="1500">
                <a:solidFill>
                  <a:srgbClr val="17212B"/>
                </a:solidFill>
                <a:latin typeface="Aptos"/>
              </a:defRPr>
            </a:pPr>
            <a:r>
              <a:t>• r closer to 1 ⇒ smaller distance to unit circle.</a:t>
            </a:r>
          </a:p>
          <a:p>
            <a:pPr>
              <a:spcAft>
                <a:spcPts val="500"/>
              </a:spcAft>
              <a:defRPr sz="1500">
                <a:solidFill>
                  <a:srgbClr val="17212B"/>
                </a:solidFill>
                <a:latin typeface="Aptos"/>
              </a:defRPr>
            </a:pPr>
            <a:r>
              <a:t>• Peak becomes sharper and stronger.</a:t>
            </a:r>
          </a:p>
          <a:p>
            <a:pPr>
              <a:spcAft>
                <a:spcPts val="500"/>
              </a:spcAft>
              <a:defRPr sz="1500">
                <a:solidFill>
                  <a:srgbClr val="17212B"/>
                </a:solidFill>
                <a:latin typeface="Aptos"/>
              </a:defRPr>
            </a:pPr>
            <a:r>
              <a:t>• Impulse response decays roughly like rⁿ, so ringing lasts longer.</a:t>
            </a:r>
          </a:p>
          <a:p>
            <a:pPr>
              <a:spcAft>
                <a:spcPts val="500"/>
              </a:spcAft>
              <a:defRPr sz="1500">
                <a:solidFill>
                  <a:srgbClr val="17212B"/>
                </a:solidFill>
                <a:latin typeface="Aptos"/>
              </a:defRPr>
            </a:pPr>
            <a:r>
              <a:t>• r≥1 breaks causal BIBO stability.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Pole–zero sandbox activity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60–75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Predict first. Move a pole or zero. Then listen / plot.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325880"/>
            <a:ext cx="333756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490472"/>
            <a:ext cx="45720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00A6A6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490472"/>
            <a:ext cx="2423160" cy="10789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7212B"/>
                </a:solidFill>
                <a:latin typeface="Aptos"/>
              </a:rPr>
              <a:t>Start with no poles/zeros: flat response.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53712" y="1325880"/>
            <a:ext cx="3337560" cy="160020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90872" y="1490472"/>
            <a:ext cx="45720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00A6A6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39512" y="1490472"/>
            <a:ext cx="2423160" cy="10789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7212B"/>
                </a:solidFill>
                <a:latin typeface="Aptos"/>
              </a:rPr>
              <a:t>Put a zero on |z|=1 at an angle: predict the notch.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84464" y="1325880"/>
            <a:ext cx="333756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21624" y="1490472"/>
            <a:ext cx="45720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00A6A6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70264" y="1490472"/>
            <a:ext cx="2423160" cy="10789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7212B"/>
                </a:solidFill>
                <a:latin typeface="Aptos"/>
              </a:rPr>
              <a:t>Move the zero inside the circle: does the notch remain perfect?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291839"/>
            <a:ext cx="3337560" cy="160020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3456432"/>
            <a:ext cx="45720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00A6A6"/>
                </a:solidFill>
                <a:latin typeface="Apto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456432"/>
            <a:ext cx="2423160" cy="10789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7212B"/>
                </a:solidFill>
                <a:latin typeface="Aptos"/>
              </a:rPr>
              <a:t>Add a pole at the same angle with r=0.9, then 0.98.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53712" y="3291839"/>
            <a:ext cx="333756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90872" y="3456432"/>
            <a:ext cx="45720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00A6A6"/>
                </a:solidFill>
                <a:latin typeface="Aptos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39512" y="3456432"/>
            <a:ext cx="2423160" cy="10789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7212B"/>
                </a:solidFill>
                <a:latin typeface="Aptos"/>
              </a:rPr>
              <a:t>Listen to the 60-Hz hum example before and after filtering.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53712" y="5120640"/>
            <a:ext cx="3108960" cy="658368"/>
          </a:xfrm>
          <a:prstGeom prst="roundRect">
            <a:avLst/>
          </a:prstGeom>
          <a:solidFill>
            <a:srgbClr val="FFF2E6"/>
          </a:solidFill>
          <a:ln w="12700">
            <a:solidFill>
              <a:srgbClr val="F2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663440" y="5239512"/>
            <a:ext cx="288036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16324F"/>
                </a:solidFill>
                <a:latin typeface="Aptos"/>
              </a:rPr>
              <a:t>Notebook: pole_zero_sandbox()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Python demo: poles, zeros, and freqz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60–75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Use code as a geometry checker.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623560" cy="4480560"/>
          </a:xfrm>
          <a:prstGeom prst="roundRect">
            <a:avLst/>
          </a:prstGeom>
          <a:solidFill>
            <a:srgbClr val="17212B"/>
          </a:solidFill>
          <a:ln w="12700">
            <a:solidFill>
              <a:srgbClr val="1721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1508760"/>
            <a:ext cx="5120640" cy="3840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 Mono"/>
              </a:rPr>
              <a:t>import numpy as np
from scipy import signal
zeros = np.exp(1j*np.array([w0, -w0]))
poles = r * zeros
b = np.poly(zeros).real
a = np.poly(poles).real
w, H = signal.freqz(b, a, fs=fs)
# plot zeros, poles, |H|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1234440"/>
            <a:ext cx="4572000" cy="448056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31152" y="1645920"/>
            <a:ext cx="3977639" cy="3291840"/>
          </a:xfrm>
          <a:prstGeom prst="rect">
            <a:avLst/>
          </a:prstGeom>
          <a:noFill/>
        </p:spPr>
        <p:txBody>
          <a:bodyPr wrap="square" lIns="73152" rIns="36576" anchor="t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t>• `np.roots` moves coefficients → roots.</a:t>
            </a:r>
          </a:p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t>• `np.poly` moves roots → coefficients.</a:t>
            </a:r>
          </a:p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t>• `signal.freqz` evaluates on the unit circle numerically.</a:t>
            </a:r>
          </a:p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t>• The pole-zero plot should let you predict the major features before `freqz` confirms them.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Audio demo: removing hum without erasing the signal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60–75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The notch should target a narrow frequency, not broadly low-pass the recording.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508760"/>
            <a:ext cx="4754880" cy="2057400"/>
          </a:xfrm>
          <a:prstGeom prst="roundRect">
            <a:avLst/>
          </a:prstGeom>
          <a:solidFill>
            <a:srgbClr val="FDEDEC"/>
          </a:solidFill>
          <a:ln w="12700">
            <a:solidFill>
              <a:srgbClr val="D84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" y="1618488"/>
            <a:ext cx="442569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Before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1984248"/>
            <a:ext cx="4425696" cy="1490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3616E"/>
                </a:solidFill>
                <a:latin typeface="Aptos"/>
              </a:rPr>
              <a:t>Synthetic voice-like harmonics + 60 Hz and 120 Hz hum.
Listen: 01_voice_with_60Hz_hum.wav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1508760"/>
            <a:ext cx="4754880" cy="205740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45352" y="1618488"/>
            <a:ext cx="442569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After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45352" y="1984248"/>
            <a:ext cx="4425696" cy="1490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3616E"/>
                </a:solidFill>
                <a:latin typeface="Aptos"/>
              </a:rPr>
              <a:t>Second-order 60-Hz notch with pole radius r=0.985.
Listen: 02_voice_after_60Hz_notch.wav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114800"/>
            <a:ext cx="9829800" cy="114300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417320" y="4279392"/>
            <a:ext cx="9281160" cy="8046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16324F"/>
                </a:solidFill>
                <a:latin typeface="Aptos"/>
              </a:rPr>
              <a:t>Good observation: a very narrow notch removes the targeted hum component while leaving nearby useful content mostly intact. A broad low-pass filter would solve the hum problem by throwing away far more information.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ML bridge: filter geometry shapes the features a model sees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Front-end filtering changes spectra, spectrograms, and therefore learned patterns.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417320"/>
            <a:ext cx="3246120" cy="169164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1527048"/>
            <a:ext cx="291693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Notch zeros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1892808"/>
            <a:ext cx="2916936" cy="11247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3616E"/>
                </a:solidFill>
                <a:latin typeface="Aptos"/>
              </a:rPr>
              <a:t>Remove a nuisance line such as power hum before spectral feature extraction.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417320"/>
            <a:ext cx="3246120" cy="1691640"/>
          </a:xfrm>
          <a:prstGeom prst="roundRect">
            <a:avLst/>
          </a:prstGeom>
          <a:solidFill>
            <a:srgbClr val="FFF2E6"/>
          </a:solidFill>
          <a:ln w="12700">
            <a:solidFill>
              <a:srgbClr val="F2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45152" y="1527048"/>
            <a:ext cx="291693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Resonant poles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152" y="1892808"/>
            <a:ext cx="2916936" cy="11247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3616E"/>
                </a:solidFill>
                <a:latin typeface="Aptos"/>
              </a:rPr>
              <a:t>Can emphasize a narrow band—useful or dangerous depending on the task.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417320"/>
            <a:ext cx="3246120" cy="1691640"/>
          </a:xfrm>
          <a:prstGeom prst="roundRect">
            <a:avLst/>
          </a:prstGeom>
          <a:solidFill>
            <a:srgbClr val="FDEDEC"/>
          </a:solidFill>
          <a:ln w="12700">
            <a:solidFill>
              <a:srgbClr val="D84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02752" y="1527048"/>
            <a:ext cx="291693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Stability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1892808"/>
            <a:ext cx="2916936" cy="11247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3616E"/>
                </a:solidFill>
                <a:latin typeface="Aptos"/>
              </a:rPr>
              <a:t>A numerically exploding front end corrupts every downstream feature and gradient.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3840480"/>
            <a:ext cx="101498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325880" y="4114800"/>
            <a:ext cx="950976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900" b="1">
                <a:solidFill>
                  <a:srgbClr val="16324F"/>
                </a:solidFill>
                <a:latin typeface="Aptos"/>
              </a:rPr>
              <a:t>Design question for ML: are you removing a known nuisance, imposing a useful inductive bias, or accidentally deleting information that the classifier needs?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Concept check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Reason geometrically—no full algebra is needed.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80160"/>
            <a:ext cx="1024128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16324F"/>
                </a:solidFill>
                <a:latin typeface="Aptos"/>
              </a:rPr>
              <a:t>A conjugate pole pair is moved from radius 0.7 to radius 0.97 at the same angle. What changes?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423160"/>
            <a:ext cx="493776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606040"/>
            <a:ext cx="50292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00A6A6"/>
                </a:solidFill>
                <a:latin typeface="Aptos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569464"/>
            <a:ext cx="38862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17212B"/>
                </a:solidFill>
                <a:latin typeface="Aptos"/>
              </a:rPr>
              <a:t>Resonant frequency moves drastically.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423160"/>
            <a:ext cx="493776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2606040"/>
            <a:ext cx="50292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00A6A6"/>
                </a:solidFill>
                <a:latin typeface="Aptos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2569464"/>
            <a:ext cx="38862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17212B"/>
                </a:solidFill>
                <a:latin typeface="Aptos"/>
              </a:rPr>
              <a:t>Peak becomes sharper; ringing lasts longer.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57600"/>
            <a:ext cx="493776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7280" y="3840480"/>
            <a:ext cx="50292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00A6A6"/>
                </a:solidFill>
                <a:latin typeface="Aptos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3803904"/>
            <a:ext cx="38862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17212B"/>
                </a:solidFill>
                <a:latin typeface="Aptos"/>
              </a:rPr>
              <a:t>A perfect notch appears.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657600"/>
            <a:ext cx="493776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2240" y="3840480"/>
            <a:ext cx="50292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00A6A6"/>
                </a:solidFill>
                <a:latin typeface="Aptos"/>
              </a:rP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3803904"/>
            <a:ext cx="38862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17212B"/>
                </a:solidFill>
                <a:latin typeface="Aptos"/>
              </a:rPr>
              <a:t>The system becomes time varying.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20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461CC-7EE3-5EF0-5011-087236390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4D3F6CA-B1B5-12E9-0A02-DD2FD0CDF520}"/>
              </a:ext>
            </a:extLst>
          </p:cNvPr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Concept check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AC6F9414-C603-DBBE-E16B-45B8E40FF1EA}"/>
              </a:ext>
            </a:extLst>
          </p:cNvPr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8A8589-D166-20B6-5508-1A344E085BD4}"/>
              </a:ext>
            </a:extLst>
          </p:cNvPr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CHECK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B4CBD8-7C45-2802-2C0D-A74779EB11B5}"/>
              </a:ext>
            </a:extLst>
          </p:cNvPr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Reason geometrically—no full algebra is needed.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C2B8A7-6EBB-95B1-6A43-B3A6A38DE7EF}"/>
              </a:ext>
            </a:extLst>
          </p:cNvPr>
          <p:cNvSpPr txBox="1"/>
          <p:nvPr/>
        </p:nvSpPr>
        <p:spPr>
          <a:xfrm>
            <a:off x="914400" y="1280160"/>
            <a:ext cx="1024128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16324F"/>
                </a:solidFill>
                <a:latin typeface="Aptos"/>
              </a:rPr>
              <a:t>A conjugate pole pair is moved from radius 0.7 to radius 0.97 at the same angle. What changes?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4B354E2-5BCF-C1CB-2D02-1DBBD04CB858}"/>
              </a:ext>
            </a:extLst>
          </p:cNvPr>
          <p:cNvSpPr/>
          <p:nvPr/>
        </p:nvSpPr>
        <p:spPr>
          <a:xfrm>
            <a:off x="914400" y="2423160"/>
            <a:ext cx="493776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797CB9-8520-068D-3D37-1A7887FD1360}"/>
              </a:ext>
            </a:extLst>
          </p:cNvPr>
          <p:cNvSpPr txBox="1"/>
          <p:nvPr/>
        </p:nvSpPr>
        <p:spPr>
          <a:xfrm>
            <a:off x="1097280" y="2606040"/>
            <a:ext cx="50292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00A6A6"/>
                </a:solidFill>
                <a:latin typeface="Aptos"/>
              </a:rPr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989568-EA2E-8031-6B80-49778C27819A}"/>
              </a:ext>
            </a:extLst>
          </p:cNvPr>
          <p:cNvSpPr txBox="1"/>
          <p:nvPr/>
        </p:nvSpPr>
        <p:spPr>
          <a:xfrm>
            <a:off x="1691640" y="2569464"/>
            <a:ext cx="38862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17212B"/>
                </a:solidFill>
                <a:latin typeface="Aptos"/>
              </a:rPr>
              <a:t>Resonant frequency moves drastically.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02655F6-74D7-35F1-04F4-AD9068CF4343}"/>
              </a:ext>
            </a:extLst>
          </p:cNvPr>
          <p:cNvSpPr/>
          <p:nvPr/>
        </p:nvSpPr>
        <p:spPr>
          <a:xfrm>
            <a:off x="6309360" y="2423160"/>
            <a:ext cx="493776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81F7D7-76B5-D0F3-5729-30A3B0B2FBE4}"/>
              </a:ext>
            </a:extLst>
          </p:cNvPr>
          <p:cNvSpPr txBox="1"/>
          <p:nvPr/>
        </p:nvSpPr>
        <p:spPr>
          <a:xfrm>
            <a:off x="6492240" y="2606040"/>
            <a:ext cx="50292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00A6A6"/>
                </a:solidFill>
                <a:latin typeface="Aptos"/>
              </a:rPr>
              <a:t>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91B2A9-F9C3-BB71-B76D-918D9FA69DE0}"/>
              </a:ext>
            </a:extLst>
          </p:cNvPr>
          <p:cNvSpPr txBox="1"/>
          <p:nvPr/>
        </p:nvSpPr>
        <p:spPr>
          <a:xfrm>
            <a:off x="7086600" y="2569464"/>
            <a:ext cx="38862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17212B"/>
                </a:solidFill>
                <a:latin typeface="Aptos"/>
              </a:rPr>
              <a:t>Peak becomes sharper; ringing lasts longer.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B646EB1-07B2-E05E-4EF6-51644D64BEC9}"/>
              </a:ext>
            </a:extLst>
          </p:cNvPr>
          <p:cNvSpPr/>
          <p:nvPr/>
        </p:nvSpPr>
        <p:spPr>
          <a:xfrm>
            <a:off x="914400" y="3657600"/>
            <a:ext cx="493776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D8FA3E2-B37A-FDCA-FB68-50BA1009B578}"/>
              </a:ext>
            </a:extLst>
          </p:cNvPr>
          <p:cNvSpPr txBox="1"/>
          <p:nvPr/>
        </p:nvSpPr>
        <p:spPr>
          <a:xfrm>
            <a:off x="1097280" y="3840480"/>
            <a:ext cx="50292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00A6A6"/>
                </a:solidFill>
                <a:latin typeface="Aptos"/>
              </a:rPr>
              <a:t>C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2AA066B-E12F-A810-DFCC-4459003890C4}"/>
              </a:ext>
            </a:extLst>
          </p:cNvPr>
          <p:cNvSpPr txBox="1"/>
          <p:nvPr/>
        </p:nvSpPr>
        <p:spPr>
          <a:xfrm>
            <a:off x="1691640" y="3803904"/>
            <a:ext cx="38862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17212B"/>
                </a:solidFill>
                <a:latin typeface="Aptos"/>
              </a:rPr>
              <a:t>A perfect notch appears.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D878CEFE-7911-B462-C017-5596E7A3EF19}"/>
              </a:ext>
            </a:extLst>
          </p:cNvPr>
          <p:cNvSpPr/>
          <p:nvPr/>
        </p:nvSpPr>
        <p:spPr>
          <a:xfrm>
            <a:off x="6309360" y="3657600"/>
            <a:ext cx="493776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B876179-2F73-0423-E86B-B913BDCF1E38}"/>
              </a:ext>
            </a:extLst>
          </p:cNvPr>
          <p:cNvSpPr txBox="1"/>
          <p:nvPr/>
        </p:nvSpPr>
        <p:spPr>
          <a:xfrm>
            <a:off x="6492240" y="3840480"/>
            <a:ext cx="50292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00A6A6"/>
                </a:solidFill>
                <a:latin typeface="Aptos"/>
              </a:rPr>
              <a:t>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0645EAF-BD74-926E-7ED5-D882F69BA9E8}"/>
              </a:ext>
            </a:extLst>
          </p:cNvPr>
          <p:cNvSpPr txBox="1"/>
          <p:nvPr/>
        </p:nvSpPr>
        <p:spPr>
          <a:xfrm>
            <a:off x="7086600" y="3803904"/>
            <a:ext cx="38862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17212B"/>
                </a:solidFill>
                <a:latin typeface="Aptos"/>
              </a:rPr>
              <a:t>The system becomes time varying.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047E620-BC3F-2BC3-ABBF-07C1BAD2D846}"/>
              </a:ext>
            </a:extLst>
          </p:cNvPr>
          <p:cNvSpPr/>
          <p:nvPr/>
        </p:nvSpPr>
        <p:spPr>
          <a:xfrm>
            <a:off x="1371600" y="5166360"/>
            <a:ext cx="9418320" cy="658368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3C65253-699B-F026-1633-E4E2BF1D3131}"/>
              </a:ext>
            </a:extLst>
          </p:cNvPr>
          <p:cNvSpPr txBox="1"/>
          <p:nvPr/>
        </p:nvSpPr>
        <p:spPr>
          <a:xfrm>
            <a:off x="1600200" y="5276088"/>
            <a:ext cx="8961120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16324F"/>
                </a:solidFill>
                <a:latin typeface="Aptos"/>
              </a:rPr>
              <a:t>Correct: B. Same angle → same center frequency; radius closer to 1 → stronger/narrower resonance and slower decay.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D06A51C-4A67-30EF-6678-68F2A8C17B0D}"/>
              </a:ext>
            </a:extLst>
          </p:cNvPr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359063-44BE-BAA5-2991-F54728397E5A}"/>
              </a:ext>
            </a:extLst>
          </p:cNvPr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35857555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Lecture 6 synthesis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Poles, zeros, ROC, and the unit circle tell one coherent story.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1828800" cy="164592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2103120"/>
            <a:ext cx="16459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53616E"/>
                </a:solidFill>
                <a:latin typeface="Aptos"/>
              </a:rPr>
              <a:t>difference eq.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578608"/>
            <a:ext cx="1645920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16324F"/>
                </a:solidFill>
                <a:latin typeface="Aptos"/>
              </a:rPr>
              <a:t>coefficients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05456" y="2697480"/>
            <a:ext cx="365759" cy="0"/>
          </a:xfrm>
          <a:prstGeom prst="line">
            <a:avLst/>
          </a:prstGeom>
          <a:ln w="25400">
            <a:solidFill>
              <a:srgbClr val="F28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944368" y="1828800"/>
            <a:ext cx="1828800" cy="164592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35808" y="2103120"/>
            <a:ext cx="16459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53616E"/>
                </a:solidFill>
                <a:latin typeface="Aptos"/>
              </a:rPr>
              <a:t>factor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35808" y="2578608"/>
            <a:ext cx="1645920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16324F"/>
                </a:solidFill>
                <a:latin typeface="Aptos"/>
              </a:rPr>
              <a:t>poles + zeros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791456" y="2697480"/>
            <a:ext cx="365760" cy="0"/>
          </a:xfrm>
          <a:prstGeom prst="line">
            <a:avLst/>
          </a:prstGeom>
          <a:ln w="25400">
            <a:solidFill>
              <a:srgbClr val="F28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230368" y="1828800"/>
            <a:ext cx="1828800" cy="164592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21807" y="2103120"/>
            <a:ext cx="16459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53616E"/>
                </a:solidFill>
                <a:latin typeface="Aptos"/>
              </a:rPr>
              <a:t>ROC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21807" y="2578608"/>
            <a:ext cx="1645920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16324F"/>
                </a:solidFill>
                <a:latin typeface="Aptos"/>
              </a:rPr>
              <a:t>causality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077456" y="2697480"/>
            <a:ext cx="365760" cy="0"/>
          </a:xfrm>
          <a:prstGeom prst="line">
            <a:avLst/>
          </a:prstGeom>
          <a:ln w="25400">
            <a:solidFill>
              <a:srgbClr val="F28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516368" y="1828800"/>
            <a:ext cx="1828800" cy="164592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607808" y="2103120"/>
            <a:ext cx="16459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53616E"/>
                </a:solidFill>
                <a:latin typeface="Aptos"/>
              </a:rPr>
              <a:t>unit circle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/>
              <p:cNvSpPr txBox="1"/>
              <p:nvPr/>
            </p:nvSpPr>
            <p:spPr>
              <a:xfrm>
                <a:off x="7607808" y="2548223"/>
                <a:ext cx="1645920" cy="591124"/>
              </a:xfrm>
              <a:prstGeom prst="rect">
                <a:avLst/>
              </a:prstGeom>
              <a:noFill/>
            </p:spPr>
            <p:txBody>
              <a:bodyPr wrap="square" lIns="45720" rIns="45720" anchor="ctr">
                <a:spAutoFit/>
              </a:bodyPr>
              <a:lstStyle/>
              <a:p>
                <a:pPr algn="ctr"/>
                <a:r>
                  <a:rPr lang="en-US" sz="1600" b="1" dirty="0">
                    <a:solidFill>
                      <a:srgbClr val="16324F"/>
                    </a:solidFill>
                    <a:latin typeface="Aptos"/>
                  </a:rPr>
                  <a:t>stability + </a:t>
                </a:r>
                <a14:m>
                  <m:oMath xmlns:m="http://schemas.openxmlformats.org/officeDocument/2006/math">
                    <m:r>
                      <a:rPr lang="en-US" sz="1600" b="1" i="1" dirty="0" smtClean="0">
                        <a:solidFill>
                          <a:srgbClr val="16324F"/>
                        </a:solidFill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sz="1600" b="1" i="1" dirty="0" smtClean="0">
                        <a:solidFill>
                          <a:srgbClr val="16324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ar-AE" sz="1600" b="1" i="1" dirty="0" err="1">
                            <a:solidFill>
                              <a:srgbClr val="16324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600" b="1" i="1" dirty="0" err="1">
                            <a:solidFill>
                              <a:srgbClr val="16324F"/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p>
                        <m:r>
                          <a:rPr lang="ar-AE" sz="1600" b="1" i="1" dirty="0" err="1" smtClean="0">
                            <a:solidFill>
                              <a:srgbClr val="16324F"/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  <m:r>
                          <a:rPr lang="ar-AE" sz="1600" b="1" i="1" dirty="0" err="1" smtClean="0">
                            <a:solidFill>
                              <a:srgbClr val="16324F"/>
                            </a:solidFill>
                            <a:latin typeface="Cambria Math" panose="02040503050406030204" pitchFamily="18" charset="0"/>
                          </a:rPr>
                          <m:t>𝝎</m:t>
                        </m:r>
                      </m:sup>
                    </m:sSup>
                    <m:r>
                      <a:rPr lang="ar-AE" sz="1600" b="1" i="1" dirty="0" smtClean="0">
                        <a:solidFill>
                          <a:srgbClr val="16324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1600" b="1" dirty="0">
                  <a:solidFill>
                    <a:srgbClr val="16324F"/>
                  </a:solidFill>
                  <a:latin typeface="Aptos"/>
                </a:endParaRPr>
              </a:p>
            </p:txBody>
          </p:sp>
        </mc:Choice>
        <mc:Fallback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7808" y="2548223"/>
                <a:ext cx="1645920" cy="591124"/>
              </a:xfrm>
              <a:prstGeom prst="rect">
                <a:avLst/>
              </a:prstGeom>
              <a:blipFill>
                <a:blip r:embed="rId2"/>
                <a:stretch>
                  <a:fillRect t="-3093" b="-51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Connector 20"/>
          <p:cNvCxnSpPr/>
          <p:nvPr/>
        </p:nvCxnSpPr>
        <p:spPr>
          <a:xfrm>
            <a:off x="9363456" y="2697480"/>
            <a:ext cx="365760" cy="0"/>
          </a:xfrm>
          <a:prstGeom prst="line">
            <a:avLst/>
          </a:prstGeom>
          <a:ln w="25400">
            <a:solidFill>
              <a:srgbClr val="F28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802368" y="1828800"/>
            <a:ext cx="1828800" cy="164592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893808" y="2103120"/>
            <a:ext cx="16459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53616E"/>
                </a:solidFill>
                <a:latin typeface="Aptos"/>
              </a:rPr>
              <a:t>geometry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93808" y="2578608"/>
            <a:ext cx="1645920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16324F"/>
                </a:solidFill>
                <a:latin typeface="Aptos"/>
              </a:rPr>
              <a:t>sound / response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4343400"/>
            <a:ext cx="10332720" cy="960120"/>
          </a:xfrm>
          <a:prstGeom prst="roundRect">
            <a:avLst/>
          </a:prstGeom>
          <a:solidFill>
            <a:srgbClr val="FFF2E6"/>
          </a:solidFill>
          <a:ln w="12700">
            <a:solidFill>
              <a:srgbClr val="F2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88720" y="4657305"/>
            <a:ext cx="9784080" cy="32316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 dirty="0">
                <a:solidFill>
                  <a:srgbClr val="16324F"/>
                </a:solidFill>
                <a:latin typeface="Aptos"/>
              </a:rPr>
              <a:t>Exit ticket: Why does a zero on the unit circle create a notch? 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21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6C015-EA51-5C76-236E-EDF040021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EA41169-20A6-D698-E3A0-151899E5BF35}"/>
              </a:ext>
            </a:extLst>
          </p:cNvPr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Lecture 6 synthesis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34AD508-C194-3669-1687-3A68585E38DF}"/>
              </a:ext>
            </a:extLst>
          </p:cNvPr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204F45-E6A6-463C-E40C-AD77AA6C521D}"/>
              </a:ext>
            </a:extLst>
          </p:cNvPr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WRAP-UP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0C04E5-7204-D6AC-F46C-2CD00D19E05E}"/>
              </a:ext>
            </a:extLst>
          </p:cNvPr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Poles, zeros, ROC, and the unit circle tell one coherent story.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C8ECAB1-AD36-47CC-8846-30BA97E1C16D}"/>
              </a:ext>
            </a:extLst>
          </p:cNvPr>
          <p:cNvSpPr/>
          <p:nvPr/>
        </p:nvSpPr>
        <p:spPr>
          <a:xfrm>
            <a:off x="658368" y="1828800"/>
            <a:ext cx="1828800" cy="164592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6522E0-3C3D-5F40-9B30-1451E3C4E455}"/>
              </a:ext>
            </a:extLst>
          </p:cNvPr>
          <p:cNvSpPr txBox="1"/>
          <p:nvPr/>
        </p:nvSpPr>
        <p:spPr>
          <a:xfrm>
            <a:off x="749808" y="2103120"/>
            <a:ext cx="16459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53616E"/>
                </a:solidFill>
                <a:latin typeface="Aptos"/>
              </a:rPr>
              <a:t>difference eq.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DB38A6-5A00-8317-3220-81061B1E11BC}"/>
              </a:ext>
            </a:extLst>
          </p:cNvPr>
          <p:cNvSpPr txBox="1"/>
          <p:nvPr/>
        </p:nvSpPr>
        <p:spPr>
          <a:xfrm>
            <a:off x="749808" y="2578608"/>
            <a:ext cx="1645920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16324F"/>
                </a:solidFill>
                <a:latin typeface="Aptos"/>
              </a:rPr>
              <a:t>coefficients</a:t>
            </a:r>
          </a:p>
        </p:txBody>
      </p:sp>
      <p:cxnSp>
        <p:nvCxnSpPr>
          <p:cNvPr id="9" name="Connector 8">
            <a:extLst>
              <a:ext uri="{FF2B5EF4-FFF2-40B4-BE49-F238E27FC236}">
                <a16:creationId xmlns:a16="http://schemas.microsoft.com/office/drawing/2014/main" id="{F31AB312-62D1-6B34-CD67-B07ED737A8E6}"/>
              </a:ext>
            </a:extLst>
          </p:cNvPr>
          <p:cNvCxnSpPr/>
          <p:nvPr/>
        </p:nvCxnSpPr>
        <p:spPr>
          <a:xfrm>
            <a:off x="2505456" y="2697480"/>
            <a:ext cx="365759" cy="0"/>
          </a:xfrm>
          <a:prstGeom prst="line">
            <a:avLst/>
          </a:prstGeom>
          <a:ln w="25400">
            <a:solidFill>
              <a:srgbClr val="F28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85D6057-D253-C60B-5F68-2434C6808602}"/>
              </a:ext>
            </a:extLst>
          </p:cNvPr>
          <p:cNvSpPr/>
          <p:nvPr/>
        </p:nvSpPr>
        <p:spPr>
          <a:xfrm>
            <a:off x="2944368" y="1828800"/>
            <a:ext cx="1828800" cy="164592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F0E6AFF-4948-1480-4A70-62D45BDC86CE}"/>
              </a:ext>
            </a:extLst>
          </p:cNvPr>
          <p:cNvSpPr txBox="1"/>
          <p:nvPr/>
        </p:nvSpPr>
        <p:spPr>
          <a:xfrm>
            <a:off x="3035808" y="2103120"/>
            <a:ext cx="16459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53616E"/>
                </a:solidFill>
                <a:latin typeface="Aptos"/>
              </a:rPr>
              <a:t>factor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60457D-D6B1-4D9C-06E7-6944DACB8E23}"/>
              </a:ext>
            </a:extLst>
          </p:cNvPr>
          <p:cNvSpPr txBox="1"/>
          <p:nvPr/>
        </p:nvSpPr>
        <p:spPr>
          <a:xfrm>
            <a:off x="3035808" y="2578608"/>
            <a:ext cx="1645920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16324F"/>
                </a:solidFill>
                <a:latin typeface="Aptos"/>
              </a:rPr>
              <a:t>poles + zeros</a:t>
            </a:r>
          </a:p>
        </p:txBody>
      </p:sp>
      <p:cxnSp>
        <p:nvCxnSpPr>
          <p:cNvPr id="13" name="Connector 12">
            <a:extLst>
              <a:ext uri="{FF2B5EF4-FFF2-40B4-BE49-F238E27FC236}">
                <a16:creationId xmlns:a16="http://schemas.microsoft.com/office/drawing/2014/main" id="{BBAC81CD-E811-C210-1192-151BEA048C73}"/>
              </a:ext>
            </a:extLst>
          </p:cNvPr>
          <p:cNvCxnSpPr/>
          <p:nvPr/>
        </p:nvCxnSpPr>
        <p:spPr>
          <a:xfrm>
            <a:off x="4791456" y="2697480"/>
            <a:ext cx="365760" cy="0"/>
          </a:xfrm>
          <a:prstGeom prst="line">
            <a:avLst/>
          </a:prstGeom>
          <a:ln w="25400">
            <a:solidFill>
              <a:srgbClr val="F28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2B5C2026-D1DA-7A4F-691C-C44D7BD59CD6}"/>
              </a:ext>
            </a:extLst>
          </p:cNvPr>
          <p:cNvSpPr/>
          <p:nvPr/>
        </p:nvSpPr>
        <p:spPr>
          <a:xfrm>
            <a:off x="5230368" y="1828800"/>
            <a:ext cx="1828800" cy="164592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0EE0652-B6DE-2EB7-376D-CA3DE7A6EF10}"/>
              </a:ext>
            </a:extLst>
          </p:cNvPr>
          <p:cNvSpPr txBox="1"/>
          <p:nvPr/>
        </p:nvSpPr>
        <p:spPr>
          <a:xfrm>
            <a:off x="5321807" y="2103120"/>
            <a:ext cx="16459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53616E"/>
                </a:solidFill>
                <a:latin typeface="Aptos"/>
              </a:rPr>
              <a:t>ROC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F10DA7E-F64D-0A64-C08E-C5DFD4CC37AE}"/>
              </a:ext>
            </a:extLst>
          </p:cNvPr>
          <p:cNvSpPr txBox="1"/>
          <p:nvPr/>
        </p:nvSpPr>
        <p:spPr>
          <a:xfrm>
            <a:off x="5321807" y="2578608"/>
            <a:ext cx="1645920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16324F"/>
                </a:solidFill>
                <a:latin typeface="Aptos"/>
              </a:rPr>
              <a:t>causality</a:t>
            </a:r>
          </a:p>
        </p:txBody>
      </p:sp>
      <p:cxnSp>
        <p:nvCxnSpPr>
          <p:cNvPr id="17" name="Connector 16">
            <a:extLst>
              <a:ext uri="{FF2B5EF4-FFF2-40B4-BE49-F238E27FC236}">
                <a16:creationId xmlns:a16="http://schemas.microsoft.com/office/drawing/2014/main" id="{43AB59DE-12B5-487B-1C94-FE8EADC786F1}"/>
              </a:ext>
            </a:extLst>
          </p:cNvPr>
          <p:cNvCxnSpPr/>
          <p:nvPr/>
        </p:nvCxnSpPr>
        <p:spPr>
          <a:xfrm>
            <a:off x="7077456" y="2697480"/>
            <a:ext cx="365760" cy="0"/>
          </a:xfrm>
          <a:prstGeom prst="line">
            <a:avLst/>
          </a:prstGeom>
          <a:ln w="25400">
            <a:solidFill>
              <a:srgbClr val="F28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B46B9468-2D66-55B6-4604-59F422A67232}"/>
              </a:ext>
            </a:extLst>
          </p:cNvPr>
          <p:cNvSpPr/>
          <p:nvPr/>
        </p:nvSpPr>
        <p:spPr>
          <a:xfrm>
            <a:off x="7516368" y="1828800"/>
            <a:ext cx="1828800" cy="164592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AA3455B-C229-A581-81E8-E6EB2B27EBD0}"/>
              </a:ext>
            </a:extLst>
          </p:cNvPr>
          <p:cNvSpPr txBox="1"/>
          <p:nvPr/>
        </p:nvSpPr>
        <p:spPr>
          <a:xfrm>
            <a:off x="7607808" y="2103120"/>
            <a:ext cx="16459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53616E"/>
                </a:solidFill>
                <a:latin typeface="Aptos"/>
              </a:rPr>
              <a:t>unit circle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077022D-37CD-BBB7-A7A5-54275E5758CC}"/>
                  </a:ext>
                </a:extLst>
              </p:cNvPr>
              <p:cNvSpPr txBox="1"/>
              <p:nvPr/>
            </p:nvSpPr>
            <p:spPr>
              <a:xfrm>
                <a:off x="7607808" y="2548223"/>
                <a:ext cx="1645920" cy="591124"/>
              </a:xfrm>
              <a:prstGeom prst="rect">
                <a:avLst/>
              </a:prstGeom>
              <a:noFill/>
            </p:spPr>
            <p:txBody>
              <a:bodyPr wrap="square" lIns="45720" rIns="45720" anchor="ctr">
                <a:spAutoFit/>
              </a:bodyPr>
              <a:lstStyle/>
              <a:p>
                <a:pPr algn="ctr"/>
                <a:r>
                  <a:rPr lang="en-US" sz="1600" b="1" dirty="0">
                    <a:solidFill>
                      <a:srgbClr val="16324F"/>
                    </a:solidFill>
                    <a:latin typeface="Aptos"/>
                  </a:rPr>
                  <a:t>stability + </a:t>
                </a:r>
                <a14:m>
                  <m:oMath xmlns:m="http://schemas.openxmlformats.org/officeDocument/2006/math">
                    <m:r>
                      <a:rPr lang="en-US" sz="1600" b="1" i="1" dirty="0" smtClean="0">
                        <a:solidFill>
                          <a:srgbClr val="16324F"/>
                        </a:solidFill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sz="1600" b="1" i="1" dirty="0" smtClean="0">
                        <a:solidFill>
                          <a:srgbClr val="16324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ar-AE" sz="1600" b="1" i="1" dirty="0" err="1">
                            <a:solidFill>
                              <a:srgbClr val="16324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600" b="1" i="1" dirty="0" err="1">
                            <a:solidFill>
                              <a:srgbClr val="16324F"/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p>
                        <m:r>
                          <a:rPr lang="ar-AE" sz="1600" b="1" i="1" dirty="0" err="1" smtClean="0">
                            <a:solidFill>
                              <a:srgbClr val="16324F"/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  <m:r>
                          <a:rPr lang="ar-AE" sz="1600" b="1" i="1" dirty="0" err="1" smtClean="0">
                            <a:solidFill>
                              <a:srgbClr val="16324F"/>
                            </a:solidFill>
                            <a:latin typeface="Cambria Math" panose="02040503050406030204" pitchFamily="18" charset="0"/>
                          </a:rPr>
                          <m:t>𝝎</m:t>
                        </m:r>
                      </m:sup>
                    </m:sSup>
                    <m:r>
                      <a:rPr lang="ar-AE" sz="1600" b="1" i="1" dirty="0" smtClean="0">
                        <a:solidFill>
                          <a:srgbClr val="16324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1600" b="1" dirty="0">
                  <a:solidFill>
                    <a:srgbClr val="16324F"/>
                  </a:solidFill>
                  <a:latin typeface="Aptos"/>
                </a:endParaRPr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077022D-37CD-BBB7-A7A5-54275E5758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7808" y="2548223"/>
                <a:ext cx="1645920" cy="591124"/>
              </a:xfrm>
              <a:prstGeom prst="rect">
                <a:avLst/>
              </a:prstGeom>
              <a:blipFill>
                <a:blip r:embed="rId2"/>
                <a:stretch>
                  <a:fillRect t="-3093" b="-51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Connector 20">
            <a:extLst>
              <a:ext uri="{FF2B5EF4-FFF2-40B4-BE49-F238E27FC236}">
                <a16:creationId xmlns:a16="http://schemas.microsoft.com/office/drawing/2014/main" id="{490872AE-E8D3-45C6-0FE0-935A2136850B}"/>
              </a:ext>
            </a:extLst>
          </p:cNvPr>
          <p:cNvCxnSpPr/>
          <p:nvPr/>
        </p:nvCxnSpPr>
        <p:spPr>
          <a:xfrm>
            <a:off x="9363456" y="2697480"/>
            <a:ext cx="365760" cy="0"/>
          </a:xfrm>
          <a:prstGeom prst="line">
            <a:avLst/>
          </a:prstGeom>
          <a:ln w="25400">
            <a:solidFill>
              <a:srgbClr val="F28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E0A9A8D-9E5F-7680-BBA0-804A8F5A8DDE}"/>
              </a:ext>
            </a:extLst>
          </p:cNvPr>
          <p:cNvSpPr/>
          <p:nvPr/>
        </p:nvSpPr>
        <p:spPr>
          <a:xfrm>
            <a:off x="9802368" y="1828800"/>
            <a:ext cx="1828800" cy="164592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BCED750-4EC7-8CB4-460E-041F6E4DDB5B}"/>
              </a:ext>
            </a:extLst>
          </p:cNvPr>
          <p:cNvSpPr txBox="1"/>
          <p:nvPr/>
        </p:nvSpPr>
        <p:spPr>
          <a:xfrm>
            <a:off x="9893808" y="2103120"/>
            <a:ext cx="16459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53616E"/>
                </a:solidFill>
                <a:latin typeface="Aptos"/>
              </a:rPr>
              <a:t>geometry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5578465-1793-1E98-D3D9-C59DAD0F59AC}"/>
              </a:ext>
            </a:extLst>
          </p:cNvPr>
          <p:cNvSpPr txBox="1"/>
          <p:nvPr/>
        </p:nvSpPr>
        <p:spPr>
          <a:xfrm>
            <a:off x="9893808" y="2578608"/>
            <a:ext cx="1645920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16324F"/>
                </a:solidFill>
                <a:latin typeface="Aptos"/>
              </a:rPr>
              <a:t>sound / response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57D1552A-CB36-07B6-18A8-FE0F60A6A103}"/>
              </a:ext>
            </a:extLst>
          </p:cNvPr>
          <p:cNvSpPr/>
          <p:nvPr/>
        </p:nvSpPr>
        <p:spPr>
          <a:xfrm>
            <a:off x="914400" y="4343400"/>
            <a:ext cx="10332720" cy="960120"/>
          </a:xfrm>
          <a:prstGeom prst="roundRect">
            <a:avLst/>
          </a:prstGeom>
          <a:solidFill>
            <a:srgbClr val="FFF2E6"/>
          </a:solidFill>
          <a:ln w="12700">
            <a:solidFill>
              <a:srgbClr val="F2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63022C8-C130-F2EB-B288-67157DD2B499}"/>
              </a:ext>
            </a:extLst>
          </p:cNvPr>
          <p:cNvSpPr txBox="1"/>
          <p:nvPr/>
        </p:nvSpPr>
        <p:spPr>
          <a:xfrm>
            <a:off x="1188720" y="4480560"/>
            <a:ext cx="9784080" cy="6766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16324F"/>
                </a:solidFill>
                <a:latin typeface="Aptos"/>
              </a:rPr>
              <a:t>Exit ticket: Why does a zero on the unit circle create a notch?  Good answer: at that frequency the evaluation point e^{jω} coincides with the zero, making a numerator distance—and therefore H(e^{jω})—equal to zero.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88B91B3-D16E-6559-BFAB-C91EDF1C06F9}"/>
              </a:ext>
            </a:extLst>
          </p:cNvPr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8D36554-DCAD-7765-B49D-548E9925B97D}"/>
              </a:ext>
            </a:extLst>
          </p:cNvPr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23092648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Weekly quiz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Suggested: 15 minutes at the start of Week 4 or end of Lecture 6.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371600"/>
            <a:ext cx="4892040" cy="192024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" y="1481328"/>
            <a:ext cx="4562855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Core skills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1847088"/>
            <a:ext cx="4562855" cy="1353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3616E"/>
                </a:solidFill>
                <a:latin typeface="Aptos"/>
              </a:rPr>
              <a:t>z-transform + ROC interpretation; inverse transform by PFE; transfer-function poles/zeros; causality/stability; geometric response.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71600"/>
            <a:ext cx="4892040" cy="192024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36792" y="1481328"/>
            <a:ext cx="4562855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One calculation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36792" y="1847088"/>
            <a:ext cx="4562855" cy="1353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3616E"/>
                </a:solidFill>
                <a:latin typeface="Aptos"/>
              </a:rPr>
              <a:t>Derive H(z) and identify poles for a first- or second-order difference equation.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77639"/>
            <a:ext cx="99212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417320" y="4224528"/>
            <a:ext cx="93726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900" b="1">
                <a:solidFill>
                  <a:srgbClr val="16324F"/>
                </a:solidFill>
                <a:latin typeface="Aptos"/>
              </a:rPr>
              <a:t>Solutions and grading notes are in the accompanying Week 3 homework + quiz handout.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22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Board reserve: coefficient ↔ root sanity checks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RESERVE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Useful when students get lost in z⁻¹ polynomial conventions.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1024128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300" b="1">
                <a:solidFill>
                  <a:srgbClr val="16324F"/>
                </a:solidFill>
                <a:latin typeface="Aptos"/>
              </a:rPr>
              <a:t>1 − 1.4z⁻¹ + 0.45z⁻² = (1 − 0.5z⁻¹)(1 − 0.9z⁻¹)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2560320"/>
            <a:ext cx="2926080" cy="137160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70432" y="2670048"/>
            <a:ext cx="259689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Poles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2560320"/>
            <a:ext cx="2926080" cy="137160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82312" y="2670048"/>
            <a:ext cx="259689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Causal ROC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560320"/>
            <a:ext cx="2926080" cy="1371600"/>
          </a:xfrm>
          <a:prstGeom prst="roundRect">
            <a:avLst/>
          </a:prstGeom>
          <a:solidFill>
            <a:srgbClr val="FFF2E6"/>
          </a:solidFill>
          <a:ln w="12700">
            <a:solidFill>
              <a:srgbClr val="F2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94192" y="2670048"/>
            <a:ext cx="259689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Stable?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572000"/>
            <a:ext cx="98755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371600" y="4754880"/>
            <a:ext cx="941832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16324F"/>
                </a:solidFill>
                <a:latin typeface="Aptos"/>
              </a:rPr>
              <a:t>Fast check: for a causal rational system, if any pole magnitude ≥1, do not call it BIBO stable.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23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2FCE5-61CB-FF44-BC4B-9BA1D97B3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3A2A268-EA70-C554-F664-86AB715D2DCE}"/>
              </a:ext>
            </a:extLst>
          </p:cNvPr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Board reserve: coefficient ↔ root sanity checks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DC9B08C-2414-8B38-327E-C24D11FE2495}"/>
              </a:ext>
            </a:extLst>
          </p:cNvPr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2A81A7-6CDF-8DE7-0DA0-DE2AF3B516FC}"/>
              </a:ext>
            </a:extLst>
          </p:cNvPr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RESERVE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AB49B7-CFDB-3DDA-6D70-C770D7AE467B}"/>
              </a:ext>
            </a:extLst>
          </p:cNvPr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Useful when students get lost in z⁻¹ polynomial conventions.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EF1D03-9527-41A9-3273-91DFD517C8FE}"/>
              </a:ext>
            </a:extLst>
          </p:cNvPr>
          <p:cNvSpPr txBox="1"/>
          <p:nvPr/>
        </p:nvSpPr>
        <p:spPr>
          <a:xfrm>
            <a:off x="914400" y="1417320"/>
            <a:ext cx="1024128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300" b="1">
                <a:solidFill>
                  <a:srgbClr val="16324F"/>
                </a:solidFill>
                <a:latin typeface="Aptos"/>
              </a:rPr>
              <a:t>1 − 1.4z⁻¹ + 0.45z⁻² = (1 − 0.5z⁻¹)(1 − 0.9z⁻¹)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D710BDF-C327-4F57-FB59-BE20E7ACC0E3}"/>
              </a:ext>
            </a:extLst>
          </p:cNvPr>
          <p:cNvSpPr/>
          <p:nvPr/>
        </p:nvSpPr>
        <p:spPr>
          <a:xfrm>
            <a:off x="1005840" y="2560320"/>
            <a:ext cx="2926080" cy="137160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576223-294F-D596-44F8-3F0D32A1B84F}"/>
              </a:ext>
            </a:extLst>
          </p:cNvPr>
          <p:cNvSpPr txBox="1"/>
          <p:nvPr/>
        </p:nvSpPr>
        <p:spPr>
          <a:xfrm>
            <a:off x="1170432" y="2670048"/>
            <a:ext cx="259689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Poles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BB541D-D95B-58F9-926D-1D36F7086230}"/>
              </a:ext>
            </a:extLst>
          </p:cNvPr>
          <p:cNvSpPr txBox="1"/>
          <p:nvPr/>
        </p:nvSpPr>
        <p:spPr>
          <a:xfrm>
            <a:off x="1170432" y="3035808"/>
            <a:ext cx="2596896" cy="8046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3616E"/>
                </a:solidFill>
                <a:latin typeface="Aptos"/>
              </a:rPr>
              <a:t>z=0.5 and z=0.9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87B9246-3811-2D1B-6E71-6746EF3C23C9}"/>
              </a:ext>
            </a:extLst>
          </p:cNvPr>
          <p:cNvSpPr/>
          <p:nvPr/>
        </p:nvSpPr>
        <p:spPr>
          <a:xfrm>
            <a:off x="4617720" y="2560320"/>
            <a:ext cx="2926080" cy="137160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ED8F2A-03DE-19B8-24CF-D720B3E46E25}"/>
              </a:ext>
            </a:extLst>
          </p:cNvPr>
          <p:cNvSpPr txBox="1"/>
          <p:nvPr/>
        </p:nvSpPr>
        <p:spPr>
          <a:xfrm>
            <a:off x="4782312" y="2670048"/>
            <a:ext cx="259689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Causal ROC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4B35DC-2714-1A55-DC6A-D1F1DC5A5E54}"/>
              </a:ext>
            </a:extLst>
          </p:cNvPr>
          <p:cNvSpPr txBox="1"/>
          <p:nvPr/>
        </p:nvSpPr>
        <p:spPr>
          <a:xfrm>
            <a:off x="4782312" y="3035808"/>
            <a:ext cx="2596896" cy="8046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3616E"/>
                </a:solidFill>
                <a:latin typeface="Aptos"/>
              </a:rPr>
              <a:t>|z|&gt;0.9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33F5A92-E8C8-D583-1FC8-35467A7924DC}"/>
              </a:ext>
            </a:extLst>
          </p:cNvPr>
          <p:cNvSpPr/>
          <p:nvPr/>
        </p:nvSpPr>
        <p:spPr>
          <a:xfrm>
            <a:off x="8229600" y="2560320"/>
            <a:ext cx="2926080" cy="1371600"/>
          </a:xfrm>
          <a:prstGeom prst="roundRect">
            <a:avLst/>
          </a:prstGeom>
          <a:solidFill>
            <a:srgbClr val="FFF2E6"/>
          </a:solidFill>
          <a:ln w="12700">
            <a:solidFill>
              <a:srgbClr val="F2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3F0D50-3D58-D98A-61F2-8BE943C506F6}"/>
              </a:ext>
            </a:extLst>
          </p:cNvPr>
          <p:cNvSpPr txBox="1"/>
          <p:nvPr/>
        </p:nvSpPr>
        <p:spPr>
          <a:xfrm>
            <a:off x="8394192" y="2670048"/>
            <a:ext cx="259689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Stable?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A8C145B-345C-954F-9728-A30107944F37}"/>
              </a:ext>
            </a:extLst>
          </p:cNvPr>
          <p:cNvSpPr txBox="1"/>
          <p:nvPr/>
        </p:nvSpPr>
        <p:spPr>
          <a:xfrm>
            <a:off x="8394192" y="3035808"/>
            <a:ext cx="2596896" cy="8046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3616E"/>
                </a:solidFill>
                <a:latin typeface="Aptos"/>
              </a:rPr>
              <a:t>Yes: the unit circle is in |z|&gt;0.9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5C6F2595-9229-3ED5-D0AC-B6485CAA33EC}"/>
              </a:ext>
            </a:extLst>
          </p:cNvPr>
          <p:cNvSpPr/>
          <p:nvPr/>
        </p:nvSpPr>
        <p:spPr>
          <a:xfrm>
            <a:off x="1143000" y="4572000"/>
            <a:ext cx="98755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EEFE951-BEE1-991C-F54B-2578F28FCA6E}"/>
              </a:ext>
            </a:extLst>
          </p:cNvPr>
          <p:cNvSpPr txBox="1"/>
          <p:nvPr/>
        </p:nvSpPr>
        <p:spPr>
          <a:xfrm>
            <a:off x="1371600" y="4754880"/>
            <a:ext cx="941832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16324F"/>
                </a:solidFill>
                <a:latin typeface="Aptos"/>
              </a:rPr>
              <a:t>Fast check: for a causal rational system, if any pole magnitude ≥1, do not call it BIBO stable.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48DF97-360E-02F6-1AC0-0A199CCC068B}"/>
              </a:ext>
            </a:extLst>
          </p:cNvPr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A202012-7C86-F35F-9B72-6063D9E54A43}"/>
              </a:ext>
            </a:extLst>
          </p:cNvPr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38968301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2494</Words>
  <Application>Microsoft Office PowerPoint</Application>
  <PresentationFormat>Widescreen</PresentationFormat>
  <Paragraphs>312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Aptos</vt:lpstr>
      <vt:lpstr>Aptos Mono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ECE DSP + ML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2 Lecture 3 — Continuous-to-Discrete Conversion &amp; Aliasing</dc:title>
  <dc:subject>Week 2 DSP + ML course materials</dc:subject>
  <dc:creator>OpenAI</dc:creator>
  <cp:lastModifiedBy>Peter Mathys</cp:lastModifiedBy>
  <cp:revision>4</cp:revision>
  <dcterms:created xsi:type="dcterms:W3CDTF">2026-08-18T14:43:54Z</dcterms:created>
  <dcterms:modified xsi:type="dcterms:W3CDTF">2026-09-08T03:25:27Z</dcterms:modified>
</cp:coreProperties>
</file>