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66" y="40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922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7, 9-15-26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502920"/>
            <a:ext cx="182880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US" sz="900" b="1" i="0" dirty="0">
                <a:solidFill>
                  <a:srgbClr val="E87E37"/>
                </a:solidFill>
                <a:latin typeface="Arial"/>
              </a:rPr>
              <a:t>WEEK 4 ● </a:t>
            </a:r>
            <a:r>
              <a:rPr sz="900" b="1" i="0" dirty="0">
                <a:solidFill>
                  <a:srgbClr val="E87E37"/>
                </a:solidFill>
                <a:latin typeface="Arial"/>
              </a:rPr>
              <a:t>LECTURE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97280"/>
            <a:ext cx="7772400" cy="12344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rial"/>
              </a:rPr>
              <a:t>FIR Filter Design, Windowing,
&amp; 1D Convolutions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81381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D2DCE8"/>
                </a:solidFill>
                <a:latin typeface="Arial"/>
              </a:rPr>
              <a:t>From ideal frequency responses to fixed or learnable convolution kernels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4800600"/>
            <a:ext cx="2057400" cy="548640"/>
          </a:xfrm>
          <a:prstGeom prst="roundRect">
            <a:avLst/>
          </a:prstGeom>
          <a:solidFill>
            <a:srgbClr val="1D919C"/>
          </a:solidFill>
          <a:ln w="12700">
            <a:solidFill>
              <a:srgbClr val="1D91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FIR /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4800600"/>
            <a:ext cx="2057400" cy="548640"/>
          </a:xfrm>
          <a:prstGeom prst="roundRect">
            <a:avLst/>
          </a:prstGeom>
          <a:solidFill>
            <a:srgbClr val="4575B0"/>
          </a:solidFill>
          <a:ln w="12700">
            <a:solidFill>
              <a:srgbClr val="457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9864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ideal LPF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7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30368" y="4800600"/>
            <a:ext cx="2057400" cy="548640"/>
          </a:xfrm>
          <a:prstGeom prst="roundRect">
            <a:avLst/>
          </a:prstGeom>
          <a:solidFill>
            <a:srgbClr val="E87E37"/>
          </a:solidFill>
          <a:ln w="12700"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3036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 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4910328"/>
            <a:ext cx="228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i="0">
                <a:solidFill>
                  <a:srgbClr val="BECBDB"/>
                </a:solidFill>
                <a:latin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088" y="4800600"/>
            <a:ext cx="2057400" cy="548640"/>
          </a:xfrm>
          <a:prstGeom prst="roundRect">
            <a:avLst/>
          </a:prstGeom>
          <a:solidFill>
            <a:srgbClr val="48915B"/>
          </a:solidFill>
          <a:ln w="12700">
            <a:solidFill>
              <a:srgbClr val="48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62088" y="4919472"/>
            <a:ext cx="2057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Conv1d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806440"/>
            <a:ext cx="4754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BECBDB"/>
                </a:solidFill>
                <a:latin typeface="Arial"/>
              </a:rPr>
              <a:t>75 minutes • senior + first-year graduate ECE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5806440"/>
            <a:ext cx="39319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BECBDB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Where this 75-minute lecture is going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0–10 min • FIR vs. IIR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Linear phase, group delay, and why waveform alignment can matter.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41732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10–30 min • Ideal filter + Gibbs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Derive the sinc impulse response and see what truncation does.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60" y="141732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30–55 min • Window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Main-lobe width versus sidelobe attenuation.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41732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90304" y="152704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55–75 min • DSP ↔ PyTorch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0304" y="190195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Implement fixed FIR taps with Conv1d; then ask what changes when weights are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7899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1" i="0">
                <a:solidFill>
                  <a:srgbClr val="122B4A"/>
                </a:solidFill>
                <a:latin typeface="Arial"/>
              </a:rPr>
              <a:t>DSP bridge: a mathematically designed FIR and a neural 1-D convolution use the same sliding weighted sum.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17720"/>
            <a:ext cx="99669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0" i="0">
                <a:solidFill>
                  <a:srgbClr val="2A323D"/>
                </a:solidFill>
                <a:latin typeface="Arial"/>
              </a:rPr>
              <a:t>Classical DSP supplies structure and constraints; machine learning either reuses that structure or learns parameters inside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FIR VS. IIR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frequency-selective goal, different structures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0292" cy="19202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FIR: feedforward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Finite impulse response. No feedback. Exact linear phase is available when the taps have the required symmetry.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50292" cy="19202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17136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IIR: recursive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Feedback permits sharp magnitude responses with fewer coefficients, but phase is generally nonlinear.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417320"/>
            <a:ext cx="3474720" cy="19202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3" y="1417320"/>
            <a:ext cx="50292" cy="19202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47887" y="1527048"/>
            <a:ext cx="32461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1901952"/>
            <a:ext cx="3246120" cy="1353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fixed FIR can be the front end of an ML pipeline; a Conv1d layer uses the same local weighted sum but can make the coefficients trainable.</a:t>
            </a:r>
          </a:p>
        </p:txBody>
      </p:sp>
      <p:pic>
        <p:nvPicPr>
          <p:cNvPr id="18" name="Picture 17" descr="eq_d75032a14b2ce5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886200"/>
            <a:ext cx="4206240" cy="100412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69280" y="3886200"/>
            <a:ext cx="52120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2A323D"/>
                </a:solidFill>
                <a:latin typeface="Arial"/>
              </a:rPr>
              <a:t>Do not oversell linear phase: it is valuable when temporal alignment and waveform shape should be preserved, but not every ML task requires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Symmetric FIR taps give a constant delay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eq_f2b9a7754d2813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3017520" cy="351666"/>
          </a:xfrm>
          <a:prstGeom prst="rect">
            <a:avLst/>
          </a:prstGeom>
        </p:spPr>
      </p:pic>
      <p:pic>
        <p:nvPicPr>
          <p:cNvPr id="7" name="Picture 6" descr="eq_ffac0f6a2f2e97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31720"/>
            <a:ext cx="5669280" cy="772599"/>
          </a:xfrm>
          <a:prstGeom prst="rect">
            <a:avLst/>
          </a:prstGeom>
        </p:spPr>
      </p:pic>
      <p:pic>
        <p:nvPicPr>
          <p:cNvPr id="8" name="Picture 7" descr="eq_721118a2166098b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29000"/>
            <a:ext cx="6217920" cy="10343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5720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0372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500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Physical 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0024" y="1901952"/>
            <a:ext cx="43434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Every passband frequency component is delayed by the same number of samples, apart from sign-related phase jumps where the real amplitude term changes sign.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3520440"/>
            <a:ext cx="4572000" cy="17373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3520440"/>
            <a:ext cx="50292" cy="17373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0024" y="363016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4005072"/>
            <a:ext cx="4343400" cy="11704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If a transient shape is a feature, constant delay avoids frequency-dependent smearing before MFCCs, peaks, onsets, or time-localized descriptors are computed.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LINEAR PHASE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Group delay is the more intuitive diagnostic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5</a:t>
            </a:r>
          </a:p>
        </p:txBody>
      </p:sp>
      <p:pic>
        <p:nvPicPr>
          <p:cNvPr id="6" name="Picture 5" descr="fir_group_d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6400800" cy="363681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508760"/>
            <a:ext cx="402336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50876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7224" y="161848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7224" y="1993392"/>
            <a:ext cx="379476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a 41-tap symmetric FIR, the expected delay is</a:t>
            </a:r>
          </a:p>
        </p:txBody>
      </p:sp>
      <p:pic>
        <p:nvPicPr>
          <p:cNvPr id="11" name="Picture 10" descr="eq_1489bb9efdf73e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651760"/>
            <a:ext cx="3474720" cy="46699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60920" y="3657600"/>
            <a:ext cx="402336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60920" y="365760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07224" y="3767328"/>
            <a:ext cx="37947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7224" y="4142232"/>
            <a:ext cx="379476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“Linear phase does not mean zero delay. It means a delay that is approximately constant with frequency.”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What would nonlinear phase do to a transient?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E87E37"/>
                </a:solidFill>
                <a:latin typeface="Arial"/>
              </a:rP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9848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122B4A"/>
                </a:solidFill>
                <a:latin typeface="Arial"/>
              </a:rPr>
              <a:t>Two filters have nearly identical magnitude responses. One has constant group delay; the other has strongly frequency-dependent group delay. What can differ at the output?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24612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spectra can have almost the same magnitudes while the waveform shapes differ because frequency components arrive with different delays.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246120"/>
            <a:ext cx="51206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324612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4" y="3355848"/>
            <a:ext cx="4892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Strong answer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30752"/>
            <a:ext cx="48920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That distortion can alter time-localized features such as onset shape or peak timing. Whether it harms an ML model depends on what features and invariances the model 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Start in the frequency domain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7</a:t>
            </a:r>
          </a:p>
        </p:txBody>
      </p:sp>
      <p:pic>
        <p:nvPicPr>
          <p:cNvPr id="6" name="Picture 5" descr="eq_c8307acbb69816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4480560" cy="875899"/>
          </a:xfrm>
          <a:prstGeom prst="rect">
            <a:avLst/>
          </a:prstGeom>
        </p:spPr>
      </p:pic>
      <p:cxnSp>
        <p:nvCxnSpPr>
          <p:cNvPr id="7" name="Connector 6"/>
          <p:cNvCxnSpPr/>
          <p:nvPr/>
        </p:nvCxnSpPr>
        <p:spPr>
          <a:xfrm>
            <a:off x="5852160" y="3657600"/>
            <a:ext cx="5212080" cy="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1463040"/>
            <a:ext cx="0" cy="3291840"/>
          </a:xfrm>
          <a:prstGeom prst="line">
            <a:avLst/>
          </a:prstGeom>
          <a:ln w="17780">
            <a:solidFill>
              <a:srgbClr val="2A32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040880" y="2148840"/>
            <a:ext cx="2834640" cy="0"/>
          </a:xfrm>
          <a:prstGeom prst="line">
            <a:avLst/>
          </a:prstGeom>
          <a:ln w="381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04088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148840"/>
            <a:ext cx="0" cy="1508760"/>
          </a:xfrm>
          <a:prstGeom prst="line">
            <a:avLst/>
          </a:prstGeom>
          <a:ln w="25400">
            <a:solidFill>
              <a:srgbClr val="1D91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1228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−ωc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3703320"/>
            <a:ext cx="54864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 i="0">
                <a:solidFill>
                  <a:srgbClr val="2A323D"/>
                </a:solidFill>
                <a:latin typeface="Arial"/>
              </a:rPr>
              <a:t>ωc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27432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i="0">
                <a:solidFill>
                  <a:srgbClr val="2A323D"/>
                </a:solidFill>
                <a:latin typeface="Arial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" y="438912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Engineering dream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Perfectly flat passband, zero stopband, and an infinitely sharp transition.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389120"/>
            <a:ext cx="45720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4" y="44988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2784" y="4873752"/>
            <a:ext cx="43434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price is an infinite-duration, noncausal impulse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Inverse DTFT produces the sinc impulse response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8</a:t>
            </a:r>
          </a:p>
        </p:txBody>
      </p:sp>
      <p:pic>
        <p:nvPicPr>
          <p:cNvPr id="6" name="Picture 5" descr="eq_401b747cf30fdb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5212080" cy="911134"/>
          </a:xfrm>
          <a:prstGeom prst="rect">
            <a:avLst/>
          </a:prstGeom>
        </p:spPr>
      </p:pic>
      <p:pic>
        <p:nvPicPr>
          <p:cNvPr id="7" name="Picture 6" descr="eq_891e46895909da6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1" y="2423160"/>
            <a:ext cx="6886708" cy="1354412"/>
          </a:xfrm>
          <a:prstGeom prst="rect">
            <a:avLst/>
          </a:prstGeom>
        </p:spPr>
      </p:pic>
      <p:pic>
        <p:nvPicPr>
          <p:cNvPr id="8" name="Picture 7" descr="eq_e4c80780e766874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023785"/>
            <a:ext cx="5669280" cy="80989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0314" y="1170432"/>
            <a:ext cx="365760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90314" y="1170432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36618" y="1280160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6618" y="1655064"/>
            <a:ext cx="342900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brick-wall frequency response requires a sinc extending forever in both time directions.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963718"/>
            <a:ext cx="36576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3963718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93024" y="4073446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Senior/grad expectation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4" y="4448350"/>
            <a:ext cx="34290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Students should be able to derive the sinc from the inverse DTFT, not only quote the result.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IDEAL LOWPASS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The ideal impulse response is infinite and two-sided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9</a:t>
            </a:r>
          </a:p>
        </p:txBody>
      </p:sp>
      <p:pic>
        <p:nvPicPr>
          <p:cNvPr id="6" name="Picture 5" descr="fir_ideal_si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583680" cy="37178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50876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50876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1848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1: infinite length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99339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finite processor cannot store or multiply by infinitely many taps.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926080"/>
            <a:ext cx="3749039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926080"/>
            <a:ext cx="50292" cy="123444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303580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Problem 2: noncausal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3410712"/>
            <a:ext cx="3520439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Samples for negative time imply dependence on future inputs unless we delay/shift the finite approximation.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4343400"/>
            <a:ext cx="3749039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43434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4453128"/>
            <a:ext cx="3520439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What we will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828032"/>
            <a:ext cx="3520439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Truncate the sinc, shift it to be causal, and shape the truncation with a window.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FINITE FIR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Center first, then shift to a causal tap sequence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10</a:t>
            </a:r>
          </a:p>
        </p:txBody>
      </p:sp>
      <p:pic>
        <p:nvPicPr>
          <p:cNvPr id="6" name="Picture 5" descr="eq_7425899234f5d6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71600"/>
            <a:ext cx="4937760" cy="7703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468880"/>
            <a:ext cx="50292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For an FIR of order M with M+1 taps, centering the ideal response at M/2 gives the symmetry needed for linear phase.</a:t>
            </a:r>
          </a:p>
        </p:txBody>
      </p:sp>
      <p:pic>
        <p:nvPicPr>
          <p:cNvPr id="8" name="Picture 7" descr="eq_93088cddfc06a7a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794760"/>
            <a:ext cx="3566160" cy="5764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463040"/>
            <a:ext cx="46634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47104" y="157276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7104" y="1947672"/>
            <a:ext cx="44348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For N = 51 taps, M = 50 and the delay is 25 samples.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926080"/>
            <a:ext cx="466344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0292" cy="13258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47104" y="3035808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Important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3410712"/>
            <a:ext cx="443484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shift changes phase, not magnitude. We are making the finite approximation causal by accepting a fixed delay.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truncation is simple—but its sidelobes are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11</a:t>
            </a:r>
          </a:p>
        </p:txBody>
      </p:sp>
      <p:pic>
        <p:nvPicPr>
          <p:cNvPr id="6" name="Picture 5" descr="eq_ead8e3cdcffb6ba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3108960" cy="36232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240280"/>
            <a:ext cx="484632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35000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Time-domain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724912"/>
            <a:ext cx="461772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rectangular window keeps a finite block of sinc samples and sets everything else to zero.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03320"/>
            <a:ext cx="4846320" cy="14173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3703320"/>
            <a:ext cx="50292" cy="14173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" y="3813048"/>
            <a:ext cx="4617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Frequency-domain consequence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4187952"/>
            <a:ext cx="4617720" cy="850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Abrupt truncation has strong sidelobes. Convolution with the rectangular-window spectrum creates oscillatory passband/stopband ripple.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554480"/>
            <a:ext cx="5029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122B4A"/>
                </a:solidFill>
                <a:latin typeface="Arial"/>
              </a:rPr>
              <a:t>A common misconception: “make the filter longer and the Gibbs ripple disappears.”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14600"/>
            <a:ext cx="502920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2A323D"/>
                </a:solidFill>
                <a:latin typeface="Arial"/>
              </a:rPr>
              <a:t>A longer rectangular window makes the ripple region narrower, but the limiting peak overshoot near the discontinuity does not go to zero.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GIBBS PHENOMENON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Increasing length narrows the transition but does not eliminate overshoot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12</a:t>
            </a:r>
          </a:p>
        </p:txBody>
      </p:sp>
      <p:pic>
        <p:nvPicPr>
          <p:cNvPr id="6" name="Picture 5" descr="fir_gibbs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7315200" cy="41563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0" y="1508760"/>
            <a:ext cx="310896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0" y="1508760"/>
            <a:ext cx="50292" cy="118872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75904" y="16184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Read the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1993392"/>
            <a:ext cx="288036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As N increases, the oscillation is compressed toward the cutoff.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971800"/>
            <a:ext cx="310896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297180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75904" y="308152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notice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456432"/>
            <a:ext cx="288036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peak overshoot remains visible. Length and sidelobe level are different design knobs.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4480560"/>
            <a:ext cx="310896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4480560"/>
            <a:ext cx="50292" cy="11430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75904" y="4590288"/>
            <a:ext cx="28803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Next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4965192"/>
            <a:ext cx="288036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smoother window to reduce sidelobes—accepting a wider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Shape the truncation instead of switching it off abruptly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13</a:t>
            </a:r>
          </a:p>
        </p:txBody>
      </p:sp>
      <p:pic>
        <p:nvPicPr>
          <p:cNvPr id="6" name="Picture 5" descr="eq_08a96e67ae183e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3840480" cy="469232"/>
          </a:xfrm>
          <a:prstGeom prst="rect">
            <a:avLst/>
          </a:prstGeom>
        </p:spPr>
      </p:pic>
      <p:pic>
        <p:nvPicPr>
          <p:cNvPr id="7" name="Picture 6" descr="eq_644b878ded0fe1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6126480" cy="10018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417320"/>
            <a:ext cx="42976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40880" y="141732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87184" y="152704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Key duality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7184" y="1901952"/>
            <a:ext cx="40690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Multiplication in time corresponds to periodic convolution in frequency.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2971800"/>
            <a:ext cx="4297680" cy="14630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2971800"/>
            <a:ext cx="50292" cy="14630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87184" y="3081528"/>
            <a:ext cx="4069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Design intuition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7184" y="3456432"/>
            <a:ext cx="4069080" cy="8961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smoother time-domain taper lowers spectral sidelobes but broadens the window main lobe, which broadens the filter transition band.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Rectangular → Bartlett → Hann/Hamming → Blackman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fir_windows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6675120" cy="37926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35240" y="1371600"/>
            <a:ext cx="365760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35240" y="137160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481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56232"/>
            <a:ext cx="34290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Hardest edges; narrowest main lobe; high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25146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35240" y="2514600"/>
            <a:ext cx="50292" cy="10972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1544" y="26243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Hann / 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1544" y="29992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Smooth taper. Hamming is designed for a particularly low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86200"/>
            <a:ext cx="3657600" cy="10972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35240" y="3886200"/>
            <a:ext cx="50292" cy="10972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81544" y="3995928"/>
            <a:ext cx="34290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1544" y="4370832"/>
            <a:ext cx="34290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Stronger taper and lower sidelobes, but a wider main lobe /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303520"/>
            <a:ext cx="365760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1">
                <a:solidFill>
                  <a:srgbClr val="606A77"/>
                </a:solidFill>
                <a:latin typeface="Arial"/>
              </a:rPr>
              <a:t>“Hann” is the standard name; “Hanning” is common informal usage.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Main-lobe width versus sidelobe attenuation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19202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90472"/>
            <a:ext cx="1828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Window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371600"/>
            <a:ext cx="219456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88920" y="1490472"/>
            <a:ext cx="210312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first sidelobe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0" y="1371600"/>
            <a:ext cx="22402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66359" y="1490472"/>
            <a:ext cx="21488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Approx. main-lobe width*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1371600"/>
            <a:ext cx="384048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1490472"/>
            <a:ext cx="374904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when...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Rectangular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1938528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88920" y="2048256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−13 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0640" y="1938528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59" y="2048256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4π/N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1938528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89520" y="2048256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Narrow transition dominates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551176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2660904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Bartlett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2551176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88920" y="2660904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−26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0640" y="2551176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66359" y="2660904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43800" y="2551176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89520" y="2660904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Simple triangular taper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163824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3273552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Hann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0" y="3163824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88920" y="3273552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−31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20640" y="3163824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166359" y="3273552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3800" y="3163824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89520" y="3273552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Balanced spectral leakage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3776472"/>
            <a:ext cx="192024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Hamming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776472"/>
            <a:ext cx="219456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88920" y="3886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−43 dB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20640" y="3776472"/>
            <a:ext cx="22402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166359" y="3886200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8π/N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43800" y="3776472"/>
            <a:ext cx="3840480" cy="612648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89520" y="3886200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Better first sidelobe suppression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89120"/>
            <a:ext cx="192024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4498848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Blackman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0" y="4389120"/>
            <a:ext cx="219456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88920" y="4498848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−58 dB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20640" y="4389120"/>
            <a:ext cx="22402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166359" y="4498848"/>
            <a:ext cx="21488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≈ 12π/N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4389120"/>
            <a:ext cx="38404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0" y="4498848"/>
            <a:ext cx="3749040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80" b="0" i="0">
                <a:solidFill>
                  <a:srgbClr val="2A323D"/>
                </a:solidFill>
                <a:latin typeface="Arial"/>
              </a:rPr>
              <a:t>Strong stopband suppression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25780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606A77"/>
                </a:solidFill>
                <a:latin typeface="Arial"/>
              </a:rPr>
              <a:t>*Width between the first nulls; approximate asymptotic rules for equal window length.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78849"/>
            <a:ext cx="9784080" cy="713231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188720" y="5623560"/>
            <a:ext cx="50292" cy="6400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335024" y="5733288"/>
            <a:ext cx="9555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35024" y="6108192"/>
            <a:ext cx="9555480" cy="731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 dirty="0">
                <a:solidFill>
                  <a:srgbClr val="2A323D"/>
                </a:solidFill>
                <a:latin typeface="Arial"/>
              </a:rPr>
              <a:t>There is no universally “best” window. The specification decides how much transition width can be traded for stopband suppression.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WINDOW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Same length and cutoff; different transition/ripple behavior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16</a:t>
            </a:r>
          </a:p>
        </p:txBody>
      </p:sp>
      <p:pic>
        <p:nvPicPr>
          <p:cNvPr id="6" name="Picture 5" descr="fir_window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98448"/>
            <a:ext cx="7589520" cy="431222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155448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1554480"/>
            <a:ext cx="50292" cy="9144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58784" y="166420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Rectangular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8784" y="203911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Sharpest transition, worst sidelobes.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2743200"/>
            <a:ext cx="283464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27432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58784" y="285292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Hamming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8784" y="3227832"/>
            <a:ext cx="260604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common compromise: wider transition, much lower first sidelobe.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4206240"/>
            <a:ext cx="2834640" cy="9144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206240"/>
            <a:ext cx="50292" cy="9144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8784" y="4315968"/>
            <a:ext cx="26060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Blackman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4690872"/>
            <a:ext cx="26060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Strongest attenuation here, but broadest transition.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DESIGN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practical 51-tap Hamming lowpass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2286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E87E37"/>
                </a:solidFill>
                <a:latin typeface="Arial"/>
              </a:rPr>
              <a:t>Specification sketch</a:t>
            </a:r>
          </a:p>
        </p:txBody>
      </p:sp>
      <p:pic>
        <p:nvPicPr>
          <p:cNvPr id="7" name="Picture 6" descr="eq_0aa82fe02f419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3657600" cy="381573"/>
          </a:xfrm>
          <a:prstGeom prst="rect">
            <a:avLst/>
          </a:prstGeom>
        </p:spPr>
      </p:pic>
      <p:pic>
        <p:nvPicPr>
          <p:cNvPr id="8" name="Picture 7" descr="eq_9cef1a64bc0717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43200"/>
            <a:ext cx="4206240" cy="42694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3749039"/>
            <a:ext cx="466344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77240" y="3749039"/>
            <a:ext cx="50292" cy="123444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3544" y="3858767"/>
            <a:ext cx="44348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Why Hamming?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4233671"/>
            <a:ext cx="443484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We accept a somewhat wider transition in exchange for much better sidelobe rejection than rectangular truncation.</a:t>
            </a:r>
          </a:p>
        </p:txBody>
      </p:sp>
      <p:pic>
        <p:nvPicPr>
          <p:cNvPr id="13" name="Picture 12" descr="fir_window_respons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1325880"/>
            <a:ext cx="5486400" cy="3117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FILTER LENGTH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Longer FIRs buy a narrower transition—at a cost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18</a:t>
            </a:r>
          </a:p>
        </p:txBody>
      </p:sp>
      <p:pic>
        <p:nvPicPr>
          <p:cNvPr id="6" name="Picture 5" descr="eq_90fdfe8dede92c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63040"/>
            <a:ext cx="3200400" cy="526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1430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Increase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taps generally narrow the transition for the same window family.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383280" cy="11430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514600"/>
            <a:ext cx="50292" cy="11430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542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But pay for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999232"/>
            <a:ext cx="3154680" cy="5760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More multiplies, more memory, and larger linear-phase delay</a:t>
            </a:r>
          </a:p>
        </p:txBody>
      </p:sp>
      <p:pic>
        <p:nvPicPr>
          <p:cNvPr id="15" name="Picture 14" descr="eq_7a217251f5ed1b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840480"/>
            <a:ext cx="2651760" cy="42866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001000" y="2514600"/>
            <a:ext cx="33832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01000" y="2514600"/>
            <a:ext cx="50292" cy="15544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47304" y="2624328"/>
            <a:ext cx="31546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999232"/>
            <a:ext cx="31546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A longer convolution kernel also means a larger temporal receptive field and more learned parameters if the kernel is trainable.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CONCEPT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Choose the design knob that matches 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50292" cy="13716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A •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Stopband leakage is unacceptable, but transition width may be wider.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26280" y="1463040"/>
            <a:ext cx="50292" cy="13716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7258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B • Prompt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Transition must be very narrow, but moderate ripple is acceptable.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463040"/>
            <a:ext cx="3429000" cy="13716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321040" y="1463040"/>
            <a:ext cx="50292" cy="13716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67344" y="1572768"/>
            <a:ext cx="3200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Prompt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1947672"/>
            <a:ext cx="3200400" cy="8046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filtered waveform must maintain relative timing across the passband.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A 1-D convolution is a sliding dot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20</a:t>
            </a:r>
          </a:p>
        </p:txBody>
      </p:sp>
      <p:pic>
        <p:nvPicPr>
          <p:cNvPr id="6" name="Picture 5" descr="eq_4088984310bf6d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4572000" cy="1147297"/>
          </a:xfrm>
          <a:prstGeom prst="rect">
            <a:avLst/>
          </a:prstGeom>
        </p:spPr>
      </p:pic>
      <p:pic>
        <p:nvPicPr>
          <p:cNvPr id="7" name="Picture 6" descr="eq_3829ae31a8997b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4206240" cy="50206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354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DSP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impulse response h[k] is designed to satisfy magnitude/phase specifications.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3657600"/>
            <a:ext cx="475488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89320" y="3657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35624" y="3767328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ML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35624" y="4142232"/>
            <a:ext cx="452628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same local dot product becomes a layer. The kernel may be initialized from DSP knowledge or learned from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PYTORCH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Conv1d uses cross-correlation ordering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eq_c0ae3bbc6dc9f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4846320" cy="102483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0" y="1417320"/>
            <a:ext cx="4572000" cy="123444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1417320"/>
            <a:ext cx="50292" cy="123444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1424" y="152704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To reproduce textbook causal 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1424" y="1901952"/>
            <a:ext cx="4343400" cy="6675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Left-pad by M samples and reverse the coefficient order before calling Conv1d.</a:t>
            </a:r>
          </a:p>
        </p:txBody>
      </p:sp>
      <p:pic>
        <p:nvPicPr>
          <p:cNvPr id="12" name="Picture 11" descr="eq_dc481ec5dbdb99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926080"/>
            <a:ext cx="2286000" cy="27285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675120" y="3794760"/>
            <a:ext cx="457200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75120" y="379476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21424" y="3904488"/>
            <a:ext cx="434340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Good answer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4279392"/>
            <a:ext cx="434340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operation is not “wrong convolution”; deep-learning libraries use a correlation convention because the kernel is usually learned anyway.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0373062-1294-CF8B-7F0B-E662DE431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025" y="2668816"/>
            <a:ext cx="4019550" cy="9334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F7B093-45DD-38F5-3056-9950C4F3C88B}"/>
              </a:ext>
            </a:extLst>
          </p:cNvPr>
          <p:cNvSpPr txBox="1"/>
          <p:nvPr/>
        </p:nvSpPr>
        <p:spPr>
          <a:xfrm>
            <a:off x="2002238" y="3827764"/>
            <a:ext cx="2701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(Local-window correlation)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Fixed FIR taps inside PyTorch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943600" cy="3383280"/>
          </a:xfrm>
          <a:prstGeom prst="roundRect">
            <a:avLst/>
          </a:prstGeom>
          <a:solidFill>
            <a:srgbClr val="1B232E"/>
          </a:solidFill>
          <a:ln w="12700">
            <a:solidFill>
              <a:srgbClr val="1B23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66928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FFFF"/>
                </a:solidFill>
                <a:latin typeface="Courier New"/>
              </a:rPr>
              <a:t>h = torch.tensor(h_np, dtype=torch.float32)
x = torch.tensor(x_np).view(1, 1, -1)
# causal textbook convolution
kernel = h.flip(0).view(1, 1, -1)
x_pad = F.pad(x, (len(h)-1, 0))
y = F.conv1d(x_pad, kernel)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4206240" cy="10515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49440" y="1417320"/>
            <a:ext cx="50292" cy="10515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95744" y="15270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95744" y="1901952"/>
            <a:ext cx="3977640" cy="4846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Input is (N,C,L). A single mono signal is (1,1,L).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69748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50292" cy="118872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95744" y="280720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Fixed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5744" y="318211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Use a tensor or freeze a Conv1d layer so the taps do not receive gradient updates.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4160520"/>
            <a:ext cx="4206240" cy="118872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949440" y="4160520"/>
            <a:ext cx="50292" cy="118872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5744" y="4270248"/>
            <a:ext cx="39776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Learnable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5744" y="4645152"/>
            <a:ext cx="397764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Leave requires_grad=True and the same coefficients become trainable model parameters.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TENSOR SHAPES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Batch, channel, and length carry physical meaning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23</a:t>
            </a:r>
          </a:p>
        </p:txBody>
      </p:sp>
      <p:pic>
        <p:nvPicPr>
          <p:cNvPr id="6" name="Picture 5" descr="eq_c74e7c3b2beae4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4389120" cy="4826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772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514600"/>
            <a:ext cx="50292" cy="128016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 •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Independent clips/examples processed together.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514600"/>
            <a:ext cx="50292" cy="128016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811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 •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Mono, stereo, microphones, sensors, or learned feature maps.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514600"/>
            <a:ext cx="3291840" cy="128016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2514600"/>
            <a:ext cx="50292" cy="128016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624328"/>
            <a:ext cx="3063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 • Length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999232"/>
            <a:ext cx="3063240" cy="7132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Discrete-time sample index / temporal extent.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63440"/>
            <a:ext cx="99669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000" b="1" i="0">
                <a:solidFill>
                  <a:srgbClr val="122B4A"/>
                </a:solidFill>
                <a:latin typeface="Arial"/>
              </a:rPr>
              <a:t>Example: 32 stereo one-second clips at 16 kHz → (32, 2, 16000)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NumPy convolution and PyTorch Conv1d agree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fir_torch_m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7680960" cy="43641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58200" y="1554480"/>
            <a:ext cx="2926080" cy="13258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58200" y="1554480"/>
            <a:ext cx="50292" cy="13258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04504" y="166420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Numerical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4504" y="2039112"/>
            <a:ext cx="2697480" cy="7589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supplied script reports a maximum mismatch on the order of 10⁻⁷ in float32.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3291840"/>
            <a:ext cx="2926080" cy="15544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58200" y="3291840"/>
            <a:ext cx="50292" cy="15544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04504" y="3401568"/>
            <a:ext cx="2697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04504" y="3776472"/>
            <a:ext cx="2697480" cy="9875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Same filter, same signal-processing operation. The distinction is whether the coefficients are fixed by design or optimized from data.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DSP ↔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Designed taps versus learned taps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50292" cy="182880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Classical FIR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desired H(e^{jω}) → derive ideal h[n] → truncate/window → verify specifications.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50292" cy="182880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81144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Hybrid approach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Initialize Conv1d with a known bandpass/lowpass/filterbank and optionally fine-tune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3337560" cy="182880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417320"/>
            <a:ext cx="50292" cy="182880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0183" y="1527048"/>
            <a:ext cx="310896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Fully learned convolution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01952"/>
            <a:ext cx="3108960" cy="12618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Choose kernel size and channels; backpropagation learns coefficients that reduce task loss.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39"/>
            <a:ext cx="101498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122B4A"/>
                </a:solidFill>
                <a:latin typeface="Arial"/>
              </a:rPr>
              <a:t>The arithmetic is the same local weighted sum; the source of the weights is what changes.</a:t>
            </a:r>
          </a:p>
        </p:txBody>
      </p:sp>
      <p:pic>
        <p:nvPicPr>
          <p:cNvPr id="19" name="Picture 18" descr="eq_e0f8dcee168a9c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937760"/>
            <a:ext cx="8229600" cy="1028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Translate the classical vocabulary into ML vocabulary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23774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22860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DSP concept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325880"/>
            <a:ext cx="283464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463040"/>
            <a:ext cx="27432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Mathematical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29200" cy="502920"/>
          </a:xfrm>
          <a:prstGeom prst="rect">
            <a:avLst/>
          </a:prstGeom>
          <a:solidFill>
            <a:srgbClr val="122B4A"/>
          </a:solidFill>
          <a:ln w="12700"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4937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ML connection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965960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FIR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74519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4992" y="1965960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feedforward delay 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874519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73952" y="1965960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Conv1d with fixed or learnable kernel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87752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679192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Tap h[k]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587752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64992" y="2679192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impulse-response coefficient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2679192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kernel / weight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00984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392424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Window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30098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2" y="3392424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controls truncation spectrum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330098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73952" y="3392424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inductive constraint on kernel support; not the same as ML regularization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014216"/>
            <a:ext cx="23774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105656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Linear phase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91840" y="4014216"/>
            <a:ext cx="283464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64992" y="4105656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constant group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4014216"/>
            <a:ext cx="5029200" cy="713232"/>
          </a:xfrm>
          <a:prstGeom prst="rect">
            <a:avLst/>
          </a:prstGeom>
          <a:solidFill>
            <a:srgbClr val="F7F9FC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4105656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preserves relative temporal alignment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727448"/>
            <a:ext cx="2377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4672" y="4818888"/>
            <a:ext cx="22311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Filter length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472744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64992" y="4818888"/>
            <a:ext cx="268833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transition width + delay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72744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73952" y="4818888"/>
            <a:ext cx="4882896" cy="5029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0" i="0">
                <a:solidFill>
                  <a:srgbClr val="2A323D"/>
                </a:solidFill>
                <a:latin typeface="Arial"/>
              </a:rPr>
              <a:t>receptive field + parameter 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715000"/>
            <a:ext cx="105156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80" b="0" i="1">
                <a:solidFill>
                  <a:srgbClr val="606A77"/>
                </a:solidFill>
                <a:latin typeface="Arial"/>
              </a:rPr>
              <a:t>Nuance: a classical window is a deterministic spectral-design device; calling it “kernel regularization” is only an analogy.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201168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1" i="0">
                <a:solidFill>
                  <a:srgbClr val="E87E37"/>
                </a:solidFill>
                <a:latin typeface="Arial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i="0">
                <a:solidFill>
                  <a:srgbClr val="122B4A"/>
                </a:solidFill>
                <a:latin typeface="Arial"/>
              </a:rPr>
              <a:t>Lecture 7 synthesis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69848"/>
            <a:ext cx="11183112" cy="0"/>
          </a:xfrm>
          <a:prstGeom prst="line">
            <a:avLst/>
          </a:prstGeom>
          <a:ln w="12700">
            <a:solidFill>
              <a:srgbClr val="DAE0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50" b="0" i="0">
                <a:solidFill>
                  <a:srgbClr val="606A77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50292" cy="2011680"/>
          </a:xfrm>
          <a:prstGeom prst="rect">
            <a:avLst/>
          </a:prstGeom>
          <a:solidFill>
            <a:srgbClr val="1D91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Linear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Symmetric FIR taps can provide constant group delay.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50292" cy="2011680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6674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Ideal → practical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The brick-wall LPF becomes a sinc; finite implementation requires truncation and delay.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463040"/>
            <a:ext cx="50292" cy="2011680"/>
          </a:xfrm>
          <a:prstGeom prst="rect">
            <a:avLst/>
          </a:prstGeom>
          <a:solidFill>
            <a:srgbClr val="457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138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Window tradeoff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Lower sidelobes cost transition width.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463040"/>
            <a:ext cx="2560320" cy="2011680"/>
          </a:xfrm>
          <a:prstGeom prst="roundRect">
            <a:avLst/>
          </a:prstGeom>
          <a:solidFill>
            <a:srgbClr val="FCFDFF"/>
          </a:solidFill>
          <a:ln w="12700">
            <a:solidFill>
              <a:srgbClr val="DA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189720" y="1463040"/>
            <a:ext cx="50292" cy="2011680"/>
          </a:xfrm>
          <a:prstGeom prst="rect">
            <a:avLst/>
          </a:prstGeom>
          <a:solidFill>
            <a:srgbClr val="48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36024" y="1572768"/>
            <a:ext cx="23317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122B4A"/>
                </a:solidFill>
                <a:latin typeface="Arial"/>
              </a:rPr>
              <a:t>PyTorch bridge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6024" y="1947672"/>
            <a:ext cx="2331720" cy="14447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2A323D"/>
                </a:solidFill>
                <a:latin typeface="Arial"/>
              </a:rPr>
              <a:t>Conv1d performs the same local weighted sum; its weights may be fixed or learned.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06240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i="0">
                <a:solidFill>
                  <a:srgbClr val="122B4A"/>
                </a:solidFill>
                <a:latin typeface="Arial"/>
              </a:rPr>
              <a:t>Minute paper: What does a neural 1-D convolution add to the FIR operation itself?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43891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0">
                <a:solidFill>
                  <a:srgbClr val="606A77"/>
                </a:solidFill>
                <a:latin typeface="Arial"/>
              </a:rPr>
              <a:t>DSP + Machine Learning • Lectures 7–8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428232"/>
            <a:ext cx="36576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720" b="0" i="0">
                <a:solidFill>
                  <a:srgbClr val="606A77"/>
                </a:solidFill>
                <a:latin typeface="Arial"/>
              </a:rPr>
              <a:t>Oppenheim &amp; Schafer + Raschka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2272</Words>
  <Application>Microsoft Office PowerPoint</Application>
  <PresentationFormat>Widescreen</PresentationFormat>
  <Paragraphs>332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8</cp:revision>
  <cp:lastPrinted>2026-09-15T06:03:45Z</cp:lastPrinted>
  <dcterms:created xsi:type="dcterms:W3CDTF">2013-01-27T09:14:16Z</dcterms:created>
  <dcterms:modified xsi:type="dcterms:W3CDTF">2026-09-15T06:03:53Z</dcterms:modified>
  <cp:category/>
</cp:coreProperties>
</file>