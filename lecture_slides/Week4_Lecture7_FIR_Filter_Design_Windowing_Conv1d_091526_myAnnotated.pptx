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8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86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7" r:id="rId31"/>
    <p:sldId id="283" r:id="rId32"/>
    <p:sldId id="284" r:id="rId33"/>
    <p:sldId id="285" r:id="rId34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3" d="100"/>
          <a:sy n="73" d="100"/>
        </p:scale>
        <p:origin x="66" y="40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92235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04326-6382-23AA-4F6C-A33C0B53EFAD}"/>
              </a:ext>
            </a:extLst>
          </p:cNvPr>
          <p:cNvSpPr txBox="1"/>
          <p:nvPr/>
        </p:nvSpPr>
        <p:spPr>
          <a:xfrm>
            <a:off x="1449760" y="444212"/>
            <a:ext cx="929247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ECEN 4/5632  Theory and Application of Digital Filters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Lecture 7, 9-15-26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Peter Mathys*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62320-FA96-DD1A-C234-95E03B37257B}"/>
              </a:ext>
            </a:extLst>
          </p:cNvPr>
          <p:cNvSpPr txBox="1"/>
          <p:nvPr/>
        </p:nvSpPr>
        <p:spPr>
          <a:xfrm>
            <a:off x="482600" y="6488668"/>
            <a:ext cx="5266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 With generous help from Gemini Pro and ChatGPT</a:t>
            </a:r>
          </a:p>
        </p:txBody>
      </p:sp>
    </p:spTree>
    <p:extLst>
      <p:ext uri="{BB962C8B-B14F-4D97-AF65-F5344CB8AC3E}">
        <p14:creationId xmlns:p14="http://schemas.microsoft.com/office/powerpoint/2010/main" val="248120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F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502920"/>
            <a:ext cx="1828800" cy="21236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lang="en-US" sz="900" b="1" i="0" dirty="0">
                <a:solidFill>
                  <a:srgbClr val="E87E37"/>
                </a:solidFill>
                <a:latin typeface="Arial"/>
              </a:rPr>
              <a:t>WEEK 4 ● </a:t>
            </a:r>
            <a:r>
              <a:rPr sz="900" b="1" i="0" dirty="0">
                <a:solidFill>
                  <a:srgbClr val="E87E37"/>
                </a:solidFill>
                <a:latin typeface="Arial"/>
              </a:rPr>
              <a:t>LECTURE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97280"/>
            <a:ext cx="7772400" cy="12344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Arial"/>
              </a:rPr>
              <a:t>FIR Filter Design, Windowing,
&amp; 1D Convolutions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514600"/>
            <a:ext cx="8138160" cy="5943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D2DCE8"/>
                </a:solidFill>
                <a:latin typeface="Arial"/>
              </a:rPr>
              <a:t>From ideal frequency responses to fixed or learnable convolution kernels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4800600"/>
            <a:ext cx="2057400" cy="548640"/>
          </a:xfrm>
          <a:prstGeom prst="roundRect">
            <a:avLst/>
          </a:prstGeom>
          <a:solidFill>
            <a:srgbClr val="1D919C"/>
          </a:solidFill>
          <a:ln w="12700">
            <a:solidFill>
              <a:srgbClr val="1D9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4919472"/>
            <a:ext cx="2057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FIR / phase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4910328"/>
            <a:ext cx="2286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BECBDB"/>
                </a:solidFill>
                <a:latin typeface="Arial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98648" y="4800600"/>
            <a:ext cx="2057400" cy="548640"/>
          </a:xfrm>
          <a:prstGeom prst="roundRect">
            <a:avLst/>
          </a:prstGeom>
          <a:solidFill>
            <a:srgbClr val="4575B0"/>
          </a:solidFill>
          <a:ln w="12700">
            <a:solidFill>
              <a:srgbClr val="4575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98648" y="4919472"/>
            <a:ext cx="2057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ideal LPF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79" y="4910328"/>
            <a:ext cx="2286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BECBDB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30368" y="4800600"/>
            <a:ext cx="2057400" cy="548640"/>
          </a:xfrm>
          <a:prstGeom prst="roundRect">
            <a:avLst/>
          </a:prstGeom>
          <a:solidFill>
            <a:srgbClr val="E87E37"/>
          </a:solidFill>
          <a:ln w="12700">
            <a:solidFill>
              <a:srgbClr val="E87E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30368" y="4919472"/>
            <a:ext cx="2057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window 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9" y="4910328"/>
            <a:ext cx="2286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BECBDB"/>
                </a:solidFill>
                <a:latin typeface="Arial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62088" y="4800600"/>
            <a:ext cx="2057400" cy="548640"/>
          </a:xfrm>
          <a:prstGeom prst="roundRect">
            <a:avLst/>
          </a:prstGeom>
          <a:solidFill>
            <a:srgbClr val="48915B"/>
          </a:solidFill>
          <a:ln w="12700">
            <a:solidFill>
              <a:srgbClr val="4891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62088" y="4919472"/>
            <a:ext cx="2057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Conv1d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806440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BECBDB"/>
                </a:solidFill>
                <a:latin typeface="Arial"/>
              </a:rPr>
              <a:t>75 minutes • senior + first-year graduate ECE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5806440"/>
            <a:ext cx="3931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1000" b="0" i="0">
                <a:solidFill>
                  <a:srgbClr val="BECBDB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Where this 75-minute lecture is going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50292" cy="20116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0–10 min • FIR vs. IIR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Linear phase, group delay, and why waveform alignment can matter.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74720" y="1417320"/>
            <a:ext cx="50292" cy="20116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21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10–30 min • Ideal filter + Gibbs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102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Derive the sinc impulse response and see what truncation does.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09360" y="1417320"/>
            <a:ext cx="50292" cy="20116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5566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30–55 min • Window 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Main-lobe width versus sidelobe attenuation.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44000" y="1417320"/>
            <a:ext cx="50292" cy="201168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903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55–75 min • DSP ↔ PyTorch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030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Implement fixed FIR taps with Conv1d; then ask what changes when weights are learned.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977639"/>
            <a:ext cx="107899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50" b="1" i="0">
                <a:solidFill>
                  <a:srgbClr val="122B4A"/>
                </a:solidFill>
                <a:latin typeface="Arial"/>
              </a:rPr>
              <a:t>DSP bridge: a mathematically designed FIR and a neural 1-D convolution use the same sliding weighted sum.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617720"/>
            <a:ext cx="996696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0" i="0">
                <a:solidFill>
                  <a:srgbClr val="2A323D"/>
                </a:solidFill>
                <a:latin typeface="Arial"/>
              </a:rPr>
              <a:t>Classical DSP supplies structure and constraints; machine learning either reuses that structure or learns parameters inside 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FIR VS. IIR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Same frequency-selective goal, different structures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3474720" cy="19202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50292" cy="19202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1527048"/>
            <a:ext cx="32461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FIR: feedforward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901952"/>
            <a:ext cx="3246120" cy="13533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Finite impulse response. No feedback. Exact linear phase is available when the taps have the required symmetry.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417320"/>
            <a:ext cx="3474720" cy="19202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70832" y="1417320"/>
            <a:ext cx="50292" cy="19202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17136" y="1527048"/>
            <a:ext cx="32461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IIR: recursive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1901952"/>
            <a:ext cx="3246120" cy="13533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Feedback permits sharp magnitude responses with fewer coefficients, but phase is generally nonlinear.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3" y="1417320"/>
            <a:ext cx="3474720" cy="19202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01583" y="1417320"/>
            <a:ext cx="50292" cy="192024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47887" y="1527048"/>
            <a:ext cx="32461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ML perspective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7" y="1901952"/>
            <a:ext cx="3246120" cy="13533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fixed FIR can be the front end of an ML pipeline; a Conv1d layer uses the same local weighted sum but can make the coefficients trainable.</a:t>
            </a:r>
          </a:p>
        </p:txBody>
      </p:sp>
      <p:pic>
        <p:nvPicPr>
          <p:cNvPr id="18" name="Picture 17" descr="eq_d75032a14b2ce5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886200"/>
            <a:ext cx="4206240" cy="100412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0" y="3886200"/>
            <a:ext cx="5212080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2A323D"/>
                </a:solidFill>
                <a:latin typeface="Arial"/>
              </a:rPr>
              <a:t>Do not oversell linear phase: it is valuable when temporal alignment and waveform shape should be preserved, but not every ML task requires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LINEAR PHASE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Symmetric FIR taps give a constant delay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eq_f2b9a7754d2813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17320"/>
            <a:ext cx="3017520" cy="351666"/>
          </a:xfrm>
          <a:prstGeom prst="rect">
            <a:avLst/>
          </a:prstGeom>
        </p:spPr>
      </p:pic>
      <p:pic>
        <p:nvPicPr>
          <p:cNvPr id="7" name="Picture 6" descr="eq_ffac0f6a2f2e97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331720"/>
            <a:ext cx="5669280" cy="772599"/>
          </a:xfrm>
          <a:prstGeom prst="rect">
            <a:avLst/>
          </a:prstGeom>
        </p:spPr>
      </p:pic>
      <p:pic>
        <p:nvPicPr>
          <p:cNvPr id="8" name="Picture 7" descr="eq_721118a2166098b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429000"/>
            <a:ext cx="6217920" cy="103437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903720" y="1417320"/>
            <a:ext cx="4572000" cy="1828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903720" y="1417320"/>
            <a:ext cx="50292" cy="18288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50024" y="1527048"/>
            <a:ext cx="4343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Physical interpretation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0024" y="1901952"/>
            <a:ext cx="4343400" cy="1261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Every passband frequency component is delayed by the same number of samples, apart from sign-related phase jumps where the real amplitude term changes sign.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3720" y="3520440"/>
            <a:ext cx="4572000" cy="17373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903720" y="3520440"/>
            <a:ext cx="50292" cy="173736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50024" y="3630168"/>
            <a:ext cx="4343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ML connection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0024" y="4005072"/>
            <a:ext cx="4343400" cy="11704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If a transient shape is a feature, constant delay avoids frequency-dependent smearing before MFCCs, peaks, onsets, or time-localized descriptors are computed.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LINEAR PHASE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Group delay is the more intuitive diagnostic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fir_group_de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71600"/>
            <a:ext cx="6400800" cy="363681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60920" y="1508760"/>
            <a:ext cx="402336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60920" y="1508760"/>
            <a:ext cx="50292" cy="10972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07224" y="1618488"/>
            <a:ext cx="37947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Read the plot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7224" y="1993392"/>
            <a:ext cx="379476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a 41-tap symmetric FIR, the expected delay is</a:t>
            </a:r>
          </a:p>
        </p:txBody>
      </p:sp>
      <p:pic>
        <p:nvPicPr>
          <p:cNvPr id="11" name="Picture 10" descr="eq_1489bb9efdf73e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2651760"/>
            <a:ext cx="3474720" cy="466997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360920" y="3657600"/>
            <a:ext cx="402336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360920" y="3657600"/>
            <a:ext cx="50292" cy="13716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07224" y="3767328"/>
            <a:ext cx="37947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7224" y="4142232"/>
            <a:ext cx="379476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“Linear phase does not mean zero delay. It means a delay that is approximately constant with frequency.”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CONCEPT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What would nonlinear phase do to a transient?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8288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E87E37"/>
                </a:solidFill>
                <a:latin typeface="Arial"/>
              </a:rPr>
              <a:t>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10698480" cy="10058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100" b="1" i="0">
                <a:solidFill>
                  <a:srgbClr val="122B4A"/>
                </a:solidFill>
                <a:latin typeface="Arial"/>
              </a:rPr>
              <a:t>Two filters have nearly identical magnitude responses. One has constant group delay; the other has strongly frequency-dependent group delay. What can differ at the output?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246120"/>
            <a:ext cx="5120640" cy="13258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7240" y="3246120"/>
            <a:ext cx="50292" cy="13258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23544" y="3355848"/>
            <a:ext cx="4892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30752"/>
            <a:ext cx="4892040" cy="7589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spectra can have almost the same magnitudes while the waveform shapes differ because frequency components arrive with different delays.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46120"/>
            <a:ext cx="5120640" cy="13258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72200" y="3246120"/>
            <a:ext cx="50292" cy="13258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18504" y="3355848"/>
            <a:ext cx="4892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Strong answer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8504" y="3730752"/>
            <a:ext cx="4892040" cy="7589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That distortion can alter time-localized features such as onset shape or peak timing. Whether it harms an ML model depends on what features and invariances the model uses.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IDEAL LOWPASS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Start in the frequency domain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7</a:t>
            </a:r>
          </a:p>
        </p:txBody>
      </p:sp>
      <p:pic>
        <p:nvPicPr>
          <p:cNvPr id="6" name="Picture 5" descr="eq_c8307acbb69816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4480560" cy="875899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852160" y="3657600"/>
            <a:ext cx="5212080" cy="0"/>
          </a:xfrm>
          <a:prstGeom prst="line">
            <a:avLst/>
          </a:prstGeom>
          <a:ln w="17780">
            <a:solidFill>
              <a:srgbClr val="2A32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458200" y="1463040"/>
            <a:ext cx="0" cy="3291840"/>
          </a:xfrm>
          <a:prstGeom prst="line">
            <a:avLst/>
          </a:prstGeom>
          <a:ln w="17780">
            <a:solidFill>
              <a:srgbClr val="2A32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040880" y="2148840"/>
            <a:ext cx="2834640" cy="0"/>
          </a:xfrm>
          <a:prstGeom prst="line">
            <a:avLst/>
          </a:prstGeom>
          <a:ln w="38100">
            <a:solidFill>
              <a:srgbClr val="1D91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040880" y="2148840"/>
            <a:ext cx="0" cy="1508760"/>
          </a:xfrm>
          <a:prstGeom prst="line">
            <a:avLst/>
          </a:prstGeom>
          <a:ln w="25400">
            <a:solidFill>
              <a:srgbClr val="1D91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2148840"/>
            <a:ext cx="0" cy="1508760"/>
          </a:xfrm>
          <a:prstGeom prst="line">
            <a:avLst/>
          </a:prstGeom>
          <a:ln w="25400">
            <a:solidFill>
              <a:srgbClr val="1D91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12280" y="3703320"/>
            <a:ext cx="54864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2A323D"/>
                </a:solidFill>
                <a:latin typeface="Arial"/>
              </a:rPr>
              <a:t>−ωc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38360" y="3703320"/>
            <a:ext cx="54864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2A323D"/>
                </a:solidFill>
                <a:latin typeface="Arial"/>
              </a:rPr>
              <a:t>ωc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828800"/>
            <a:ext cx="2743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2A323D"/>
                </a:solidFill>
                <a:latin typeface="Arial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389120"/>
            <a:ext cx="457200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2960" y="4389120"/>
            <a:ext cx="50292" cy="9144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9264" y="4498848"/>
            <a:ext cx="4343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Engineering dream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4873752"/>
            <a:ext cx="43434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Perfectly flat passband, zero stopband, and an infinitely sharp transition.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4389120"/>
            <a:ext cx="457200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26480" y="4389120"/>
            <a:ext cx="50292" cy="9144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72784" y="4498848"/>
            <a:ext cx="4343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Reality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4" y="4873752"/>
            <a:ext cx="43434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price is an infinite-duration, noncausal impulse response.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IDEAL LOWPASS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Inverse DTFT produces the sinc impulse response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8</a:t>
            </a:r>
          </a:p>
        </p:txBody>
      </p:sp>
      <p:pic>
        <p:nvPicPr>
          <p:cNvPr id="6" name="Picture 5" descr="eq_401b747cf30fdb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5212080" cy="911134"/>
          </a:xfrm>
          <a:prstGeom prst="rect">
            <a:avLst/>
          </a:prstGeom>
        </p:spPr>
      </p:pic>
      <p:pic>
        <p:nvPicPr>
          <p:cNvPr id="7" name="Picture 6" descr="eq_891e46895909da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1" y="2423160"/>
            <a:ext cx="6886708" cy="1354412"/>
          </a:xfrm>
          <a:prstGeom prst="rect">
            <a:avLst/>
          </a:prstGeom>
        </p:spPr>
      </p:pic>
      <p:pic>
        <p:nvPicPr>
          <p:cNvPr id="8" name="Picture 7" descr="eq_e4c80780e76687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023785"/>
            <a:ext cx="5669280" cy="80989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90314" y="1170432"/>
            <a:ext cx="3657600" cy="1828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090314" y="1170432"/>
            <a:ext cx="50292" cy="18288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36618" y="1280160"/>
            <a:ext cx="34290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Interpretation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6618" y="1655064"/>
            <a:ext cx="3429000" cy="1261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brick-wall frequency response requires a sinc extending forever in both time directions.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963718"/>
            <a:ext cx="365760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46720" y="3963718"/>
            <a:ext cx="50292" cy="13716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93024" y="4073446"/>
            <a:ext cx="34290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Senior/grad expectation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4" y="4448350"/>
            <a:ext cx="342900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Students should be able to derive the sinc from the inverse DTFT, not only quote the result.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IDEAL LOWPASS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The ideal impulse response is infinite and two-sided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9</a:t>
            </a:r>
          </a:p>
        </p:txBody>
      </p:sp>
      <p:pic>
        <p:nvPicPr>
          <p:cNvPr id="6" name="Picture 5" descr="fir_ideal_si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25880"/>
            <a:ext cx="6583680" cy="371784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635240" y="1508760"/>
            <a:ext cx="3749039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635240" y="1508760"/>
            <a:ext cx="50292" cy="12344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81544" y="1618488"/>
            <a:ext cx="3520439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Problem 1: infinite length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81544" y="1993392"/>
            <a:ext cx="3520439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finite processor cannot store or multiply by infinitely many taps.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926080"/>
            <a:ext cx="3749039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635240" y="2926080"/>
            <a:ext cx="50292" cy="123444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81544" y="3035808"/>
            <a:ext cx="3520439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Problem 2: noncausal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81544" y="3410712"/>
            <a:ext cx="3520439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Samples for negative time imply dependence on future inputs unless we delay/shift the finite approximation.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4343400"/>
            <a:ext cx="3749039" cy="11430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635240" y="4343400"/>
            <a:ext cx="50292" cy="11430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81544" y="4453128"/>
            <a:ext cx="3520439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What we will 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81544" y="4828032"/>
            <a:ext cx="3520439" cy="576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Truncate the sinc, shift it to be causal, and shape the truncation with a window.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FINITE FIR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Center first, then shift to a causal tap sequence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10</a:t>
            </a:r>
          </a:p>
        </p:txBody>
      </p:sp>
      <p:pic>
        <p:nvPicPr>
          <p:cNvPr id="6" name="Picture 5" descr="eq_7425899234f5d6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71600"/>
            <a:ext cx="4937760" cy="7703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468880"/>
            <a:ext cx="5029200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2A323D"/>
                </a:solidFill>
                <a:latin typeface="Arial"/>
              </a:rPr>
              <a:t>For an FIR of order M with M+1 taps, centering the ideal response at M/2 gives the symmetry needed for linear phase.</a:t>
            </a:r>
          </a:p>
        </p:txBody>
      </p:sp>
      <p:pic>
        <p:nvPicPr>
          <p:cNvPr id="8" name="Picture 7" descr="eq_93088cddfc06a7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794760"/>
            <a:ext cx="3566160" cy="57648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0" y="1463040"/>
            <a:ext cx="4663440" cy="11887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0" y="1463040"/>
            <a:ext cx="50292" cy="118872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47104" y="1572768"/>
            <a:ext cx="44348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7104" y="1947672"/>
            <a:ext cx="4434840" cy="6217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N = 51 taps, M = 50 and the delay is 25 samples.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926080"/>
            <a:ext cx="4663440" cy="13258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0" y="2926080"/>
            <a:ext cx="50292" cy="13258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47104" y="3035808"/>
            <a:ext cx="44348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Important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3410712"/>
            <a:ext cx="4434840" cy="7589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shift changes phase, not magnitude. We are making the finite approximation causal by accepting a fixed delay.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GIBBS PHENOMENON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Rectangular truncation is simple—but its sidelobes are not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11</a:t>
            </a:r>
          </a:p>
        </p:txBody>
      </p:sp>
      <p:pic>
        <p:nvPicPr>
          <p:cNvPr id="6" name="Picture 5" descr="eq_ead8e3cdcffb6ba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71600"/>
            <a:ext cx="3108960" cy="36232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2240280"/>
            <a:ext cx="484632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50292" cy="12344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23544" y="2350008"/>
            <a:ext cx="4617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Time-domain 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724912"/>
            <a:ext cx="461772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rectangular window keeps a finite block of sinc samples and sets everything else to zero.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703320"/>
            <a:ext cx="4846320" cy="14173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3703320"/>
            <a:ext cx="50292" cy="141732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23544" y="3813048"/>
            <a:ext cx="4617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Frequency-domain consequence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4187952"/>
            <a:ext cx="4617720" cy="850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Abrupt truncation has strong sidelobes. Convolution with the rectangular-window spectrum creates oscillatory passband/stopband ripple.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554480"/>
            <a:ext cx="502920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22B4A"/>
                </a:solidFill>
                <a:latin typeface="Arial"/>
              </a:rPr>
              <a:t>A common misconception: “make the filter longer and the Gibbs ripple disappears.”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514600"/>
            <a:ext cx="5029200" cy="11887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2A323D"/>
                </a:solidFill>
                <a:latin typeface="Arial"/>
              </a:rPr>
              <a:t>A longer rectangular window makes the ripple region narrower, but the limiting peak overshoot near the discontinuity does not go to zero.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GIBBS PHENOMENON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Increasing length narrows the transition but does not eliminate overshoot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12</a:t>
            </a:r>
          </a:p>
        </p:txBody>
      </p:sp>
      <p:pic>
        <p:nvPicPr>
          <p:cNvPr id="6" name="Picture 5" descr="fir_gibbs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25880"/>
            <a:ext cx="7315200" cy="415636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0" y="1508760"/>
            <a:ext cx="3108960" cy="11887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0" y="1508760"/>
            <a:ext cx="50292" cy="118872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75904" y="1618488"/>
            <a:ext cx="28803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Read the plot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75904" y="1993392"/>
            <a:ext cx="2880360" cy="6217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As N increases, the oscillation is compressed toward the cutoff.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971800"/>
            <a:ext cx="310896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0" y="2971800"/>
            <a:ext cx="50292" cy="12344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75904" y="3081528"/>
            <a:ext cx="28803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But notice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5904" y="3456432"/>
            <a:ext cx="288036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peak overshoot remains visible. Length and sidelobe level are different design knobs.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4480560"/>
            <a:ext cx="3108960" cy="11430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29600" y="4480560"/>
            <a:ext cx="50292" cy="11430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75904" y="4590288"/>
            <a:ext cx="28803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Next step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4965192"/>
            <a:ext cx="2880360" cy="576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Use a smoother window to reduce sidelobes—accepting a wider transition.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WINDOW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Shape the truncation instead of switching it off abruptly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13</a:t>
            </a:r>
          </a:p>
        </p:txBody>
      </p:sp>
      <p:pic>
        <p:nvPicPr>
          <p:cNvPr id="6" name="Picture 5" descr="eq_08a96e67ae183e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3840480" cy="469232"/>
          </a:xfrm>
          <a:prstGeom prst="rect">
            <a:avLst/>
          </a:prstGeom>
        </p:spPr>
      </p:pic>
      <p:pic>
        <p:nvPicPr>
          <p:cNvPr id="7" name="Picture 6" descr="eq_644b878ded0fe1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468880"/>
            <a:ext cx="6126480" cy="100188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040880" y="1417320"/>
            <a:ext cx="429768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040880" y="1417320"/>
            <a:ext cx="50292" cy="128016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87184" y="1527048"/>
            <a:ext cx="4069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Key duality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87184" y="1901952"/>
            <a:ext cx="406908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Multiplication in time corresponds to periodic convolution in frequency.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0" y="2971800"/>
            <a:ext cx="429768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040880" y="2971800"/>
            <a:ext cx="50292" cy="14630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87184" y="3081528"/>
            <a:ext cx="4069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Design intuition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87184" y="3456432"/>
            <a:ext cx="406908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smoother time-domain taper lowers spectral sidelobes but broadens the window main lobe, which broadens the filter transition band.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WINDOWS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Rectangular → Bartlett → Hann/Hamming → Blackman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14</a:t>
            </a:r>
          </a:p>
        </p:txBody>
      </p:sp>
      <p:pic>
        <p:nvPicPr>
          <p:cNvPr id="6" name="Picture 5" descr="fir_windows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6675120" cy="379268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635240" y="1371600"/>
            <a:ext cx="365760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635240" y="1371600"/>
            <a:ext cx="50292" cy="9144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81544" y="1481328"/>
            <a:ext cx="34290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Rectangular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81544" y="1856232"/>
            <a:ext cx="34290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Hardest edges; narrowest main lobe; high sidelobes.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514600"/>
            <a:ext cx="365760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635240" y="2514600"/>
            <a:ext cx="50292" cy="10972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81544" y="2624328"/>
            <a:ext cx="34290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Hann / Hamming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81544" y="2999232"/>
            <a:ext cx="34290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Smooth taper. Hamming is designed for a particularly low first sidelobe.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3886200"/>
            <a:ext cx="365760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635240" y="3886200"/>
            <a:ext cx="50292" cy="10972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81544" y="3995928"/>
            <a:ext cx="34290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Blackman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81544" y="4370832"/>
            <a:ext cx="34290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Stronger taper and lower sidelobes, but a wider main lobe / transition.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303520"/>
            <a:ext cx="36576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1">
                <a:solidFill>
                  <a:srgbClr val="606A77"/>
                </a:solidFill>
                <a:latin typeface="Arial"/>
              </a:rPr>
              <a:t>“Hann” is the standard name; “Hanning” is common informal usage.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WINDOW TRADEOFF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Main-lobe width versus sidelobe attenuation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71600"/>
            <a:ext cx="192024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490472"/>
            <a:ext cx="18288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Window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1371600"/>
            <a:ext cx="219456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88920" y="1490472"/>
            <a:ext cx="21031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Approx. first sidelobe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1371600"/>
            <a:ext cx="224028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166359" y="1490472"/>
            <a:ext cx="214884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Approx. main-lobe width*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0" y="1371600"/>
            <a:ext cx="384048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89520" y="1490472"/>
            <a:ext cx="374904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Use when...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938528"/>
            <a:ext cx="192024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048256"/>
            <a:ext cx="182880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Rectangular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1938528"/>
            <a:ext cx="219456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88920" y="2048256"/>
            <a:ext cx="210312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≈ −13 dB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0" y="1938528"/>
            <a:ext cx="224028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66359" y="2048256"/>
            <a:ext cx="214884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≈ 4π/N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43800" y="1938528"/>
            <a:ext cx="384048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89520" y="2048256"/>
            <a:ext cx="374904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Narrow transition dominates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2551176"/>
            <a:ext cx="1920240" cy="612648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2660904"/>
            <a:ext cx="182880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Bartlett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2551176"/>
            <a:ext cx="2194560" cy="612648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788920" y="2660904"/>
            <a:ext cx="210312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≈ −26 dB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20640" y="2551176"/>
            <a:ext cx="2240280" cy="612648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166359" y="2660904"/>
            <a:ext cx="214884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≈ 8π/N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3800" y="2551176"/>
            <a:ext cx="3840480" cy="612648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589520" y="2660904"/>
            <a:ext cx="374904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Simple triangular taper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3163824"/>
            <a:ext cx="192024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520" y="3273552"/>
            <a:ext cx="182880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Hann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3163824"/>
            <a:ext cx="219456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788920" y="3273552"/>
            <a:ext cx="210312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≈ −31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20640" y="3163824"/>
            <a:ext cx="224028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166359" y="3273552"/>
            <a:ext cx="214884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≈ 8π/N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43800" y="3163824"/>
            <a:ext cx="384048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589520" y="3273552"/>
            <a:ext cx="374904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Balanced spectral leakage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3776472"/>
            <a:ext cx="1920240" cy="612648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31520" y="3886200"/>
            <a:ext cx="182880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Hamming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0" y="3776472"/>
            <a:ext cx="2194560" cy="612648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788920" y="3886200"/>
            <a:ext cx="210312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≈ −43 dB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20640" y="3776472"/>
            <a:ext cx="2240280" cy="612648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166359" y="3886200"/>
            <a:ext cx="214884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≈ 8π/N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43800" y="3776472"/>
            <a:ext cx="3840480" cy="612648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589520" y="3886200"/>
            <a:ext cx="374904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Better first sidelobe suppression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4389120"/>
            <a:ext cx="192024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31520" y="4498848"/>
            <a:ext cx="182880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Blackman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0" y="4389120"/>
            <a:ext cx="219456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788920" y="4498848"/>
            <a:ext cx="210312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≈ −58 dB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20640" y="4389120"/>
            <a:ext cx="224028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166359" y="4498848"/>
            <a:ext cx="214884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≈ 12π/N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43800" y="4389120"/>
            <a:ext cx="384048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589520" y="4498848"/>
            <a:ext cx="3749040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80" b="0" i="0">
                <a:solidFill>
                  <a:srgbClr val="2A323D"/>
                </a:solidFill>
                <a:latin typeface="Arial"/>
              </a:rPr>
              <a:t>Strong stopband suppression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257800"/>
            <a:ext cx="1078992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06A77"/>
                </a:solidFill>
                <a:latin typeface="Arial"/>
              </a:rPr>
              <a:t>*Width between the first nulls; approximate asymptotic rules for equal window length.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88720" y="5678849"/>
            <a:ext cx="9784080" cy="713231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1188720" y="5623560"/>
            <a:ext cx="50292" cy="6400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335024" y="5733288"/>
            <a:ext cx="95554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335024" y="6108192"/>
            <a:ext cx="9555480" cy="731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50" b="0" i="0" dirty="0">
                <a:solidFill>
                  <a:srgbClr val="2A323D"/>
                </a:solidFill>
                <a:latin typeface="Arial"/>
              </a:rPr>
              <a:t>There is no universally “best” window. The specification decides how much transition width can be traded for stopband suppression.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WINDOW TRADEOFF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Same length and cutoff; different transition/ripple behavior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16</a:t>
            </a:r>
          </a:p>
        </p:txBody>
      </p:sp>
      <p:pic>
        <p:nvPicPr>
          <p:cNvPr id="6" name="Picture 5" descr="fir_window_respon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98448"/>
            <a:ext cx="7589520" cy="431222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12480" y="1554480"/>
            <a:ext cx="283464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12480" y="1554480"/>
            <a:ext cx="50292" cy="9144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58784" y="166420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Rectangular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58784" y="2039112"/>
            <a:ext cx="26060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Sharpest transition, worst sidelobes.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2743200"/>
            <a:ext cx="2834640" cy="11430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412480" y="2743200"/>
            <a:ext cx="50292" cy="11430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58784" y="285292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Hamming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58784" y="3227832"/>
            <a:ext cx="2606040" cy="576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common compromise: wider transition, much lower first sidelobe.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4206240"/>
            <a:ext cx="283464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412480" y="4206240"/>
            <a:ext cx="50292" cy="9144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58784" y="431596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Blackman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58784" y="4690872"/>
            <a:ext cx="26060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Strongest attenuation here, but broadest transition.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DESIGN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A practical 51-tap Hamming lowpass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53312"/>
            <a:ext cx="2286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E87E37"/>
                </a:solidFill>
                <a:latin typeface="Arial"/>
              </a:rPr>
              <a:t>Specification sketch</a:t>
            </a:r>
          </a:p>
        </p:txBody>
      </p:sp>
      <p:pic>
        <p:nvPicPr>
          <p:cNvPr id="7" name="Picture 6" descr="eq_0aa82fe02f4193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3657600" cy="381573"/>
          </a:xfrm>
          <a:prstGeom prst="rect">
            <a:avLst/>
          </a:prstGeom>
        </p:spPr>
      </p:pic>
      <p:pic>
        <p:nvPicPr>
          <p:cNvPr id="8" name="Picture 7" descr="eq_9cef1a64bc0717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743200"/>
            <a:ext cx="4206240" cy="42694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" y="3749039"/>
            <a:ext cx="466344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3749039"/>
            <a:ext cx="50292" cy="12344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23544" y="3858767"/>
            <a:ext cx="44348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Why Hamming?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4233671"/>
            <a:ext cx="443484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We accept a somewhat wider transition in exchange for much better sidelobe rejection than rectangular truncation.</a:t>
            </a:r>
          </a:p>
        </p:txBody>
      </p:sp>
      <p:pic>
        <p:nvPicPr>
          <p:cNvPr id="13" name="Picture 12" descr="fir_window_respons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325880"/>
            <a:ext cx="5486400" cy="31172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FILTER LENGTH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Longer FIRs buy a narrower transition—at a cost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18</a:t>
            </a:r>
          </a:p>
        </p:txBody>
      </p:sp>
      <p:pic>
        <p:nvPicPr>
          <p:cNvPr id="6" name="Picture 5" descr="eq_90fdfe8dede92c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3200400" cy="52638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2514600"/>
            <a:ext cx="3383280" cy="11430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2514600"/>
            <a:ext cx="50292" cy="11430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23544" y="262432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Increase 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999232"/>
            <a:ext cx="3154680" cy="576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More taps generally narrow the transition for the same window family.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514600"/>
            <a:ext cx="3383280" cy="11430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9120" y="2514600"/>
            <a:ext cx="50292" cy="11430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5424" y="262432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But pay for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999232"/>
            <a:ext cx="3154680" cy="576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More multiplies, more memory, and larger linear-phase delay</a:t>
            </a:r>
          </a:p>
        </p:txBody>
      </p:sp>
      <p:pic>
        <p:nvPicPr>
          <p:cNvPr id="15" name="Picture 14" descr="eq_7a217251f5ed1b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3840480"/>
            <a:ext cx="2651760" cy="42866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001000" y="2514600"/>
            <a:ext cx="338328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01000" y="2514600"/>
            <a:ext cx="50292" cy="15544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47304" y="262432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ML viewpoint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7304" y="2999232"/>
            <a:ext cx="315468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longer convolution kernel also means a larger temporal receptive field and more learned parameters if the kernel is trainable.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CONCEPT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Choose the design knob that matches the problem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2900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50292" cy="13716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572768"/>
            <a:ext cx="3200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 •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320040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Stopband leakage is unacceptable, but transition width may be wider.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1463040"/>
            <a:ext cx="342900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26280" y="1463040"/>
            <a:ext cx="50292" cy="13716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72584" y="1572768"/>
            <a:ext cx="3200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 • Prompt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2584" y="1947672"/>
            <a:ext cx="320040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Transition must be very narrow, but moderate ripple is acceptable.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1463040"/>
            <a:ext cx="342900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321040" y="1463040"/>
            <a:ext cx="50292" cy="13716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67344" y="1572768"/>
            <a:ext cx="3200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 • Prompt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7344" y="1947672"/>
            <a:ext cx="320040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filtered waveform must maintain relative timing across the passband.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AABFA5-8BFB-2178-DC6F-156AC41CE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278E16-D7BC-88D2-63E4-F9A5FFC25315}"/>
              </a:ext>
            </a:extLst>
          </p:cNvPr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CONCEPT CHECK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EAC675-8373-A7A8-59EB-AF6C5B24F1F6}"/>
              </a:ext>
            </a:extLst>
          </p:cNvPr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Choose the design knob that matches the problem</a:t>
            </a: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C2F17E00-1A18-F0C2-9CFE-F14A688B83BB}"/>
              </a:ext>
            </a:extLst>
          </p:cNvPr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40D8662-D270-25F3-6B55-DDB23FC09AB0}"/>
              </a:ext>
            </a:extLst>
          </p:cNvPr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19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DDB1C26-BFF9-29A8-EC54-DBFA2A0ED151}"/>
              </a:ext>
            </a:extLst>
          </p:cNvPr>
          <p:cNvSpPr/>
          <p:nvPr/>
        </p:nvSpPr>
        <p:spPr>
          <a:xfrm>
            <a:off x="731520" y="1463040"/>
            <a:ext cx="342900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E06523-4437-1F5F-B46D-A31835DCBBF1}"/>
              </a:ext>
            </a:extLst>
          </p:cNvPr>
          <p:cNvSpPr/>
          <p:nvPr/>
        </p:nvSpPr>
        <p:spPr>
          <a:xfrm>
            <a:off x="731520" y="1463040"/>
            <a:ext cx="50292" cy="13716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5EBBE-3205-D091-66A4-F9AD98906F8B}"/>
              </a:ext>
            </a:extLst>
          </p:cNvPr>
          <p:cNvSpPr txBox="1"/>
          <p:nvPr/>
        </p:nvSpPr>
        <p:spPr>
          <a:xfrm>
            <a:off x="877824" y="1572768"/>
            <a:ext cx="3200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 • Prompt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4D1A2F-7E9C-2097-95AC-BF19DD15E6AA}"/>
              </a:ext>
            </a:extLst>
          </p:cNvPr>
          <p:cNvSpPr txBox="1"/>
          <p:nvPr/>
        </p:nvSpPr>
        <p:spPr>
          <a:xfrm>
            <a:off x="877824" y="1947672"/>
            <a:ext cx="320040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Stopband leakage is unacceptable, but transition width may be wider.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C0E0807-D47A-0E9D-E20A-A5806FA77749}"/>
              </a:ext>
            </a:extLst>
          </p:cNvPr>
          <p:cNvSpPr/>
          <p:nvPr/>
        </p:nvSpPr>
        <p:spPr>
          <a:xfrm>
            <a:off x="731520" y="3154680"/>
            <a:ext cx="342900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C46DFED-21D4-C23F-0C69-197F1E0AB311}"/>
              </a:ext>
            </a:extLst>
          </p:cNvPr>
          <p:cNvSpPr/>
          <p:nvPr/>
        </p:nvSpPr>
        <p:spPr>
          <a:xfrm>
            <a:off x="731520" y="3154680"/>
            <a:ext cx="50292" cy="15544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2059B5-E180-EEC4-ED8D-84ADC1964404}"/>
              </a:ext>
            </a:extLst>
          </p:cNvPr>
          <p:cNvSpPr txBox="1"/>
          <p:nvPr/>
        </p:nvSpPr>
        <p:spPr>
          <a:xfrm>
            <a:off x="877824" y="3264408"/>
            <a:ext cx="3200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05A205-92C8-80BA-70C7-2FE9B09C6366}"/>
              </a:ext>
            </a:extLst>
          </p:cNvPr>
          <p:cNvSpPr txBox="1"/>
          <p:nvPr/>
        </p:nvSpPr>
        <p:spPr>
          <a:xfrm>
            <a:off x="877824" y="3639312"/>
            <a:ext cx="320040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Choose a stronger taper such as Blackman or increase length.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BC07ED0-F242-BB6F-B3FC-7AF984B2A628}"/>
              </a:ext>
            </a:extLst>
          </p:cNvPr>
          <p:cNvSpPr/>
          <p:nvPr/>
        </p:nvSpPr>
        <p:spPr>
          <a:xfrm>
            <a:off x="4526280" y="1463040"/>
            <a:ext cx="342900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68F1B08-C97D-B509-EEFF-473C4741F4CF}"/>
              </a:ext>
            </a:extLst>
          </p:cNvPr>
          <p:cNvSpPr/>
          <p:nvPr/>
        </p:nvSpPr>
        <p:spPr>
          <a:xfrm>
            <a:off x="4526280" y="1463040"/>
            <a:ext cx="50292" cy="13716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8C556B-FE88-501C-3875-15FF1810BAE1}"/>
              </a:ext>
            </a:extLst>
          </p:cNvPr>
          <p:cNvSpPr txBox="1"/>
          <p:nvPr/>
        </p:nvSpPr>
        <p:spPr>
          <a:xfrm>
            <a:off x="4672584" y="1572768"/>
            <a:ext cx="3200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 • Prompt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034D98-C10A-F31C-E697-D90535611974}"/>
              </a:ext>
            </a:extLst>
          </p:cNvPr>
          <p:cNvSpPr txBox="1"/>
          <p:nvPr/>
        </p:nvSpPr>
        <p:spPr>
          <a:xfrm>
            <a:off x="4672584" y="1947672"/>
            <a:ext cx="320040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Transition must be very narrow, but moderate ripple is acceptable.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47C12D3-28A6-B60A-486B-F590FAC06479}"/>
              </a:ext>
            </a:extLst>
          </p:cNvPr>
          <p:cNvSpPr/>
          <p:nvPr/>
        </p:nvSpPr>
        <p:spPr>
          <a:xfrm>
            <a:off x="4526280" y="3154680"/>
            <a:ext cx="342900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1AB2667-9D01-3498-3F1F-708A32E6D29E}"/>
              </a:ext>
            </a:extLst>
          </p:cNvPr>
          <p:cNvSpPr/>
          <p:nvPr/>
        </p:nvSpPr>
        <p:spPr>
          <a:xfrm>
            <a:off x="4526280" y="3154680"/>
            <a:ext cx="50292" cy="15544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6108A7-6B36-AE24-EC10-8CAC9A5A96FB}"/>
              </a:ext>
            </a:extLst>
          </p:cNvPr>
          <p:cNvSpPr txBox="1"/>
          <p:nvPr/>
        </p:nvSpPr>
        <p:spPr>
          <a:xfrm>
            <a:off x="4672584" y="3264408"/>
            <a:ext cx="3200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BCCE16-745C-E80E-E596-EEB8A8590B25}"/>
              </a:ext>
            </a:extLst>
          </p:cNvPr>
          <p:cNvSpPr txBox="1"/>
          <p:nvPr/>
        </p:nvSpPr>
        <p:spPr>
          <a:xfrm>
            <a:off x="4672584" y="3639312"/>
            <a:ext cx="320040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Rectangular can give a narrower main lobe for the same N; increasing N is another option.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1A2966F-ECF8-9955-5DA6-9A1C8231EC55}"/>
              </a:ext>
            </a:extLst>
          </p:cNvPr>
          <p:cNvSpPr/>
          <p:nvPr/>
        </p:nvSpPr>
        <p:spPr>
          <a:xfrm>
            <a:off x="8321040" y="1463040"/>
            <a:ext cx="342900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A002D5-6070-5AF9-0411-52427EF297A8}"/>
              </a:ext>
            </a:extLst>
          </p:cNvPr>
          <p:cNvSpPr/>
          <p:nvPr/>
        </p:nvSpPr>
        <p:spPr>
          <a:xfrm>
            <a:off x="8321040" y="1463040"/>
            <a:ext cx="50292" cy="13716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0A7F5B5-852E-F44B-1FCE-80033E7A1B73}"/>
              </a:ext>
            </a:extLst>
          </p:cNvPr>
          <p:cNvSpPr txBox="1"/>
          <p:nvPr/>
        </p:nvSpPr>
        <p:spPr>
          <a:xfrm>
            <a:off x="8467344" y="1572768"/>
            <a:ext cx="3200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 • Prompt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BBA72C2-8623-273B-A034-9E1E83F546B7}"/>
              </a:ext>
            </a:extLst>
          </p:cNvPr>
          <p:cNvSpPr txBox="1"/>
          <p:nvPr/>
        </p:nvSpPr>
        <p:spPr>
          <a:xfrm>
            <a:off x="8467344" y="1947672"/>
            <a:ext cx="320040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filtered waveform must maintain relative timing across the passband.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BE26B460-A899-326E-C0EA-104E76C15933}"/>
              </a:ext>
            </a:extLst>
          </p:cNvPr>
          <p:cNvSpPr/>
          <p:nvPr/>
        </p:nvSpPr>
        <p:spPr>
          <a:xfrm>
            <a:off x="8321040" y="3154680"/>
            <a:ext cx="342900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B16874C-3909-6F59-BAD1-BE393BD39F38}"/>
              </a:ext>
            </a:extLst>
          </p:cNvPr>
          <p:cNvSpPr/>
          <p:nvPr/>
        </p:nvSpPr>
        <p:spPr>
          <a:xfrm>
            <a:off x="8321040" y="3154680"/>
            <a:ext cx="50292" cy="15544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D9E3DCB-D095-0CDE-195E-7042BCE5D86A}"/>
              </a:ext>
            </a:extLst>
          </p:cNvPr>
          <p:cNvSpPr txBox="1"/>
          <p:nvPr/>
        </p:nvSpPr>
        <p:spPr>
          <a:xfrm>
            <a:off x="8467344" y="3264408"/>
            <a:ext cx="3200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BA878B-0E2E-C7E2-57BA-0223B61E9062}"/>
              </a:ext>
            </a:extLst>
          </p:cNvPr>
          <p:cNvSpPr txBox="1"/>
          <p:nvPr/>
        </p:nvSpPr>
        <p:spPr>
          <a:xfrm>
            <a:off x="8467344" y="3639312"/>
            <a:ext cx="320040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Use a linear-phase FIR or another phase-preserving strategy.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51ACB67-08BB-79FF-87DA-CDA756BFB59A}"/>
              </a:ext>
            </a:extLst>
          </p:cNvPr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5C88F81-08CA-39EE-5B8C-00E8DEBA464F}"/>
              </a:ext>
            </a:extLst>
          </p:cNvPr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  <p:extLst>
      <p:ext uri="{BB962C8B-B14F-4D97-AF65-F5344CB8AC3E}">
        <p14:creationId xmlns:p14="http://schemas.microsoft.com/office/powerpoint/2010/main" val="20643581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DSP ↔ PYTORCH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A 1-D convolution is a sliding dot product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20</a:t>
            </a:r>
          </a:p>
        </p:txBody>
      </p:sp>
      <p:pic>
        <p:nvPicPr>
          <p:cNvPr id="6" name="Picture 5" descr="eq_4088984310bf6d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4572000" cy="1147297"/>
          </a:xfrm>
          <a:prstGeom prst="rect">
            <a:avLst/>
          </a:prstGeom>
        </p:spPr>
      </p:pic>
      <p:pic>
        <p:nvPicPr>
          <p:cNvPr id="7" name="Picture 6" descr="eq_3829ae31a8997b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514600"/>
            <a:ext cx="4206240" cy="50206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3657600"/>
            <a:ext cx="475488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50292" cy="128016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23544" y="3767328"/>
            <a:ext cx="45262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DSP 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4142232"/>
            <a:ext cx="452628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impulse response h[k] is designed to satisfy magnitude/phase specifications.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3657600"/>
            <a:ext cx="475488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989320" y="3657600"/>
            <a:ext cx="50292" cy="128016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35624" y="3767328"/>
            <a:ext cx="45262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ML 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35624" y="4142232"/>
            <a:ext cx="452628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same local dot product becomes a layer. The kernel may be initialized from DSP knowledge or learned from data.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PYTORCH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Conv1d uses cross-correlation ordering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21</a:t>
            </a:r>
          </a:p>
        </p:txBody>
      </p:sp>
      <p:pic>
        <p:nvPicPr>
          <p:cNvPr id="6" name="Picture 5" descr="eq_c0ae3bbc6dc9fa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71600"/>
            <a:ext cx="4846320" cy="102483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675120" y="1417320"/>
            <a:ext cx="457200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675120" y="1417320"/>
            <a:ext cx="50292" cy="12344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21424" y="1527048"/>
            <a:ext cx="4343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To reproduce textbook causal FIR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21424" y="1901952"/>
            <a:ext cx="434340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Left-pad by M samples and reverse the coefficient order before calling Conv1d.</a:t>
            </a:r>
          </a:p>
        </p:txBody>
      </p:sp>
      <p:pic>
        <p:nvPicPr>
          <p:cNvPr id="12" name="Picture 11" descr="eq_dc481ec5dbdb99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926080"/>
            <a:ext cx="2286000" cy="27285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675120" y="3794760"/>
            <a:ext cx="4572000" cy="13258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675120" y="3794760"/>
            <a:ext cx="50292" cy="13258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21424" y="3904488"/>
            <a:ext cx="4343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21424" y="4279392"/>
            <a:ext cx="4343400" cy="7589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operation is not “wrong convolution”; deep-learning libraries use a correlation convention because the kernel is usually learned anyway.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0373062-1294-CF8B-7F0B-E662DE4319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3025" y="2668816"/>
            <a:ext cx="4019550" cy="93345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BF7B093-45DD-38F5-3056-9950C4F3C88B}"/>
              </a:ext>
            </a:extLst>
          </p:cNvPr>
          <p:cNvSpPr txBox="1"/>
          <p:nvPr/>
        </p:nvSpPr>
        <p:spPr>
          <a:xfrm>
            <a:off x="2002238" y="3827764"/>
            <a:ext cx="2701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(Local-window correlation)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Fixed FIR taps inside PyTorch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5943600" cy="3383280"/>
          </a:xfrm>
          <a:prstGeom prst="roundRect">
            <a:avLst/>
          </a:prstGeom>
          <a:solidFill>
            <a:srgbClr val="1B232E"/>
          </a:solidFill>
          <a:ln w="12700">
            <a:solidFill>
              <a:srgbClr val="1B23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0392" y="1481328"/>
            <a:ext cx="566928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urier New"/>
              </a:rPr>
              <a:t>h = torch.tensor(h_np, dtype=torch.float32)
x = torch.tensor(x_np).view(1, 1, -1)
# causal textbook convolution
kernel = h.flip(0).view(1, 1, -1)
x_pad = F.pad(x, (len(h)-1, 0))
y = F.conv1d(x_pad, kernel)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1417320"/>
            <a:ext cx="4206240" cy="10515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949440" y="1417320"/>
            <a:ext cx="50292" cy="105156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095744" y="1527048"/>
            <a:ext cx="39776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Shape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95744" y="1901952"/>
            <a:ext cx="3977640" cy="4846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Input is (N,C,L). A single mono signal is (1,1,L).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2697480"/>
            <a:ext cx="4206240" cy="11887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949440" y="2697480"/>
            <a:ext cx="50292" cy="118872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95744" y="2807208"/>
            <a:ext cx="39776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Fixed weights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95744" y="3182112"/>
            <a:ext cx="3977640" cy="6217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Use a tensor or freeze a Conv1d layer so the taps do not receive gradient updates.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0" y="4160520"/>
            <a:ext cx="4206240" cy="11887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949440" y="4160520"/>
            <a:ext cx="50292" cy="118872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095744" y="4270248"/>
            <a:ext cx="39776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Learnable weights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95744" y="4645152"/>
            <a:ext cx="3977640" cy="6217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Leave requires_grad=True and the same coefficients become trainable model parameters.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TENSOR SHAPES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Batch, channel, and length carry physical meaning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23</a:t>
            </a:r>
          </a:p>
        </p:txBody>
      </p:sp>
      <p:pic>
        <p:nvPicPr>
          <p:cNvPr id="6" name="Picture 5" descr="eq_c74e7c3b2beae4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4389120" cy="48263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2514600"/>
            <a:ext cx="329184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2514600"/>
            <a:ext cx="50292" cy="128016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23544" y="2624328"/>
            <a:ext cx="30632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 • Batch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999232"/>
            <a:ext cx="306324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Independent clips/examples processed together.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514600"/>
            <a:ext cx="329184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34840" y="2514600"/>
            <a:ext cx="50292" cy="128016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81144" y="2624328"/>
            <a:ext cx="30632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 • Channel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2999232"/>
            <a:ext cx="306324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Mono, stereo, microphones, sensors, or learned feature maps.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514600"/>
            <a:ext cx="329184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92440" y="2514600"/>
            <a:ext cx="50292" cy="128016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38744" y="2624328"/>
            <a:ext cx="30632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L • Length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999232"/>
            <a:ext cx="306324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Discrete-time sample index / temporal extent.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663440"/>
            <a:ext cx="99669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000" b="1" i="0">
                <a:solidFill>
                  <a:srgbClr val="122B4A"/>
                </a:solidFill>
                <a:latin typeface="Arial"/>
              </a:rPr>
              <a:t>Example: 32 stereo one-second clips at 16 kHz → (32, 2, 16000)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NumPy convolution and PyTorch Conv1d agree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24</a:t>
            </a:r>
          </a:p>
        </p:txBody>
      </p:sp>
      <p:pic>
        <p:nvPicPr>
          <p:cNvPr id="6" name="Picture 5" descr="fir_torch_m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7680960" cy="436418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58200" y="1554480"/>
            <a:ext cx="2926080" cy="13258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58200" y="1554480"/>
            <a:ext cx="50292" cy="13258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04504" y="1664208"/>
            <a:ext cx="26974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Numerical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04504" y="2039112"/>
            <a:ext cx="2697480" cy="7589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supplied script reports a maximum mismatch on the order of 10⁻⁷ in float32.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3291840"/>
            <a:ext cx="292608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458200" y="3291840"/>
            <a:ext cx="50292" cy="15544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04504" y="3401568"/>
            <a:ext cx="26974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Teaching 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04504" y="3776472"/>
            <a:ext cx="269748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Same filter, same signal-processing operation. The distinction is whether the coefficients are fixed by design or optimized from data.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DSP ↔ 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Designed taps versus learned taps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828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18288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31089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Classical FIR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3108960" cy="1261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Choose desired H(e^{jω}) → derive ideal h[n] → truncate/window → verify specifications.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417320"/>
            <a:ext cx="3337560" cy="1828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34840" y="1417320"/>
            <a:ext cx="50292" cy="18288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81144" y="1527048"/>
            <a:ext cx="31089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Hybrid approach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1901952"/>
            <a:ext cx="3108960" cy="1261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Initialize Conv1d with a known bandpass/lowpass/filterbank and optionally fine-tune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417320"/>
            <a:ext cx="3337560" cy="1828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3879" y="1417320"/>
            <a:ext cx="50292" cy="18288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30183" y="1527048"/>
            <a:ext cx="31089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Fully learned convolution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3" y="1901952"/>
            <a:ext cx="3108960" cy="1261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Choose kernel size and channels; backpropagation learns coefficients that reduce task loss.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977639"/>
            <a:ext cx="10149840" cy="640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100" b="1" i="0">
                <a:solidFill>
                  <a:srgbClr val="122B4A"/>
                </a:solidFill>
                <a:latin typeface="Arial"/>
              </a:rPr>
              <a:t>The arithmetic is the same local weighted sum; the source of the weights is what changes.</a:t>
            </a:r>
          </a:p>
        </p:txBody>
      </p:sp>
      <p:pic>
        <p:nvPicPr>
          <p:cNvPr id="19" name="Picture 18" descr="eq_e0f8dcee168a9c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4937760"/>
            <a:ext cx="8229600" cy="10287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Translate the classical vocabulary into ML vocabulary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25880"/>
            <a:ext cx="237744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22860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DSP concept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325880"/>
            <a:ext cx="283464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37560" y="1463040"/>
            <a:ext cx="27432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Mathematical role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02920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463040"/>
            <a:ext cx="49377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ML connection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1874519"/>
            <a:ext cx="23774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1965960"/>
            <a:ext cx="22311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FIR filter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1874519"/>
            <a:ext cx="28346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64992" y="1965960"/>
            <a:ext cx="26883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feedforward delay 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874519"/>
            <a:ext cx="5029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73952" y="1965960"/>
            <a:ext cx="488289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Conv1d with fixed or learnable kernel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587752"/>
            <a:ext cx="2377440" cy="713232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2679192"/>
            <a:ext cx="22311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Tap h[k]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2587752"/>
            <a:ext cx="2834640" cy="713232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364992" y="2679192"/>
            <a:ext cx="26883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impulse-response coefficient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587752"/>
            <a:ext cx="5029200" cy="713232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73952" y="2679192"/>
            <a:ext cx="488289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kernel / weight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300984"/>
            <a:ext cx="23774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4672" y="3392424"/>
            <a:ext cx="22311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Window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91840" y="3300984"/>
            <a:ext cx="28346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364992" y="3392424"/>
            <a:ext cx="26883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controls truncation spectrum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300984"/>
            <a:ext cx="5029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73952" y="3392424"/>
            <a:ext cx="488289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inductive constraint on kernel support; not the same as ML regularization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4014216"/>
            <a:ext cx="2377440" cy="713232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4672" y="4105656"/>
            <a:ext cx="22311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Linear phase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91840" y="4014216"/>
            <a:ext cx="2834640" cy="713232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364992" y="4105656"/>
            <a:ext cx="26883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constant group delay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014216"/>
            <a:ext cx="5029200" cy="713232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73952" y="4105656"/>
            <a:ext cx="488289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preserves relative temporal alignment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4727448"/>
            <a:ext cx="23774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4672" y="4818888"/>
            <a:ext cx="22311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Filter length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91840" y="4727448"/>
            <a:ext cx="28346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364992" y="4818888"/>
            <a:ext cx="268833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transition width + delay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4727448"/>
            <a:ext cx="50292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73952" y="4818888"/>
            <a:ext cx="4882896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50" b="0" i="0">
                <a:solidFill>
                  <a:srgbClr val="2A323D"/>
                </a:solidFill>
                <a:latin typeface="Arial"/>
              </a:rPr>
              <a:t>receptive field + parameter count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5715000"/>
            <a:ext cx="1051560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80" b="0" i="1">
                <a:solidFill>
                  <a:srgbClr val="606A77"/>
                </a:solidFill>
                <a:latin typeface="Arial"/>
              </a:rPr>
              <a:t>Nuance: a classical window is a deterministic spectral-design device; calling it “kernel regularization” is only an analogy.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Lecture 7 synthesis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6304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63040"/>
            <a:ext cx="50292" cy="20116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7276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Linear phase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4767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Symmetric FIR taps can provide constant group delay.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6304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63040"/>
            <a:ext cx="50292" cy="20116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7276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Ideal → practical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4767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brick-wall LPF becomes a sinc; finite implementation requires truncation and delay.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6304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63040"/>
            <a:ext cx="50292" cy="20116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7276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Window tradeoff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4767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Lower sidelobes cost transition width.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6304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63040"/>
            <a:ext cx="50292" cy="201168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7276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PyTorch bridge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4767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Conv1d performs the same local weighted sum; its weights may be fixed or learned.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206240"/>
            <a:ext cx="103327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122B4A"/>
                </a:solidFill>
                <a:latin typeface="Arial"/>
              </a:rPr>
              <a:t>Minute paper: What does a neural 1-D convolution add to the FIR operation itself?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79B29F-D282-876F-99C9-A77159CFB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E3B4A1-668B-8C6F-E5FA-1F30BC557AFF}"/>
              </a:ext>
            </a:extLst>
          </p:cNvPr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WRAP-UP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13F6AA-0DBB-3AD6-62DB-F3BE2E8F085B}"/>
              </a:ext>
            </a:extLst>
          </p:cNvPr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Lecture 7 synthesis</a:t>
            </a: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594610CA-912E-D5C8-3EAA-0398B3C795A9}"/>
              </a:ext>
            </a:extLst>
          </p:cNvPr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43D279B-8676-24FB-62EC-044A32346AE0}"/>
              </a:ext>
            </a:extLst>
          </p:cNvPr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27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926E025-5238-B0CC-4704-B75CC021764A}"/>
              </a:ext>
            </a:extLst>
          </p:cNvPr>
          <p:cNvSpPr/>
          <p:nvPr/>
        </p:nvSpPr>
        <p:spPr>
          <a:xfrm>
            <a:off x="685800" y="146304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729FF9-25FA-9BA0-FB06-5057EC1F7F86}"/>
              </a:ext>
            </a:extLst>
          </p:cNvPr>
          <p:cNvSpPr/>
          <p:nvPr/>
        </p:nvSpPr>
        <p:spPr>
          <a:xfrm>
            <a:off x="685800" y="1463040"/>
            <a:ext cx="50292" cy="20116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6FBD42-A5A8-640E-087E-BA34AD0C3724}"/>
              </a:ext>
            </a:extLst>
          </p:cNvPr>
          <p:cNvSpPr txBox="1"/>
          <p:nvPr/>
        </p:nvSpPr>
        <p:spPr>
          <a:xfrm>
            <a:off x="832104" y="157276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Linear phase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B0924F-5AC4-7E11-B45B-3E324AE4C9EC}"/>
              </a:ext>
            </a:extLst>
          </p:cNvPr>
          <p:cNvSpPr txBox="1"/>
          <p:nvPr/>
        </p:nvSpPr>
        <p:spPr>
          <a:xfrm>
            <a:off x="832104" y="194767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Symmetric FIR taps can provide constant group delay.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A5B88BE-36D0-6019-8F28-30B05FEA4478}"/>
              </a:ext>
            </a:extLst>
          </p:cNvPr>
          <p:cNvSpPr/>
          <p:nvPr/>
        </p:nvSpPr>
        <p:spPr>
          <a:xfrm>
            <a:off x="3520440" y="146304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65C677-D278-B395-6BDF-A3F254ACDED8}"/>
              </a:ext>
            </a:extLst>
          </p:cNvPr>
          <p:cNvSpPr/>
          <p:nvPr/>
        </p:nvSpPr>
        <p:spPr>
          <a:xfrm>
            <a:off x="3520440" y="1463040"/>
            <a:ext cx="50292" cy="20116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1F4018-4E9F-5DC7-A777-BCBB0CEF23AA}"/>
              </a:ext>
            </a:extLst>
          </p:cNvPr>
          <p:cNvSpPr txBox="1"/>
          <p:nvPr/>
        </p:nvSpPr>
        <p:spPr>
          <a:xfrm>
            <a:off x="3666744" y="157276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Ideal → practical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C41394-1E5E-EE1C-DF29-F20B9873370B}"/>
              </a:ext>
            </a:extLst>
          </p:cNvPr>
          <p:cNvSpPr txBox="1"/>
          <p:nvPr/>
        </p:nvSpPr>
        <p:spPr>
          <a:xfrm>
            <a:off x="3666744" y="194767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brick-wall LPF becomes a sinc; finite implementation requires truncation and delay.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F3D8EC5-101F-13D5-D67F-EB069B45F770}"/>
              </a:ext>
            </a:extLst>
          </p:cNvPr>
          <p:cNvSpPr/>
          <p:nvPr/>
        </p:nvSpPr>
        <p:spPr>
          <a:xfrm>
            <a:off x="6355080" y="146304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A49A1EF-5B62-E322-CFB4-DE5EC88976C8}"/>
              </a:ext>
            </a:extLst>
          </p:cNvPr>
          <p:cNvSpPr/>
          <p:nvPr/>
        </p:nvSpPr>
        <p:spPr>
          <a:xfrm>
            <a:off x="6355080" y="1463040"/>
            <a:ext cx="50292" cy="20116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3E1D492-A2D0-10AC-EEE0-57D43D437AC2}"/>
              </a:ext>
            </a:extLst>
          </p:cNvPr>
          <p:cNvSpPr txBox="1"/>
          <p:nvPr/>
        </p:nvSpPr>
        <p:spPr>
          <a:xfrm>
            <a:off x="6501384" y="157276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Window tradeoff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BEE8139-0954-D78E-7C11-0E7A7F8640AB}"/>
              </a:ext>
            </a:extLst>
          </p:cNvPr>
          <p:cNvSpPr txBox="1"/>
          <p:nvPr/>
        </p:nvSpPr>
        <p:spPr>
          <a:xfrm>
            <a:off x="6501384" y="194767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Lower sidelobes cost transition width.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1D6CB01-596A-7BE7-5762-0172B9D2C940}"/>
              </a:ext>
            </a:extLst>
          </p:cNvPr>
          <p:cNvSpPr/>
          <p:nvPr/>
        </p:nvSpPr>
        <p:spPr>
          <a:xfrm>
            <a:off x="9189720" y="146304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BDB3F6-1991-A7FC-39C9-07426AAFC2E1}"/>
              </a:ext>
            </a:extLst>
          </p:cNvPr>
          <p:cNvSpPr/>
          <p:nvPr/>
        </p:nvSpPr>
        <p:spPr>
          <a:xfrm>
            <a:off x="9189720" y="1463040"/>
            <a:ext cx="50292" cy="201168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00CB145-47C6-44AC-858C-193EAECD6C83}"/>
              </a:ext>
            </a:extLst>
          </p:cNvPr>
          <p:cNvSpPr txBox="1"/>
          <p:nvPr/>
        </p:nvSpPr>
        <p:spPr>
          <a:xfrm>
            <a:off x="9336024" y="157276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PyTorch bridge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AEA0682-BB1D-4020-BEEF-6540FE1E9BF1}"/>
              </a:ext>
            </a:extLst>
          </p:cNvPr>
          <p:cNvSpPr txBox="1"/>
          <p:nvPr/>
        </p:nvSpPr>
        <p:spPr>
          <a:xfrm>
            <a:off x="9336024" y="194767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Conv1d performs the same local weighted sum; its weights may be fixed or learned.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B95C4B4-660B-DC70-9A0B-1341FD1DC094}"/>
              </a:ext>
            </a:extLst>
          </p:cNvPr>
          <p:cNvSpPr txBox="1"/>
          <p:nvPr/>
        </p:nvSpPr>
        <p:spPr>
          <a:xfrm>
            <a:off x="914400" y="4206240"/>
            <a:ext cx="103327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122B4A"/>
                </a:solidFill>
                <a:latin typeface="Arial"/>
              </a:rPr>
              <a:t>Minute paper: What does a neural 1-D convolution add to the FIR operation itself?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E634F242-F169-98B9-17A0-209883953303}"/>
              </a:ext>
            </a:extLst>
          </p:cNvPr>
          <p:cNvSpPr/>
          <p:nvPr/>
        </p:nvSpPr>
        <p:spPr>
          <a:xfrm>
            <a:off x="1965960" y="4937760"/>
            <a:ext cx="8229600" cy="9601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72341C-18A1-2DFD-4D67-8C5DBB1226F5}"/>
              </a:ext>
            </a:extLst>
          </p:cNvPr>
          <p:cNvSpPr/>
          <p:nvPr/>
        </p:nvSpPr>
        <p:spPr>
          <a:xfrm>
            <a:off x="1965960" y="4937760"/>
            <a:ext cx="50292" cy="96012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6AEBF4-8C74-63A4-F925-E394947D1A43}"/>
              </a:ext>
            </a:extLst>
          </p:cNvPr>
          <p:cNvSpPr txBox="1"/>
          <p:nvPr/>
        </p:nvSpPr>
        <p:spPr>
          <a:xfrm>
            <a:off x="2112264" y="5047488"/>
            <a:ext cx="80010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Strong answer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28B033-F80B-FDAE-329A-70279D2B83F5}"/>
              </a:ext>
            </a:extLst>
          </p:cNvPr>
          <p:cNvSpPr txBox="1"/>
          <p:nvPr/>
        </p:nvSpPr>
        <p:spPr>
          <a:xfrm>
            <a:off x="2112264" y="5422392"/>
            <a:ext cx="8001000" cy="3931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It does not change the local multiply-and-sum operation. It places that operation inside a trainable model so the kernel coefficients can be learned from a loss.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A24529D-BF04-CD96-164A-DA4C6F909BB1}"/>
              </a:ext>
            </a:extLst>
          </p:cNvPr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66F8372-FC55-94E8-4D22-9B8A6B013EFA}"/>
              </a:ext>
            </a:extLst>
          </p:cNvPr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  <p:extLst>
      <p:ext uri="{BB962C8B-B14F-4D97-AF65-F5344CB8AC3E}">
        <p14:creationId xmlns:p14="http://schemas.microsoft.com/office/powerpoint/2010/main" val="23552728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Problems 1–4 • FIR and Conv1d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60320" cy="3200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32004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1 • Ideal LPF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2331720" cy="2633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Derive the sinc from the inverse DTFT; explain noncausality; find delay for N=41.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17320"/>
            <a:ext cx="2560320" cy="3200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17320"/>
            <a:ext cx="50292" cy="32004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2 • Window tradeoff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01952"/>
            <a:ext cx="2331720" cy="2633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Rectangular vs Hamming: transition, sidelobes, and Gibbs behavior.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560320" cy="3200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50292" cy="32004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3 • Linear phase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01952"/>
            <a:ext cx="2331720" cy="2633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Show symmetric FIR form and derive constant group delay.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560320" cy="3200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50292" cy="320040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4 • Conv1d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01952"/>
            <a:ext cx="2331720" cy="2633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Compute a 3-tap convolution and explain the PyTorch kernel flip.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166360"/>
            <a:ext cx="1014984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00" b="1" i="0">
                <a:solidFill>
                  <a:srgbClr val="122B4A"/>
                </a:solidFill>
                <a:latin typeface="Arial"/>
              </a:rPr>
              <a:t>Full worked solutions are included in Lectures7_8_Homework_Quiz_Solutions.md and the instructor package.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INSTRUCTOR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Homework solutions • Problems 1–2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1208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50292" cy="20116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527048"/>
            <a:ext cx="49834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1 • Ideal LPF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498348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Inverse DTFT gives the sinc; h_d[0]=ω_c/π. The ideal response is infinite and two-sided. For N=41, shift by 20 samples and τ_g=20.</a:t>
            </a:r>
          </a:p>
        </p:txBody>
      </p:sp>
      <p:pic>
        <p:nvPicPr>
          <p:cNvPr id="10" name="Picture 9" descr="eq_9042b7e17da42e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94760"/>
            <a:ext cx="4754880" cy="70608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63640" y="1417320"/>
            <a:ext cx="5120640" cy="30175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417320"/>
            <a:ext cx="50292" cy="301752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9944" y="1527048"/>
            <a:ext cx="4892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2 • Windows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901952"/>
            <a:ext cx="4892040" cy="2450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Rectangular: narrower transition but ≈−13 dB first sidelobe. Hamming: wider transition but ≈−43 dB first sidelobe. Increasing rectangular-window length narrows the Gibbs region; it does not eliminate peak overshoot.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INSTRUCTOR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Homework solutions • Problems 3–4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120640" cy="15087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50292" cy="150876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527048"/>
            <a:ext cx="4892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3 • Symmetry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4892040" cy="9418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Pairing symmetric taps gives a real amplitude term times a pure delay. Therefore group delay is constant.</a:t>
            </a:r>
          </a:p>
        </p:txBody>
      </p:sp>
      <p:pic>
        <p:nvPicPr>
          <p:cNvPr id="10" name="Picture 9" descr="eq_564ecb477badba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00400"/>
            <a:ext cx="4754880" cy="69267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17920" y="1417320"/>
            <a:ext cx="5120640" cy="2971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50292" cy="297180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64224" y="1527048"/>
            <a:ext cx="4892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4 • Convolution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1901952"/>
            <a:ext cx="4892040" cy="2404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h=[0.2,0.5,0.3] and x=[1,2,0,−1], the first four causal outputs are [0.2,0.9,1.3,0.4]. Conv1d uses correlation ordering, so flip the taps for textbook convolution.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1118</TotalTime>
  <Words>2792</Words>
  <Application>Microsoft Office PowerPoint</Application>
  <PresentationFormat>Widescreen</PresentationFormat>
  <Paragraphs>397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7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Peter Mathys</cp:lastModifiedBy>
  <cp:revision>6</cp:revision>
  <cp:lastPrinted>2026-09-01T19:44:10Z</cp:lastPrinted>
  <dcterms:created xsi:type="dcterms:W3CDTF">2013-01-27T09:14:16Z</dcterms:created>
  <dcterms:modified xsi:type="dcterms:W3CDTF">2026-09-15T05:58:54Z</dcterms:modified>
  <cp:category/>
</cp:coreProperties>
</file>