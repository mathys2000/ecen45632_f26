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IIR Design, Bilinear Transformation,
&amp;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analog prototypes to stable digital filters—and the phase choices hidden in ML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analog prototypes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bilinear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prewarping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offline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0–15 min • Analog prototypes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Butterworth, Chebyshev I/II, and elliptic tradeoffs.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15–40 min • Bilinear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the analog LHP into the digital unit disk while preserving stability.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40–60 min • Warping +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Ω(ω) and hit the desired digital critical frequencies.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60–75 min • ML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Causal IIR versus forward-backward zero-phase filtering and deployment implications.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IIR design gives efficient recursive filters; ML preprocessing must also account for phase, causality, and train/deployment consistency.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accept feedback and nonlinear phase?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 magnitude selectivity can often be obtained with far fewer coefficients than an FIR meeting comparable magnitude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recursive denominator introduces poles and typically nonlinear phase / frequency-dependent group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offline denoising or smoothing, compact IIR filters are attractive—but preprocessing must match the temporal assumptions of deployment.</a:t>
            </a:r>
          </a:p>
        </p:txBody>
      </p:sp>
      <p:pic>
        <p:nvPicPr>
          <p:cNvPr id="18" name="Picture 17" descr="eq_454b281a1511f2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069080"/>
            <a:ext cx="7040880" cy="1469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PROTOTYPES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Four classical ways to spend ripple and transition width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iir_analog_prot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4630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463040"/>
            <a:ext cx="50292" cy="914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5727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Butterworth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19476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Maximally flat magnitude in the passband; monotonic.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65176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6517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761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Chebyshev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13639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Spend ripple in one band to sharpen the transition.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840480"/>
            <a:ext cx="28346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3840480"/>
            <a:ext cx="50292" cy="10515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3950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Elliptic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325112"/>
            <a:ext cx="26060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in both bands; steepest transition for a given order/specification.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Maximally flat magnitude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eq_62a8c3eaef3b8c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1534026"/>
          </a:xfrm>
          <a:prstGeom prst="rect">
            <a:avLst/>
          </a:prstGeom>
        </p:spPr>
      </p:pic>
      <p:pic>
        <p:nvPicPr>
          <p:cNvPr id="7" name="Picture 6" descr="eq_e5c940fa22db2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81130"/>
            <a:ext cx="6217920" cy="9291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35824" y="15727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Order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194767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N steepens the transition around Ω_c.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34640"/>
            <a:ext cx="36576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83464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35824" y="29443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passband ripple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3319272"/>
            <a:ext cx="34290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attractive when smooth magnitude behavior matters more than the narrowest possible transition.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48056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44805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4" y="459028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496519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the cutoff, the squared magnitude is 1/2 regardless of 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increasing order buys—and what it costs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eq_0c1d009d8a26d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035040" cy="1253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17519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Each additional pole increases asymptotic attenuation by about 20 dB/decade.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017519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order means more states / sections and greater numerical sensitivity in direct-form implementations.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17519"/>
            <a:ext cx="32004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3017519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3127247"/>
            <a:ext cx="2971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502151"/>
            <a:ext cx="2971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second-order sections for moderate/high-order digital IIR implementations when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PROTOTYPE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the ripple is allowed to live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574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39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Passband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Stopband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3886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463040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Transition / comment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74519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02082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Butterworth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39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02082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maximally flat; smooth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5176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79806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39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65176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279806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sharper for allowed passband ripple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29000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357530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39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42900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357530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spend ripple in stopband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20624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35254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Elliptic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63239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20624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435254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steepest transition for given order/spec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79788" y="5422393"/>
            <a:ext cx="9509760" cy="685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255014" y="5422393"/>
            <a:ext cx="50292" cy="685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26464" y="5458968"/>
            <a:ext cx="9281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Engineering habit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6464" y="5833872"/>
            <a:ext cx="928116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Choose the prototype from passband/stopband tolerances and order requirements—not from a universal ranking.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C03B2-73A0-513B-9A8A-8217DCE4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F76B7-0958-F7DF-A4F5-D2EE23A63D19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554CF-F3B9-2566-C425-28304A1B078C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0E3DD775-3350-6237-52A5-48A8391D7058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DFA53A-81D3-E39C-9D71-A7C8A346D832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EDBA7E-4AC1-2FC5-B1C9-4F194A82498B}"/>
              </a:ext>
            </a:extLst>
          </p:cNvPr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1F6888-57A5-D8E9-7AC0-4CD813D18A73}"/>
              </a:ext>
            </a:extLst>
          </p:cNvPr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200FB-9C1B-4479-3AB2-13B90A57FB9E}"/>
              </a:ext>
            </a:extLst>
          </p:cNvPr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E062F-B7BE-FA60-B16E-189F73D34949}"/>
              </a:ext>
            </a:extLst>
          </p:cNvPr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714D4B-9DA8-ED40-177F-9DBF20CDBD04}"/>
              </a:ext>
            </a:extLst>
          </p:cNvPr>
          <p:cNvSpPr/>
          <p:nvPr/>
        </p:nvSpPr>
        <p:spPr>
          <a:xfrm>
            <a:off x="73152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BC8B05-456C-9125-88DB-620488953038}"/>
              </a:ext>
            </a:extLst>
          </p:cNvPr>
          <p:cNvSpPr/>
          <p:nvPr/>
        </p:nvSpPr>
        <p:spPr>
          <a:xfrm>
            <a:off x="731520" y="306324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A8D0F-D0E3-DC27-A49E-598F9D52B556}"/>
              </a:ext>
            </a:extLst>
          </p:cNvPr>
          <p:cNvSpPr txBox="1"/>
          <p:nvPr/>
        </p:nvSpPr>
        <p:spPr>
          <a:xfrm>
            <a:off x="87782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C6BDE-AF40-173F-D113-1F5753EB2407}"/>
              </a:ext>
            </a:extLst>
          </p:cNvPr>
          <p:cNvSpPr txBox="1"/>
          <p:nvPr/>
        </p:nvSpPr>
        <p:spPr>
          <a:xfrm>
            <a:off x="87782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 natural first choice because it is monotonic and maximally flat.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67E596-C988-16CB-8423-8BC05877784B}"/>
              </a:ext>
            </a:extLst>
          </p:cNvPr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E1AA7-7933-F61C-E807-29B77EC3648C}"/>
              </a:ext>
            </a:extLst>
          </p:cNvPr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8045E-6A56-2E87-046F-BF52087E62D9}"/>
              </a:ext>
            </a:extLst>
          </p:cNvPr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65AAD-FA99-4479-6617-F6DC74F1D83D}"/>
              </a:ext>
            </a:extLst>
          </p:cNvPr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BE97EF1-B0DD-3C75-40A1-7412B27D1F41}"/>
              </a:ext>
            </a:extLst>
          </p:cNvPr>
          <p:cNvSpPr/>
          <p:nvPr/>
        </p:nvSpPr>
        <p:spPr>
          <a:xfrm>
            <a:off x="443484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1027E-3639-2724-EF60-7D7F16A30CF5}"/>
              </a:ext>
            </a:extLst>
          </p:cNvPr>
          <p:cNvSpPr/>
          <p:nvPr/>
        </p:nvSpPr>
        <p:spPr>
          <a:xfrm>
            <a:off x="4434840" y="306324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4D22FA-951E-BC55-DAEB-400E03F313A4}"/>
              </a:ext>
            </a:extLst>
          </p:cNvPr>
          <p:cNvSpPr txBox="1"/>
          <p:nvPr/>
        </p:nvSpPr>
        <p:spPr>
          <a:xfrm>
            <a:off x="458114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8F883E-7CA7-7188-F21A-D717BAC7AD39}"/>
              </a:ext>
            </a:extLst>
          </p:cNvPr>
          <p:cNvSpPr txBox="1"/>
          <p:nvPr/>
        </p:nvSpPr>
        <p:spPr>
          <a:xfrm>
            <a:off x="458114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Chebyshev I trades passband ripple for a sharper transition.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D680862-A431-42F4-F14A-AC76022B48BD}"/>
              </a:ext>
            </a:extLst>
          </p:cNvPr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FAFC5D-68C9-080F-3628-72F3F9513993}"/>
              </a:ext>
            </a:extLst>
          </p:cNvPr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4A01B7-F3FD-7A1D-A452-4784F2EC2276}"/>
              </a:ext>
            </a:extLst>
          </p:cNvPr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F98167-DFFE-3A6E-77EA-CFE3819D8BBF}"/>
              </a:ext>
            </a:extLst>
          </p:cNvPr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307643-5311-BDD4-4EC0-11B8602AE044}"/>
              </a:ext>
            </a:extLst>
          </p:cNvPr>
          <p:cNvSpPr/>
          <p:nvPr/>
        </p:nvSpPr>
        <p:spPr>
          <a:xfrm>
            <a:off x="813816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DC9F91-48E6-9872-DAF1-9C2AC33740F9}"/>
              </a:ext>
            </a:extLst>
          </p:cNvPr>
          <p:cNvSpPr/>
          <p:nvPr/>
        </p:nvSpPr>
        <p:spPr>
          <a:xfrm>
            <a:off x="8138160" y="306324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D05952-6416-3625-64AA-D1B89F153320}"/>
              </a:ext>
            </a:extLst>
          </p:cNvPr>
          <p:cNvSpPr txBox="1"/>
          <p:nvPr/>
        </p:nvSpPr>
        <p:spPr>
          <a:xfrm>
            <a:off x="828446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1DAEA9-E44B-7A60-8D68-02D15A674A2D}"/>
              </a:ext>
            </a:extLst>
          </p:cNvPr>
          <p:cNvSpPr txBox="1"/>
          <p:nvPr/>
        </p:nvSpPr>
        <p:spPr>
          <a:xfrm>
            <a:off x="828446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Elliptic is often the most aggressive classical choice.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330B36-45F2-2463-2243-5C8A2DFE7104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5A1F52-DC22-7A0F-9880-62DD96787CDC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3538382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→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must a useful domain map preserve?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Analog stable poles satisfy Re{s}&lt;0. They must map to |z|&lt;1.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analog jΩ axis should map to the digital unit circle z=e^{jω}.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One-to-one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Avoid aliasing of multiple analog frequencies onto the same digital frequency.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bilinear transform satisfies these properties—but its price is nonlinear frequency warping.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BILINEAR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substitution that maps the half-plane to the disk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8aa7f017591418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389120" cy="812647"/>
          </a:xfrm>
          <a:prstGeom prst="rect">
            <a:avLst/>
          </a:prstGeom>
        </p:spPr>
      </p:pic>
      <p:pic>
        <p:nvPicPr>
          <p:cNvPr id="7" name="Picture 6" descr="eq_92da49cc1fb71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0"/>
            <a:ext cx="3931920" cy="7243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417320"/>
            <a:ext cx="502920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15584" y="152704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1901952"/>
            <a:ext cx="480060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 is the sampling period used in the analog-to-digital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43200"/>
            <a:ext cx="50292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274320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5584" y="28529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227832"/>
            <a:ext cx="48006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This is not the impulse-invariance map z=e^{sT}. The bilinear transform avoids frequency aliasing but warps the axis.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the analog left-half plane lands inside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373a404e9c46c6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663440" cy="876586"/>
          </a:xfrm>
          <a:prstGeom prst="rect">
            <a:avLst/>
          </a:prstGeom>
        </p:spPr>
      </p:pic>
      <p:pic>
        <p:nvPicPr>
          <p:cNvPr id="7" name="Picture 6" descr="eq_945229a29281a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" y="2427413"/>
            <a:ext cx="6516695" cy="822960"/>
          </a:xfrm>
          <a:prstGeom prst="rect">
            <a:avLst/>
          </a:prstGeom>
        </p:spPr>
      </p:pic>
      <p:pic>
        <p:nvPicPr>
          <p:cNvPr id="8" name="Picture 7" descr="eq_7e8e5f5c4032ce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11880"/>
            <a:ext cx="2560320" cy="3416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0" y="1472184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0" y="1472184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158191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4" y="1956816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negative real part makes the numerator magnitude smaller than the denominator magnitude, so a stable analog pole maps inside the digital unit circle.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3483864"/>
            <a:ext cx="429768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0" y="3483864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44384" y="359359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3968496"/>
            <a:ext cx="406908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σ=0, numerator and denominator magnitudes are equal, hence |z|=1.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Representative analog stable poles map inside |z|=1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iir_bilinear_po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21817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554480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1554480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67144" y="16642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2039112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shown analog pole has negative real part. After the bilinear map, every digital pole lies strictly inside the unit circle.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1188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361188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7144" y="37216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This is the guarantee we want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409651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Start from a stable analog prototype and the mapped digital filter remains stable, barring numerical implementation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analog jΩ axis maps exactly onto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5fccd76c2f62b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023360" cy="453762"/>
          </a:xfrm>
          <a:prstGeom prst="rect">
            <a:avLst/>
          </a:prstGeom>
        </p:spPr>
      </p:pic>
      <p:pic>
        <p:nvPicPr>
          <p:cNvPr id="7" name="Picture 6" descr="eq_301d517cf8a29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394960" cy="801131"/>
          </a:xfrm>
          <a:prstGeom prst="rect">
            <a:avLst/>
          </a:prstGeom>
        </p:spPr>
      </p:pic>
      <p:pic>
        <p:nvPicPr>
          <p:cNvPr id="8" name="Picture 7" descr="eq_aaab5185354626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5852160" cy="869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645920"/>
            <a:ext cx="43891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164592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4304" y="175564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130552"/>
            <a:ext cx="41605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Ω=0 maps to ω=0. As |Ω|→∞, the digital frequency approaches ±π and z approaches −1.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438912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35661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4304" y="367588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aliasing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4050792"/>
            <a:ext cx="416052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entire analog frequency axis maps one-to-one into −π&lt;ω&lt;π.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price of the one-to-one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eq_8fc34ff581eba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303520" cy="971980"/>
          </a:xfrm>
          <a:prstGeom prst="rect">
            <a:avLst/>
          </a:prstGeom>
        </p:spPr>
      </p:pic>
      <p:pic>
        <p:nvPicPr>
          <p:cNvPr id="7" name="Picture 6" descr="eq_b824e165219b9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5303520" cy="11314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417320"/>
            <a:ext cx="45720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54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Low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1901952"/>
            <a:ext cx="43434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small ω, tan(ω/2)≈ω/2, so Ω≈ω/T.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80360"/>
            <a:ext cx="4572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88036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29900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Near Nyquist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3364992"/>
            <a:ext cx="4343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map becomes strongly nonlinear; equal analog frequency intervals do not remain equal digital 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Near Nyquist, the analog axis is stretched dramatically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iir_frequency_war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772400" cy="44161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645920"/>
            <a:ext cx="27432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645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75564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130552"/>
            <a:ext cx="25146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relationship is nearly linear near DC but diverges as ω→π.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63240"/>
            <a:ext cx="27432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06324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17296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547872"/>
            <a:ext cx="25146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design the analog cutoff at the unwarped numeric value, the final digital cutoff misses its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PREWARPING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 dirty="0">
                <a:solidFill>
                  <a:srgbClr val="122B4A"/>
                </a:solidFill>
                <a:latin typeface="Arial"/>
              </a:rPr>
              <a:t>Design the analog prototype at the frequency that maps to the desired digital 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4444" y="1378192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eq_95cf1f4e17d885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80846"/>
            <a:ext cx="5212080" cy="842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169566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Design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581046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Digital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ripple / attenuation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3581046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Prewarp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each critical digital frequency to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581046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Analog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Butterworth / Chebyshev / elliptic prototype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3581046"/>
            <a:ext cx="50292" cy="15544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Bilinear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substitute s(z) to obtain the digital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Prewarp a desired cutoff at 0.4π rad/sample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pic>
        <p:nvPicPr>
          <p:cNvPr id="6" name="Picture 5" descr="eq_0de928ed302769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023360" cy="431074"/>
          </a:xfrm>
          <a:prstGeom prst="rect">
            <a:avLst/>
          </a:prstGeom>
        </p:spPr>
      </p:pic>
      <p:pic>
        <p:nvPicPr>
          <p:cNvPr id="7" name="Picture 6" descr="eq_cbe6f5f0e454da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5943600" cy="7764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the analog prototype at Ω_c≈1.4531—not at 0.4π≈1.2566.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After the bilinear transform, the measured −3 dB point lands at approximately 0.4π.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From digital specification to digital IIR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Digital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A_p, A_s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39" y="182880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094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266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Analog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H_c(s)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828800"/>
            <a:ext cx="50292" cy="14630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H(z)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29800" y="1828800"/>
            <a:ext cx="50292" cy="1463040"/>
          </a:xfrm>
          <a:prstGeom prst="rect">
            <a:avLst/>
          </a:prstGeom>
          <a:solidFill>
            <a:srgbClr val="7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7610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freqz + numerical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69080"/>
            <a:ext cx="102412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The bilinear transform preserves stability, not exact frequency spacing. Verification is part of the design, not an optional afterthought.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Explicit analog prototype → bilinear transform in SciPy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035040" cy="356616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7607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Courier New"/>
              </a:rPr>
              <a:t>wc = 0.4*np.pi
T = 1.0
Omega_c = (2/T)*np.tan(wc/2)
b_a, a_a = signal.butter(4, Omega_c, analog=True)
b_z, a_z = signal.bilinear(b_a, a_a, fs=1/T)
w, H = signal.freqz(b_z, a_z)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63040"/>
            <a:ext cx="411480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6304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7276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show the explicit path?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47672"/>
            <a:ext cx="388620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makes prewarping and the analog prototype visible instead of hiding the mathematics inside one convenience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41148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324612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35584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730752"/>
            <a:ext cx="38862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deployment, prefer numerically robust second-order-section forms when order becomes substantial.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prewarped design hits the intended digital cutoff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iir_prewarp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1005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005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Desired digital cutoff: ω_c = 0.4π.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83464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83464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9443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31927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script finds the −3 dB point at ≈0.3999π.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976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976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4074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823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Always verify the digital response after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Efficient magnitude selectivity does not usually preserve waveform shape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iir_nonlinear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040880" cy="4000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554480"/>
            <a:ext cx="32918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66420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Nonlinear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024" y="2039112"/>
            <a:ext cx="30632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phase is not a straight line in ω, so group delay varies with frequency.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918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3108960"/>
            <a:ext cx="50292" cy="15087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321868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3593592"/>
            <a:ext cx="30632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timing relationships are part of the feature, causal IIR preprocessing can alter them. That may or may not matter depending on the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Frequency-dependent group delay makes the distortion easier to see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i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645920"/>
            <a:ext cx="301752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75564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Contrast with Lecture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130552"/>
            <a:ext cx="278892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symmetric FIR had nearly constant τ_g. Here the delay changes across the passband/transition.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83280"/>
            <a:ext cx="30175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49300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Practical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67912"/>
            <a:ext cx="27889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Does the downstream model care about absolute timing, relative timing, or only long-term spectral statistics?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Forward-backward filtering cancels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5885df518f806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6400800" cy="818147"/>
          </a:xfrm>
          <a:prstGeom prst="rect">
            <a:avLst/>
          </a:prstGeom>
        </p:spPr>
      </p:pic>
      <p:pic>
        <p:nvPicPr>
          <p:cNvPr id="7" name="Picture 6" descr="eq_bb091832dc518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7498079" cy="9584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50876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1618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199339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real-coefficient filters, the phases cancel: zero-phase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8803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80" y="28803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58784" y="29900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magnitude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3649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magnitude is squared, so attenuation in dB is approximately doubled.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34340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43434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44531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And causality is gone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482803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backward pass uses future samples relative to a streaming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Compare causal IIR delay with forward-backward zero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iir_filtfilt_trans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818120" cy="4251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554480"/>
            <a:ext cx="26517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66420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Causal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039112"/>
            <a:ext cx="24231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is delayed and reshaped according to the filter phase/group delay.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200400"/>
            <a:ext cx="265176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20040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31012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685032"/>
            <a:ext cx="242316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aligns much more closely in time—but the method is offline and noncausal.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FORWARD-BACKWARD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 phase does not mean “the same filter twice for free”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pic>
        <p:nvPicPr>
          <p:cNvPr id="6" name="Picture 5" descr="iir_filtfilt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is |H|.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8892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788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89864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Two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27355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|H|²; order/effective selectivity are increased.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519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3616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365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need a final −3 dB edge after forward-backward filtering, design with the two-pass response in mind.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Zero-phase preprocessing can quietly change the learning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148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Noncausal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Future samples are used; not reproducible in a strict real-time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1488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 transients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Finite-record initial conditions and padding can distort the beginning/end.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1488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squared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effective response is not the same as one causal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1488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Train/serve skew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model trained with future-aware filtering may see a different distribution when deployed causally.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Good engineering question: “Will the exact same preprocessing be available when the model is actually used?”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a classical IIR can fit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0292" cy="14173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Raw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sensor /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246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IIR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remove nuisance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MFCCs, energy, flux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50292" cy="141732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SVM / RF / 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Appropriate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known high-frequency interference band is irrelevant to the classification task and can be attenuated efficiently before features are computed.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Question before filtering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Could the “noise” contain class information? Fixed preprocessing is an inductive assumption and should be validated.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FIR, IIR, or learned front end?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6459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554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Cost /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325880"/>
            <a:ext cx="30175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29260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Good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74519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8424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Linear-phase FIR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6039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controlled phase + finite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more taps / 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874519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98424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waveform alignment matters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5176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76148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IIR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39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sharp response with few coefficients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nonlinear phase;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65176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276148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efficient causal preprocessing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42900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53872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filtfilt IIR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39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zero phase 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noncausal; |H|²; edges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42900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353872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offline dataset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0624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1596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Learned Conv1d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06039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task-adaptive front 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32120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needs data/validation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20624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200" y="431596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end-to-end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8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where ripple is allowed and how much transition width you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Stable analog LHP → stable digital unit disk.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Critical frequencies must be mapped through tan(ω/2).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Phase, causality, edges, and deployment consistency are part of the ML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Minute paper: Why can a zero-phase offline preprocessing pipeline give misleading confidence about a streaming deployment?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Problems 5–8 • IIR, bilinear transform, preprocessing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200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Evaluate a fourth-order Butterworth response at Ω_c and 2Ω_c.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200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Stability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s=−2+j3 through the bilinear transform for T=0.1 and verify |z|&lt;1.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200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Compute Ω_c for desired ω_c=0.4π, T=1.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2004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filtfilt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phase cancellation, |H|², noncausality, and ML train/serve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12080"/>
            <a:ext cx="9784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22B4A"/>
                </a:solidFill>
                <a:latin typeface="Arial"/>
              </a:rPr>
              <a:t>Full worked solutions are included in Lectures7_8_Homework_Quiz_Solutions.md.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1–4 • 10–12 minutes total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Q1 •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symmetric FIR has N=31 taps. What is its group delay?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Q2 •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vs rectangular: which has lower sidelobes? Which has narrower main lobe?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Q3 • Gibbs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Gibbs phenomenon in one sentence.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Q4 • Conv1d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Why flip fixed FIR taps when reproducing textbook convolution?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in dB at Ω=Ω_c?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Q6 • 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State the Ω–ω bilinear frequency relation.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ω_c=0.6π, should the analog prototype use Ω_c=0.6π/T directly? Why?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Q8 • Zero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 benefit and main deployment limitation of forward-backward filtering?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87E37"/>
                </a:solidFill>
                <a:latin typeface="Arial"/>
              </a:rPr>
              <a:t>INSTRUCTOR SOLUTION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Weekly Quiz + Homework
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86868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C8D4E2"/>
                </a:solidFill>
                <a:latin typeface="Arial"/>
              </a:rPr>
              <a:t>Keep these slides after the student-facing material or move them to a separate instructor deck.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1–4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1089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τ_g=(31−1)/2=15 samples.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1089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→ lower sidelobes; rectangular → narrower main lobe.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1089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produces oscillatory ripple near a frequency discontinuity; increasing N narrows the ripple region but does not drive peak overshoot to zero.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10896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uses cross-correlation ordering; textbook convolution contains x[n−k], which reverses one sequence.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971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−3.01 dB because |H|=1/√2.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971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Ω=(2/T)tan(ω/2).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971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No. Prewarp with Ω_c=(2/T)tan(0.3π).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9718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Benefit: zero net phase offline. Limitation: noncausal/future-aware, so it cannot be reproduced directly in a strict streaming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5–6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27432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983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98348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Ω=Ω_c: |H|=1/√2 → −3.01 dB. At Ω=2Ω_c with N=4: |H|²=1/(1+2⁸)=1/257, so |H|≈0.0624 → ≈−24.1 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0292" cy="27432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Pole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901952"/>
            <a:ext cx="489204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T=0.1 and s=−2+j3, z=(1+sT/2)/(1−sT/2)≈0.785+j0.243, so |z|≈0.822&lt;1.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7–8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892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ω_c=0.4π and T=1:</a:t>
            </a:r>
          </a:p>
        </p:txBody>
      </p:sp>
      <p:pic>
        <p:nvPicPr>
          <p:cNvPr id="10" name="Picture 9" descr="eq_6cb892ae0f1d4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4480560" cy="395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292" cy="27432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01952"/>
            <a:ext cx="489204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 and phase cancels. It is noncausal, has boundary handling issues, and can create train/deployment mismatch if inference must be 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3040</Words>
  <Application>Microsoft Office PowerPoint</Application>
  <PresentationFormat>Widescreen</PresentationFormat>
  <Paragraphs>465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5</cp:revision>
  <cp:lastPrinted>2026-09-01T19:55:00Z</cp:lastPrinted>
  <dcterms:created xsi:type="dcterms:W3CDTF">2013-01-27T09:14:16Z</dcterms:created>
  <dcterms:modified xsi:type="dcterms:W3CDTF">2026-09-11T02:51:11Z</dcterms:modified>
  <cp:category/>
</cp:coreProperties>
</file>