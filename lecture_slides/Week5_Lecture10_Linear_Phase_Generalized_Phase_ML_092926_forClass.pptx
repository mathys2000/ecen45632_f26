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9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95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D85FE69-9F96-4C69-9221-133ABE28BF7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95154F-20C0-4D34-A0BB-7B4B290552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50567D-018D-424A-A19A-0BB842E750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E9B035-3DE4-4C3F-A719-B3A0D6C635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9A553F-E138-4D64-9E34-69CD26E829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26C473-60A1-4812-8164-4252231EF2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93F125-8D77-46D3-8DB8-9D165506C9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F0045A-2FC2-4B60-B6C6-F65373FE96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5035A4-70F2-4EDA-AB4D-EEB8505178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230881-B542-40FB-965F-936830ACCC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15C5D4-5F54-48B1-9072-4FE746D485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6729D8-8A4B-4C65-8485-D29174DFE2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419C5D-1C7F-44C9-8A24-99AD5B64A7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705089-3018-489B-AFAF-FD35CE7A82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A2AA59-4537-4DF0-873D-43E67F4131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2318DE-64C1-4FD5-8EA3-1101806253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F23B33-5779-4C36-973B-E7FE10D586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548A8F-DE47-49E4-9CA9-4D10E06AB3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3F9266-86D5-4A6D-A8B4-E58763A40C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628C17-B12E-4038-89C0-55BD914825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00E8FD-7236-4D17-B06F-4D3287ABEE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03C961-5259-4722-8EA4-DE212FC79F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F48672-38C1-472E-A339-923CE9F825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0D09B1-4EBD-4B73-B800-01E18A8A21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D279FB-1A58-4E15-8593-08ECC19347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6F1E7-0A58-1C23-B240-84D0909BB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>
            <a:extLst>
              <a:ext uri="{FF2B5EF4-FFF2-40B4-BE49-F238E27FC236}">
                <a16:creationId xmlns:a16="http://schemas.microsoft.com/office/drawing/2014/main" id="{F05F91F3-1847-E093-DA6E-E601AE376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>
            <a:extLst>
              <a:ext uri="{FF2B5EF4-FFF2-40B4-BE49-F238E27FC236}">
                <a16:creationId xmlns:a16="http://schemas.microsoft.com/office/drawing/2014/main" id="{D0ABA338-7B76-C4B1-CA3F-4304942886B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>
            <a:extLst>
              <a:ext uri="{FF2B5EF4-FFF2-40B4-BE49-F238E27FC236}">
                <a16:creationId xmlns:a16="http://schemas.microsoft.com/office/drawing/2014/main" id="{3C9C92DD-AEA5-029E-59F9-7C6CD87C3A92}"/>
              </a:ext>
            </a:extLst>
          </p:cNvPr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D279FB-1A58-4E15-8593-08ECC19347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327971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D9A909-7B0A-4300-9354-BCD1EF58EA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AF6FDF-87AE-4BE6-8F2D-800210864F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8C57E7-184D-49F6-851B-A4BDDD2235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9761BF-D4E2-4BF2-A71C-3518E5E052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7F1EAC-54D7-4F50-AD03-E2FB0F524F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2610A3-F1F1-4001-9FAA-D2744CA3B8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F1EF20-42D5-4566-A3E5-051B9757D9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10, 9-29-26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94360" y="5029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A7C7E7"/>
                </a:solidFill>
                <a:effectLst/>
                <a:uFillTx/>
                <a:latin typeface="Aptos"/>
              </a:rPr>
              <a:t>WEEK 5 ● LECTURE 10</a:t>
            </a:r>
            <a:endParaRPr lang="en-US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94360" y="1234440"/>
            <a:ext cx="105152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Linear Phase, Generalized Phase, and ML Intersections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94360" y="274320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From symmetry constraints to the four FIR types and phase-aware Conv1d kernels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94360" y="393192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generalized phase  →  FIR Types I–IV  →  zero constellations  →  Conv1d bias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498348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75 minutes • senior + first-year graduate ECE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94360" y="55321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Equations typeset in standard mathematical notation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Roadmap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40080" y="1417320"/>
            <a:ext cx="109724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0–25 min • Derive generalized linear phase and why practical exact linear-phase rational filters are FIR.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25–50 min • Use symmetry / antisymmetry to classify FIR Types I–IV and their forced endpoint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50–70 min • Interpret a Conv1d kernel as a trainable FIR and ask how to enforce linear-phase inductive bias.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70–75 min • Bridge to multirate filtering: alias suppression needs magnitude selectivity; linear phase is often desirable for alignment.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Generalized linear phase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914400" y="1371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914400" y="2514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868680" y="3657600"/>
            <a:ext cx="1014948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A(ω) is real for the standard real-coefficient linear-phase FIR cases.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Its sign can cause π phase jumps without changing the underlying constant group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physically important quantity is τg=α.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Picture 27" descr="eq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203" y="1464826"/>
            <a:ext cx="4391314" cy="590428"/>
          </a:xfrm>
          <a:prstGeom prst="rect">
            <a:avLst/>
          </a:prstGeom>
        </p:spPr>
      </p:pic>
      <p:pic>
        <p:nvPicPr>
          <p:cNvPr id="29" name="Picture 28" descr="eq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528" y="2607826"/>
            <a:ext cx="5696664" cy="5904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Why exact linear phase points to FIR structure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5"/>
          <p:cNvSpPr/>
          <p:nvPr/>
        </p:nvSpPr>
        <p:spPr>
          <a:xfrm>
            <a:off x="777240" y="1417320"/>
            <a:ext cx="10515240" cy="402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stable causal rational IIR has poles whose phase contributions vary with frequency.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To obtain exact constant group delay over the full usable band, reciprocal pole effects would need exact cancellation; stable causal cancellation reduces to trivial scale/delay behavior in the practical rational setting.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Thus the nontrivial exact linear-phase filters used in DSP are FIR filters with symmetry constraints.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6"/>
          <p:cNvSpPr/>
          <p:nvPr/>
        </p:nvSpPr>
        <p:spPr>
          <a:xfrm>
            <a:off x="1031786" y="5361068"/>
            <a:ext cx="9692280" cy="94176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1243440" y="5413320"/>
            <a:ext cx="9399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Nuance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1243440" y="5742360"/>
            <a:ext cx="9399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Pure delays and trivial scale/delay factors are FIR anyway; “only FIR” should be understood in the standard stable causal rational filter-design context.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Symmetry gives generalized linear phase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731520" y="1371600"/>
            <a:ext cx="521172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6217920" y="1371600"/>
            <a:ext cx="521172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7"/>
          <p:cNvSpPr/>
          <p:nvPr/>
        </p:nvSpPr>
        <p:spPr>
          <a:xfrm>
            <a:off x="731520" y="2468880"/>
            <a:ext cx="5211720" cy="1554120"/>
          </a:xfrm>
          <a:prstGeom prst="roundRect">
            <a:avLst>
              <a:gd name="adj" fmla="val 3529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8"/>
          <p:cNvSpPr/>
          <p:nvPr/>
        </p:nvSpPr>
        <p:spPr>
          <a:xfrm>
            <a:off x="877680" y="257868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Symmetric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9"/>
          <p:cNvSpPr/>
          <p:nvPr/>
        </p:nvSpPr>
        <p:spPr>
          <a:xfrm>
            <a:off x="877680" y="2907720"/>
            <a:ext cx="4919040" cy="102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Pairing n with M-n yields cosine terms after factoring out e^(-jω M/2).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0"/>
          <p:cNvSpPr/>
          <p:nvPr/>
        </p:nvSpPr>
        <p:spPr>
          <a:xfrm>
            <a:off x="6217920" y="2468880"/>
            <a:ext cx="5211720" cy="1554120"/>
          </a:xfrm>
          <a:prstGeom prst="roundRect">
            <a:avLst>
              <a:gd name="adj" fmla="val 3529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6364080" y="257868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Antisymmetric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6364080" y="2907720"/>
            <a:ext cx="4919040" cy="102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Pairing produces sine terms and an additional ±π/2 phase offset.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3"/>
          <p:cNvSpPr/>
          <p:nvPr/>
        </p:nvSpPr>
        <p:spPr>
          <a:xfrm>
            <a:off x="1097280" y="4754880"/>
            <a:ext cx="978372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Picture 50" descr="eq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964" y="1453853"/>
            <a:ext cx="4214832" cy="520934"/>
          </a:xfrm>
          <a:prstGeom prst="rect">
            <a:avLst/>
          </a:prstGeom>
        </p:spPr>
      </p:pic>
      <p:pic>
        <p:nvPicPr>
          <p:cNvPr id="52" name="Picture 51" descr="eq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623" y="1460258"/>
            <a:ext cx="4586313" cy="508123"/>
          </a:xfrm>
          <a:prstGeom prst="rect">
            <a:avLst/>
          </a:prstGeom>
        </p:spPr>
      </p:pic>
      <p:pic>
        <p:nvPicPr>
          <p:cNvPr id="53" name="Picture 52" descr="eq_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0656" y="4842619"/>
            <a:ext cx="5136967" cy="5556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Symmetric derivation by pairing taps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777240" y="1417320"/>
            <a:ext cx="10515240" cy="33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Start with H(e^(jω))=Σₙ₌₀^(M)h[n]e^(-jω n).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Pair n with M-n using h[n]=h[M-n].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Each pair becomes a real cosine factor times e^(-jω M/2).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Therefore all non-sign phase is the pure delay term -ω M/2.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1920240" y="4937760"/>
            <a:ext cx="82292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Picture 57" descr="eq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886" y="5025499"/>
            <a:ext cx="2445948" cy="5556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Antisymmetry gives a sine-weighted amplitude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5"/>
          <p:cNvSpPr/>
          <p:nvPr/>
        </p:nvSpPr>
        <p:spPr>
          <a:xfrm>
            <a:off x="822960" y="1417320"/>
            <a:ext cx="10240920" cy="329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h[n]=-h[M-n], paired terms become proportional to sin((M/2-n)ω).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frequency response is again a pure delay times a real amplitude, with a fixed quadrature factor.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That symmetry forces endpoint zeros that determine which responses are possible.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The four real FIR linear-phase types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5"/>
          <p:cNvSpPr/>
          <p:nvPr/>
        </p:nvSpPr>
        <p:spPr>
          <a:xfrm>
            <a:off x="822960" y="1417320"/>
            <a:ext cx="484596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 • odd N, 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II • even N, 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III • odd N, antisymmetric.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IV • even N, antisymmetric.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0" descr="/mnt/data/week5_lectures9_10/assets/L10_four_types_mag.png"/>
          <p:cNvPicPr/>
          <p:nvPr/>
        </p:nvPicPr>
        <p:blipFill>
          <a:blip r:embed="rId3"/>
          <a:stretch/>
        </p:blipFill>
        <p:spPr>
          <a:xfrm>
            <a:off x="5486400" y="1325880"/>
            <a:ext cx="5851800" cy="425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Shape 6"/>
          <p:cNvSpPr/>
          <p:nvPr/>
        </p:nvSpPr>
        <p:spPr>
          <a:xfrm>
            <a:off x="822960" y="4663439"/>
            <a:ext cx="4571640" cy="1469571"/>
          </a:xfrm>
          <a:prstGeom prst="roundRect">
            <a:avLst>
              <a:gd name="adj" fmla="val 4444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7"/>
          <p:cNvSpPr/>
          <p:nvPr/>
        </p:nvSpPr>
        <p:spPr>
          <a:xfrm>
            <a:off x="969120" y="4773240"/>
            <a:ext cx="4278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Why four?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8"/>
          <p:cNvSpPr/>
          <p:nvPr/>
        </p:nvSpPr>
        <p:spPr>
          <a:xfrm>
            <a:off x="969120" y="5102280"/>
            <a:ext cx="427896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Parity of length and choice of symmetry determine whether the midpoint is a sample or half-sample and which endpoint zeros are forced.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I: odd length, 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1005840" y="1371600"/>
            <a:ext cx="100580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822960" y="2560320"/>
            <a:ext cx="1014948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Group delay is integer: M/2=(N-1)/2.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No zero at z=1 or z=-1 is forced by symmetry alone.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Can realize low-pass, high-pass, band-pass, band-stop, and many other real linear-phase responses.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Picture 80" descr="eq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3647" y="1459339"/>
            <a:ext cx="7642426" cy="5556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II: even length, 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1005840" y="1371600"/>
            <a:ext cx="100580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914400" y="2514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822960" y="3703320"/>
            <a:ext cx="10240920" cy="191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Group delay is half-integer.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Because gain must vanish at Nyquist, a Type II filter cannot realize a high-pass response with nonzero H(e^(jπ)).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Picture 88" descr="eq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839" y="1459339"/>
            <a:ext cx="7996041" cy="555681"/>
          </a:xfrm>
          <a:prstGeom prst="rect">
            <a:avLst/>
          </a:prstGeom>
        </p:spPr>
      </p:pic>
      <p:pic>
        <p:nvPicPr>
          <p:cNvPr id="90" name="Picture 89" descr="eq_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0243" y="2607826"/>
            <a:ext cx="8889233" cy="5904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III: odd length, antisymmetric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5"/>
          <p:cNvSpPr/>
          <p:nvPr/>
        </p:nvSpPr>
        <p:spPr>
          <a:xfrm>
            <a:off x="914400" y="1325880"/>
            <a:ext cx="1024092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1005840" y="2468880"/>
            <a:ext cx="1005804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822960" y="3657600"/>
            <a:ext cx="1024092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Forced zeros at z=1 and z=-1.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Cannot have nonzero DC or Nyquist gain.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Useful for differentiator-like or Hilbert-transform structures over an interior band.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Picture 96" descr="eq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848" y="1413619"/>
            <a:ext cx="8162024" cy="555681"/>
          </a:xfrm>
          <a:prstGeom prst="rect">
            <a:avLst/>
          </a:prstGeom>
        </p:spPr>
      </p:pic>
      <p:pic>
        <p:nvPicPr>
          <p:cNvPr id="98" name="Picture 97" descr="eq_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8459" y="2562106"/>
            <a:ext cx="6612802" cy="5904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IV: even length, antisymmetric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914400" y="1325880"/>
            <a:ext cx="1024092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2011680" y="2468880"/>
            <a:ext cx="80463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822960" y="3657600"/>
            <a:ext cx="1024092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Forced zero at DC, but not necessarily at Nyquist.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Half-integer group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Well suited to Hilbert transformers and differentiators, where zero DC response is natural.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Picture 104" descr="eq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040" y="1413619"/>
            <a:ext cx="8515640" cy="555681"/>
          </a:xfrm>
          <a:prstGeom prst="rect">
            <a:avLst/>
          </a:prstGeom>
        </p:spPr>
      </p:pic>
      <p:pic>
        <p:nvPicPr>
          <p:cNvPr id="106" name="Picture 105" descr="eq_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360" y="2556619"/>
            <a:ext cx="2444999" cy="5556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check: why Type II cannot be high-pass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5"/>
          <p:cNvSpPr/>
          <p:nvPr/>
        </p:nvSpPr>
        <p:spPr>
          <a:xfrm>
            <a:off x="777240" y="1417320"/>
            <a:ext cx="1042380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high-pass normally requires appreciable gain near ω=π.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II symmetry forces H(e^(jπ))=0.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Therefore the required endpoint behavior contradicts the symmetry constraint.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Strong answer: this is not a matter of filter order; it is structural and holds for every Type II FIR.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Zero symmetry for real linear-phase FIR filters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914400" y="1325880"/>
            <a:ext cx="10240920" cy="8226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0" descr="/mnt/data/week5_lectures9_10/assets/L10_four_zero_constellation.png"/>
          <p:cNvPicPr/>
          <p:nvPr/>
        </p:nvPicPr>
        <p:blipFill>
          <a:blip r:embed="rId3"/>
          <a:stretch/>
        </p:blipFill>
        <p:spPr>
          <a:xfrm>
            <a:off x="3657600" y="2423160"/>
            <a:ext cx="4754520" cy="365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Shape 6"/>
          <p:cNvSpPr/>
          <p:nvPr/>
        </p:nvSpPr>
        <p:spPr>
          <a:xfrm>
            <a:off x="685800" y="2743200"/>
            <a:ext cx="2742840" cy="2011320"/>
          </a:xfrm>
          <a:prstGeom prst="roundRect">
            <a:avLst>
              <a:gd name="adj" fmla="val 2727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7"/>
          <p:cNvSpPr/>
          <p:nvPr/>
        </p:nvSpPr>
        <p:spPr>
          <a:xfrm>
            <a:off x="831960" y="285300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Why four?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8"/>
          <p:cNvSpPr/>
          <p:nvPr/>
        </p:nvSpPr>
        <p:spPr>
          <a:xfrm>
            <a:off x="831960" y="3182040"/>
            <a:ext cx="2450160" cy="148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Real coefficients give conjugate symmetry; palindromic / anti-palindromic linear-phase structure gives reciprocal symmetry.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9"/>
          <p:cNvSpPr/>
          <p:nvPr/>
        </p:nvSpPr>
        <p:spPr>
          <a:xfrm>
            <a:off x="8641080" y="2743200"/>
            <a:ext cx="2742840" cy="2011320"/>
          </a:xfrm>
          <a:prstGeom prst="roundRect">
            <a:avLst>
              <a:gd name="adj" fmla="val 2727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0"/>
          <p:cNvSpPr/>
          <p:nvPr/>
        </p:nvSpPr>
        <p:spPr>
          <a:xfrm>
            <a:off x="8787240" y="285300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Degenerate cases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1"/>
          <p:cNvSpPr/>
          <p:nvPr/>
        </p:nvSpPr>
        <p:spPr>
          <a:xfrm>
            <a:off x="8787240" y="3182040"/>
            <a:ext cx="2450160" cy="148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Zeros on the unit circle or real axis can collapse the four-point set into pairs or individual points.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Picture 123" descr="eq_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8432" y="1424592"/>
            <a:ext cx="3112855" cy="6251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Polynomial viewpoint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777240" y="1417320"/>
            <a:ext cx="10423800" cy="31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symmetric FIR has a palindromic coefficient polynomial; an antisymmetric FIR has an anti-palindromic 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z₀ is a zero, reciprocal symmetry forces 1/z₀ (with conjugation as required for real coefficients).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This zero geometry is the z-plane fingerprint of linear phase.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6"/>
          <p:cNvSpPr/>
          <p:nvPr/>
        </p:nvSpPr>
        <p:spPr>
          <a:xfrm>
            <a:off x="1645920" y="4709160"/>
            <a:ext cx="88693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Picture 130" descr="eq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7977" y="4802386"/>
            <a:ext cx="5025205" cy="5904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Generalized phase: sign changes create apparent phase jumps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777240" y="1417320"/>
            <a:ext cx="1051524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When the real amplitude factor A(ω) crosses zero, its sign changes.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negative real amplitude contributes an additional π to the displayed phase.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unwrapped phase may show jumps, but the underlying delay term remains -ω M/2.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 group delay away from magnitude zeros to diagnose the physical timing behavior.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Conv1d is a trainable FIR-like local operator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685800" y="1325880"/>
            <a:ext cx="10789560" cy="8683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777240" y="2606040"/>
            <a:ext cx="1042380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one input/output channel, the kernel is simply a finite set of tap weights.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Multiple channels generalize one FIR to a bank of learned finite-support cross-correlations.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Deep-learning libraries use correlation ordering, but the FIR interpretation remains useful.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Picture 143" descr="eq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431" y="1430078"/>
            <a:ext cx="3990298" cy="65992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 random Conv1d kernel does not have linear phase by default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Image 0" descr="/mnt/data/week5_lectures9_10/assets/L10_random_vs_symmetric_gd.png"/>
          <p:cNvPicPr/>
          <p:nvPr/>
        </p:nvPicPr>
        <p:blipFill>
          <a:blip r:embed="rId3"/>
          <a:stretch/>
        </p:blipFill>
        <p:spPr>
          <a:xfrm>
            <a:off x="685800" y="1280160"/>
            <a:ext cx="731484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Shape 5"/>
          <p:cNvSpPr/>
          <p:nvPr/>
        </p:nvSpPr>
        <p:spPr>
          <a:xfrm>
            <a:off x="8229600" y="1645920"/>
            <a:ext cx="2971440" cy="2742840"/>
          </a:xfrm>
          <a:prstGeom prst="roundRect">
            <a:avLst>
              <a:gd name="adj" fmla="val 2000"/>
            </a:avLst>
          </a:prstGeom>
          <a:solidFill>
            <a:srgbClr val="F7FAFC"/>
          </a:solidFill>
          <a:ln w="1905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8375760" y="1755720"/>
            <a:ext cx="2678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1C1C"/>
                </a:solidFill>
                <a:effectLst/>
                <a:uFillTx/>
                <a:latin typeface="Aptos"/>
              </a:rPr>
              <a:t>Read the plot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8375760" y="2084760"/>
            <a:ext cx="2678760" cy="221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generic random kernel has no symmetry constraint, so its group delay varies. Symmetrizing the coefficients forces the FIR into a linear-phase family.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How to impose symmetry in a trainable kernel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5"/>
          <p:cNvSpPr/>
          <p:nvPr/>
        </p:nvSpPr>
        <p:spPr>
          <a:xfrm>
            <a:off x="914400" y="1371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6"/>
          <p:cNvSpPr/>
          <p:nvPr/>
        </p:nvSpPr>
        <p:spPr>
          <a:xfrm>
            <a:off x="777240" y="2560320"/>
            <a:ext cx="1042380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Learn only one half of the taps (and the center tap for odd length).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Construct the other half by reversal inside the forward pass.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Autograd still trains the independent parameters, but every realized kernel remains symmetric.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This is an architectural inductive bias, not a post-hoc correction.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Picture 159" descr="eq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929" y="1464826"/>
            <a:ext cx="8243862" cy="5904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PyTorch symmetry parameterization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5"/>
          <p:cNvSpPr/>
          <p:nvPr/>
        </p:nvSpPr>
        <p:spPr>
          <a:xfrm>
            <a:off x="822960" y="1325880"/>
            <a:ext cx="10423800" cy="448020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half = nn.Parameter(torch.randn(R))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center = nn.Parameter(torch.randn(1))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def kernel(self):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return torch.cat([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    self.half,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    self.center,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    torch.flip(self.half, dims=[0])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])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Use the constructed kernel in conv1d.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Symmetry is exact at every optimizer step.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What inductive bias are we adding?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5"/>
          <p:cNvSpPr/>
          <p:nvPr/>
        </p:nvSpPr>
        <p:spPr>
          <a:xfrm>
            <a:off x="777240" y="1417320"/>
            <a:ext cx="1051524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Benefit: exact generalized linear phase and fewer independent parameters.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Benefit: preserves relative timing when that invariance is known to matter.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Cost: the model cannot learn an arbitrary nonlinear-phase kernel even if the task would benefit from 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Engineering principle: constrain only what physics or deployment requirements justify.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Fixed, constrained, or fully learned front end?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5"/>
          <p:cNvSpPr/>
          <p:nvPr/>
        </p:nvSpPr>
        <p:spPr>
          <a:xfrm>
            <a:off x="640080" y="1508760"/>
            <a:ext cx="34743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75B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6"/>
          <p:cNvSpPr/>
          <p:nvPr/>
        </p:nvSpPr>
        <p:spPr>
          <a:xfrm>
            <a:off x="786240" y="161856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Fixed DSP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7"/>
          <p:cNvSpPr/>
          <p:nvPr/>
        </p:nvSpPr>
        <p:spPr>
          <a:xfrm>
            <a:off x="786240" y="1947600"/>
            <a:ext cx="31816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Design taps from a frequency specification; no learning.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8"/>
          <p:cNvSpPr/>
          <p:nvPr/>
        </p:nvSpPr>
        <p:spPr>
          <a:xfrm>
            <a:off x="4343400" y="1508760"/>
            <a:ext cx="34743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9"/>
          <p:cNvSpPr/>
          <p:nvPr/>
        </p:nvSpPr>
        <p:spPr>
          <a:xfrm>
            <a:off x="4489560" y="161856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Constrained learned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0"/>
          <p:cNvSpPr/>
          <p:nvPr/>
        </p:nvSpPr>
        <p:spPr>
          <a:xfrm>
            <a:off x="4489560" y="1947600"/>
            <a:ext cx="31816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Learn taps but enforce symmetry / band structure / sparsity.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1"/>
          <p:cNvSpPr/>
          <p:nvPr/>
        </p:nvSpPr>
        <p:spPr>
          <a:xfrm>
            <a:off x="8046720" y="1508760"/>
            <a:ext cx="34743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2"/>
          <p:cNvSpPr/>
          <p:nvPr/>
        </p:nvSpPr>
        <p:spPr>
          <a:xfrm>
            <a:off x="8192880" y="161856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Unconstrained learned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3"/>
          <p:cNvSpPr/>
          <p:nvPr/>
        </p:nvSpPr>
        <p:spPr>
          <a:xfrm>
            <a:off x="8192880" y="1947600"/>
            <a:ext cx="31816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Let the task loss select arbitrary finite kernels.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4"/>
          <p:cNvSpPr/>
          <p:nvPr/>
        </p:nvSpPr>
        <p:spPr>
          <a:xfrm>
            <a:off x="1097280" y="3840480"/>
            <a:ext cx="987516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These are not competing religions; they are different locations on the bias–flexibility spectrum.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Multirate transition: what linear phase does and does not guarantee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5"/>
          <p:cNvSpPr/>
          <p:nvPr/>
        </p:nvSpPr>
        <p:spPr>
          <a:xfrm>
            <a:off x="777240" y="1417320"/>
            <a:ext cx="1051524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Anti-alias filtering requires adequate stopband attenuation before downsampling.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Linear phase is not mathematically required to suppress aliases.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However, linear-phase FIRs are often preferred when relative waveform timing and alignment must be preserved across sample-rate conversion.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Next week: polyphase / multirate structure makes FIR implementation especially attractive.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5"/>
          <p:cNvSpPr/>
          <p:nvPr/>
        </p:nvSpPr>
        <p:spPr>
          <a:xfrm>
            <a:off x="822960" y="1417320"/>
            <a:ext cx="1024092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A 16-tap symmetric FIR is which type?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endParaRPr lang="en-US" sz="1900" b="0" u="none" strike="noStrike" dirty="0">
              <a:solidFill>
                <a:srgbClr val="1F2937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What endpoint must be zero?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endParaRPr lang="en-US" sz="1900" b="0" u="none" strike="noStrike" dirty="0">
              <a:solidFill>
                <a:srgbClr val="1F2937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Can it be a conventional high-pass with nonzero Nyquist gain? 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831621-EB6F-7A39-F1F2-EE2FBA985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>
            <a:extLst>
              <a:ext uri="{FF2B5EF4-FFF2-40B4-BE49-F238E27FC236}">
                <a16:creationId xmlns:a16="http://schemas.microsoft.com/office/drawing/2014/main" id="{1E14A47B-F3B9-E026-6757-B839D2BD8B88}"/>
              </a:ext>
            </a:extLst>
          </p:cNvPr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">
            <a:extLst>
              <a:ext uri="{FF2B5EF4-FFF2-40B4-BE49-F238E27FC236}">
                <a16:creationId xmlns:a16="http://schemas.microsoft.com/office/drawing/2014/main" id="{BB61CCB6-BB48-2EF1-2684-702830A0E6EF}"/>
              </a:ext>
            </a:extLst>
          </p:cNvPr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">
            <a:extLst>
              <a:ext uri="{FF2B5EF4-FFF2-40B4-BE49-F238E27FC236}">
                <a16:creationId xmlns:a16="http://schemas.microsoft.com/office/drawing/2014/main" id="{18B03134-D042-D2E1-34CD-E97FFEEC9EB3}"/>
              </a:ext>
            </a:extLst>
          </p:cNvPr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">
            <a:extLst>
              <a:ext uri="{FF2B5EF4-FFF2-40B4-BE49-F238E27FC236}">
                <a16:creationId xmlns:a16="http://schemas.microsoft.com/office/drawing/2014/main" id="{ED449A3E-5D58-6C6D-B10D-AA80A1E9DC1F}"/>
              </a:ext>
            </a:extLst>
          </p:cNvPr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">
            <a:extLst>
              <a:ext uri="{FF2B5EF4-FFF2-40B4-BE49-F238E27FC236}">
                <a16:creationId xmlns:a16="http://schemas.microsoft.com/office/drawing/2014/main" id="{6C9CDCF1-EAF1-9F23-7BA2-863A06FD50A0}"/>
              </a:ext>
            </a:extLst>
          </p:cNvPr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5">
            <a:extLst>
              <a:ext uri="{FF2B5EF4-FFF2-40B4-BE49-F238E27FC236}">
                <a16:creationId xmlns:a16="http://schemas.microsoft.com/office/drawing/2014/main" id="{ACDFB7EC-B0C2-4359-92E5-C97B0F479CF8}"/>
              </a:ext>
            </a:extLst>
          </p:cNvPr>
          <p:cNvSpPr/>
          <p:nvPr/>
        </p:nvSpPr>
        <p:spPr>
          <a:xfrm>
            <a:off x="822960" y="1417320"/>
            <a:ext cx="1024092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16-tap symmetric FIR is which type?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Answer: Type II because N is even and the taps are 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What endpoint must be zero? H(e^(jπ))=0.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Can it be a conventional high-pass with nonzero Nyquist gain? No.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58160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Python demo: random versus symmetry-constrained kernels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5"/>
          <p:cNvSpPr/>
          <p:nvPr/>
        </p:nvSpPr>
        <p:spPr>
          <a:xfrm>
            <a:off x="731520" y="1325880"/>
            <a:ext cx="10606680" cy="438876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rng = np.random.default_rng(4)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h_rand = rng.normal(size=17)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h_sym = 0.5*(h_rand + h_rand[::-1])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_, gd_rand = signal.group_delay((h_rand, [1.0]), w=2048)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_, gd_sym  = signal.group_delay((h_sym,  [1.0]), w=2048)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PyTorch fixed FIR equivalence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kt = torch.tensor(h[::-1].copy()).view(1,1,-1)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yt = F.conv1d(F.pad(xt, (len(h)-1,0)), kt)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Lecture 10 synthesis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5"/>
          <p:cNvSpPr/>
          <p:nvPr/>
        </p:nvSpPr>
        <p:spPr>
          <a:xfrm>
            <a:off x="777240" y="1371600"/>
            <a:ext cx="1042380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Generalized linear phase means a constant delay plus a real amplitude factor.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Symmetry / antisymmetry creates exactly four real FIR types with structural endpoint constraints.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Linear-phase zero patterns appear in conjugate-reciprocal constellations.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Conv1d kernels are not linear phase unless the architecture or parameterization enforces it.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Homework — Lecture 10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5"/>
          <p:cNvSpPr/>
          <p:nvPr/>
        </p:nvSpPr>
        <p:spPr>
          <a:xfrm>
            <a:off x="685800" y="1417320"/>
            <a:ext cx="1069812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5 • Derive the pure-delay factor from symmetric FIR taps.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6 • Classify four examples as Types I–IV and state forced endpoint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7 • Complete the four-zero constellation for z₀=0.7e^(j0.6).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8 • Design a symmetry-constrained trainable Conv1d parameterization and discuss its inductive bias.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Weekly quiz — Questions 1–4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5"/>
          <p:cNvSpPr/>
          <p:nvPr/>
        </p:nvSpPr>
        <p:spPr>
          <a:xfrm>
            <a:off x="685800" y="1417320"/>
            <a:ext cx="10698120" cy="402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Q1 • What geometric quantities determine |H(e^(jω))| from a pole-zero plot?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Q2 • State τₚ(ω) and τg(ω).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Q3 • What property defines an all-pass system?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Q4 • Why can equal magnitude responses still produce different transient waveforms?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Weekly quiz — Questions 5–8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685800" y="1417320"/>
            <a:ext cx="1069812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Q5 • A real symmetric FIR has N=21. What is its group delay?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Q6 • Which type is even-length and symmetric, and what forced zero does it have?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Q7 • If a complex zero z₀ is off the unit circle, what other three zeros accompany it in a real linear-phase FIR?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Q8 • Does a random `nn.Conv1d` kernel automatically have linear phase? Why?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Instructor quiz solutions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5"/>
          <p:cNvSpPr/>
          <p:nvPr/>
        </p:nvSpPr>
        <p:spPr>
          <a:xfrm>
            <a:off x="640080" y="1325880"/>
            <a:ext cx="10881000" cy="457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A1: zero-vector lengths in numerator divided by pole-vector lengths in denominator.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A2: τₚ=-∠ H/ω and τg=-d(∠ H)/dω.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A3: |Hₐₚ(e^(jω))|=1 for all ω.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A4: phase / group-delay differences alter relative arrival times of frequency components.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A5: 10 samples.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A6: Type II; forced zero at z=-1 or ω=π.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A7: z₀*, 1/z₀, and 1/z₀*.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A8: no; generic kernels are unconstrained, so symmetry is not guaranteed.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Instructor homework solution sketch — Lecture 10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5"/>
          <p:cNvSpPr/>
          <p:nvPr/>
        </p:nvSpPr>
        <p:spPr>
          <a:xfrm>
            <a:off x="685800" y="1417320"/>
            <a:ext cx="1069812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P5: H(e^(jω))=e^(-jω M/2)A(ω), so τg=M/2=(N-1)/2.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P6: I = odd/symmetric; II = even/symmetric with ω=π zero; III = odd/antisymmetric with 0 and π zeros; IV = even/antisymmetric with 0 zero.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P7: z₀, z₀*, 1/z₀, 1/z₀*.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P8: learn half + center, mirror the half; exact symmetry is maintained during every update.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</TotalTime>
  <Words>2479</Words>
  <Application>Microsoft Office PowerPoint</Application>
  <PresentationFormat>Widescreen</PresentationFormat>
  <Paragraphs>304</Paragraphs>
  <Slides>33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Aptos</vt:lpstr>
      <vt:lpstr>Aptos Mono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Peter Mathys</cp:lastModifiedBy>
  <cp:revision>5</cp:revision>
  <dcterms:modified xsi:type="dcterms:W3CDTF">2026-09-20T17:36:34Z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2026-08-31T04:28:47Z</dcterms:created>
  <dc:creator>OpenAI</dc:creator>
  <dc:description/>
  <dc:language>en-US</dc:language>
  <cp:lastModifiedBy>OpenAI</cp:lastModifiedBy>
  <dcterms:modified xsi:type="dcterms:W3CDTF">2026-08-31T04:28:47Z</dcterms:modified>
  <cp:revision>1</cp:revision>
  <dc:subject>Lecture 10 — Linear Phase, Generalized Phase, and ML Intersections</dc:subject>
  <dc:title>Lecture 10 — Linear Phase, Generalized Phase, and ML Intersections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31</vt:r8>
  </property>
  <property fmtid="{D5CDD505-2E9C-101B-9397-08002B2CF9AE}" pid="3" name="PresentationFormat">
    <vt:lpwstr>On-screen Show (16:9)</vt:lpwstr>
  </property>
  <property fmtid="{D5CDD505-2E9C-101B-9397-08002B2CF9AE}" pid="4" name="Slides">
    <vt:r8>31</vt:r8>
  </property>
</Properties>
</file>