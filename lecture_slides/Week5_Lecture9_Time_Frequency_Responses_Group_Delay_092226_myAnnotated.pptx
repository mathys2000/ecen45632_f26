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94" r:id="rId2"/>
    <p:sldId id="300" r:id="rId3"/>
    <p:sldId id="256" r:id="rId4"/>
    <p:sldId id="257" r:id="rId5"/>
    <p:sldId id="258" r:id="rId6"/>
    <p:sldId id="259" r:id="rId7"/>
    <p:sldId id="260" r:id="rId8"/>
    <p:sldId id="261" r:id="rId9"/>
    <p:sldId id="296" r:id="rId10"/>
    <p:sldId id="297" r:id="rId11"/>
    <p:sldId id="298" r:id="rId12"/>
    <p:sldId id="262" r:id="rId13"/>
    <p:sldId id="295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99" r:id="rId29"/>
    <p:sldId id="277" r:id="rId30"/>
    <p:sldId id="278" r:id="rId31"/>
    <p:sldId id="279" r:id="rId3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07CC0B-26CF-4D7B-83A1-219EED61A1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DC2E4-6A8F-471E-9ACB-60AFD883A6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B7298D-9326-43FE-AA5A-2A84A76DA2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3ECBF2-2EAF-44DA-A839-EF1F24B011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70527-FB7F-4CFA-9658-1B2DA60346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7D1C1A-56E7-4108-87DF-1F8B20106E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3B4A99-27FB-4D68-A763-7CE91B2778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A6B3-344E-536A-03FF-8122D88CA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>
            <a:extLst>
              <a:ext uri="{FF2B5EF4-FFF2-40B4-BE49-F238E27FC236}">
                <a16:creationId xmlns:a16="http://schemas.microsoft.com/office/drawing/2014/main" id="{8230D12F-BA47-5628-6C35-7E7C91A1D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>
            <a:extLst>
              <a:ext uri="{FF2B5EF4-FFF2-40B4-BE49-F238E27FC236}">
                <a16:creationId xmlns:a16="http://schemas.microsoft.com/office/drawing/2014/main" id="{8309C457-84A5-A9C2-9CEF-F0616AEAA43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>
            <a:extLst>
              <a:ext uri="{FF2B5EF4-FFF2-40B4-BE49-F238E27FC236}">
                <a16:creationId xmlns:a16="http://schemas.microsoft.com/office/drawing/2014/main" id="{E40FA8DF-2D0E-0FB6-5637-BD4DF9B34F0A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9100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BC23BB-A180-426F-84B0-954A07B773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99AE7E-D394-4655-B36B-84020FE6E8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44B32-F11F-4535-BE4C-95A14A493F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F199B-59C7-4C80-9B9D-FC6BF2E182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2FB271-AF13-4573-A5DD-7F00F1BEF6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657AB6-ACB7-48B9-9439-E707F06CF1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D22FE-A601-4F4B-AD52-753EB6CAB5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F4B975-8779-42E8-9F62-4811D971A5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1DAED-F353-4B94-B3DE-97D7543FCD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BFE9EB-0DE1-4989-AAB8-F1D39F9E14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2DEC9-309E-4F37-B695-F5FF72737C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2F1773-9CA4-456E-8C24-BAD063610F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77926F-9D43-4E07-8E20-44DFD2AAEA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7340-FE8B-4100-8D56-FE4F859A2F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B935E-6303-74C5-28F6-71E223AA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>
            <a:extLst>
              <a:ext uri="{FF2B5EF4-FFF2-40B4-BE49-F238E27FC236}">
                <a16:creationId xmlns:a16="http://schemas.microsoft.com/office/drawing/2014/main" id="{BF97D775-BBEE-A106-7DB9-001BB4E67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>
            <a:extLst>
              <a:ext uri="{FF2B5EF4-FFF2-40B4-BE49-F238E27FC236}">
                <a16:creationId xmlns:a16="http://schemas.microsoft.com/office/drawing/2014/main" id="{1903876C-3089-2A92-3C18-AACEA956881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>
            <a:extLst>
              <a:ext uri="{FF2B5EF4-FFF2-40B4-BE49-F238E27FC236}">
                <a16:creationId xmlns:a16="http://schemas.microsoft.com/office/drawing/2014/main" id="{71237662-F4AC-9964-3872-3CE35E2EBA82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7340-FE8B-4100-8D56-FE4F859A2F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05671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15690C-2795-4C38-9CBA-DECC6CBEBE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4BBD92-2B3C-45C1-9185-9CAA200119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D4A616-7B08-4857-8F38-7E95E4990F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9, 9-22-26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91C22C-D3ED-B9BA-40C1-08EE993CFADF}"/>
              </a:ext>
            </a:extLst>
          </p:cNvPr>
          <p:cNvSpPr txBox="1"/>
          <p:nvPr/>
        </p:nvSpPr>
        <p:spPr>
          <a:xfrm>
            <a:off x="1004776" y="671255"/>
            <a:ext cx="2651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Midterm Exam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8359E-99B2-3DE8-8463-C61C3CA88C5E}"/>
              </a:ext>
            </a:extLst>
          </p:cNvPr>
          <p:cNvSpPr txBox="1"/>
          <p:nvPr/>
        </p:nvSpPr>
        <p:spPr>
          <a:xfrm>
            <a:off x="1004776" y="1679944"/>
            <a:ext cx="93787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Thursday September 24, 9:30 – 10:45 am, ECCR 131  for in-class students.</a:t>
            </a:r>
          </a:p>
          <a:p>
            <a:r>
              <a:rPr lang="en-US" dirty="0"/>
              <a:t>Between Sep. 24 and Sep. 30 for on-line students who must supply email address of exam proctor.</a:t>
            </a:r>
          </a:p>
          <a:p>
            <a:endParaRPr lang="en-US" dirty="0"/>
          </a:p>
          <a:p>
            <a:r>
              <a:rPr lang="en-US" dirty="0"/>
              <a:t>Covers Lectures 1 through 8 and Problem Sets 1 through 4</a:t>
            </a:r>
          </a:p>
          <a:p>
            <a:r>
              <a:rPr lang="en-US" dirty="0"/>
              <a:t>Exam problems will be similar to Problem Set questions</a:t>
            </a:r>
          </a:p>
          <a:p>
            <a:endParaRPr lang="en-US" dirty="0"/>
          </a:p>
          <a:p>
            <a:r>
              <a:rPr lang="en-US" dirty="0"/>
              <a:t>Closed book, notes, no cheat sheets. Reference formulas will be printed on exam.</a:t>
            </a:r>
          </a:p>
          <a:p>
            <a:r>
              <a:rPr lang="en-US" dirty="0"/>
              <a:t>No laptops, tablets, phones, basic scientific calculator o.k.</a:t>
            </a:r>
          </a:p>
        </p:txBody>
      </p:sp>
    </p:spTree>
    <p:extLst>
      <p:ext uri="{BB962C8B-B14F-4D97-AF65-F5344CB8AC3E}">
        <p14:creationId xmlns:p14="http://schemas.microsoft.com/office/powerpoint/2010/main" val="266737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WEEK 5 ● LECTURE </a:t>
            </a:r>
            <a:r>
              <a:rPr lang="en-US" sz="1500" b="1" u="none" strike="noStrike" dirty="0">
                <a:solidFill>
                  <a:srgbClr val="A7C7E7"/>
                </a:solidFill>
                <a:effectLst/>
                <a:uFillTx/>
                <a:latin typeface="Aptos"/>
              </a:rPr>
              <a:t>9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Time/Frequency Responses and Group Delay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pole-zero geometry to waveform dispersion and all-pass phase equalization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pole-zero geometry  →  group delay  →  all-pass  →  ML feature timing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Equations typeset in standard mathematical notation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0–15 min • Read magnitude and phase directly from pole-zero geometry.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15–40 min • Distinguish phase delay from group delay and connect nonlinear phase to dispersion.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40–60 min • Build all-pass systems from reciprocal pole-zero structure.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60–75 min • Ask whether preprocessing preserves the timing features an ML model actually uses.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Frequency response is the z-transform evaluated on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822960" y="1554480"/>
            <a:ext cx="10515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22960" y="2560320"/>
            <a:ext cx="1042380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Every digital frequency ω corresponds to one point e^(jω) on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Magnitude and phase can be read geometrically from vectors drawn from poles and zeros to that point.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Picture 26" descr="eq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882" y="1656842"/>
            <a:ext cx="3877396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magnitude is a distance ratio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685800" y="1371600"/>
            <a:ext cx="557748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685800" y="2743200"/>
            <a:ext cx="5394600" cy="2102760"/>
          </a:xfrm>
          <a:prstGeom prst="roundRect">
            <a:avLst>
              <a:gd name="adj" fmla="val 260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831960" y="2853000"/>
            <a:ext cx="5101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Interpretation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831960" y="3182040"/>
            <a:ext cx="510192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pull the response toward zero when the unit-circle point passes nearby. Poles push the response upward when the unit-circle point passes nearby.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Picture 36" descr="eq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302" y="1499566"/>
            <a:ext cx="2112476" cy="658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AABE81-E95A-B3A8-445E-EB524CF0F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814" y="1499566"/>
            <a:ext cx="4801386" cy="47078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phase is an angle sum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640080" y="1463040"/>
            <a:ext cx="1088100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822960" y="2651760"/>
            <a:ext cx="489168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Each zero contributes a vector angle.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Each pole contributes a vector angle with the opposite sign.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Phase can vary rapidly even when magnitude looks smooth.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Picture 43" descr="eq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157" y="1591006"/>
            <a:ext cx="6948846" cy="6581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2DCD3F-F40F-E5DA-61A6-FB30BA76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429" y="2535400"/>
            <a:ext cx="4096019" cy="40297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31520" y="1371600"/>
            <a:ext cx="53031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731520" y="237744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877680" y="24872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ω=0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877680" y="281628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unit-circle point is z=1. The zero-distance is 0.2 and pole-distance is 0.5, so |H(1)|=0.4.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731520" y="429768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877680" y="440748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ω=π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877680" y="473652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point is z=-1. The distances are 1.8 and 1.5, so |H(-1)|=1.2. Predict a high-frequency tilt before plotting.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/mnt/data/week5_lectures9_10/assets/L9_mag.png"/>
          <p:cNvPicPr/>
          <p:nvPr/>
        </p:nvPicPr>
        <p:blipFill>
          <a:blip r:embed="rId3"/>
          <a:stretch/>
        </p:blipFill>
        <p:spPr>
          <a:xfrm>
            <a:off x="6400800" y="1417320"/>
            <a:ext cx="5028840" cy="393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Picture 56" descr="eq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028" y="1467562"/>
            <a:ext cx="2100144" cy="4935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71425B2-3514-A464-B7D0-AA93CB4EE4F6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53027C-7ADC-B237-8462-AF33FCBBB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665" y="3625703"/>
            <a:ext cx="6095999" cy="30309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A88D9D-A7E0-B6E3-132A-7D97CC60B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23" y="1170708"/>
            <a:ext cx="5890437" cy="292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96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332A3-F65C-D62B-5B64-0B63FC5D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77F587C-88E6-BA63-1EC7-D7FB054D8CCD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8C649-77A1-F5C9-7A95-C44FB0FAE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019" y="3562966"/>
            <a:ext cx="6158023" cy="3061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58B1F5-6053-8B8E-999A-1243460E1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8" y="1068572"/>
            <a:ext cx="5979042" cy="295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75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28FB-DBA6-B46E-80E7-DAEE90BCB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FE2B4E3-5635-6EE7-A2F8-B1661196DD8C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2C4355-F23A-3602-4531-89A76449A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479" y="3564210"/>
            <a:ext cx="6264350" cy="3079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ED1D5C-6237-94FA-2E1E-9E3EA6D61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71" y="1039140"/>
            <a:ext cx="5850682" cy="291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47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777240" y="1417320"/>
            <a:ext cx="10515240" cy="4646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A pole at angle ω₀ moves radially from radius 0.5 to radius 0.95. What happens near ω₀?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C5BFF-33E1-7F77-B32B-0FB7EEE9C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>
            <a:extLst>
              <a:ext uri="{FF2B5EF4-FFF2-40B4-BE49-F238E27FC236}">
                <a16:creationId xmlns:a16="http://schemas.microsoft.com/office/drawing/2014/main" id="{83F835C7-02A2-E3DD-3BA3-A38F5FB215FE}"/>
              </a:ext>
            </a:extLst>
          </p:cNvPr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>
            <a:extLst>
              <a:ext uri="{FF2B5EF4-FFF2-40B4-BE49-F238E27FC236}">
                <a16:creationId xmlns:a16="http://schemas.microsoft.com/office/drawing/2014/main" id="{0A51D352-1B7F-567F-B284-8BFDF274FEBC}"/>
              </a:ext>
            </a:extLst>
          </p:cNvPr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>
            <a:extLst>
              <a:ext uri="{FF2B5EF4-FFF2-40B4-BE49-F238E27FC236}">
                <a16:creationId xmlns:a16="http://schemas.microsoft.com/office/drawing/2014/main" id="{D7942E59-C828-3736-6135-6D11034D270C}"/>
              </a:ext>
            </a:extLst>
          </p:cNvPr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6DC6E32B-546A-EBCD-8A65-403DE7D12D91}"/>
              </a:ext>
            </a:extLst>
          </p:cNvPr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>
            <a:extLst>
              <a:ext uri="{FF2B5EF4-FFF2-40B4-BE49-F238E27FC236}">
                <a16:creationId xmlns:a16="http://schemas.microsoft.com/office/drawing/2014/main" id="{76F089F5-F897-BDA0-D35D-D63CEEFD3EC7}"/>
              </a:ext>
            </a:extLst>
          </p:cNvPr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DDAF3F32-F393-DE37-ACF6-60D8996A9EC4}"/>
              </a:ext>
            </a:extLst>
          </p:cNvPr>
          <p:cNvSpPr/>
          <p:nvPr/>
        </p:nvSpPr>
        <p:spPr>
          <a:xfrm>
            <a:off x="777240" y="1417320"/>
            <a:ext cx="1051524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pole at angle ω₀ moves radially from radius 0.5 to radius 0.95. What happens near ω₀?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the denominator vector becomes much shorter, so magnitude increases sharply and the phase changes more rapidly.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Graduate-level addition: the pole also produces a more concentrated group-delay contribution near its angle.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1727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delay and group delay answer different questions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6858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61722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6858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8319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Phase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8319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single sinusoidal component, how much phase corresponds to an equivalent delay?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61722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3183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Group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63183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narrowband packet, how does the envelope / modulation arrive versus frequency?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2194560" y="4343400"/>
            <a:ext cx="7772040" cy="10969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2340720" y="4453200"/>
            <a:ext cx="7479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Do not conflate them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2340720" y="4782240"/>
            <a:ext cx="74793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They are equal for pure linear phase through the origin, but generally differ.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78" descr="eq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616" y="1473962"/>
            <a:ext cx="2599527" cy="526435"/>
          </a:xfrm>
          <a:prstGeom prst="rect">
            <a:avLst/>
          </a:prstGeom>
        </p:spPr>
      </p:pic>
      <p:pic>
        <p:nvPicPr>
          <p:cNvPr id="80" name="Picture 79" descr="eq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127" y="1473962"/>
            <a:ext cx="3597305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Linear phase gives constant group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2011680" y="2468880"/>
            <a:ext cx="80463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822960" y="3474720"/>
            <a:ext cx="1024092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 passband frequency components receive the same local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constant β can shift phase without changing the group-delay slope.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Possible π jumps from a real amplitude sign change should not be mistaken for physical dispersion.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86" descr="eq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683" y="1473962"/>
            <a:ext cx="3710354" cy="526435"/>
          </a:xfrm>
          <a:prstGeom prst="rect">
            <a:avLst/>
          </a:prstGeom>
        </p:spPr>
      </p:pic>
      <p:pic>
        <p:nvPicPr>
          <p:cNvPr id="88" name="Picture 87" descr="eq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866" y="2564842"/>
            <a:ext cx="2051987" cy="4935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Nonlinear phase produces frequency-dependent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/mnt/data/week5_lectures9_10/assets/L9_phase.png"/>
          <p:cNvPicPr/>
          <p:nvPr/>
        </p:nvPicPr>
        <p:blipFill>
          <a:blip r:embed="rId3"/>
          <a:stretch/>
        </p:blipFill>
        <p:spPr>
          <a:xfrm>
            <a:off x="64008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 1" descr="/mnt/data/week5_lectures9_10/assets/L9_group_delay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hape 5"/>
          <p:cNvSpPr/>
          <p:nvPr/>
        </p:nvSpPr>
        <p:spPr>
          <a:xfrm>
            <a:off x="1806120" y="58518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Read both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phase curvature becomes group-delay variation. The derivative makes rapid phase changes easier to interpret as timing dispersion.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transient is a superposition of many frequencies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777240" y="1417320"/>
            <a:ext cx="1051524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sharp onset or pulse requires many spectral components.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each component experiences a different delay, the components no longer reassemble at the same relative times.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result can be peak shift, ringing, smearing, or altered onset slope—even if |H(e^(jω))| looks acceptable.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1097280" y="4709160"/>
            <a:ext cx="969228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103" descr="eq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767" y="4811522"/>
            <a:ext cx="3597305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Demonstration: causal IIR dispersion versus zero-phase offline filtering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/mnt/data/week5_lectures9_10/assets/L9_transient_dispersion.png"/>
          <p:cNvPicPr/>
          <p:nvPr/>
        </p:nvPicPr>
        <p:blipFill>
          <a:blip r:embed="rId3"/>
          <a:stretch/>
        </p:blipFill>
        <p:spPr>
          <a:xfrm>
            <a:off x="685800" y="1325880"/>
            <a:ext cx="740628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hape 5"/>
          <p:cNvSpPr/>
          <p:nvPr/>
        </p:nvSpPr>
        <p:spPr>
          <a:xfrm>
            <a:off x="8321040" y="1554480"/>
            <a:ext cx="2971440" cy="3108600"/>
          </a:xfrm>
          <a:prstGeom prst="roundRect">
            <a:avLst>
              <a:gd name="adj" fmla="val 1846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8467200" y="166428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Good observation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8467200" y="1993320"/>
            <a:ext cx="267876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causal IIR can shift and reshape the transient. Forward-backward filtering restores timing much better, but it is noncausal and changes the effective magnitude response.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systems: magnitude one does not mean “does nothing”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14400" y="1325880"/>
            <a:ext cx="10332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777240" y="242316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changes phase without changing magnitude.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makes it a phase / group-delay design element rather than a magnitude-shaping element.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phase equalization, fractional-delay structures, and decomposing a system into minimum-phase and all-pass parts.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119" descr="eq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960" y="1428242"/>
            <a:ext cx="3619240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First-order all-pass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731520" y="1325880"/>
            <a:ext cx="106981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777240" y="2514600"/>
            <a:ext cx="105152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 at z=a lies inside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 at z=1/a* lies at the conjugate reciprocal location outside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On |z|=1, numerator and denominator distances match, so magnitude is unity.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126" descr="eq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245" y="1434643"/>
            <a:ext cx="4368669" cy="55935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magnitude is flat while group delay is not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0" descr="/mnt/data/week5_lectures9_10/assets/L9_allpass_mag.png"/>
          <p:cNvPicPr/>
          <p:nvPr/>
        </p:nvPicPr>
        <p:blipFill>
          <a:blip r:embed="rId3"/>
          <a:stretch/>
        </p:blipFill>
        <p:spPr>
          <a:xfrm>
            <a:off x="6858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Image 1" descr="/mnt/data/week5_lectures9_10/assets/L9_allpass_gd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Shape 5"/>
          <p:cNvSpPr/>
          <p:nvPr/>
        </p:nvSpPr>
        <p:spPr>
          <a:xfrm>
            <a:off x="1828620" y="58797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Key insight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can produce substantial timing changes without leaving any trace in a magnitude-only plot.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equalization with an all-pass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731520" y="1417320"/>
            <a:ext cx="1051524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Suppose a magnitude response is acceptable but group delay is uneven.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Cascading an all-pass leaves total magnitude unchanged because |Hₜₒₜ|=|H||Hₐₚ|=|H|.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Choose the all-pass phase so its group-delay contribution makes the total delay flatter over the band of interest.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914400" y="475488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143" descr="eq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199" y="4863643"/>
            <a:ext cx="6865322" cy="55935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can an all-pass equalizer not fix?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cannot repair magnitude notches, stopband leakage, or insufficient bandwidth because its magnitude is exactly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 only redistribute phase /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causal stable all-pass generally adds nonnegative group delay; “flattening” often means adding delay where the original system was too fast rather than subtracting delay where it was too slow.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ML context: feature distortion happens before the model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731520" y="137160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ECG anomaly detection: QRS peak timing and slope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Audio event detection: onset rise time and inter-channel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Vibration fault detection: impulse spacing and envelope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preprocessing filter that disperses these structures changes the features before an SVM, RF, MLP, or CNN can use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Good ML engineering question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1188720" y="1554480"/>
            <a:ext cx="9875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1334880" y="1664280"/>
            <a:ext cx="9582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Ask before filtering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1334880" y="1993320"/>
            <a:ext cx="9582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Does the downstream task depend primarily on long-term spectral magnitude, or on timing / waveform morphology?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914400" y="3474720"/>
            <a:ext cx="1005804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magnitude statistics dominate, nonlinear phase may be harmless.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local timing is predictive, preserve phase or make training/deployment use the same causal distortion.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 not assume “denoised” means “more informative for the classifier.”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inspect response and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b = np.array([1.0, -0.8])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a = np.array([1.0, -0.5])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w, H = signal.freqz(b, a, worN=2048)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phase = np.unwrap(np.angle(H))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w_gd, gd = signal.group_delay((b, a),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Pole-zero geometry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zeros = np.roots(b)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poles = np.roots(a)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Compare causal IIR and zero-phase offline filtering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y_causal = signal.sosfilt(sos,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y_zero = signal.sosfiltfilt(sos,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731520" y="1417320"/>
            <a:ext cx="1060668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Two filters have identical |H(e^(</a:t>
            </a:r>
            <a:r>
              <a:rPr lang="en-US" sz="18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jω</a:t>
            </a: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))| but different ∠ H(e^(</a:t>
            </a:r>
            <a:r>
              <a:rPr lang="en-US" sz="18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jω</a:t>
            </a: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)). Must their outputs be identical for every input?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789F3F-4F73-1442-0B8C-AB46D157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>
            <a:extLst>
              <a:ext uri="{FF2B5EF4-FFF2-40B4-BE49-F238E27FC236}">
                <a16:creationId xmlns:a16="http://schemas.microsoft.com/office/drawing/2014/main" id="{4E66D4E0-BD49-A2B5-EB7C-29F9B6AA00AB}"/>
              </a:ext>
            </a:extLst>
          </p:cNvPr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>
            <a:extLst>
              <a:ext uri="{FF2B5EF4-FFF2-40B4-BE49-F238E27FC236}">
                <a16:creationId xmlns:a16="http://schemas.microsoft.com/office/drawing/2014/main" id="{6DDF427E-B405-15C9-F9FD-11E04C81B42C}"/>
              </a:ext>
            </a:extLst>
          </p:cNvPr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>
            <a:extLst>
              <a:ext uri="{FF2B5EF4-FFF2-40B4-BE49-F238E27FC236}">
                <a16:creationId xmlns:a16="http://schemas.microsoft.com/office/drawing/2014/main" id="{9B91271D-24FC-492F-DDD3-06AE2C62A40F}"/>
              </a:ext>
            </a:extLst>
          </p:cNvPr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>
            <a:extLst>
              <a:ext uri="{FF2B5EF4-FFF2-40B4-BE49-F238E27FC236}">
                <a16:creationId xmlns:a16="http://schemas.microsoft.com/office/drawing/2014/main" id="{8430125C-7068-3201-D2B0-B14461C07459}"/>
              </a:ext>
            </a:extLst>
          </p:cNvPr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>
            <a:extLst>
              <a:ext uri="{FF2B5EF4-FFF2-40B4-BE49-F238E27FC236}">
                <a16:creationId xmlns:a16="http://schemas.microsoft.com/office/drawing/2014/main" id="{0C0407FF-2C4C-4DA9-CE40-DFEC2AFB32D6}"/>
              </a:ext>
            </a:extLst>
          </p:cNvPr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>
            <a:extLst>
              <a:ext uri="{FF2B5EF4-FFF2-40B4-BE49-F238E27FC236}">
                <a16:creationId xmlns:a16="http://schemas.microsoft.com/office/drawing/2014/main" id="{FEB6373A-A78D-A623-21FE-6EFF08357533}"/>
              </a:ext>
            </a:extLst>
          </p:cNvPr>
          <p:cNvSpPr/>
          <p:nvPr/>
        </p:nvSpPr>
        <p:spPr>
          <a:xfrm>
            <a:off x="731520" y="1417320"/>
            <a:ext cx="1060668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Two filters have identical |H(e^(jω))| but different ∠ H(e^(jω)). Must their outputs be identical for every input?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no. Their spectra have the same magnitudes but different phases, so transient waveform shapes can differ.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would they sound or look nearly equivalent? When the task or perception is insensitive to the altered phase relationships.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6878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9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777240" y="1371600"/>
            <a:ext cx="1042380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Pole-zero distance ratios explain magnitude; vector-angle sums explain phase.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turns phase slope into a timing diagnostic.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All-pass systems have unit magnitude but can strongly reshape phase and delay.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ML preprocessing must preserve—or consistently reproduce—the temporal features the model needs.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Homework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685800" y="1417320"/>
            <a:ext cx="106981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 • Pole-zero geometry for H(z)=(1-0.8z⁻¹)/(1-0.5z⁻¹).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 • Compute phase delay and group delay for φ(ω)=-3ω+0.4sinω.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3 • Prove unit magnitude for a first-order all-pass.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 • Explain how nonlinear phase can alter ECG timing features and propose offline/streaming mitigations.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solution sketch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685800" y="141732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P1: |H(1)|=0.4, |H(-1)|=1.2; distance ratios predict the tilt.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P2: τₚ=3-0.4sinω/ω and τg=3-0.4cosω.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P3: numerator and denominator squared magnitudes are both 1+a²-2acosω.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P4: preserve timing offline with validated zero-phase processing or use a linear-phase / deployment-matched causal front end.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2126</TotalTime>
  <Words>1918</Words>
  <Application>Microsoft Office PowerPoint</Application>
  <PresentationFormat>Widescreen</PresentationFormat>
  <Paragraphs>236</Paragraphs>
  <Slides>31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viby</dc:creator>
  <cp:lastModifiedBy>Peter Mathys</cp:lastModifiedBy>
  <cp:revision>14</cp:revision>
  <cp:lastPrinted>2026-09-21T23:22:00Z</cp:lastPrinted>
  <dcterms:modified xsi:type="dcterms:W3CDTF">2026-09-22T05:29:54Z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9 — Time/Frequency Responses and Group Delay</dc:subject>
  <dc:title>Lecture 9 — Time/Frequency Responses and Group Delay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24</vt:r8>
  </property>
  <property fmtid="{D5CDD505-2E9C-101B-9397-08002B2CF9AE}" pid="3" name="PresentationFormat">
    <vt:lpwstr>On-screen Show (16:9)</vt:lpwstr>
  </property>
  <property fmtid="{D5CDD505-2E9C-101B-9397-08002B2CF9AE}" pid="4" name="Slides">
    <vt:r8>24</vt:r8>
  </property>
</Properties>
</file>