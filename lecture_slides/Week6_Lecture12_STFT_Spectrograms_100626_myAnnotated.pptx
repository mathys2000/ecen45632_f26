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66" y="40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449760" y="444212"/>
            <a:ext cx="92924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12, 10-06-26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85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24888E"/>
                </a:solidFill>
                <a:latin typeface="Aptos"/>
              </a:rPr>
              <a:t>WEEK 6 ● </a:t>
            </a:r>
            <a:r>
              <a:rPr sz="1400" b="1" dirty="0">
                <a:solidFill>
                  <a:srgbClr val="24888E"/>
                </a:solidFill>
                <a:latin typeface="Aptos"/>
              </a:rPr>
              <a:t>LECTURE </a:t>
            </a:r>
            <a:r>
              <a:rPr lang="en-US" sz="1400" b="1" dirty="0">
                <a:solidFill>
                  <a:srgbClr val="24888E"/>
                </a:solidFill>
                <a:latin typeface="Aptos"/>
              </a:rPr>
              <a:t>1</a:t>
            </a:r>
            <a:r>
              <a:rPr sz="1400" b="1" dirty="0">
                <a:solidFill>
                  <a:srgbClr val="24888E"/>
                </a:solidFill>
                <a:latin typeface="Aptos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The STFT and Spectrograms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7E1EE"/>
                </a:solidFill>
                <a:latin typeface="Aptos"/>
              </a:rPr>
              <a:t>Local spectra for non-stationary signals and 2-D ML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97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ECCDD"/>
                </a:solidFill>
                <a:latin typeface="Aptos"/>
              </a:rPr>
              <a:t>Oppenheim &amp; Schafer • DFT / FFT / STFT  |  Raschka • CNN architecture and feature pipelines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0:00–0:03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766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Explain why a single global spectrum can fail for non-stationary signals.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Interpret the STFT as a sequence of windowed local Fourier transforms.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Predict the time–frequency resolution trade-off from window duration.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Read and construct a spectrogram.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Format spectrograms as structured tensors for PyTorch CNNs.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463040"/>
            <a:ext cx="365760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64424" y="155448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Core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4424" y="1819656"/>
            <a:ext cx="3364992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How do we preserve both when a frequency occurs and what that frequency is?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Why a global spectrum is not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NON-STATIONARY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0:03–0:10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global_spectrum_chir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675120" cy="3108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508760"/>
            <a:ext cx="365760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35824" y="160020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What it tells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35824" y="1865376"/>
            <a:ext cx="336499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Many frequencies occurred during the record.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2971800"/>
            <a:ext cx="365760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35824" y="306324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What it loses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35824" y="3328416"/>
            <a:ext cx="336499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It does not tell us that the dominant frequency swept upward with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548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253E"/>
                </a:solidFill>
                <a:latin typeface="Aptos"/>
              </a:rPr>
              <a:t>Speech, radar, machinery faults, ECG/EEG, and transient events are often non-stationary.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Localize before transforming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0:10–0:15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Take a short window around a time location, then compute a Fourier transform of that local segment.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463A0"/>
                </a:solidFill>
                <a:latin typeface="Aptos"/>
              </a:rPr>
              <a:t>X(r,ω) = Σₘ x[m] w[m−rR] e^(−jωm)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r = frame index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R = hop size between frames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w[n] = analysis window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Each frame produces one local spectrum.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3246120"/>
            <a:ext cx="3566160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72983" y="333756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Equivalent notation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2983" y="3602736"/>
            <a:ext cx="327355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Texts place the window as w[rR−m] or w[m−rR]. For real symmetric windows, the practical idea is the same: select a neighborhood around the frame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From frames to a time–frequency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0:15–0:22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5852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Frame the signal into overlapping segments.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Multiply each segment by a window.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Take an FFT along the sample dimension.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Stack the spectra as columns (or rows).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6908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4888E"/>
                </a:solidFill>
                <a:latin typeface="Aptos"/>
              </a:rPr>
              <a:t>STFT output shape ≈ frequency bins × time frames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554480"/>
            <a:ext cx="4160520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32904" y="1645920"/>
            <a:ext cx="386791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PyTorch viewpoint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2904" y="1911095"/>
            <a:ext cx="3867911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That matrix is already a structured tensor. Add batch and channel dimensions and it looks like an image input to a CNN.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The STFT reveals the chirp trajectory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0:22–0:28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chirp_spect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6858000" cy="3520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508760"/>
            <a:ext cx="35661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72983" y="160020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Read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2983" y="1865376"/>
            <a:ext cx="327355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Horizontal position = time. Vertical position = frequency. Brightness/color = local magnitude or power.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8404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253E"/>
                </a:solidFill>
                <a:latin typeface="Aptos"/>
              </a:rPr>
              <a:t>The upward ridge is the time-varying instantaneous frequency.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Window length sets the central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0:28–0:34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67D35"/>
                </a:solidFill>
                <a:latin typeface="Aptos"/>
              </a:rPr>
              <a:t>Short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114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Good time localization.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Few samples → broad spectral main lobe.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Fast events are separated more clearly.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4888E"/>
                </a:solidFill>
                <a:latin typeface="Aptos"/>
              </a:rPr>
              <a:t>Long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4297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Good frequency localization.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Many samples → narrower spectral features.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Rapid changes are smeared over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572000"/>
            <a:ext cx="8412480" cy="1036674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75104" y="4663440"/>
            <a:ext cx="811987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No free lunch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75104" y="4928616"/>
            <a:ext cx="811987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You cannot make a window arbitrarily narrow in time and simultaneously arbitrarily narrow in frequency.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Frequency view of the window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0:34–0:39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stft_window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76656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508760"/>
            <a:ext cx="365760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60020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865376"/>
            <a:ext cx="3364992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At one time frame, longer windows produce sharper frequency localization. But they average over a longer interval of the chirp.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40690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D67D35"/>
                </a:solidFill>
                <a:latin typeface="Aptos"/>
              </a:rPr>
              <a:t>Resolution is not the same as FFT display density.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Hop size and overlap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0:39–0:43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53E"/>
                </a:solidFill>
                <a:latin typeface="Aptos"/>
              </a:rPr>
              <a:t>Hop R = number of new samples between adjacent frames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241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Small R → many overlapping frames and a dense time grid.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Large R → fewer frames, less computation, coarser time sampling.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Overlap does not undo the fundamental window resolution trade-off.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For reconstruction, window/hop choices must also satisfy overlap-add conditions.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5074920"/>
            <a:ext cx="8229600" cy="990954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66544" y="5166359"/>
            <a:ext cx="7936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Common choice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66544" y="5431536"/>
            <a:ext cx="793699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For analysis with Hann windows, 50–75% overlap is common, but the application should set the hop.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Spectrogram = squared STFT magnitude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SPECTROGRAM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0:43–0:49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630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463A0"/>
                </a:solidFill>
                <a:latin typeface="Aptos"/>
              </a:rPr>
              <a:t>Spectrogram(r,ω) = |X(r,ω)|²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6583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Discard phase and visualize local energy/power-like content.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Often displayed in decibels: 10 log₁₀(power + ε).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Color scaling strongly affects what patterns are visible.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One-sided display is common for real-valued signals.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645920"/>
            <a:ext cx="35661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72983" y="173736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Important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2983" y="2002536"/>
            <a:ext cx="327355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 spectrogram is not just a pretty picture—it is a numerical matrix whose axes and normalization matter.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How to read a spectrogram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SPECTROGRAM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0:49–0:55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chirp_spect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858000" cy="3520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325880"/>
            <a:ext cx="3429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Horizontal ridge → sustained tone.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Vertical stripe → broadband transient.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Sloped ridge → chirp or changing pitch.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Harmonic stacks → periodic voiced or rotating behavior.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Diffuse background → broadband noise.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799" y="5029200"/>
            <a:ext cx="8702749" cy="768096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75104" y="5120640"/>
            <a:ext cx="7936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Ask students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6642" y="5373767"/>
            <a:ext cx="862399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191E26"/>
                </a:solidFill>
                <a:latin typeface="Aptos"/>
              </a:rPr>
              <a:t>What time-domain event would create a narrow vertical stripe across many frequencies?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Concept check: two close tones that switch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CONCEPT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0:55–0:58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53E"/>
                </a:solidFill>
                <a:latin typeface="Aptos"/>
              </a:rPr>
              <a:t>A signal contains 500 Hz for the first 50 ms and 550 Hz for the next 50 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63A0"/>
                </a:solidFill>
                <a:latin typeface="Aptos"/>
              </a:rPr>
              <a:t>Would you begin with a very short or very long STFT window?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3291840"/>
            <a:ext cx="9601200" cy="146304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26463" y="3383280"/>
            <a:ext cx="9308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Good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3" y="3648456"/>
            <a:ext cx="9308592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Neither extreme. The window must be long enough to distinguish 50-Hz-separated tones but short enough not to smear the 50-ms transition. The problem is inherently a time–frequency trade-off.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Spectrograms as CNN inputs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0:58–1:04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spectrogram_ml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76656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1280160"/>
            <a:ext cx="3840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Frequency bins behave like a vertical spatial axis.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Time frames behave like a horizontal spatial axis.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Local 2-D filters can learn ridges, transients, harmonic patterns, and modulations.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Typical tensor shape: [batch, channel, frequency, time].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4572000"/>
            <a:ext cx="348641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24888E"/>
                </a:solidFill>
                <a:latin typeface="Aptos"/>
              </a:rPr>
              <a:t>Example: [32, 1, 257, 101]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Magnitude scaling and normalization before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1:04–1:08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6858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Use magnitude or power consistently.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Log compression reduces extreme dynamic range and often makes weak structure more visible.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Normalize using training-set statistics, not statistics from the test set.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Keep sample rate, STFT parameters, and frequency range fixed across examples.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Avoid data leakage when computing normalization or augmentations.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554480"/>
            <a:ext cx="347472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64424" y="1645920"/>
            <a:ext cx="3182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Pipeline reproducibility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4424" y="1911095"/>
            <a:ext cx="3182112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STFT is part of the model input definition. Changing window length or hop changes the feature space just like changing a network layer.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PyTorch: from waveform to image tensor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1:08–1:11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waveform [B,N] → STFT → magnitude → log → [B,1,F,T] → Conv2d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463A0"/>
                </a:solidFill>
                <a:latin typeface="Aptos"/>
              </a:rPr>
              <a:t>Z = torch.stft(x, n_fft=512, hop_length=128, window=win, return_complex=True)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4888E"/>
                </a:solidFill>
                <a:latin typeface="Aptos"/>
              </a:rPr>
              <a:t>S = torch.log1p(torch.abs(Z)**2).unsqueeze(1)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4251960"/>
            <a:ext cx="822960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66544" y="4343400"/>
            <a:ext cx="7936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Why Conv2d?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66544" y="4608576"/>
            <a:ext cx="793699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model can exploit local patterns jointly across neighboring times and neighboring frequencies.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When not to treat the spectrogram as a generic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1:11–1:13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675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Time and frequency axes are not interchangeable.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A one-bin translation in frequency may have a different physical meaning at different scales.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Image augmentations such as arbitrary rotation or vertical flipping are usually physically nonsensical.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DSP-informed augmentations should preserve plausible signal behavior.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600200"/>
            <a:ext cx="3566160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72983" y="169164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Good ML habit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2983" y="1956816"/>
            <a:ext cx="3273552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Use domain knowledge to decide which invariances the model should learn rather than importing image tricks blindly.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Lecture 20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1:13–1:15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406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A global transform loses when frequency content occurs.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STFT computes local windowed spectra over time.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Window duration trades time resolution against frequency resolution.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spectrogram is |STFT|² and is a structured time–frequency matrix.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Spectrograms create a direct bridge from DSP to 2-D CNNs.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554480"/>
            <a:ext cx="306324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67344" y="1645920"/>
            <a:ext cx="27706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Exit ticket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67344" y="1911095"/>
            <a:ext cx="2770632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 transient lasts 8 ms. Why might a 200-ms STFT window be a poor choice even if it gives excellent frequency resolution?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</TotalTime>
  <Words>1376</Words>
  <Application>Microsoft Office PowerPoint</Application>
  <PresentationFormat>Widescreen</PresentationFormat>
  <Paragraphs>170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viby</dc:creator>
  <cp:keywords/>
  <dc:description>generated using python-pptx</dc:description>
  <cp:lastModifiedBy>Peter Mathys</cp:lastModifiedBy>
  <cp:revision>5</cp:revision>
  <cp:lastPrinted>2026-09-30T19:49:56Z</cp:lastPrinted>
  <dcterms:created xsi:type="dcterms:W3CDTF">2013-01-27T09:14:16Z</dcterms:created>
  <dcterms:modified xsi:type="dcterms:W3CDTF">2026-10-01T06:19:30Z</dcterms:modified>
  <cp:category/>
</cp:coreProperties>
</file>