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17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directly to previous lecture: downsampling risks aliasing; upsampling produces images. Both need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amplitude-scaling issue: zero insertion does not change old sample values, but the interpolation filter needs DC gain L to preserve amplitudes after smoothing.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 “zero stuffing” once, then emphasize that upsampling alone is not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images appear even though the inserted samples are zeros? Answer: changing the sampling lattice changes how the periodic DTFT maps into the new normalized frequency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Three copies. The argument X(e^{j3ω}) traverses three periods as ω spans one 2π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where many students forget the gain of L. Tie it to a constant input x[n]=1: after zero insertion only 1 in L samples is nonzero, so averaging without gain would reduce the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constant-signal argument is more intuitive than a formal derivation. It gives students a reliable check when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reconstruction from Week 2: the mathematics is analogous, but this time both the input and output are discrete-time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fast if students already understand FIR design. Focus on the three checks: cutoff, gain,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48 kHz to 44.1 kHz = 147/160. We conceptually create a 7.056 MHz intermediate grid, but efficient polyphase implementations never form all those zeros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this normalized cutoff is expressed on the high-rate intermediate grid. Students often mix the input-rate and intermediate-rate normalized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scipy.signal.resample_poly as the practical demo. Do not derive polyphase in detail if it is reserved for a later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“transposed” rather than “deconvolution”; it is the transpose of the linear operator, not an inverse convolution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2-D images this appears as checkerboard texture; in 1-D audio it can appear as periodic or tonal artifacts. Avoid claiming anti-imaging initialization alone always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engineering prior, not a universal guarantee. The notebook includes a direct zero-insert + conv equivalence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after zero insertion only 1/L of the high-rate samples contain the original amplitude, so a unity-gain smoother would reduce a constant signal by L; DC gain L restores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● LECTURE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86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Upsampling,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Interpolation, and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Rate Changes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insertion to sample-rate conversion and transposed convolutions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72600" y="1325880"/>
            <a:ext cx="1828800" cy="91440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0" y="1344168"/>
            <a:ext cx="18288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89720" y="3337560"/>
            <a:ext cx="2194560" cy="9144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6FA6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0" y="335584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LPF ×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846320"/>
            <a:ext cx="1828800" cy="822960"/>
          </a:xfrm>
          <a:prstGeom prst="roundRect">
            <a:avLst/>
          </a:prstGeom>
          <a:solidFill>
            <a:srgbClr val="FFF1E5"/>
          </a:solidFill>
          <a:ln w="19050">
            <a:solidFill>
              <a:srgbClr val="C98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486460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design complete sample-rate conversion chains and connect them to learned upsampling.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8978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 upsampled sequence by zero insertion.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DTFT becomes X(e^{jωL}) and why spectral images appear.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scale an interpolation lowpass filter.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L/M rational rate converter and select its cutoff.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ConvTranspose1d to zero insertion + convolution and diagnose periodic artifacts.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1109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21992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min: upsampling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20–45 min: interpolation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min: L/M conversion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min: transposed conv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56285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873752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inserting zeros, what must the filter do in both frequency and amplitude?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by zero insertion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higher-rate sequence by inserting L−1 zeros between samples.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0:02–0:08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Upsampling: the time-domain definition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417320"/>
            <a:ext cx="4297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44805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 becomes L F_s.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samples remain at indices n = kL.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are placeholders—not estimates of the missing waveform.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filtering will fill in meaningful intermediate values.</a:t>
            </a:r>
            <a:endParaRPr lang="en-US" sz="1770" dirty="0"/>
          </a:p>
        </p:txBody>
      </p:sp>
      <p:pic>
        <p:nvPicPr>
          <p:cNvPr id="6" name="Image 1" descr="/mnt/data/week6_multirate/assets/up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909437"/>
            <a:ext cx="5806440" cy="3450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0:08–0:15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effect: compression + images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417320"/>
            <a:ext cx="374904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43891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original spectrum is squeezed by L.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Periodicity: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compressed copy repeats L times over [−π, π].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extra replicas are artifacts of zero insertion.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 the baseband copy; remove the rest.</a:t>
            </a:r>
            <a:endParaRPr lang="en-US" sz="1750" dirty="0"/>
          </a:p>
        </p:txBody>
      </p:sp>
      <p:pic>
        <p:nvPicPr>
          <p:cNvPr id="6" name="Image 1" descr="/mnt/data/week6_multirate/assets/spectrum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81809"/>
            <a:ext cx="5989320" cy="3705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image locations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 = 3 and the original signal is baseband, how many compressed spectral copies appear over one 2π interval after zero insertion?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= upsample + lowpass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anti-imaging filter isolates the desired baseband replica and reconstructs intermediate samples.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interpolation filter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478024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78024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920240" cy="1115568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19202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39684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42793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384048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8795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only one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952" y="4279392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retains the compressed baseband copy centered at ω 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19872" y="39684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279392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H_I(e^{j0}) = L so the reconstructed sequence preserves amplitude.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0:28–0:34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gain must be 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Test signal: x[n] = 1 for all 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21854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4963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1, 0, 0, …, 1, 0, 0, …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 = 1/L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2743200"/>
            <a:ext cx="10515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18541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with unit DC gain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922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preserves the reduced average → output tends toward 1/L.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25196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512" y="4379976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interpolation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4690872"/>
            <a:ext cx="6254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the lowpass by L so constant input stays constant: y[n] = 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0:34–0:40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in the time domain</a:t>
            </a:r>
            <a:endParaRPr lang="en-US" sz="2550" dirty="0"/>
          </a:p>
        </p:txBody>
      </p:sp>
      <p:pic>
        <p:nvPicPr>
          <p:cNvPr id="4" name="Image 0" descr="/mnt/data/week6_multirate/assets/interpolation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8873"/>
            <a:ext cx="6400800" cy="274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38404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disappear after filtering.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 locations are retained (subject to filter delay / edge effects).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samples are weighted combinations of neighboring originals.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sinc interpolation is conceptually exact for bandlimited signals; FIR approximations are practical.</a:t>
            </a:r>
            <a:endParaRPr lang="en-US" sz="1690" dirty="0"/>
          </a:p>
        </p:txBody>
      </p:sp>
      <p:sp>
        <p:nvSpPr>
          <p:cNvPr id="6" name="Shape 3"/>
          <p:cNvSpPr/>
          <p:nvPr/>
        </p:nvSpPr>
        <p:spPr>
          <a:xfrm>
            <a:off x="7406640" y="507492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1232" y="520293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1232" y="55138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is reconstructing a smoother sequence on a denser sampling grid.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interpolation FIR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Passband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compressed baseband: |ω| ≤ ωp &lt; π/L.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the first image beginning near π/L.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coefficients so the DC gain is 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N-tap linear-phase FIR, delay = (N−1)/2 high-rate samples.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check: feed a constant signal and verify the output amplitude is unchanged away from transients.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sample-rate conversion L/M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first, filter once, then downsample.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0:45–0:51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order is ↑L then ↓M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3172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039112"/>
            <a:ext cx="1417320" cy="859536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417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3320" y="3749040"/>
            <a:ext cx="301752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5720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first makes the intermediate grid fine enough to represent the desired output sample times.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lowpass filter can remove interpolation images and prevent later decimation aliasing.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L/M to lowest terms before implementation.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0:51–0:56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filter serves two jobs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420624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37744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33272" y="250545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Anti-imaging constraint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" y="281635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↑L, reject replicas outside the desired compressed baseband.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3272" y="40599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437083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remove content that lies above the new Nyquist limit.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80760" y="2514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45352" y="26426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5352" y="2953512"/>
            <a:ext cx="4242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stricter cutoff. In practice, reserve a transition band below the ideal boundary.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0:56–1:00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example: 48 kHz → 44.1 kHz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453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856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44,100 / 48,000 = 147 / 160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↑147 → lowpass → ↓160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9227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23367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filtering computes only the output samples that are needed.</a:t>
            </a:r>
            <a:endParaRPr lang="en-US" sz="1350" dirty="0"/>
          </a:p>
        </p:txBody>
      </p:sp>
      <p:pic>
        <p:nvPicPr>
          <p:cNvPr id="13" name="Image 0" descr="/mnt/data/week6_multirate/assets/rational_48_to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05872"/>
            <a:ext cx="6675120" cy="2857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convolutions and learned upsampling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 in the reverse direction is closely related to zero insertion followed by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1:00–1:06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ConvTranspose1d: a DSP interpretation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901952"/>
            <a:ext cx="2057400" cy="118872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stride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(zero insertion)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05740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1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stride &gt; 1, transposed convolution can be viewed as inserting zeros and then applying a learned filter (with indexing/padding details).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learned filter is not automatically an anti-imaging filter.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 or poorly controlled imaging can create periodic artifacts.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1:06–1:11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periodic / checkerboard artifacts come from</a:t>
            </a:r>
            <a:endParaRPr lang="en-US" sz="2550" dirty="0"/>
          </a:p>
        </p:txBody>
      </p:sp>
      <p:pic>
        <p:nvPicPr>
          <p:cNvPr id="4" name="Image 0" descr="/mnt/data/week6_multirate/assets/transpose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6406"/>
            <a:ext cx="5852160" cy="2356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1605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output positions receive more kernel contributions than others.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images: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zero insertion creates replicas that a learned kernel may not suppress.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can exploit phase patterns: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periodic structure may become visible or audible.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6903720" y="48006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68312" y="49286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68312" y="523951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Resize/upsample + ordinary convolution, kernel/stride choices with even overlap, or explicit lowpass / anti-imaging constraints.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1:11–1:14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DSP-informed initialization idea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each upsampling kernel with a smooth lowpass / linear-interpolation-like response.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111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111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gradient descent to adapt the kernel while regularization or architecture preserves reasonable spectral behavior.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begins with less imaging energy.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training outputs can be smoother and more stable.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initialization encodes a physically sensible prior without preventing learning.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12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inserts zeros and creates spectral images.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lowpass filters those images and uses gain L.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conversion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uses ↑L → LPF → ↓M with cutoff min(π/L, π/M).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closely related to zero insertion + learned filtering.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insight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helps explain and mitigate periodic artifacts in learned upsampling.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139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4505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an interpolation filter need gain L rather than unity gain?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2976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365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+ quiz solutions are in the instructor packet.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network architectures.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Microsoft Office PowerPoint</Application>
  <PresentationFormat>Widescreen</PresentationFormat>
  <Paragraphs>193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Upsampling, Interpolation, and Rational Rate Changes</dc:title>
  <dc:subject>Week 6 Multi-rate DSP</dc:subject>
  <dc:creator>OpenAI</dc:creator>
  <cp:lastModifiedBy>Peter Mathys</cp:lastModifiedBy>
  <cp:revision>2</cp:revision>
  <dcterms:created xsi:type="dcterms:W3CDTF">2026-09-04T18:33:06Z</dcterms:created>
  <dcterms:modified xsi:type="dcterms:W3CDTF">2026-09-07T18:44:38Z</dcterms:modified>
</cp:coreProperties>
</file>