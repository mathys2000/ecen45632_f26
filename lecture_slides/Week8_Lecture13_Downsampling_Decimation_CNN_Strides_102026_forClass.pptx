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95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316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Frame the lecture as one idea appearing in two communities: sample-rate reduction in DSP and striding/pooling in CNNs.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connect to Week 2 sampling/aliasing. Emphasize that the “new” operation is discrete-time rate change, but the sampling logic is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0:02–0:04. Transition into the formal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M=3 explicitly: x_d[0]=x[0], x_d[1]=x[3], x_d[2]=x[6]. Ask: what happens to the physical time spacing between samples?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compute the result before revealing the callout. Common error: students confuse downsampling by M with dividing amplitudes by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over-derive unless this class needs it. The important mental model is “stretch, shift, add.” Connect overlap directly to aliasing.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describe the difference between the two figures without equations first. Then connect the safe bandwidth to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0:25. This is the engineering implementation, not just the mathematical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ωc = π/M is the idealized boundary. Practical FIR filters need a transition band; the passband must end below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difference between “cutoff = π/2” as theory and a realizable response with transition width. Ask where the first aliased energy would land if not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nuance statement to avoid turning “FIR linear phase” into a universal rule. For audio, latency may motivate different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answer: Need 0.22π ≤ π/M, so M ≤ 1/0.22 ≈ 4.54. Largest integer M is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This connection is the conceptual bridge to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Conv1d stride=M can be written as convolution followed by taking every Mth output. That makes the sampling interpretation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exact equivariance from robustness. Striding inherently reduces resolution; aliasing makes phase sensitivity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anti-aliased CNNs as a design pattern, not a magic rule. The right amount of lowpass filtering depends on data, task, and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pairs predict before running the notebook. The lowpass+stride pipeline should be less sensitive for signals dominated by content near the new Nyquist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exit answer: because task loss does not force the kernel to suppress frequencies above the post-stride Nyquist limit, so high-frequency feature energy can alias.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slide for course-site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• MULTI-RATE DSP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13, 10-20-26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0283E"/>
          </a:solidFill>
          <a:ln w="12700">
            <a:solidFill>
              <a:srgbClr val="102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C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8 ● LECTURE 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Downsampling,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Decimation, and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369417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sampling theory meets modern convolutional networks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280160"/>
            <a:ext cx="1920240" cy="100584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0" y="1298448"/>
            <a:ext cx="1920240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26060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copies stretch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can overlap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43800" y="3703320"/>
            <a:ext cx="1828800" cy="0"/>
          </a:xfrm>
          <a:prstGeom prst="line">
            <a:avLst/>
          </a:prstGeom>
          <a:noFill/>
          <a:ln w="25400">
            <a:solidFill>
              <a:srgbClr val="8EC3E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40880" y="4069080"/>
            <a:ext cx="2743200" cy="105156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0" y="4087368"/>
            <a:ext cx="2743200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= 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6126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CA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§4.6  |  Raschka: CNN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75 minutes, students should be able to reason in both time and frequency domains.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66928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downsampled sequences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from x[n] and M.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stretching and aliasing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using the DTFT relation.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the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anti-aliasing stage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of a decimator.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&gt; 1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 a CNN is a sampling operation.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shift-equivariance failures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caused by aliased feature maps.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315200" y="18288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79792" y="195681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79792" y="2267712"/>
            <a:ext cx="3236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0–25 min: downsampling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25–50 min: decimation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50–75 min: CNN strides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425196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79792" y="437997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79792" y="4690872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happen before we throw samples away?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in 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every Mth sample; the sample spacing grows by M.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Downsampling: the time-domain definition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0012680" y="384048"/>
            <a:ext cx="1600200" cy="329184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31552" y="44805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554480"/>
            <a:ext cx="292608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14600"/>
            <a:ext cx="512064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sample rate: F_s.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sample rate: F_s/M.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values are computed—the operation selects a subsequence.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loss is harmless only when the discarded samples are redundant relative to the signal bandwidth.</a:t>
            </a:r>
            <a:endParaRPr lang="en-US" sz="1800" dirty="0"/>
          </a:p>
        </p:txBody>
      </p:sp>
      <p:pic>
        <p:nvPicPr>
          <p:cNvPr id="8" name="Image 1" descr="/mnt/data/week6_multirate/assets/downsample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649741"/>
            <a:ext cx="5394960" cy="196999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0:10–0:14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quick index-mapping example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x[n] = { 2, 1, −1, 3, 4, 0, 5, 2, −2, 1, … } and M = 3.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41832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4767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9384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938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3522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1693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1693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2277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04488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0448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9788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79592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7959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8543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67144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6714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7298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5469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5469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6053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842248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84224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4808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829800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2980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20040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56032" y="27249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x[n]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063240" y="3840480"/>
            <a:ext cx="5852160" cy="1097280"/>
          </a:xfrm>
          <a:prstGeom prst="roundRect">
            <a:avLst>
              <a:gd name="adj" fmla="val 50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27832" y="3968496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27832" y="4279392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x_d[n] = { 2, 3, 5, 1, … }</a:t>
            </a:r>
            <a:endParaRPr lang="en-US" sz="13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0:14–0:20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in frequency?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417320"/>
            <a:ext cx="548640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423160"/>
            <a:ext cx="539496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each input spectrum is evaluated at ω/M, so features expand by M on the output frequency axis.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 periodically shifted copies appear.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copies are summed; overlap is irreversible aliasing.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1/M factor accounts for the rate change in the DTFT relation.</a:t>
            </a:r>
            <a:endParaRPr lang="en-US" sz="1740" dirty="0"/>
          </a:p>
        </p:txBody>
      </p:sp>
      <p:sp>
        <p:nvSpPr>
          <p:cNvPr id="6" name="Shape 3"/>
          <p:cNvSpPr/>
          <p:nvPr/>
        </p:nvSpPr>
        <p:spPr>
          <a:xfrm>
            <a:off x="6720840" y="1828800"/>
            <a:ext cx="960120" cy="731520"/>
          </a:xfrm>
          <a:prstGeom prst="chevron">
            <a:avLst/>
          </a:prstGeom>
          <a:solidFill>
            <a:srgbClr val="DDEEF8"/>
          </a:solidFill>
          <a:ln w="127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72084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1828800"/>
            <a:ext cx="960120" cy="731520"/>
          </a:xfrm>
          <a:prstGeom prst="chevron">
            <a:avLst/>
          </a:prstGeom>
          <a:solidFill>
            <a:srgbClr val="E7F4EC"/>
          </a:solidFill>
          <a:ln w="1270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0100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281160" y="1828800"/>
            <a:ext cx="960120" cy="731520"/>
          </a:xfrm>
          <a:prstGeom prst="chevron">
            <a:avLst/>
          </a:prstGeom>
          <a:solidFill>
            <a:srgbClr val="FFF1E5"/>
          </a:solidFill>
          <a:ln w="1270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28116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12280" y="3063240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976872" y="3191256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76872" y="3502152"/>
            <a:ext cx="3557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is a sampling operation performed on an already-discrete signal.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0:20–0:25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Aliasing: when stretched copies overlap</a:t>
            </a:r>
            <a:endParaRPr lang="en-US" sz="2550" dirty="0"/>
          </a:p>
        </p:txBody>
      </p:sp>
      <p:pic>
        <p:nvPicPr>
          <p:cNvPr id="4" name="Image 0" descr="/mnt/data/week6_multirate/assets/spectrum_alia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14539"/>
            <a:ext cx="5486400" cy="3394683"/>
          </a:xfrm>
          <a:prstGeom prst="rect">
            <a:avLst/>
          </a:prstGeom>
        </p:spPr>
      </p:pic>
      <p:pic>
        <p:nvPicPr>
          <p:cNvPr id="5" name="Image 1" descr="/mnt/data/week6_multirate/assets/spectrum_no_ali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71117"/>
            <a:ext cx="5303520" cy="328152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63240" y="5559552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227832" y="5687568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Alias-free requirement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227832" y="5998464"/>
            <a:ext cx="5705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↓M, confine the signal to |ω| &lt; π/M (with a practical transition band).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 = filter + downsample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lowpass filter removes content that would fold into the preserved band.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0:25–0:32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anti-aliasing filter is necessary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2478024"/>
            <a:ext cx="9144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0" y="1965960"/>
            <a:ext cx="1920240" cy="1024128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0" y="1984248"/>
            <a:ext cx="19202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HAA(z)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2478024"/>
            <a:ext cx="9601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23560" y="2057400"/>
            <a:ext cx="1325880" cy="841248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23560" y="2075688"/>
            <a:ext cx="1325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0" y="2478024"/>
            <a:ext cx="10058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5528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38862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24712" y="401421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cutoff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" y="432511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ω_c = π/M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977640" y="388620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42232" y="401421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filter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42232" y="4325112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passband edge &lt; π/M and stopband edge ≤ π/M.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01000" y="38862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65592" y="4014216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tradeoff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65592" y="4325112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Sharper transition ⇒ longer FIR ⇒ more delay and computation.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0:32–0:39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design example: decimate by 2</a:t>
            </a:r>
            <a:endParaRPr lang="en-US" sz="2550" dirty="0"/>
          </a:p>
        </p:txBody>
      </p:sp>
      <p:pic>
        <p:nvPicPr>
          <p:cNvPr id="4" name="Image 0" descr="/mnt/data/week6_multirate/assets/anti_alias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47083"/>
            <a:ext cx="5577840" cy="21753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45920"/>
            <a:ext cx="4526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Nyquist limit corresponds to input |ω| = π/2.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useful band below the transition region.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 energy above π/2 before ↓2.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linear-phase FIR gives constant group delay in the passband.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720840" y="4709160"/>
            <a:ext cx="4434840" cy="960120"/>
          </a:xfrm>
          <a:prstGeom prst="roundRect">
            <a:avLst>
              <a:gd name="adj" fmla="val 571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483717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note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148072"/>
            <a:ext cx="4105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scipy.signal.decimate or resample_poly handles filtering + rate change for you—but the design assumptions still matter.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0:39–0:46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linear-phase FIR is a common choice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Preserved waveform shape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 group delay keeps relative phase relationships across the passband.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7395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by construction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7395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impulse response filters have no recursive poles to destabilize the decimator.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 delay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Symmetric taps give delay (N−1)/2 samples at the input rate.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structures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395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implementations avoid computing samples that will be discarded.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nuance: linear phase is useful, not mandatory. Minimum-phase or IIR designs may be preferred when latency dominates.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safe decimation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61320" cy="1920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99212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signal occupies |ω| ≤ 0.22π. What is the largest integer M that can be used without aliasing, assuming an ideal anti-alias filter that preserves the whole band?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03120" y="4069080"/>
            <a:ext cx="7955280" cy="10515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77640" y="4370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after discussion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 are downsampling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strided convolution combines learned filtering with sample selection.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0:50–0:57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 with stride M: the DSP view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4884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1874520"/>
            <a:ext cx="2331720" cy="118872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892808"/>
            <a:ext cx="233172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FIR-like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h[k]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352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1554480" cy="91440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2029968"/>
            <a:ext cx="15544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0" y="2468880"/>
            <a:ext cx="86868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4964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4964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1760" y="3794760"/>
            <a:ext cx="4297680" cy="6400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86600" y="370332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51192" y="383133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difference from classical decimation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51192" y="4142232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kernel is learned for task loss—not explicitly constrained to be a lowpass anti-aliasing filter.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0:57–1:04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aliasing can hurt shift equivariance</a:t>
            </a:r>
            <a:endParaRPr lang="en-US" sz="2550" dirty="0"/>
          </a:p>
        </p:txBody>
      </p:sp>
      <p:pic>
        <p:nvPicPr>
          <p:cNvPr id="4" name="Image 0" descr="/mnt/data/week6_multirate/assets/shift_equi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75729"/>
            <a:ext cx="5669280" cy="33637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00200"/>
            <a:ext cx="44805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 alone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shift equivariant (ignoring boundaries).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Subsampling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chooses a sampling phase.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one-sample input shift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can move energy to a different phase before ↓M.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Aliased high-frequency feature content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makes the output vary sharply under small shifts.</a:t>
            </a:r>
            <a:endParaRPr lang="en-US" sz="1720" dirty="0"/>
          </a:p>
        </p:txBody>
      </p:sp>
      <p:sp>
        <p:nvSpPr>
          <p:cNvPr id="6" name="Shape 3"/>
          <p:cNvSpPr/>
          <p:nvPr/>
        </p:nvSpPr>
        <p:spPr>
          <a:xfrm>
            <a:off x="6720840" y="4983480"/>
            <a:ext cx="4434840" cy="841248"/>
          </a:xfrm>
          <a:prstGeom prst="roundRect">
            <a:avLst>
              <a:gd name="adj" fmla="val 6522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511149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symptom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422392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 or feature maps can change more than expected after tiny translations or time shifts.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1:04–1:10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CNNs: restore the missing DSP step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1828800" cy="82296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conv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60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0" y="2057400"/>
            <a:ext cx="1828800" cy="822960"/>
          </a:xfrm>
          <a:prstGeom prst="roundRect">
            <a:avLst/>
          </a:prstGeom>
          <a:solidFill>
            <a:srgbClr val="F3F8FB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06440" y="1901952"/>
            <a:ext cx="2240280" cy="1143000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920240"/>
            <a:ext cx="2240280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/ constrained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 blur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32520" y="2057400"/>
            <a:ext cx="1371600" cy="82296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32520" y="2075688"/>
            <a:ext cx="13716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840480"/>
            <a:ext cx="100126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BlurPool-style idea: lowpass before spatial or temporal subsampling.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Alternative: constrain the strided kernel to have stronger lowpass behavior.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Tradeoff: suppressing high-frequency detail can reduce aliasing but may also remove task-relevant features.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11E6C7-CDDB-F2B7-1962-2A6001D3D069}"/>
              </a:ext>
            </a:extLst>
          </p:cNvPr>
          <p:cNvSpPr txBox="1"/>
          <p:nvPr/>
        </p:nvSpPr>
        <p:spPr>
          <a:xfrm>
            <a:off x="415637" y="576696"/>
            <a:ext cx="5474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CNN for Classifying Digit Images</a:t>
            </a:r>
          </a:p>
        </p:txBody>
      </p:sp>
      <p:pic>
        <p:nvPicPr>
          <p:cNvPr id="3" name="Picture 2" descr="convnet">
            <a:extLst>
              <a:ext uri="{FF2B5EF4-FFF2-40B4-BE49-F238E27FC236}">
                <a16:creationId xmlns:a16="http://schemas.microsoft.com/office/drawing/2014/main" id="{75A98794-541E-605D-6880-B2F4E08E9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135" y="1917124"/>
            <a:ext cx="8463133" cy="23300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3948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1:10–1:14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Mini-demo / coding prompt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three stride-2 pipelines on the same 1-D signal: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Raw subsampling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x[::2]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943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Learned stride-2 conv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943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torch.nn.Conv1d(..., stride=2)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1131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Blur + stride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1131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lowpass(x) → take every 2nd sample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41605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 the input by one sample. Which pipeline changes least, and why?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743200" y="5166360"/>
            <a:ext cx="6675120" cy="749808"/>
          </a:xfrm>
          <a:prstGeom prst="roundRect">
            <a:avLst>
              <a:gd name="adj" fmla="val 7317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07792" y="529437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accompanying notebook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07792" y="5605272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Sections 1–5 reproduce the DSP spectra and the PyTorch stride comparison.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1:14–1:15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13 wrap-up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58368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changes the sample rate and stretches spectral copies.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occurs when those copies overlap.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anti-alias lowpass filtering followed by ↓M.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Strided CNN layers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are learned-filter + downsample systems.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reintroduce an explicit lowpass step before subsampling.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001000" y="210312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65592" y="223113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65592" y="2542032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one sentence: why can a perfectly reasonable learned convolution still be a poor anti-aliasing filter?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01000" y="4343400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65592" y="447141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65592" y="478231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insertion creates images; interpolation removes them.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instructor resources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24128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Schafer, Discrete-Time Signal Processing, §4.6: sampling-rate conversion.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Raschka et al., Machine Learning with PyTorch and Scikit-Learn: convolutional neural network architecture.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Accompanying notebook: Week8_Multirate_DSP_and_ML_Demos.ipynb.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and weekly quiz: Week8_Multirate_Homework_Quiz_Solutions.docx.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1700</Words>
  <Application>Microsoft Office PowerPoint</Application>
  <PresentationFormat>Widescreen</PresentationFormat>
  <Paragraphs>211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DSP and ML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11: Downsampling, Decimation, and CNN Strides</dc:title>
  <dc:subject>Week 6 Multi-rate DSP</dc:subject>
  <dc:creator>OpenAI</dc:creator>
  <cp:lastModifiedBy>Peter Mathys</cp:lastModifiedBy>
  <cp:revision>6</cp:revision>
  <dcterms:created xsi:type="dcterms:W3CDTF">2026-09-04T18:33:06Z</dcterms:created>
  <dcterms:modified xsi:type="dcterms:W3CDTF">2026-10-20T06:14:09Z</dcterms:modified>
</cp:coreProperties>
</file>