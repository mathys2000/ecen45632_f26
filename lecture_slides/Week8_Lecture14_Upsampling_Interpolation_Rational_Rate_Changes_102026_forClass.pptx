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66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172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0:00–0:02. Connect directly to previous lecture: downsampling risks aliasing; upsampling produces images. Both need filtering.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amplitude-scaling issue: zero insertion does not change old sample values, but the interpolation filter needs DC gain L to preserve amplitudes after smoothing.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phrase “zero stuffing” once, then emphasize that upsampling alone is not interpolation.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why do images appear even though the inserted samples are zeros? Answer: changing the sampling lattice changes how the periodic DTFT maps into the new normalized frequency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answer: Three copies. The argument X(e^{j3ω}) traverses three periods as ω spans one 2π interval.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point where many students forget the gain of L. Tie it to a constant input x[n]=1: after zero insertion only 1 in L samples is nonzero, so averaging without gain would reduce the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constant-signal argument is more intuitive than a formal derivation. It gives students a reliable check when 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reconstruction from Week 2: the mathematics is analogous, but this time both the input and output are discrete-time 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can be fast if students already understand FIR design. Focus on the three checks: cutoff, gain,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48 kHz to 44.1 kHz = 147/160. We conceptually create a 7.056 MHz intermediate grid, but efficient polyphase implementations never form all those zeros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this normalized cutoff is expressed on the high-rate intermediate grid. Students often mix the input-rate and intermediate-rate normalized frequencies.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scipy.signal.resample_poly as the practical demo. Do not derive polyphase in detail if it is reserved for a later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“transposed” rather than “deconvolution”; it is the transpose of the linear operator, not an inverse convolution in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2-D images this appears as checkerboard texture; in 1-D audio it can appear as periodic or tonal artifacts. Avoid claiming anti-imaging initialization alone always solves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as an engineering prior, not a universal guarantee. The notebook includes a direct zero-insert + conv equivalence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exit answer: after zero insertion only 1/L of the high-rate samples contain the original amplitude, so a unity-gain smoother would reduce a constant signal by L; DC gain L restores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• MULTI-RATE DSP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14, 10-20-26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41080" y="0"/>
            <a:ext cx="3547872" cy="6858000"/>
          </a:xfrm>
          <a:prstGeom prst="rect">
            <a:avLst/>
          </a:prstGeom>
          <a:solidFill>
            <a:srgbClr val="10283E"/>
          </a:solidFill>
          <a:ln w="12700">
            <a:solidFill>
              <a:srgbClr val="102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731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C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8 ● LECTURE 14</a:t>
            </a:r>
          </a:p>
        </p:txBody>
      </p:sp>
      <p:sp>
        <p:nvSpPr>
          <p:cNvPr id="5" name="Text 3"/>
          <p:cNvSpPr/>
          <p:nvPr/>
        </p:nvSpPr>
        <p:spPr>
          <a:xfrm>
            <a:off x="658368" y="1325880"/>
            <a:ext cx="7086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Upsampling,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Interpolation, and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 Rate Changes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85800" y="3675888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zero insertion to sample-rate conversion and transposed convolutions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72600" y="1325880"/>
            <a:ext cx="1828800" cy="91440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72600" y="1344168"/>
            <a:ext cx="182880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0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 appear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89720" y="3337560"/>
            <a:ext cx="2194560" cy="914400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6FA6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89720" y="3355848"/>
            <a:ext cx="219456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LPF × 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72600" y="4846320"/>
            <a:ext cx="1828800" cy="822960"/>
          </a:xfrm>
          <a:prstGeom prst="roundRect">
            <a:avLst/>
          </a:prstGeom>
          <a:solidFill>
            <a:srgbClr val="FFF1E5"/>
          </a:solidFill>
          <a:ln w="19050">
            <a:solidFill>
              <a:srgbClr val="C985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72600" y="486460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/ 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614476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CA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§4.6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to design complete sample-rate conversion chains and connect them to learned upsampling.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89788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 an upsampled sequence by zero insertion.
</a:t>
            </a: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the DTFT becomes X(e^{jωL}) and why spectral images appear.
</a:t>
            </a: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and scale an interpolation lowpass filter.
</a:t>
            </a: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L/M rational rate converter and select its cutoff.
</a:t>
            </a:r>
            <a:r>
              <a:rPr lang="en-US" sz="19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 ConvTranspose1d to zero insertion + convolution and diagnose periodic artifacts.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0" y="1783080"/>
            <a:ext cx="3749040" cy="2331720"/>
          </a:xfrm>
          <a:prstGeom prst="roundRect">
            <a:avLst>
              <a:gd name="adj" fmla="val 2353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79792" y="191109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79792" y="2221992"/>
            <a:ext cx="34198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0–20 min: upsampling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20–45 min: interpolation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45–60 min: L/M conversion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60–75 min: transposed conv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0" y="4434840"/>
            <a:ext cx="374904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79792" y="456285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79792" y="4873752"/>
            <a:ext cx="3419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inserting zeros, what must the filter do in both frequency and amplitude?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 by zero insertion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higher-rate sequence by inserting L−1 zeros between samples.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0:02–0:08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Upsampling: the time-domain definition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417320"/>
            <a:ext cx="4297680" cy="1234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880360"/>
            <a:ext cx="448056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sample rate becomes L F_s.
</a:t>
            </a: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samples remain at indices n = kL.
</a:t>
            </a: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Inserted zeros are placeholders—not estimates of the missing waveform.
</a:t>
            </a:r>
            <a:r>
              <a:rPr lang="en-US" sz="177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7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 filtering will fill in meaningful intermediate values.</a:t>
            </a:r>
            <a:endParaRPr lang="en-US" sz="1770" dirty="0"/>
          </a:p>
        </p:txBody>
      </p:sp>
      <p:pic>
        <p:nvPicPr>
          <p:cNvPr id="6" name="Image 1" descr="/mnt/data/week6_multirate/assets/upsample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909437"/>
            <a:ext cx="5806440" cy="34506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0:08–0:15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Frequency-domain effect: compression + images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417320"/>
            <a:ext cx="374904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77440"/>
            <a:ext cx="4389120" cy="2880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Compression: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original spectrum is squeezed by L.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Periodicity: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compressed copy repeats L times over [−π, π].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Images: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extra replicas are artifacts of zero insertion.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keep the baseband copy; remove the rest.</a:t>
            </a:r>
            <a:endParaRPr lang="en-US" sz="1750" dirty="0"/>
          </a:p>
        </p:txBody>
      </p:sp>
      <p:pic>
        <p:nvPicPr>
          <p:cNvPr id="6" name="Image 1" descr="/mnt/data/week6_multirate/assets/spectrum_im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781809"/>
            <a:ext cx="5989320" cy="370586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check: image locations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61320" cy="19202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1874520"/>
            <a:ext cx="99212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L = 3 and the original signal is baseband, how many compressed spectral copies appear over one 2π interval after zero insertion?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103120" y="4069080"/>
            <a:ext cx="7955280" cy="10515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77640" y="43708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after discussion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 = upsample + lowpass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anti-imaging filter isolates the desired baseband replica and reconstructs intermediate samples.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0:20–0:28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interpolation filter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972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167128"/>
            <a:ext cx="10972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737360" y="2478024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60320" y="2057400"/>
            <a:ext cx="1325880" cy="841248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0" y="2075688"/>
            <a:ext cx="1325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86200" y="2478024"/>
            <a:ext cx="86868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1920240" cy="1115568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938528"/>
            <a:ext cx="192024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HI(z)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75120" y="2478024"/>
            <a:ext cx="9144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589520" y="2148840"/>
            <a:ext cx="10972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89520" y="2167128"/>
            <a:ext cx="10972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51560" y="384048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16152" y="396849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cutoff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16152" y="4279392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ω_c = π/L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023360" y="3840480"/>
            <a:ext cx="3657600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87952" y="396849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only one image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87952" y="4279392"/>
            <a:ext cx="3328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lowpass retains the compressed baseband copy centered at ω = 0.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955280" y="3840480"/>
            <a:ext cx="3063240" cy="960120"/>
          </a:xfrm>
          <a:prstGeom prst="roundRect">
            <a:avLst>
              <a:gd name="adj" fmla="val 571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19872" y="3968496"/>
            <a:ext cx="2734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gain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19872" y="4279392"/>
            <a:ext cx="2734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H_I(e^{j0}) = L so the reconstructed sequence preserves amplitude.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0:28–0:34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gain must be L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324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Test signal: x[n] = 1 for all 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4023360" cy="1417320"/>
          </a:xfrm>
          <a:prstGeom prst="roundRect">
            <a:avLst>
              <a:gd name="adj" fmla="val 3871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33272" y="2185416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↑L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33272" y="2496312"/>
            <a:ext cx="3694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is 1, 0, 0, …, 1, 0, 0, …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value = 1/L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74920" y="2743200"/>
            <a:ext cx="10515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55080" y="2057400"/>
            <a:ext cx="425196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19672" y="2185416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 with unit DC gain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19672" y="2496312"/>
            <a:ext cx="3922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Smoothing preserves the reduced average → output tends toward 1/L.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788920" y="4251960"/>
            <a:ext cx="6583680" cy="1143000"/>
          </a:xfrm>
          <a:prstGeom prst="roundRect">
            <a:avLst>
              <a:gd name="adj" fmla="val 480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53512" y="4379976"/>
            <a:ext cx="6254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interpolation filter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53512" y="4690872"/>
            <a:ext cx="6254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Multiply the lowpass by L so constant input stays constant: y[n] = 1.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0:34–0:40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 in the time domain</a:t>
            </a:r>
            <a:endParaRPr lang="en-US" sz="2550" dirty="0"/>
          </a:p>
        </p:txBody>
      </p:sp>
      <p:pic>
        <p:nvPicPr>
          <p:cNvPr id="4" name="Image 0" descr="/mnt/data/week6_multirate/assets/interpolation_wave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18873"/>
            <a:ext cx="6400800" cy="27402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06640" y="1554480"/>
            <a:ext cx="384048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Inserted zeros disappear after filtering.
</a:t>
            </a: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sample locations are retained (subject to filter delay / edge effects).
</a:t>
            </a: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Intermediate samples are weighted combinations of neighboring originals.
</a:t>
            </a:r>
            <a:r>
              <a:rPr lang="en-US" sz="169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9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sinc interpolation is conceptually exact for bandlimited signals; FIR approximations are practical.</a:t>
            </a:r>
            <a:endParaRPr lang="en-US" sz="1690" dirty="0"/>
          </a:p>
        </p:txBody>
      </p:sp>
      <p:sp>
        <p:nvSpPr>
          <p:cNvPr id="6" name="Shape 3"/>
          <p:cNvSpPr/>
          <p:nvPr/>
        </p:nvSpPr>
        <p:spPr>
          <a:xfrm>
            <a:off x="7406640" y="5074920"/>
            <a:ext cx="3840480" cy="731520"/>
          </a:xfrm>
          <a:prstGeom prst="roundRect">
            <a:avLst>
              <a:gd name="adj" fmla="val 7500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571232" y="5202936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interpretation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71232" y="5513832"/>
            <a:ext cx="3511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filter is reconstructing a smoother sequence on a denser sampling grid.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0:40–0:45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Choosing an interpolation FIR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" y="163677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Passband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1832" y="194767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the compressed baseband: |ω| ≤ ωp &lt; π/L.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28232" y="163677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Stopband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28232" y="194767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Suppress the first image beginning near π/L.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47472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360273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1832" y="391363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coefficients so the DC gain is 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3474720"/>
            <a:ext cx="5029200" cy="141732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28232" y="3602736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28232" y="3913632"/>
            <a:ext cx="47000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N-tap linear-phase FIR, delay = (N−1)/2 high-rate samples.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565099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check: feed a constant signal and verify the output amplitude is unchanged away from transients.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 sample-rate conversion L/M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Upsample first, filter once, then downsample.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0:45–0:51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order is ↑L then ↓M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594360" y="2148840"/>
            <a:ext cx="1005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2167128"/>
            <a:ext cx="10058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0020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331720" y="2039112"/>
            <a:ext cx="1325880" cy="859536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31720" y="2057400"/>
            <a:ext cx="13258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0" y="2039112"/>
            <a:ext cx="1417320" cy="859536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2057400"/>
            <a:ext cx="141732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H(z)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0644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37960" y="2039112"/>
            <a:ext cx="1325880" cy="859536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2057400"/>
            <a:ext cx="13258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63840" y="2468880"/>
            <a:ext cx="7315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595360" y="2148840"/>
            <a:ext cx="100584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95360" y="2167128"/>
            <a:ext cx="100584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03320" y="3749040"/>
            <a:ext cx="3017520" cy="5943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14400" y="4572000"/>
            <a:ext cx="996696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 first makes the intermediate grid fine enough to represent the desired output sample times.
</a:t>
            </a:r>
            <a:r>
              <a:rPr lang="en-US" sz="16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lowpass filter can remove interpolation images and prevent later decimation aliasing.
</a:t>
            </a:r>
            <a:r>
              <a:rPr lang="en-US" sz="16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L/M to lowest terms before implementation.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0:51–0:56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filter serves two jobs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417320"/>
            <a:ext cx="4206240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" y="2377440"/>
            <a:ext cx="4709160" cy="1280160"/>
          </a:xfrm>
          <a:prstGeom prst="roundRect">
            <a:avLst>
              <a:gd name="adj" fmla="val 4286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33272" y="2505456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Anti-imaging constraint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3272" y="2816352"/>
            <a:ext cx="4379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↑L, reject replicas outside the desired compressed baseband.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68680" y="3931920"/>
            <a:ext cx="4709160" cy="1280160"/>
          </a:xfrm>
          <a:prstGeom prst="roundRect">
            <a:avLst>
              <a:gd name="adj" fmla="val 4286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33272" y="4059936"/>
            <a:ext cx="4379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Anti-aliasing constraint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33272" y="4370832"/>
            <a:ext cx="4379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↓M, remove content that lies above the new Nyquist limit.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080760" y="2514600"/>
            <a:ext cx="4572000" cy="2011680"/>
          </a:xfrm>
          <a:prstGeom prst="roundRect">
            <a:avLst>
              <a:gd name="adj" fmla="val 2727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45352" y="264261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design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45352" y="2953512"/>
            <a:ext cx="42428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stricter cutoff. In practice, reserve a transition band below the ideal boundary.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0:56–1:00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example: 48 kHz → 44.1 kHz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3337560" cy="9144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7552" y="154533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ratio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7552" y="185623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44,100 / 48,000 = 147 / 160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3337560" cy="91440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87552" y="27340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 chain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304495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↑147 → lowpass → ↓160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7552" y="392277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implementation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423367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filtering computes only the output samples that are needed.</a:t>
            </a:r>
            <a:endParaRPr lang="en-US" sz="1350" dirty="0"/>
          </a:p>
        </p:txBody>
      </p:sp>
      <p:pic>
        <p:nvPicPr>
          <p:cNvPr id="13" name="Image 0" descr="/mnt/data/week6_multirate/assets/rational_48_to_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205872"/>
            <a:ext cx="6675120" cy="285773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Transposed convolutions and learned upsampling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stride in the reverse direction is closely related to zero insertion followed by filtering.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1:00–1:06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ConvTranspose1d: a DSP interpretation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40080" y="2084832"/>
            <a:ext cx="1554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55448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map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94560" y="2496312"/>
            <a:ext cx="7772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71800" y="1901952"/>
            <a:ext cx="2057400" cy="118872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71800" y="1920240"/>
            <a:ext cx="205740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 stride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(zero insertion)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0" y="2496312"/>
            <a:ext cx="7772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06440" y="1901952"/>
            <a:ext cx="2057400" cy="118872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06440" y="1920240"/>
            <a:ext cx="205740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convolution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63840" y="2496312"/>
            <a:ext cx="7772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41080" y="2084832"/>
            <a:ext cx="1554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41080" y="2103120"/>
            <a:ext cx="155448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higher-rate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931920"/>
            <a:ext cx="1024128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stride &gt; 1, transposed convolution can be viewed as inserting zeros and then applying a learned filter (with indexing/padding details).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learned filter is not automatically an anti-imaging filter.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Uneven overlap or poorly controlled imaging can create periodic artifacts.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1:06–1:11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periodic / checkerboard artifacts come from</a:t>
            </a:r>
            <a:endParaRPr lang="en-US" sz="2550" dirty="0"/>
          </a:p>
        </p:txBody>
      </p:sp>
      <p:pic>
        <p:nvPicPr>
          <p:cNvPr id="4" name="Image 0" descr="/mnt/data/week6_multirate/assets/transpose_overl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56406"/>
            <a:ext cx="5852160" cy="23566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03720" y="1737360"/>
            <a:ext cx="4160520" cy="2880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8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Uneven overlap:</a:t>
            </a:r>
            <a:r>
              <a:rPr lang="en-US" sz="16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some output positions receive more kernel contributions than others.
</a:t>
            </a:r>
            <a:r>
              <a:rPr lang="en-US" sz="168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8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Spectral images:</a:t>
            </a:r>
            <a:r>
              <a:rPr lang="en-US" sz="16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zero insertion creates replicas that a learned kernel may not suppress.
</a:t>
            </a:r>
            <a:r>
              <a:rPr lang="en-US" sz="168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68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can exploit phase patterns:</a:t>
            </a:r>
            <a:r>
              <a:rPr lang="en-US" sz="168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periodic structure may become visible or audible.</a:t>
            </a:r>
            <a:endParaRPr lang="en-US" sz="1680" dirty="0"/>
          </a:p>
        </p:txBody>
      </p:sp>
      <p:sp>
        <p:nvSpPr>
          <p:cNvPr id="6" name="Shape 3"/>
          <p:cNvSpPr/>
          <p:nvPr/>
        </p:nvSpPr>
        <p:spPr>
          <a:xfrm>
            <a:off x="6903720" y="4800600"/>
            <a:ext cx="4160520" cy="1051560"/>
          </a:xfrm>
          <a:prstGeom prst="roundRect">
            <a:avLst>
              <a:gd name="adj" fmla="val 5217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068312" y="4928616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Mitigation patterns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68312" y="5239512"/>
            <a:ext cx="3831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Resize/upsample + ordinary convolution, kernel/stride choices with even overlap, or explicit lowpass / anti-imaging constraints.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1:11–1:14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DSP-informed initialization idea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68680" y="1554480"/>
            <a:ext cx="4846320" cy="1463040"/>
          </a:xfrm>
          <a:prstGeom prst="roundRect">
            <a:avLst>
              <a:gd name="adj" fmla="val 375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" y="1682496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from interpolation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33272" y="1993392"/>
            <a:ext cx="4517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Initialize each upsampling kernel with a smooth lowpass / linear-interpolation-like response.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46520" y="1554480"/>
            <a:ext cx="4846320" cy="1463040"/>
          </a:xfrm>
          <a:prstGeom prst="roundRect">
            <a:avLst>
              <a:gd name="adj" fmla="val 3750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11112" y="1682496"/>
            <a:ext cx="4517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learn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11112" y="1993392"/>
            <a:ext cx="4517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 gradient descent to adapt the kernel while regularization or architecture preserves reasonable spectral behavior.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helps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3931920"/>
            <a:ext cx="996696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begins with less imaging energy.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training outputs can be smoother and more stable.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initialization encodes a physically sensible prior without preventing learning.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1:14–1:15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14 wrap-up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58368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Upsampling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inserts zeros and creates spectral images.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Interpolation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lowpass filters those images and uses gain L.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Rational conversion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uses ↑L → LPF → ↓M with cutoff min(π/L, π/M).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ConvTranspose1d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closely related to zero insertion + learned filtering.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insight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helps explain and mitigate periodic artifacts in learned upsampling.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001000" y="2011680"/>
            <a:ext cx="3337560" cy="1828800"/>
          </a:xfrm>
          <a:prstGeom prst="roundRect">
            <a:avLst>
              <a:gd name="adj" fmla="val 3000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65592" y="213969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65592" y="2450592"/>
            <a:ext cx="3008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does an interpolation filter need gain L rather than unity gain?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01000" y="4297680"/>
            <a:ext cx="3337560" cy="1097280"/>
          </a:xfrm>
          <a:prstGeom prst="roundRect">
            <a:avLst>
              <a:gd name="adj" fmla="val 5000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65592" y="442569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 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65592" y="4736592"/>
            <a:ext cx="3008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+ quiz solutions are in the instructor packet.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and instructor resources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24128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Schafer, Discrete-Time Signal Processing, §4.6: sampling-rate conversion.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Raschka et al., Machine Learning with PyTorch and Scikit-Learn: convolutional network architectures.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Accompanying notebook: Week6_Multirate_DSP_and_ML_Demos.ipynb.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and weekly quiz: Week6_Multirate_Homework_Quiz_Solutions.docx.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1745</Words>
  <Application>Microsoft Office PowerPoint</Application>
  <PresentationFormat>Widescreen</PresentationFormat>
  <Paragraphs>197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DSP and ML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12: Upsampling, Interpolation, and Rational Rate Changes</dc:title>
  <dc:subject>Week 6 Multi-rate DSP</dc:subject>
  <dc:creator>OpenAI</dc:creator>
  <cp:lastModifiedBy>Peter Mathys</cp:lastModifiedBy>
  <cp:revision>3</cp:revision>
  <dcterms:created xsi:type="dcterms:W3CDTF">2026-09-04T18:33:06Z</dcterms:created>
  <dcterms:modified xsi:type="dcterms:W3CDTF">2026-10-12T18:36:55Z</dcterms:modified>
</cp:coreProperties>
</file>