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Aptos Mono" panose="020B0009020202020204" pitchFamily="49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528" y="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5F0B5-BE72-45BC-AA20-31CC3265941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04095-768E-4FB9-8A9A-8101D6033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3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C04095-768E-4FB9-8A9A-8101D60330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80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570958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15442" y="2248792"/>
            <a:ext cx="19611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60A5FA"/>
                </a:solidFill>
                <a:latin typeface="Calibri" panose="020F0502020204030204" pitchFamily="34" charset="0"/>
              </a:rPr>
              <a:t>DSP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95292" y="2677417"/>
            <a:ext cx="5401414" cy="720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 dirty="0">
                <a:solidFill>
                  <a:srgbClr val="F8FAFC"/>
                </a:solidFill>
                <a:latin typeface="Calibri" panose="020F0502020204030204" pitchFamily="34" charset="0"/>
              </a:rPr>
              <a:t>Audio Signal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637508"/>
            <a:ext cx="83343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94A3B8"/>
                </a:solidFill>
                <a:latin typeface="Calibri" panose="020F0502020204030204" pitchFamily="34" charset="0"/>
              </a:rPr>
              <a:t>Bridging the gap from the DTFT to practical STFTs and Power Spectra.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67400" y="2946350"/>
            <a:ext cx="5715000" cy="1850975"/>
          </a:xfrm>
          <a:prstGeom prst="roundRect">
            <a:avLst>
              <a:gd name="adj" fmla="val 82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05200"/>
            <a:ext cx="238125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14800"/>
            <a:ext cx="2381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724400"/>
            <a:ext cx="190500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370184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</a:rPr>
              <a:t>The Ideal vs. The Practical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76512"/>
            <a:ext cx="514064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1E3A8A"/>
                </a:solidFill>
              </a:rPr>
              <a:t>Discrete-Time Fourier Transform (DTFT)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5177" y="3403550"/>
            <a:ext cx="311944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0" i="1" u="none" dirty="0">
                <a:solidFill>
                  <a:srgbClr val="0F172A"/>
                </a:solidFill>
                <a:latin typeface="Times New Roman"/>
              </a:rPr>
              <a:t>X(</a:t>
            </a:r>
            <a:r>
              <a:rPr sz="3000" b="0" i="1" u="none" dirty="0" err="1">
                <a:solidFill>
                  <a:srgbClr val="0F172A"/>
                </a:solidFill>
                <a:latin typeface="Times New Roman"/>
              </a:rPr>
              <a:t>e</a:t>
            </a:r>
            <a:r>
              <a:rPr sz="2499" b="0" i="1" u="none" dirty="0" err="1">
                <a:solidFill>
                  <a:srgbClr val="0F172A"/>
                </a:solidFill>
                <a:latin typeface="Times New Roman"/>
              </a:rPr>
              <a:t>jω</a:t>
            </a:r>
            <a:r>
              <a:rPr sz="3000" b="0" i="1" u="none" dirty="0">
                <a:solidFill>
                  <a:srgbClr val="0F172A"/>
                </a:solidFill>
                <a:latin typeface="Times New Roman"/>
              </a:rPr>
              <a:t>) = ∑ x[n] e</a:t>
            </a:r>
            <a:r>
              <a:rPr sz="2499" b="0" i="1" u="none" baseline="30000" dirty="0">
                <a:solidFill>
                  <a:srgbClr val="0F172A"/>
                </a:solidFill>
                <a:latin typeface="Times New Roman"/>
              </a:rPr>
              <a:t>-</a:t>
            </a:r>
            <a:r>
              <a:rPr sz="2499" b="0" i="1" u="none" baseline="30000" dirty="0" err="1">
                <a:solidFill>
                  <a:srgbClr val="0F172A"/>
                </a:solidFill>
                <a:latin typeface="Times New Roman"/>
              </a:rPr>
              <a:t>jωn</a:t>
            </a:r>
            <a:endParaRPr sz="2499" b="0" i="1" u="none" baseline="30000" dirty="0">
              <a:solidFill>
                <a:srgbClr val="0F172A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4149625"/>
            <a:ext cx="28058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BEAUTIFUL MATH. UNCOMPUTABLE REALITY.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90912"/>
            <a:ext cx="4895850" cy="457200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Infinite duration:</a:t>
            </a:r>
            <a:r>
              <a:rPr sz="150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 Requires signal knowledge from beginning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100512"/>
            <a:ext cx="4895850" cy="457200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Continuous frequency:</a:t>
            </a:r>
            <a:r>
              <a:rPr sz="150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 Results in an </a:t>
            </a:r>
            <a:r>
              <a:rPr sz="1500" b="0" i="0" u="none" dirty="0" err="1">
                <a:solidFill>
                  <a:srgbClr val="334155"/>
                </a:solidFill>
                <a:latin typeface="Calibri" panose="020F0502020204030204" pitchFamily="34" charset="0"/>
              </a:rPr>
              <a:t>uncomputable</a:t>
            </a:r>
            <a:r>
              <a:rPr sz="150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 continuous spectrum.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710112"/>
            <a:ext cx="4895850" cy="457200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Hardware limitation:</a:t>
            </a:r>
            <a:r>
              <a:rPr sz="150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 Computers have finite memory arrays.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53928"/>
            <a:ext cx="5257800" cy="25589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853928"/>
            <a:ext cx="57150" cy="25589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495425"/>
            <a:ext cx="5257651" cy="52759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275376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</a:rPr>
              <a:t>Bridging to the DFT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158728"/>
            <a:ext cx="222016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</a:rPr>
              <a:t>Sampling the Spectrum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606403"/>
            <a:ext cx="4686300" cy="566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We solve the continuous frequency problem by sampling the DTFT at </a:t>
            </a:r>
            <a:r>
              <a:rPr sz="1500" b="1" i="0" u="none" dirty="0">
                <a:solidFill>
                  <a:srgbClr val="EA580C"/>
                </a:solidFill>
                <a:latin typeface="Calibri" panose="020F0502020204030204" pitchFamily="34" charset="0"/>
              </a:rPr>
              <a:t>N equally spaced points</a:t>
            </a:r>
            <a:r>
              <a:rPr sz="150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 between 0 and 2π.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692253"/>
            <a:ext cx="268022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i="1" u="none" dirty="0">
                <a:solidFill>
                  <a:srgbClr val="0F172A"/>
                </a:solidFill>
                <a:latin typeface="Times New Roman"/>
              </a:rPr>
              <a:t>X[k] = ∑ x[n] e</a:t>
            </a:r>
            <a:r>
              <a:rPr sz="2000" b="0" i="1" u="none" baseline="30000" dirty="0">
                <a:solidFill>
                  <a:srgbClr val="0F172A"/>
                </a:solidFill>
                <a:latin typeface="Times New Roman"/>
              </a:rPr>
              <a:t>-j(2π/N)</a:t>
            </a:r>
            <a:r>
              <a:rPr sz="2000" b="0" i="1" u="none" baseline="30000" dirty="0" err="1">
                <a:solidFill>
                  <a:srgbClr val="0F172A"/>
                </a:solidFill>
                <a:latin typeface="Times New Roman"/>
              </a:rPr>
              <a:t>kn</a:t>
            </a:r>
            <a:endParaRPr sz="2000" b="0" i="1" u="none" baseline="30000" dirty="0">
              <a:solidFill>
                <a:srgbClr val="0F172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95425"/>
            <a:ext cx="5486400" cy="4752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724025"/>
            <a:ext cx="5029200" cy="429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322235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</a:rPr>
              <a:t>The Cost of Truncation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4125" y="838200"/>
            <a:ext cx="119449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EA580C"/>
                </a:solidFill>
                <a:latin typeface="Calibri" panose="020F0502020204030204" pitchFamily="34" charset="0"/>
              </a:rPr>
              <a:t>Spectral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14625"/>
            <a:ext cx="5124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Finite Observation </a:t>
            </a:r>
            <a:r>
              <a:rPr sz="1350" b="1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Extracting N samples equals multiplying by a rectangular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95700"/>
            <a:ext cx="5124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Time-Frequency Duality </a:t>
            </a:r>
            <a:r>
              <a:rPr sz="1350" b="1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Multiplication in time is convolution in frequency.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76750"/>
            <a:ext cx="51244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EA580C"/>
                </a:solidFill>
                <a:latin typeface="Calibri" panose="020F0502020204030204" pitchFamily="34" charset="0"/>
              </a:rPr>
              <a:t>The Sinc Smear </a:t>
            </a:r>
            <a:r>
              <a:rPr sz="1350" b="1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Energy bleeds into adjacent frequency bins.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9750" y="4257377"/>
            <a:ext cx="8572500" cy="1105346"/>
          </a:xfrm>
          <a:prstGeom prst="roundRect">
            <a:avLst>
              <a:gd name="adj" fmla="val 103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09750" y="227617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09750" y="319057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3025" y="999827"/>
            <a:ext cx="136992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B82F6"/>
                </a:solidFill>
                <a:latin typeface="Calibri" panose="020F0502020204030204" pitchFamily="34" charset="0"/>
              </a:rPr>
              <a:t>STOCHASTIC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5267" y="1342727"/>
            <a:ext cx="464146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 dirty="0">
                <a:solidFill>
                  <a:srgbClr val="0F172A"/>
                </a:solidFill>
              </a:rPr>
              <a:t>Power Spectral Density (PSD)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7450" y="5667523"/>
            <a:ext cx="555709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Wiener-</a:t>
            </a:r>
            <a:r>
              <a:rPr sz="1200" b="0" i="0" u="none" dirty="0" err="1">
                <a:solidFill>
                  <a:srgbClr val="64748B"/>
                </a:solidFill>
                <a:latin typeface="Calibri" panose="020F0502020204030204" pitchFamily="34" charset="0"/>
              </a:rPr>
              <a:t>Khinchin</a:t>
            </a:r>
            <a:r>
              <a:rPr sz="12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 Theorem: PSD is the Fourier transform of the autocorrelation sequence.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2442477"/>
            <a:ext cx="89535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 dirty="0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2457152"/>
            <a:ext cx="3795398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Audio signals have infinite energy over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3356877"/>
            <a:ext cx="89535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 dirty="0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7950" y="3371552"/>
            <a:ext cx="5489003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We analyze finite </a:t>
            </a:r>
            <a:r>
              <a:rPr sz="1650" b="1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power</a:t>
            </a:r>
            <a:r>
              <a:rPr sz="165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 distribution across frequencies instead.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4532" y="4571702"/>
            <a:ext cx="372293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1" u="none" dirty="0" err="1">
                <a:solidFill>
                  <a:srgbClr val="1E3A8A"/>
                </a:solidFill>
                <a:latin typeface="Times New Roman"/>
              </a:rPr>
              <a:t>S</a:t>
            </a:r>
            <a:r>
              <a:rPr sz="2000" b="0" i="1" u="none" dirty="0" err="1">
                <a:solidFill>
                  <a:srgbClr val="1E3A8A"/>
                </a:solidFill>
                <a:latin typeface="Times New Roman"/>
              </a:rPr>
              <a:t>xx</a:t>
            </a:r>
            <a:r>
              <a:rPr sz="2400" b="0" i="1" u="none" dirty="0">
                <a:solidFill>
                  <a:srgbClr val="1E3A8A"/>
                </a:solidFill>
                <a:latin typeface="Times New Roman"/>
              </a:rPr>
              <a:t>(ω) = ∑ </a:t>
            </a:r>
            <a:r>
              <a:rPr sz="2400" b="0" i="1" u="none" dirty="0" err="1">
                <a:solidFill>
                  <a:srgbClr val="1E3A8A"/>
                </a:solidFill>
                <a:latin typeface="Times New Roman"/>
              </a:rPr>
              <a:t>r</a:t>
            </a:r>
            <a:r>
              <a:rPr sz="2000" b="0" i="1" u="none" dirty="0" err="1">
                <a:solidFill>
                  <a:srgbClr val="1E3A8A"/>
                </a:solidFill>
                <a:latin typeface="Times New Roman"/>
              </a:rPr>
              <a:t>xx</a:t>
            </a:r>
            <a:r>
              <a:rPr sz="2400" b="0" i="1" u="none" dirty="0">
                <a:solidFill>
                  <a:srgbClr val="1E3A8A"/>
                </a:solidFill>
                <a:latin typeface="Times New Roman"/>
              </a:rPr>
              <a:t>[m] e</a:t>
            </a:r>
            <a:r>
              <a:rPr sz="2000" b="0" i="1" u="none" baseline="30000" dirty="0">
                <a:solidFill>
                  <a:srgbClr val="1E3A8A"/>
                </a:solidFill>
                <a:latin typeface="Times New Roman"/>
              </a:rPr>
              <a:t>-</a:t>
            </a:r>
            <a:r>
              <a:rPr sz="2000" b="0" i="1" u="none" baseline="30000" dirty="0" err="1">
                <a:solidFill>
                  <a:srgbClr val="1E3A8A"/>
                </a:solidFill>
                <a:latin typeface="Times New Roman"/>
              </a:rPr>
              <a:t>jωm</a:t>
            </a:r>
            <a:endParaRPr sz="2000" b="0" i="1" u="none" baseline="30000" dirty="0">
              <a:solidFill>
                <a:srgbClr val="1E3A8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3" y="1957387"/>
            <a:ext cx="4991844" cy="1952625"/>
          </a:xfrm>
          <a:prstGeom prst="roundRect">
            <a:avLst>
              <a:gd name="adj" fmla="val 7804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367212"/>
            <a:ext cx="5372100" cy="1419225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4367212"/>
            <a:ext cx="5372100" cy="1419225"/>
          </a:xfrm>
          <a:prstGeom prst="roundRect">
            <a:avLst>
              <a:gd name="adj" fmla="val 5369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459581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4595812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4795095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</a:rPr>
              <a:t>Estimating PSD: The Periodogram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001" y="2433637"/>
            <a:ext cx="1826077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166534"/>
                </a:solidFill>
                <a:latin typeface="Calibri" panose="020F0502020204030204" pitchFamily="34" charset="0"/>
              </a:rPr>
              <a:t>DIRECT COMPUTATION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8653" y="2814637"/>
            <a:ext cx="37061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0" i="1" u="none" dirty="0">
                <a:solidFill>
                  <a:srgbClr val="14532D"/>
                </a:solidFill>
                <a:latin typeface="Times New Roman"/>
              </a:rPr>
              <a:t>P[k] = (1/N) |X[k]|</a:t>
            </a:r>
            <a:r>
              <a:rPr sz="3000" b="0" i="1" u="none" baseline="30000" dirty="0">
                <a:solidFill>
                  <a:srgbClr val="14532D"/>
                </a:solidFill>
                <a:latin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329" y="5053012"/>
            <a:ext cx="64863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Efficient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5297" y="5367337"/>
            <a:ext cx="23407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Computed via Fast Fourier Transform.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0238" y="5053012"/>
            <a:ext cx="109222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High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9565" y="5367337"/>
            <a:ext cx="273356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Noisy estimate without averaging (Welch's).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629150"/>
            <a:ext cx="1845826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EA580C"/>
                </a:solidFill>
                <a:latin typeface="Calibri" panose="020F0502020204030204" pitchFamily="34" charset="0"/>
              </a:rPr>
              <a:t>THE REALITY OF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972050"/>
            <a:ext cx="5074402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FFFFF"/>
                </a:solidFill>
              </a:rPr>
              <a:t>Signals are Non-Stationary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695950"/>
            <a:ext cx="7715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CBD5E1"/>
                </a:solidFill>
                <a:latin typeface="Calibri" panose="020F0502020204030204" pitchFamily="34" charset="0"/>
              </a:rPr>
              <a:t>A global DFT reveals exactly </a:t>
            </a:r>
            <a:r>
              <a:rPr sz="1800" b="1" i="0" u="none" dirty="0">
                <a:solidFill>
                  <a:srgbClr val="CBD5E1"/>
                </a:solidFill>
                <a:latin typeface="Calibri" panose="020F0502020204030204" pitchFamily="34" charset="0"/>
              </a:rPr>
              <a:t>what</a:t>
            </a:r>
            <a:r>
              <a:rPr sz="1800" b="0" i="0" u="none" dirty="0">
                <a:solidFill>
                  <a:srgbClr val="CBD5E1"/>
                </a:solidFill>
                <a:latin typeface="Calibri" panose="020F0502020204030204" pitchFamily="34" charset="0"/>
              </a:rPr>
              <a:t> frequencies exist, but completely destroys </a:t>
            </a:r>
            <a:r>
              <a:rPr sz="1800" b="1" i="0" u="none" dirty="0">
                <a:solidFill>
                  <a:srgbClr val="CBD5E1"/>
                </a:solidFill>
                <a:latin typeface="Calibri" panose="020F0502020204030204" pitchFamily="34" charset="0"/>
              </a:rPr>
              <a:t>when</a:t>
            </a:r>
            <a:r>
              <a:rPr sz="1800" b="0" i="0" u="none" dirty="0">
                <a:solidFill>
                  <a:srgbClr val="CBD5E1"/>
                </a:solidFill>
                <a:latin typeface="Calibri" panose="020F0502020204030204" pitchFamily="34" charset="0"/>
              </a:rPr>
              <a:t> they occurred.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3609975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25447" y="2638425"/>
            <a:ext cx="7541103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 dirty="0">
                <a:solidFill>
                  <a:srgbClr val="FFFFFF"/>
                </a:solidFill>
              </a:rPr>
              <a:t>The Short-Time Fourier Transform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33245" y="3943350"/>
            <a:ext cx="372550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1" u="none" dirty="0">
                <a:solidFill>
                  <a:srgbClr val="BFDBFE"/>
                </a:solidFill>
                <a:latin typeface="Calibri" panose="020F0502020204030204" pitchFamily="34" charset="0"/>
              </a:rPr>
              <a:t>Mapping the time-frequency landscape.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3117800" cy="2266950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37025" y="2814637"/>
            <a:ext cx="3117800" cy="2266950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64450" y="2814637"/>
            <a:ext cx="3117800" cy="2266950"/>
          </a:xfrm>
          <a:prstGeom prst="roundRect">
            <a:avLst>
              <a:gd name="adj" fmla="val 67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200" y="3833812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625" y="3833812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625" y="3205162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051" y="3205162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8476" y="3205162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4125" y="3395662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5838" y="3395662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3264" y="3395662"/>
            <a:ext cx="20002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0143" y="609600"/>
            <a:ext cx="251171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 dirty="0">
                <a:solidFill>
                  <a:srgbClr val="0F172A"/>
                </a:solidFill>
              </a:rPr>
              <a:t>The STFT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3450" y="4043362"/>
            <a:ext cx="83009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1. 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4146" y="4491037"/>
            <a:ext cx="182870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Extract localized segment.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6775" y="4043362"/>
            <a:ext cx="103829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2.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9449" y="4491037"/>
            <a:ext cx="141295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Taper edges to zero.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3763" y="4043362"/>
            <a:ext cx="119917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3. 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2531" y="4491037"/>
            <a:ext cx="176163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Compute local spectrum.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133939"/>
            <a:ext cx="1000125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24600" y="6132657"/>
            <a:ext cx="1333500" cy="190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82462"/>
            <a:ext cx="10972800" cy="4457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571625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67074"/>
            <a:ext cx="3311612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</a:rPr>
              <a:t>Maintaining Continuity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791039"/>
            <a:ext cx="1150143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</a:rPr>
              <a:t>The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343489"/>
            <a:ext cx="53530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Windowing heavily suppresses data at frame edges. Contiguous frames drop energy.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5789757"/>
            <a:ext cx="150018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6395011"/>
            <a:ext cx="53530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Overlap frames (typically 50-75%). A smaller </a:t>
            </a:r>
            <a:r>
              <a:rPr sz="1350" b="1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Hop Size</a:t>
            </a:r>
            <a:r>
              <a:rPr sz="1350" b="0" i="0" u="none" dirty="0">
                <a:solidFill>
                  <a:srgbClr val="334155"/>
                </a:solidFill>
                <a:latin typeface="Calibri" panose="020F0502020204030204" pitchFamily="34" charset="0"/>
              </a:rPr>
              <a:t> increases temporal density.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38325"/>
            <a:ext cx="5257800" cy="441007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1838325"/>
            <a:ext cx="5257800" cy="4410075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6325" y="4495800"/>
            <a:ext cx="4324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91325" y="4495800"/>
            <a:ext cx="43243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87955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B82F6"/>
                </a:solidFill>
                <a:latin typeface="Calibri" panose="020F0502020204030204" pitchFamily="34" charset="0"/>
              </a:rPr>
              <a:t>THE UNCERTAINTY PRINCIPLE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52500"/>
            <a:ext cx="4372607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</a:rPr>
              <a:t>Time vs. Frequency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6654" y="2305050"/>
            <a:ext cx="2243691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1E3A8A"/>
                </a:solidFill>
              </a:rPr>
              <a:t>Long Window (N 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4785" y="2305050"/>
            <a:ext cx="231742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EA580C"/>
                </a:solidFill>
              </a:rPr>
              <a:t>Short Window (N ↓)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2952750"/>
            <a:ext cx="4419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Time Resolution: </a:t>
            </a:r>
            <a:r>
              <a:rPr sz="1350" b="1" i="0" u="none" dirty="0">
                <a:solidFill>
                  <a:srgbClr val="DC2626"/>
                </a:solidFill>
                <a:latin typeface="Calibri" panose="020F0502020204030204" pitchFamily="34" charset="0"/>
              </a:rPr>
              <a:t>Poor localization.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648075"/>
            <a:ext cx="4419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Frequency Resolution: </a:t>
            </a:r>
            <a:r>
              <a:rPr sz="1350" b="1" i="0" u="none" dirty="0">
                <a:solidFill>
                  <a:srgbClr val="16A34A"/>
                </a:solidFill>
                <a:latin typeface="Calibri" panose="020F0502020204030204" pitchFamily="34" charset="0"/>
              </a:rPr>
              <a:t>High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648200"/>
            <a:ext cx="4419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Best for: </a:t>
            </a:r>
            <a:r>
              <a:rPr sz="1350" b="1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Stable harmonic chords.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2952750"/>
            <a:ext cx="4419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Time Resolution: </a:t>
            </a:r>
            <a:r>
              <a:rPr sz="1350" b="1" i="0" u="none" dirty="0">
                <a:solidFill>
                  <a:srgbClr val="16A34A"/>
                </a:solidFill>
                <a:latin typeface="Calibri" panose="020F0502020204030204" pitchFamily="34" charset="0"/>
              </a:rPr>
              <a:t>Sharp localization.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648075"/>
            <a:ext cx="4419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Frequency Resolution: </a:t>
            </a:r>
            <a:r>
              <a:rPr sz="1350" b="1" i="0" u="none" dirty="0">
                <a:solidFill>
                  <a:srgbClr val="DC2626"/>
                </a:solidFill>
                <a:latin typeface="Calibri" panose="020F0502020204030204" pitchFamily="34" charset="0"/>
              </a:rPr>
              <a:t>Smeared bands.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4648200"/>
            <a:ext cx="4419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Best for: </a:t>
            </a:r>
            <a:r>
              <a:rPr sz="1350" b="1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Percussion and transients.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66825"/>
            <a:ext cx="10972800" cy="4981575"/>
          </a:xfrm>
          <a:prstGeom prst="roundRect">
            <a:avLst>
              <a:gd name="adj" fmla="val 30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266825"/>
            <a:ext cx="10972800" cy="6381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05000"/>
            <a:ext cx="10972800" cy="434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475" y="2190750"/>
            <a:ext cx="611505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481446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</a:rPr>
              <a:t>Visualizing the STFT: Spectrogram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495425"/>
            <a:ext cx="2975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CBD5E1"/>
                </a:solidFill>
                <a:latin typeface="Aptos Mono" panose="020B0009020202020204" pitchFamily="49" charset="0"/>
              </a:rPr>
              <a:t>STFT Matrix Magnitude: |X(t, f)|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9200" y="1504950"/>
            <a:ext cx="7197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BBF24"/>
                </a:solidFill>
                <a:latin typeface="Calibri" panose="020F0502020204030204" pitchFamily="34" charset="0"/>
              </a:rPr>
              <a:t>Y: 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8850" y="1504950"/>
            <a:ext cx="41838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Calibri" panose="020F0502020204030204" pitchFamily="34" charset="0"/>
              </a:rPr>
              <a:t>X: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96550" y="1504950"/>
            <a:ext cx="72455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EF4444"/>
                </a:solidFill>
                <a:latin typeface="Calibri" panose="020F0502020204030204" pitchFamily="34" charset="0"/>
              </a:rPr>
              <a:t>Color: Power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9750" y="3938587"/>
            <a:ext cx="27051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743450" y="3938587"/>
            <a:ext cx="27051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77150" y="3938587"/>
            <a:ext cx="27051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67114" y="3214687"/>
            <a:ext cx="2553146" cy="304800"/>
          </a:xfrm>
          <a:prstGeom prst="roundRect">
            <a:avLst>
              <a:gd name="adj" fmla="val 125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151" y="1785937"/>
            <a:ext cx="5334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4074" y="2624137"/>
            <a:ext cx="2983701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 dirty="0">
                <a:solidFill>
                  <a:srgbClr val="0F172A"/>
                </a:solidFill>
              </a:rPr>
              <a:t>Interactive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2700" y="3252787"/>
            <a:ext cx="191148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475569"/>
                </a:solidFill>
                <a:latin typeface="Calibri" panose="020F0502020204030204" pitchFamily="34" charset="0"/>
              </a:rPr>
              <a:t>Open Jupyter Notebook: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4171" y="3252787"/>
            <a:ext cx="303903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475569"/>
                </a:solidFill>
                <a:latin typeface="Aptos Mono" panose="020B0009020202020204" pitchFamily="49" charset="0"/>
              </a:rPr>
              <a:t>audio_stft_demo.ipynb</a:t>
            </a:r>
            <a:endParaRPr sz="1500" b="0" i="0" u="none" dirty="0">
              <a:solidFill>
                <a:srgbClr val="475569"/>
              </a:solidFill>
              <a:latin typeface="Aptos Mono" panose="020B000902020202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19508" y="4252912"/>
            <a:ext cx="48558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Task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377" y="4567237"/>
            <a:ext cx="111184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Vary window size.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3208" y="4252912"/>
            <a:ext cx="48558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Task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3477" y="4567237"/>
            <a:ext cx="156504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Observe hop size impact.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6908" y="4252912"/>
            <a:ext cx="48558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Calibri" panose="020F0502020204030204" pitchFamily="34" charset="0"/>
              </a:rPr>
              <a:t>Task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1108" y="4567237"/>
            <a:ext cx="117718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Calibri" panose="020F0502020204030204" pitchFamily="34" charset="0"/>
              </a:rPr>
              <a:t>Listen to synthesis.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5465" y="2843212"/>
            <a:ext cx="2501069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 dirty="0">
                <a:solidFill>
                  <a:srgbClr val="F8FAFC"/>
                </a:solidFill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59875" y="3738562"/>
            <a:ext cx="447225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94A3B8"/>
                </a:solidFill>
                <a:latin typeface="Calibri" panose="020F0502020204030204" pitchFamily="34" charset="0"/>
              </a:rPr>
              <a:t>Next Class: Overlap-Add Synthesis &amp; </a:t>
            </a:r>
            <a:r>
              <a:rPr sz="1800" b="0" i="0" u="none" dirty="0" err="1">
                <a:solidFill>
                  <a:srgbClr val="94A3B8"/>
                </a:solidFill>
                <a:latin typeface="Calibri" panose="020F0502020204030204" pitchFamily="34" charset="0"/>
              </a:rPr>
              <a:t>Filterbanks</a:t>
            </a:r>
            <a:endParaRPr sz="1800" b="0" i="0" u="none" dirty="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38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409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1813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171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171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943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943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52700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242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95750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37441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00000"/>
                </a:solidFill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052512"/>
            <a:ext cx="426879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https://www.electronics-lab.com/wp-content/uploads/2023/09/FIGURE-3_DFT.png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1252537"/>
            <a:ext cx="208839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Calibri" panose="020F0502020204030204" pitchFamily="34" charset="0"/>
              </a:rPr>
              <a:t>www.electronics-lab.com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1824037"/>
            <a:ext cx="671017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https://community.sw.siemens.com/servlet/rtaImage?eid=ka6KZ00000000iN&amp;feoid=00N4O000006Yxpf&amp;refid=0EM4O000001130x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024062"/>
            <a:ext cx="22619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Calibri" panose="020F0502020204030204" pitchFamily="34" charset="0"/>
              </a:rPr>
              <a:t>community.sw.siemens.com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2595562"/>
            <a:ext cx="482343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https://www.masteringbox.com/wp-content/uploads/2025/03/Frequency-tab-2048x1016.png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2795587"/>
            <a:ext cx="202196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Calibri" panose="020F0502020204030204" pitchFamily="34" charset="0"/>
              </a:rPr>
              <a:t>www.masteringbox.com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367087"/>
            <a:ext cx="396422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https://www.numerical-tours.com/matlab/audio_1_processing/index_06.png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3567112"/>
            <a:ext cx="216405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Calibri" panose="020F0502020204030204" pitchFamily="34" charset="0"/>
              </a:rPr>
              <a:t>www.numerical-tours.com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138612"/>
            <a:ext cx="434253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https://media.geeksforgeeks.org/wp-content/uploads/20231011105320/ad3-(1).png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338637"/>
            <a:ext cx="19930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00000"/>
                </a:solidFill>
                <a:latin typeface="Calibri" panose="020F0502020204030204" pitchFamily="34" charset="0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Calibri" panose="020F0502020204030204" pitchFamily="34" charset="0"/>
              </a:rPr>
              <a:t>www.geeksforgeeks.org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606</Words>
  <Application>Microsoft Office PowerPoint</Application>
  <PresentationFormat>Widescreen</PresentationFormat>
  <Paragraphs>89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Times New Roman</vt:lpstr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7</cp:revision>
  <dcterms:created xsi:type="dcterms:W3CDTF">2013-01-27T09:14:16Z</dcterms:created>
  <dcterms:modified xsi:type="dcterms:W3CDTF">2026-09-30T03:00:49Z</dcterms:modified>
  <cp:category/>
</cp:coreProperties>
</file>