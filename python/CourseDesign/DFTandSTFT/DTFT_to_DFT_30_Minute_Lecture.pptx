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dcd1e9778f4def" /><Relationship Type="http://schemas.openxmlformats.org/officeDocument/2006/relationships/extended-properties" Target="/docProps/app.xml" Id="R91f6c2a980644fd0" /><Relationship Type="http://schemas.openxmlformats.org/officeDocument/2006/relationships/officeDocument" Target="/ppt/presentation.xml" Id="R17d926e515414233" /></Relationships>
</file>

<file path=ppt/presentation.xml><?xml version="1.0" encoding="utf-8"?>
<p:presentation xmlns:p="http://schemas.openxmlformats.org/presentationml/2006/main">
  <p:sldMasterIdLst>
    <p:sldMasterId xmlns:r="http://schemas.openxmlformats.org/officeDocument/2006/relationships" id="2147483648" r:id="R631b152c579c4d92"/>
  </p:sldMasterIdLst>
  <p:notesMasterIdLst>
    <p:notesMasterId xmlns:r="http://schemas.openxmlformats.org/officeDocument/2006/relationships" r:id="R8c884c639aa14f38"/>
  </p:notesMasterIdLst>
  <p:sldIdLst>
    <p:sldId xmlns:r="http://schemas.openxmlformats.org/officeDocument/2006/relationships" id="256" r:id="R36b9462d2ca24576"/>
    <p:sldId xmlns:r="http://schemas.openxmlformats.org/officeDocument/2006/relationships" id="257" r:id="R03f96c32efa846ff"/>
    <p:sldId xmlns:r="http://schemas.openxmlformats.org/officeDocument/2006/relationships" id="258" r:id="Rd012915302a64fd8"/>
    <p:sldId xmlns:r="http://schemas.openxmlformats.org/officeDocument/2006/relationships" id="259" r:id="R3cdf95b5e0ce4a75"/>
    <p:sldId xmlns:r="http://schemas.openxmlformats.org/officeDocument/2006/relationships" id="260" r:id="Rbbe91253483c4b43"/>
    <p:sldId xmlns:r="http://schemas.openxmlformats.org/officeDocument/2006/relationships" id="261" r:id="R2e122378754a4fef"/>
    <p:sldId xmlns:r="http://schemas.openxmlformats.org/officeDocument/2006/relationships" id="262" r:id="Rf7f7186528e047bf"/>
    <p:sldId xmlns:r="http://schemas.openxmlformats.org/officeDocument/2006/relationships" id="263" r:id="R8e173136b4544142"/>
    <p:sldId xmlns:r="http://schemas.openxmlformats.org/officeDocument/2006/relationships" id="264" r:id="R83b7630197c14c1c"/>
    <p:sldId xmlns:r="http://schemas.openxmlformats.org/officeDocument/2006/relationships" id="265" r:id="Rd731d273d25148ad"/>
    <p:sldId xmlns:r="http://schemas.openxmlformats.org/officeDocument/2006/relationships" id="266" r:id="R1a4ecd01707f4cb9"/>
    <p:sldId xmlns:r="http://schemas.openxmlformats.org/officeDocument/2006/relationships" id="267" r:id="R58c05f71df264086"/>
    <p:sldId xmlns:r="http://schemas.openxmlformats.org/officeDocument/2006/relationships" id="268" r:id="Rce78f981b5214c5a"/>
    <p:sldId xmlns:r="http://schemas.openxmlformats.org/officeDocument/2006/relationships" id="269" r:id="Ra23701fd4c084903"/>
    <p:sldId xmlns:r="http://schemas.openxmlformats.org/officeDocument/2006/relationships" id="270" r:id="R24d79c5b46de4511"/>
    <p:sldId xmlns:r="http://schemas.openxmlformats.org/officeDocument/2006/relationships" id="271" r:id="Rf07efd05bb034c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ae51f692894648" /><Relationship Type="http://schemas.openxmlformats.org/officeDocument/2006/relationships/slideMaster" Target="/ppt/slideMasters/slideMaster1.xml" Id="R631b152c579c4d92" /><Relationship Type="http://schemas.openxmlformats.org/officeDocument/2006/relationships/notesMaster" Target="/ppt/notesMasters/notesMaster1.xml" Id="R8c884c639aa14f38" /><Relationship Type="http://schemas.openxmlformats.org/officeDocument/2006/relationships/presProps" Target="/ppt/presProps.xml" Id="Rbedd1d2b5189465d" /><Relationship Type="http://schemas.openxmlformats.org/officeDocument/2006/relationships/tableStyles" Target="/ppt/tableStyles.xml" Id="R61b433897aa24f79" /><Relationship Type="http://schemas.openxmlformats.org/officeDocument/2006/relationships/slide" Target="/ppt/slides/slide1.xml" Id="R36b9462d2ca24576" /><Relationship Type="http://schemas.openxmlformats.org/officeDocument/2006/relationships/slide" Target="/ppt/slides/slide2.xml" Id="R03f96c32efa846ff" /><Relationship Type="http://schemas.openxmlformats.org/officeDocument/2006/relationships/slide" Target="/ppt/slides/slide3.xml" Id="Rd012915302a64fd8" /><Relationship Type="http://schemas.openxmlformats.org/officeDocument/2006/relationships/slide" Target="/ppt/slides/slide4.xml" Id="R3cdf95b5e0ce4a75" /><Relationship Type="http://schemas.openxmlformats.org/officeDocument/2006/relationships/slide" Target="/ppt/slides/slide5.xml" Id="Rbbe91253483c4b43" /><Relationship Type="http://schemas.openxmlformats.org/officeDocument/2006/relationships/slide" Target="/ppt/slides/slide6.xml" Id="R2e122378754a4fef" /><Relationship Type="http://schemas.openxmlformats.org/officeDocument/2006/relationships/slide" Target="/ppt/slides/slide7.xml" Id="Rf7f7186528e047bf" /><Relationship Type="http://schemas.openxmlformats.org/officeDocument/2006/relationships/slide" Target="/ppt/slides/slide8.xml" Id="R8e173136b4544142" /><Relationship Type="http://schemas.openxmlformats.org/officeDocument/2006/relationships/slide" Target="/ppt/slides/slide9.xml" Id="R83b7630197c14c1c" /><Relationship Type="http://schemas.openxmlformats.org/officeDocument/2006/relationships/slide" Target="/ppt/slides/slide10.xml" Id="Rd731d273d25148ad" /><Relationship Type="http://schemas.openxmlformats.org/officeDocument/2006/relationships/slide" Target="/ppt/slides/slide11.xml" Id="R1a4ecd01707f4cb9" /><Relationship Type="http://schemas.openxmlformats.org/officeDocument/2006/relationships/slide" Target="/ppt/slides/slide12.xml" Id="R58c05f71df264086" /><Relationship Type="http://schemas.openxmlformats.org/officeDocument/2006/relationships/slide" Target="/ppt/slides/slide13.xml" Id="Rce78f981b5214c5a" /><Relationship Type="http://schemas.openxmlformats.org/officeDocument/2006/relationships/slide" Target="/ppt/slides/slide14.xml" Id="Ra23701fd4c084903" /><Relationship Type="http://schemas.openxmlformats.org/officeDocument/2006/relationships/slide" Target="/ppt/slides/slide15.xml" Id="R24d79c5b46de4511" /><Relationship Type="http://schemas.openxmlformats.org/officeDocument/2006/relationships/slide" Target="/ppt/slides/slide16.xml" Id="Rf07efd05bb034c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0b06c2475641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ef0abe4ad34d36" /><Relationship Type="http://schemas.openxmlformats.org/officeDocument/2006/relationships/notesMaster" Target="/ppt/notesMasters/notesMaster1.xml" Id="Rcc7284e96ec14d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7cfef3037b48e4" /><Relationship Type="http://schemas.openxmlformats.org/officeDocument/2006/relationships/notesMaster" Target="/ppt/notesMasters/notesMaster1.xml" Id="R18480b5b494146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1d836bfa7440f6" /><Relationship Type="http://schemas.openxmlformats.org/officeDocument/2006/relationships/notesMaster" Target="/ppt/notesMasters/notesMaster1.xml" Id="R485f6b9d835740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770be841b74793" /><Relationship Type="http://schemas.openxmlformats.org/officeDocument/2006/relationships/notesMaster" Target="/ppt/notesMasters/notesMaster1.xml" Id="Rc2b33b95a7c441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9af199d8994a9c" /><Relationship Type="http://schemas.openxmlformats.org/officeDocument/2006/relationships/notesMaster" Target="/ppt/notesMasters/notesMaster1.xml" Id="Refeca03e31424d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5eb77728e64c4d" /><Relationship Type="http://schemas.openxmlformats.org/officeDocument/2006/relationships/notesMaster" Target="/ppt/notesMasters/notesMaster1.xml" Id="R488a05778b4a40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586d0da4de4c98" /><Relationship Type="http://schemas.openxmlformats.org/officeDocument/2006/relationships/notesMaster" Target="/ppt/notesMasters/notesMaster1.xml" Id="Rde8615ecc5e444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68208d75aa4eea" /><Relationship Type="http://schemas.openxmlformats.org/officeDocument/2006/relationships/notesMaster" Target="/ppt/notesMasters/notesMaster1.xml" Id="Rb8f8fe11ae3742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64e6929d53472b" /><Relationship Type="http://schemas.openxmlformats.org/officeDocument/2006/relationships/notesMaster" Target="/ppt/notesMasters/notesMaster1.xml" Id="R0880f577ba7c4b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ec3690e28847c6" /><Relationship Type="http://schemas.openxmlformats.org/officeDocument/2006/relationships/notesMaster" Target="/ppt/notesMasters/notesMaster1.xml" Id="R2cb3906950854d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5349a781e44d0f" /><Relationship Type="http://schemas.openxmlformats.org/officeDocument/2006/relationships/notesMaster" Target="/ppt/notesMasters/notesMaster1.xml" Id="R9deaaf12542c49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91844453a745a5" /><Relationship Type="http://schemas.openxmlformats.org/officeDocument/2006/relationships/notesMaster" Target="/ppt/notesMasters/notesMaster1.xml" Id="R37fffe3716934a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f2acf8bdc74e15" /><Relationship Type="http://schemas.openxmlformats.org/officeDocument/2006/relationships/notesMaster" Target="/ppt/notesMasters/notesMaster1.xml" Id="Rd16ee17369c04a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8cee3ee3f244ff" /><Relationship Type="http://schemas.openxmlformats.org/officeDocument/2006/relationships/notesMaster" Target="/ppt/notesMasters/notesMaster1.xml" Id="R8fd04c6168a742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1b2f827d9c41a8" /><Relationship Type="http://schemas.openxmlformats.org/officeDocument/2006/relationships/notesMaster" Target="/ppt/notesMasters/notesMaster1.xml" Id="Rffd455fd322d44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74d36c303d465d" /><Relationship Type="http://schemas.openxmlformats.org/officeDocument/2006/relationships/notesMaster" Target="/ppt/notesMasters/notesMaster1.xml" Id="R38ea56f76bc04c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0:00–0:30 (0.5 minutes). Opening: Students already know the DTFT. Ask what a computer should return when given a block of samples. Establish that this lecture uses angular frequency in radians per sample and the usual unscaled forward DFT with 1/N in the inverse. The 14 core slides total 30 minutes. Slides 15–16 are optional.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0:30–2:30 (2 minutes). Use X(ω) as shorthand for the conventional X(e^{jω}). Both refer to the same function of angular frequency. The DTFT is continuous in its frequency argument even though time is discrete. The sequence may have finite or infinite support. Because exp(−j2πn)=1 for integer n, the DTFT repeats every 2π. Ask: does discrete time imply discrete frequency? Answer: no. Assume the DTFT exists in the appropriate sense.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2:30–4:30 (2 minutes). Distinguish the original x[n] from the observed record xᵣ[n]. Assume a rectangular window starting at zero. The DTFT of this record is still continuous in frequency. Truncating a longer signal changes the spectrum: multiplication in time corresponds to periodic convolution in frequency. Do not derive the convolution here. If x already has support within the record, no truncation occurs. Later leakage plots illustrate the window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4:30–7:30 (3 minutes). Derive the DFT by substituting ωₖ=2πk/N into the finite DTFT on slide 3. Stress that the equality is exact. It is the DTFT of the finite record, not generally the original infinite sequence. Explain that N complex frequency values can describe N complex time values. k=N would repeat k=0, so only k=0,...,N−1 are unique. N can exceed the nonzero record length if we append zeros.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7:30–9:30 (2 minutes). Example: xᵣ=[1,1,1,1,0,0,0,0], N=8. The finite DTFT is 1+exp(−jω)+exp(−j2ω)+exp(−j3ω). Blue curve is the magnitude of this finite DTFT evaluated densely. Orange points are magnitudes at k/8. Values for k=0,...,7 are approximately [4,2.6131,0,1.0824,0,1.0824,0,2.6131]. Emphasize that the DFT points lie on the curve. The complex DFT samples also contain phase, which this magnitude plot omits. All plot values follow directly from the displayed finite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9:30–11:30 (2 minutes). Each k is a frequency bin. For a sampled continuous-time signal at sampling frequency fₛ, fₖ=k fₛ/N before wrapping. Frequencies above fₛ/2 represent negative frequencies. Example N=8 and fₛ=8000 Hz: bin spacing 1000 Hz. k=0,1,2,3,4,5,6,7 correspond to signed [0,1000,2000,3000,−4000,−3000,−2000,−1000] Hz. The Nyquist bin at k=4 may equally be called +4000 Hz. For even N, k=N/2 is this special bin. For real x, X[N−k]=X[k]*; DC and Nyquist are real. fftshift reorders bins without changing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11:30–13:30 (2 minutes). Give students 15 seconds to compute X[0] as the sum of samples. Here x=[1,2,0,0]. The transform is X[k]=1+2 exp(−jπk/2). Substitute k=0,1,2,3. Values are [3,1−2j,−1,1+2j]. The conjugate pair is consistent with real input. Frequency-bin values are generally complex even for real input. This uses the unscaled forward transform convention. If time allows, X[2]=1−2=−1 is a quick second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13:30–16:30 (3 minutes). Present the inverse formula with a 1/N factor and the opposite sign. Sketch why it works: substituting the forward DFT into the inverse creates a sum over k of exp(j2πk(n−m)/N). That sum equals N when n−m is a multiple of N and zero otherwise. For n,m in 0,...,N−1, only n=m survives. Thus xᵣ[n] is recovered exactly apart from numerical rounding. Orthogonality is the reason the N frequency samples suffice for an N-sample block. Ask students what happens at n=N. The expression repeats xᵣ[0], which motivates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16:30–18:30 (2 minutes). Clarify that the recorded sequence may be zero outside its block. Extending the IDFT synthesis formula to every integer n instead defines its N-periodic extension. This distinction avoids saying that the original physical signal is periodic. The displayed repeating block is x=[1,2,0,0] for N=4. The synthesis frequencies complete integer numbers of cycles per block. DFT values divided by N are the discrete Fourier-series coefficients of the periodic extension under the usual Fourier-series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18:30–20:00 (1.5 minutes). Give 20 seconds to vote and 30 seconds for students to explain to a neighbor. Correct answer C. Truncation creates a new finite record. Its N-point DFT exactly samples its DTFT at 2πk/N. A is generally false because samples outside the record contribute to the original DTFT. B is false because ω remains continuous in the finite DTFT. D confuses dense frequency sampling with recovering missing time data. Use the remaining time to ask which step changed the signal. Answer: truncation/windowing. Do not advance to the backup answer slide during the core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20:00–22:00 (2 minutes). This slide previews a consequence of periodicity rather than developing the full convolution theorem. The inverse DFT of the product X[k]H[k] gives N-point circular convolution. Indices wrap modulo N. Example x=[1,1], h=[1,1] have linear convolution [1,2,1]. With a 2-point DFT the tail wraps into the first sample, giving [2,2]. Padding both sequences to at least Lₓ+Lₕ−1=3 makes the corresponding circular convolution equal the linear result in the output block. This prevents time wraparound; it differs from increasing spectral resolving power.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22:00–24:30 (2.5 minutes). Use complex exponentials to isolate one spectral component. In both plots take 32 samples, n=0,...,31. Left tone exp(j2π·5n/32) gives a DFT with one nonzero bin at k=5, magnitude 32. Right tone exp(j2π·5.5n/32) gives multiple nonzero bins. Magnitudes are normalized by 32. The continuous blue curve in both cases is the finite record DTFT magnitude. Orange points sample it at k/32. Windowing an infinite tone gives a shifted rectangular-window spectrum. On-grid placement aligns other bins with its zeros. Leakage reflects finite observation and bin alignment. Emphasize that the underlying DTFT has a main lobe and sidelobes in both cases, even when the on-grid DFT samples only one peak.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24:30–26:30 (2 minutes). Keep the same 16 nonzero samples x[n]=exp(j2π·3.4n/16), n=0,...,15. Compare M=16 versus M=64 by appending 48 zeros. Chart magnitudes are divided by 16 in both cases. The DTFT does not change because added zeros contribute nothing. The bin grid becomes finer, Δω=2π/M. A finer plot supports peak interpolation but does not narrow the window main lobe or improve the ability to separate nearby tones for this unchanged observation. More measured samples extend the observation and can improve resolving power. Keep record length L and DFT length M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26:30–30:00 (3.5 minutes). Recap for 60 seconds, exit ticket for 90 seconds, then discuss the answers for 60 seconds. Ask both prompts. Expected answers: (1) Δf=8000/64=125 Hz, compared with 500 Hz before padding. (2) The observation duration and window main-lobe width do not change, so denser bins alone do not improve the ability to separate nearby tones. FFT is an algorithm for computing the same DFT efficiently. Answer reference is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 Outside the 30-minute sequence. Optional answer reference. Concept check on slide 10: C. Windowing changes the signal. Frequency sampling then gives exact values of that finite record’s DTFT. Exit ticket on slide 14: 125 Hz. Before padding the 16-point bin spacing is 500 Hz. Zero padding adds no measured samples and leaves the DTFT main-lobe width unchanged. It can provide a finer display and help estimate the peak location. DFT computation and FFT algorithm are different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BACKUP. Outside the 30-minute sequence. Optional derivation beyond the 30-minute introduction. Suppose X(ω) is the DTFT of an infinite absolutely summable sequence. Define X[k]=X(2πk/N). Insert the DTFT sum into the IDFT and interchange sums. Orthogonality leaves all time indices equal to n modulo N, giving the periodic sum shown. A finite record with support in 0,...,N−1 reduces this sum to its N-periodic extension. For an infinite sequence, the periodic copies can overlap, producing time aliasing. This is why sampling the original infinite sequence DTFT is different from taking a DFT after truncation. General theory follows the DTFT/DFT development in Oppenheim and Schafer, Discrete-Time Signal Processing, DFT chapter (number depends on edition). All charts in this deck are original numerical evaluations of the displayed finite sums.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a4fd9aca2248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b54f81feea4a57" /><Relationship Type="http://schemas.openxmlformats.org/officeDocument/2006/relationships/slideLayout" Target="/ppt/slideLayouts/slideLayout1.xml" Id="Rfa80f6a7ad0249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80f6a7ad0249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bde9561f314cb3" /><Relationship Type="http://schemas.openxmlformats.org/officeDocument/2006/relationships/notesSlide" Target="/ppt/notesSlides/notesSlide1.xml" Id="R0903f8d0d69343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83dfbf21234216" /><Relationship Type="http://schemas.openxmlformats.org/officeDocument/2006/relationships/notesSlide" Target="/ppt/notesSlides/notesSlide2.xml" Id="R194dbf2dc28446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59367f8b6f45f7" /><Relationship Type="http://schemas.openxmlformats.org/officeDocument/2006/relationships/notesSlide" Target="/ppt/notesSlides/notesSlide3.xml" Id="R1ab3543328f94c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1ee6302cc44c9b" /><Relationship Type="http://schemas.openxmlformats.org/officeDocument/2006/relationships/notesSlide" Target="/ppt/notesSlides/notesSlide4.xml" Id="Re15e16cda08641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352fbb8c7e4b84" /><Relationship Type="http://schemas.openxmlformats.org/officeDocument/2006/relationships/chart" Target="/ppt/slides/charts/chart1.xml" Id="R6ee29eb00390445e" /><Relationship Type="http://schemas.openxmlformats.org/officeDocument/2006/relationships/notesSlide" Target="/ppt/notesSlides/notesSlide5.xml" Id="R91f5f4d333c740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7b15928969401d" /><Relationship Type="http://schemas.openxmlformats.org/officeDocument/2006/relationships/notesSlide" Target="/ppt/notesSlides/notesSlide6.xml" Id="R79b72d5bf5c644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899593c9a34cda" /><Relationship Type="http://schemas.openxmlformats.org/officeDocument/2006/relationships/notesSlide" Target="/ppt/notesSlides/notesSlide7.xml" Id="R636de6fea9cb45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1c1c626801433b" /><Relationship Type="http://schemas.openxmlformats.org/officeDocument/2006/relationships/notesSlide" Target="/ppt/notesSlides/notesSlide8.xml" Id="R733b85cf07d146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5daffd6ea446da" /><Relationship Type="http://schemas.openxmlformats.org/officeDocument/2006/relationships/notesSlide" Target="/ppt/notesSlides/notesSlide9.xml" Id="R0c48e9b1946d4f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21df5db2ad434d" /><Relationship Type="http://schemas.openxmlformats.org/officeDocument/2006/relationships/notesSlide" Target="/ppt/notesSlides/notesSlide10.xml" Id="Rde4b73bfef9c4f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95d43e67d24199" /><Relationship Type="http://schemas.openxmlformats.org/officeDocument/2006/relationships/notesSlide" Target="/ppt/notesSlides/notesSlide11.xml" Id="Rcb778a1fee8e49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67255cd9f2641e7" /><Relationship Type="http://schemas.openxmlformats.org/officeDocument/2006/relationships/chart" Target="/ppt/slides/charts/chart2.xml" Id="R40acb9b781764c79" /><Relationship Type="http://schemas.openxmlformats.org/officeDocument/2006/relationships/chart" Target="/ppt/slides/charts/chart3.xml" Id="R6a527ec139fe44e2" /><Relationship Type="http://schemas.openxmlformats.org/officeDocument/2006/relationships/notesSlide" Target="/ppt/notesSlides/notesSlide12.xml" Id="R0489867259df4e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e319e13070b446b" /><Relationship Type="http://schemas.openxmlformats.org/officeDocument/2006/relationships/chart" Target="/ppt/slides/charts/chart4.xml" Id="R9c44a4d3adae4757" /><Relationship Type="http://schemas.openxmlformats.org/officeDocument/2006/relationships/notesSlide" Target="/ppt/notesSlides/notesSlide13.xml" Id="Rf3edc04fda9a42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440d80e7a04e93" /><Relationship Type="http://schemas.openxmlformats.org/officeDocument/2006/relationships/notesSlide" Target="/ppt/notesSlides/notesSlide14.xml" Id="R8836a3728a8443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731dcb21ec64028" /><Relationship Type="http://schemas.openxmlformats.org/officeDocument/2006/relationships/notesSlide" Target="/ppt/notesSlides/notesSlide15.xml" Id="R5457a01d320944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b89420d121048f1" /><Relationship Type="http://schemas.openxmlformats.org/officeDocument/2006/relationships/notesSlide" Target="/ppt/notesSlides/notesSlide16.xml" Id="Rc2778a8a23d24b6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Finite-record DTFT</c:v>
          </c:tx>
          <c:spPr>
            <a:solidFill xmlns:a="http://schemas.openxmlformats.org/drawingml/2006/main">
              <a:srgbClr val="176FA8"/>
            </a:solidFill>
            <a:ln xmlns:a="http://schemas.openxmlformats.org/drawingml/2006/main" w="23813">
              <a:solidFill>
                <a:srgbClr val="176FA8"/>
              </a:solidFill>
            </a:ln>
          </c:spPr>
          <c:marker>
            <c:symbol val="none"/>
            <c:size val="2"/>
          </c:marker>
          <c:xVal>
            <c:numRef>
              <c:f>'Chart Data'!$A$2:$A$258</c:f>
              <c:numCache>
                <c:formatCode>General</c:formatCode>
                <c:ptCount val="257"/>
                <c:pt idx="0">
                  <c:v>0</c:v>
                </c:pt>
                <c:pt idx="1">
                  <c:v>0.00390625</c:v>
                </c:pt>
                <c:pt idx="2">
                  <c:v>0.0078125</c:v>
                </c:pt>
                <c:pt idx="3">
                  <c:v>0.01171875</c:v>
                </c:pt>
                <c:pt idx="4">
                  <c:v>0.015625</c:v>
                </c:pt>
                <c:pt idx="5">
                  <c:v>0.01953125</c:v>
                </c:pt>
                <c:pt idx="6">
                  <c:v>0.0234375</c:v>
                </c:pt>
                <c:pt idx="7">
                  <c:v>0.02734375</c:v>
                </c:pt>
                <c:pt idx="8">
                  <c:v>0.03125</c:v>
                </c:pt>
                <c:pt idx="9">
                  <c:v>0.03515625</c:v>
                </c:pt>
                <c:pt idx="10">
                  <c:v>0.0390625</c:v>
                </c:pt>
                <c:pt idx="11">
                  <c:v>0.04296875</c:v>
                </c:pt>
                <c:pt idx="12">
                  <c:v>0.046875</c:v>
                </c:pt>
                <c:pt idx="13">
                  <c:v>0.05078125</c:v>
                </c:pt>
                <c:pt idx="14">
                  <c:v>0.0546875</c:v>
                </c:pt>
                <c:pt idx="15">
                  <c:v>0.05859375</c:v>
                </c:pt>
                <c:pt idx="16">
                  <c:v>0.0625</c:v>
                </c:pt>
                <c:pt idx="17">
                  <c:v>0.06640625</c:v>
                </c:pt>
                <c:pt idx="18">
                  <c:v>0.0703125</c:v>
                </c:pt>
                <c:pt idx="19">
                  <c:v>0.07421875</c:v>
                </c:pt>
                <c:pt idx="20">
                  <c:v>0.078125</c:v>
                </c:pt>
                <c:pt idx="21">
                  <c:v>0.08203125</c:v>
                </c:pt>
                <c:pt idx="22">
                  <c:v>0.0859375</c:v>
                </c:pt>
                <c:pt idx="23">
                  <c:v>0.08984375</c:v>
                </c:pt>
                <c:pt idx="24">
                  <c:v>0.09375</c:v>
                </c:pt>
                <c:pt idx="25">
                  <c:v>0.09765625</c:v>
                </c:pt>
                <c:pt idx="26">
                  <c:v>0.1015625</c:v>
                </c:pt>
                <c:pt idx="27">
                  <c:v>0.10546875</c:v>
                </c:pt>
                <c:pt idx="28">
                  <c:v>0.109375</c:v>
                </c:pt>
                <c:pt idx="29">
                  <c:v>0.11328125</c:v>
                </c:pt>
                <c:pt idx="30">
                  <c:v>0.1171875</c:v>
                </c:pt>
                <c:pt idx="31">
                  <c:v>0.12109375</c:v>
                </c:pt>
                <c:pt idx="32">
                  <c:v>0.125</c:v>
                </c:pt>
                <c:pt idx="33">
                  <c:v>0.12890625</c:v>
                </c:pt>
                <c:pt idx="34">
                  <c:v>0.1328125</c:v>
                </c:pt>
                <c:pt idx="35">
                  <c:v>0.13671875</c:v>
                </c:pt>
                <c:pt idx="36">
                  <c:v>0.140625</c:v>
                </c:pt>
                <c:pt idx="37">
                  <c:v>0.14453125</c:v>
                </c:pt>
                <c:pt idx="38">
                  <c:v>0.1484375</c:v>
                </c:pt>
                <c:pt idx="39">
                  <c:v>0.15234375</c:v>
                </c:pt>
                <c:pt idx="40">
                  <c:v>0.15625</c:v>
                </c:pt>
                <c:pt idx="41">
                  <c:v>0.16015625</c:v>
                </c:pt>
                <c:pt idx="42">
                  <c:v>0.1640625</c:v>
                </c:pt>
                <c:pt idx="43">
                  <c:v>0.16796875</c:v>
                </c:pt>
                <c:pt idx="44">
                  <c:v>0.171875</c:v>
                </c:pt>
                <c:pt idx="45">
                  <c:v>0.17578125</c:v>
                </c:pt>
                <c:pt idx="46">
                  <c:v>0.1796875</c:v>
                </c:pt>
                <c:pt idx="47">
                  <c:v>0.18359375</c:v>
                </c:pt>
                <c:pt idx="48">
                  <c:v>0.1875</c:v>
                </c:pt>
                <c:pt idx="49">
                  <c:v>0.19140625</c:v>
                </c:pt>
                <c:pt idx="50">
                  <c:v>0.1953125</c:v>
                </c:pt>
                <c:pt idx="51">
                  <c:v>0.19921875</c:v>
                </c:pt>
                <c:pt idx="52">
                  <c:v>0.203125</c:v>
                </c:pt>
                <c:pt idx="53">
                  <c:v>0.20703125</c:v>
                </c:pt>
                <c:pt idx="54">
                  <c:v>0.2109375</c:v>
                </c:pt>
                <c:pt idx="55">
                  <c:v>0.21484375</c:v>
                </c:pt>
                <c:pt idx="56">
                  <c:v>0.21875</c:v>
                </c:pt>
                <c:pt idx="57">
                  <c:v>0.22265625</c:v>
                </c:pt>
                <c:pt idx="58">
                  <c:v>0.2265625</c:v>
                </c:pt>
                <c:pt idx="59">
                  <c:v>0.23046875</c:v>
                </c:pt>
                <c:pt idx="60">
                  <c:v>0.234375</c:v>
                </c:pt>
                <c:pt idx="61">
                  <c:v>0.23828125</c:v>
                </c:pt>
                <c:pt idx="62">
                  <c:v>0.2421875</c:v>
                </c:pt>
                <c:pt idx="63">
                  <c:v>0.24609375</c:v>
                </c:pt>
                <c:pt idx="64">
                  <c:v>0.25</c:v>
                </c:pt>
                <c:pt idx="65">
                  <c:v>0.25390625</c:v>
                </c:pt>
                <c:pt idx="66">
                  <c:v>0.2578125</c:v>
                </c:pt>
                <c:pt idx="67">
                  <c:v>0.26171875</c:v>
                </c:pt>
                <c:pt idx="68">
                  <c:v>0.265625</c:v>
                </c:pt>
                <c:pt idx="69">
                  <c:v>0.26953125</c:v>
                </c:pt>
                <c:pt idx="70">
                  <c:v>0.2734375</c:v>
                </c:pt>
                <c:pt idx="71">
                  <c:v>0.27734375</c:v>
                </c:pt>
                <c:pt idx="72">
                  <c:v>0.28125</c:v>
                </c:pt>
                <c:pt idx="73">
                  <c:v>0.28515625</c:v>
                </c:pt>
                <c:pt idx="74">
                  <c:v>0.2890625</c:v>
                </c:pt>
                <c:pt idx="75">
                  <c:v>0.29296875</c:v>
                </c:pt>
                <c:pt idx="76">
                  <c:v>0.296875</c:v>
                </c:pt>
                <c:pt idx="77">
                  <c:v>0.30078125</c:v>
                </c:pt>
                <c:pt idx="78">
                  <c:v>0.3046875</c:v>
                </c:pt>
                <c:pt idx="79">
                  <c:v>0.30859375</c:v>
                </c:pt>
                <c:pt idx="80">
                  <c:v>0.3125</c:v>
                </c:pt>
                <c:pt idx="81">
                  <c:v>0.31640625</c:v>
                </c:pt>
                <c:pt idx="82">
                  <c:v>0.3203125</c:v>
                </c:pt>
                <c:pt idx="83">
                  <c:v>0.32421875</c:v>
                </c:pt>
                <c:pt idx="84">
                  <c:v>0.328125</c:v>
                </c:pt>
                <c:pt idx="85">
                  <c:v>0.33203125</c:v>
                </c:pt>
                <c:pt idx="86">
                  <c:v>0.3359375</c:v>
                </c:pt>
                <c:pt idx="87">
                  <c:v>0.33984375</c:v>
                </c:pt>
                <c:pt idx="88">
                  <c:v>0.34375</c:v>
                </c:pt>
                <c:pt idx="89">
                  <c:v>0.34765625</c:v>
                </c:pt>
                <c:pt idx="90">
                  <c:v>0.3515625</c:v>
                </c:pt>
                <c:pt idx="91">
                  <c:v>0.35546875</c:v>
                </c:pt>
                <c:pt idx="92">
                  <c:v>0.359375</c:v>
                </c:pt>
                <c:pt idx="93">
                  <c:v>0.36328125</c:v>
                </c:pt>
                <c:pt idx="94">
                  <c:v>0.3671875</c:v>
                </c:pt>
                <c:pt idx="95">
                  <c:v>0.37109375</c:v>
                </c:pt>
                <c:pt idx="96">
                  <c:v>0.375</c:v>
                </c:pt>
                <c:pt idx="97">
                  <c:v>0.37890625</c:v>
                </c:pt>
                <c:pt idx="98">
                  <c:v>0.3828125</c:v>
                </c:pt>
                <c:pt idx="99">
                  <c:v>0.38671875</c:v>
                </c:pt>
                <c:pt idx="100">
                  <c:v>0.390625</c:v>
                </c:pt>
                <c:pt idx="101">
                  <c:v>0.39453125</c:v>
                </c:pt>
                <c:pt idx="102">
                  <c:v>0.3984375</c:v>
                </c:pt>
                <c:pt idx="103">
                  <c:v>0.40234375</c:v>
                </c:pt>
                <c:pt idx="104">
                  <c:v>0.40625</c:v>
                </c:pt>
                <c:pt idx="105">
                  <c:v>0.41015625</c:v>
                </c:pt>
                <c:pt idx="106">
                  <c:v>0.4140625</c:v>
                </c:pt>
                <c:pt idx="107">
                  <c:v>0.41796875</c:v>
                </c:pt>
                <c:pt idx="108">
                  <c:v>0.421875</c:v>
                </c:pt>
                <c:pt idx="109">
                  <c:v>0.42578125</c:v>
                </c:pt>
                <c:pt idx="110">
                  <c:v>0.4296875</c:v>
                </c:pt>
                <c:pt idx="111">
                  <c:v>0.43359375</c:v>
                </c:pt>
                <c:pt idx="112">
                  <c:v>0.4375</c:v>
                </c:pt>
                <c:pt idx="113">
                  <c:v>0.44140625</c:v>
                </c:pt>
                <c:pt idx="114">
                  <c:v>0.4453125</c:v>
                </c:pt>
                <c:pt idx="115">
                  <c:v>0.44921875</c:v>
                </c:pt>
                <c:pt idx="116">
                  <c:v>0.453125</c:v>
                </c:pt>
                <c:pt idx="117">
                  <c:v>0.45703125</c:v>
                </c:pt>
                <c:pt idx="118">
                  <c:v>0.4609375</c:v>
                </c:pt>
                <c:pt idx="119">
                  <c:v>0.46484375</c:v>
                </c:pt>
                <c:pt idx="120">
                  <c:v>0.46875</c:v>
                </c:pt>
                <c:pt idx="121">
                  <c:v>0.47265625</c:v>
                </c:pt>
                <c:pt idx="122">
                  <c:v>0.4765625</c:v>
                </c:pt>
                <c:pt idx="123">
                  <c:v>0.48046875</c:v>
                </c:pt>
                <c:pt idx="124">
                  <c:v>0.484375</c:v>
                </c:pt>
                <c:pt idx="125">
                  <c:v>0.48828125</c:v>
                </c:pt>
                <c:pt idx="126">
                  <c:v>0.4921875</c:v>
                </c:pt>
                <c:pt idx="127">
                  <c:v>0.49609375</c:v>
                </c:pt>
                <c:pt idx="128">
                  <c:v>0.5</c:v>
                </c:pt>
                <c:pt idx="129">
                  <c:v>0.50390625</c:v>
                </c:pt>
                <c:pt idx="130">
                  <c:v>0.5078125</c:v>
                </c:pt>
                <c:pt idx="131">
                  <c:v>0.51171875</c:v>
                </c:pt>
                <c:pt idx="132">
                  <c:v>0.515625</c:v>
                </c:pt>
                <c:pt idx="133">
                  <c:v>0.51953125</c:v>
                </c:pt>
                <c:pt idx="134">
                  <c:v>0.5234375</c:v>
                </c:pt>
                <c:pt idx="135">
                  <c:v>0.52734375</c:v>
                </c:pt>
                <c:pt idx="136">
                  <c:v>0.53125</c:v>
                </c:pt>
                <c:pt idx="137">
                  <c:v>0.53515625</c:v>
                </c:pt>
                <c:pt idx="138">
                  <c:v>0.5390625</c:v>
                </c:pt>
                <c:pt idx="139">
                  <c:v>0.54296875</c:v>
                </c:pt>
                <c:pt idx="140">
                  <c:v>0.546875</c:v>
                </c:pt>
                <c:pt idx="141">
                  <c:v>0.55078125</c:v>
                </c:pt>
                <c:pt idx="142">
                  <c:v>0.5546875</c:v>
                </c:pt>
                <c:pt idx="143">
                  <c:v>0.55859375</c:v>
                </c:pt>
                <c:pt idx="144">
                  <c:v>0.5625</c:v>
                </c:pt>
                <c:pt idx="145">
                  <c:v>0.56640625</c:v>
                </c:pt>
                <c:pt idx="146">
                  <c:v>0.5703125</c:v>
                </c:pt>
                <c:pt idx="147">
                  <c:v>0.57421875</c:v>
                </c:pt>
                <c:pt idx="148">
                  <c:v>0.578125</c:v>
                </c:pt>
                <c:pt idx="149">
                  <c:v>0.58203125</c:v>
                </c:pt>
                <c:pt idx="150">
                  <c:v>0.5859375</c:v>
                </c:pt>
                <c:pt idx="151">
                  <c:v>0.58984375</c:v>
                </c:pt>
                <c:pt idx="152">
                  <c:v>0.59375</c:v>
                </c:pt>
                <c:pt idx="153">
                  <c:v>0.59765625</c:v>
                </c:pt>
                <c:pt idx="154">
                  <c:v>0.6015625</c:v>
                </c:pt>
                <c:pt idx="155">
                  <c:v>0.60546875</c:v>
                </c:pt>
                <c:pt idx="156">
                  <c:v>0.609375</c:v>
                </c:pt>
                <c:pt idx="157">
                  <c:v>0.61328125</c:v>
                </c:pt>
                <c:pt idx="158">
                  <c:v>0.6171875</c:v>
                </c:pt>
                <c:pt idx="159">
                  <c:v>0.62109375</c:v>
                </c:pt>
                <c:pt idx="160">
                  <c:v>0.625</c:v>
                </c:pt>
                <c:pt idx="161">
                  <c:v>0.62890625</c:v>
                </c:pt>
                <c:pt idx="162">
                  <c:v>0.6328125</c:v>
                </c:pt>
                <c:pt idx="163">
                  <c:v>0.63671875</c:v>
                </c:pt>
                <c:pt idx="164">
                  <c:v>0.640625</c:v>
                </c:pt>
                <c:pt idx="165">
                  <c:v>0.64453125</c:v>
                </c:pt>
                <c:pt idx="166">
                  <c:v>0.6484375</c:v>
                </c:pt>
                <c:pt idx="167">
                  <c:v>0.65234375</c:v>
                </c:pt>
                <c:pt idx="168">
                  <c:v>0.65625</c:v>
                </c:pt>
                <c:pt idx="169">
                  <c:v>0.66015625</c:v>
                </c:pt>
                <c:pt idx="170">
                  <c:v>0.6640625</c:v>
                </c:pt>
                <c:pt idx="171">
                  <c:v>0.66796875</c:v>
                </c:pt>
                <c:pt idx="172">
                  <c:v>0.671875</c:v>
                </c:pt>
                <c:pt idx="173">
                  <c:v>0.67578125</c:v>
                </c:pt>
                <c:pt idx="174">
                  <c:v>0.6796875</c:v>
                </c:pt>
                <c:pt idx="175">
                  <c:v>0.68359375</c:v>
                </c:pt>
                <c:pt idx="176">
                  <c:v>0.6875</c:v>
                </c:pt>
                <c:pt idx="177">
                  <c:v>0.69140625</c:v>
                </c:pt>
                <c:pt idx="178">
                  <c:v>0.6953125</c:v>
                </c:pt>
                <c:pt idx="179">
                  <c:v>0.69921875</c:v>
                </c:pt>
                <c:pt idx="180">
                  <c:v>0.703125</c:v>
                </c:pt>
                <c:pt idx="181">
                  <c:v>0.70703125</c:v>
                </c:pt>
                <c:pt idx="182">
                  <c:v>0.7109375</c:v>
                </c:pt>
                <c:pt idx="183">
                  <c:v>0.71484375</c:v>
                </c:pt>
                <c:pt idx="184">
                  <c:v>0.71875</c:v>
                </c:pt>
                <c:pt idx="185">
                  <c:v>0.72265625</c:v>
                </c:pt>
                <c:pt idx="186">
                  <c:v>0.7265625</c:v>
                </c:pt>
                <c:pt idx="187">
                  <c:v>0.73046875</c:v>
                </c:pt>
                <c:pt idx="188">
                  <c:v>0.734375</c:v>
                </c:pt>
                <c:pt idx="189">
                  <c:v>0.73828125</c:v>
                </c:pt>
                <c:pt idx="190">
                  <c:v>0.7421875</c:v>
                </c:pt>
                <c:pt idx="191">
                  <c:v>0.74609375</c:v>
                </c:pt>
                <c:pt idx="192">
                  <c:v>0.75</c:v>
                </c:pt>
                <c:pt idx="193">
                  <c:v>0.75390625</c:v>
                </c:pt>
                <c:pt idx="194">
                  <c:v>0.7578125</c:v>
                </c:pt>
                <c:pt idx="195">
                  <c:v>0.76171875</c:v>
                </c:pt>
                <c:pt idx="196">
                  <c:v>0.765625</c:v>
                </c:pt>
                <c:pt idx="197">
                  <c:v>0.76953125</c:v>
                </c:pt>
                <c:pt idx="198">
                  <c:v>0.7734375</c:v>
                </c:pt>
                <c:pt idx="199">
                  <c:v>0.77734375</c:v>
                </c:pt>
                <c:pt idx="200">
                  <c:v>0.78125</c:v>
                </c:pt>
                <c:pt idx="201">
                  <c:v>0.78515625</c:v>
                </c:pt>
                <c:pt idx="202">
                  <c:v>0.7890625</c:v>
                </c:pt>
                <c:pt idx="203">
                  <c:v>0.79296875</c:v>
                </c:pt>
                <c:pt idx="204">
                  <c:v>0.796875</c:v>
                </c:pt>
                <c:pt idx="205">
                  <c:v>0.80078125</c:v>
                </c:pt>
                <c:pt idx="206">
                  <c:v>0.8046875</c:v>
                </c:pt>
                <c:pt idx="207">
                  <c:v>0.80859375</c:v>
                </c:pt>
                <c:pt idx="208">
                  <c:v>0.8125</c:v>
                </c:pt>
                <c:pt idx="209">
                  <c:v>0.81640625</c:v>
                </c:pt>
                <c:pt idx="210">
                  <c:v>0.8203125</c:v>
                </c:pt>
                <c:pt idx="211">
                  <c:v>0.82421875</c:v>
                </c:pt>
                <c:pt idx="212">
                  <c:v>0.828125</c:v>
                </c:pt>
                <c:pt idx="213">
                  <c:v>0.83203125</c:v>
                </c:pt>
                <c:pt idx="214">
                  <c:v>0.8359375</c:v>
                </c:pt>
                <c:pt idx="215">
                  <c:v>0.83984375</c:v>
                </c:pt>
                <c:pt idx="216">
                  <c:v>0.84375</c:v>
                </c:pt>
                <c:pt idx="217">
                  <c:v>0.84765625</c:v>
                </c:pt>
                <c:pt idx="218">
                  <c:v>0.8515625</c:v>
                </c:pt>
                <c:pt idx="219">
                  <c:v>0.85546875</c:v>
                </c:pt>
                <c:pt idx="220">
                  <c:v>0.859375</c:v>
                </c:pt>
                <c:pt idx="221">
                  <c:v>0.86328125</c:v>
                </c:pt>
                <c:pt idx="222">
                  <c:v>0.8671875</c:v>
                </c:pt>
                <c:pt idx="223">
                  <c:v>0.87109375</c:v>
                </c:pt>
                <c:pt idx="224">
                  <c:v>0.875</c:v>
                </c:pt>
                <c:pt idx="225">
                  <c:v>0.87890625</c:v>
                </c:pt>
                <c:pt idx="226">
                  <c:v>0.8828125</c:v>
                </c:pt>
                <c:pt idx="227">
                  <c:v>0.88671875</c:v>
                </c:pt>
                <c:pt idx="228">
                  <c:v>0.890625</c:v>
                </c:pt>
                <c:pt idx="229">
                  <c:v>0.89453125</c:v>
                </c:pt>
                <c:pt idx="230">
                  <c:v>0.8984375</c:v>
                </c:pt>
                <c:pt idx="231">
                  <c:v>0.90234375</c:v>
                </c:pt>
                <c:pt idx="232">
                  <c:v>0.90625</c:v>
                </c:pt>
                <c:pt idx="233">
                  <c:v>0.91015625</c:v>
                </c:pt>
                <c:pt idx="234">
                  <c:v>0.9140625</c:v>
                </c:pt>
                <c:pt idx="235">
                  <c:v>0.91796875</c:v>
                </c:pt>
                <c:pt idx="236">
                  <c:v>0.921875</c:v>
                </c:pt>
                <c:pt idx="237">
                  <c:v>0.92578125</c:v>
                </c:pt>
                <c:pt idx="238">
                  <c:v>0.9296875</c:v>
                </c:pt>
                <c:pt idx="239">
                  <c:v>0.93359375</c:v>
                </c:pt>
                <c:pt idx="240">
                  <c:v>0.9375</c:v>
                </c:pt>
                <c:pt idx="241">
                  <c:v>0.94140625</c:v>
                </c:pt>
                <c:pt idx="242">
                  <c:v>0.9453125</c:v>
                </c:pt>
                <c:pt idx="243">
                  <c:v>0.94921875</c:v>
                </c:pt>
                <c:pt idx="244">
                  <c:v>0.953125</c:v>
                </c:pt>
                <c:pt idx="245">
                  <c:v>0.95703125</c:v>
                </c:pt>
                <c:pt idx="246">
                  <c:v>0.9609375</c:v>
                </c:pt>
                <c:pt idx="247">
                  <c:v>0.96484375</c:v>
                </c:pt>
                <c:pt idx="248">
                  <c:v>0.96875</c:v>
                </c:pt>
                <c:pt idx="249">
                  <c:v>0.97265625</c:v>
                </c:pt>
                <c:pt idx="250">
                  <c:v>0.9765625</c:v>
                </c:pt>
                <c:pt idx="251">
                  <c:v>0.98046875</c:v>
                </c:pt>
                <c:pt idx="252">
                  <c:v>0.984375</c:v>
                </c:pt>
                <c:pt idx="253">
                  <c:v>0.98828125</c:v>
                </c:pt>
                <c:pt idx="254">
                  <c:v>0.9921875</c:v>
                </c:pt>
                <c:pt idx="255">
                  <c:v>0.99609375</c:v>
                </c:pt>
                <c:pt idx="256">
                  <c:v>1</c:v>
                </c:pt>
              </c:numCache>
            </c:numRef>
          </c:xVal>
          <c:yVal>
            <c:numRef>
              <c:f>'Chart Data'!$B$2:$B$258</c:f>
              <c:numCache>
                <c:formatCode>0.00</c:formatCode>
                <c:ptCount val="257"/>
                <c:pt idx="0">
                  <c:v>4</c:v>
                </c:pt>
                <c:pt idx="1">
                  <c:v>3.9984941729</c:v>
                </c:pt>
                <c:pt idx="2">
                  <c:v>3.9939785507</c:v>
                </c:pt>
                <c:pt idx="3">
                  <c:v>3.9864587092</c:v>
                </c:pt>
                <c:pt idx="4">
                  <c:v>3.9759439323</c:v>
                </c:pt>
                <c:pt idx="5">
                  <c:v>3.9624472007</c:v>
                </c:pt>
                <c:pt idx="6">
                  <c:v>3.9459851734</c:v>
                </c:pt>
                <c:pt idx="7">
                  <c:v>3.9265781665</c:v>
                </c:pt>
                <c:pt idx="8">
                  <c:v>3.9042501248</c:v>
                </c:pt>
                <c:pt idx="9">
                  <c:v>3.8790285908</c:v>
                </c:pt>
                <c:pt idx="10">
                  <c:v>3.8509446669</c:v>
                </c:pt>
                <c:pt idx="11">
                  <c:v>3.8200329742</c:v>
                </c:pt>
                <c:pt idx="12">
                  <c:v>3.7863316062</c:v>
                </c:pt>
                <c:pt idx="13">
                  <c:v>3.7498820771</c:v>
                </c:pt>
                <c:pt idx="14">
                  <c:v>3.710729267</c:v>
                </c:pt>
                <c:pt idx="15">
                  <c:v>3.6689213611</c:v>
                </c:pt>
                <c:pt idx="16">
                  <c:v>3.6245097854</c:v>
                </c:pt>
                <c:pt idx="17">
                  <c:v>3.5775491379</c:v>
                </c:pt>
                <c:pt idx="18">
                  <c:v>3.5280971153</c:v>
                </c:pt>
                <c:pt idx="19">
                  <c:v>3.4762144357</c:v>
                </c:pt>
                <c:pt idx="20">
                  <c:v>3.4219647571</c:v>
                </c:pt>
                <c:pt idx="21">
                  <c:v>3.3654145927</c:v>
                </c:pt>
                <c:pt idx="22">
                  <c:v>3.3066332211</c:v>
                </c:pt>
                <c:pt idx="23">
                  <c:v>3.245692594</c:v>
                </c:pt>
                <c:pt idx="24">
                  <c:v>3.1826672398</c:v>
                </c:pt>
                <c:pt idx="25">
                  <c:v>3.1176341635</c:v>
                </c:pt>
                <c:pt idx="26">
                  <c:v>3.050672744</c:v>
                </c:pt>
                <c:pt idx="27">
                  <c:v>2.9818646276</c:v>
                </c:pt>
                <c:pt idx="28">
                  <c:v>2.9112936188</c:v>
                </c:pt>
                <c:pt idx="29">
                  <c:v>2.839045568</c:v>
                </c:pt>
                <c:pt idx="30">
                  <c:v>2.765208257</c:v>
                </c:pt>
                <c:pt idx="31">
                  <c:v>2.6898712811</c:v>
                </c:pt>
                <c:pt idx="32">
                  <c:v>2.6131259298</c:v>
                </c:pt>
                <c:pt idx="33">
                  <c:v>2.5350650639</c:v>
                </c:pt>
                <c:pt idx="34">
                  <c:v>2.4557829922</c:v>
                </c:pt>
                <c:pt idx="35">
                  <c:v>2.375375345</c:v>
                </c:pt>
                <c:pt idx="36">
                  <c:v>2.2939389461</c:v>
                </c:pt>
                <c:pt idx="37">
                  <c:v>2.2115716838</c:v>
                </c:pt>
                <c:pt idx="38">
                  <c:v>2.1283723799</c:v>
                </c:pt>
                <c:pt idx="39">
                  <c:v>2.0444406578</c:v>
                </c:pt>
                <c:pt idx="40">
                  <c:v>1.9598768094</c:v>
                </c:pt>
                <c:pt idx="41">
                  <c:v>1.874781661</c:v>
                </c:pt>
                <c:pt idx="42">
                  <c:v>1.7892564393</c:v>
                </c:pt>
                <c:pt idx="43">
                  <c:v>1.7034026357</c:v>
                </c:pt>
                <c:pt idx="44">
                  <c:v>1.6173218713</c:v>
                </c:pt>
                <c:pt idx="45">
                  <c:v>1.5311157615</c:v>
                </c:pt>
                <c:pt idx="46">
                  <c:v>1.4448857801</c:v>
                </c:pt>
                <c:pt idx="47">
                  <c:v>1.3587331244</c:v>
                </c:pt>
                <c:pt idx="48">
                  <c:v>1.2727585806</c:v>
                </c:pt>
                <c:pt idx="49">
                  <c:v>1.187062389</c:v>
                </c:pt>
                <c:pt idx="50">
                  <c:v>1.1017441114</c:v>
                </c:pt>
                <c:pt idx="51">
                  <c:v>1.0169024979</c:v>
                </c:pt>
                <c:pt idx="52">
                  <c:v>0.9326353562</c:v>
                </c:pt>
                <c:pt idx="53">
                  <c:v>0.8490394213</c:v>
                </c:pt>
                <c:pt idx="54">
                  <c:v>0.7662102272</c:v>
                </c:pt>
                <c:pt idx="55">
                  <c:v>0.6842419801</c:v>
                </c:pt>
                <c:pt idx="56">
                  <c:v>0.6032274331</c:v>
                </c:pt>
                <c:pt idx="57">
                  <c:v>0.5232577638</c:v>
                </c:pt>
                <c:pt idx="58">
                  <c:v>0.4444224532</c:v>
                </c:pt>
                <c:pt idx="59">
                  <c:v>0.3668091675</c:v>
                </c:pt>
                <c:pt idx="60">
                  <c:v>0.2905036417</c:v>
                </c:pt>
                <c:pt idx="61">
                  <c:v>0.2155895671</c:v>
                </c:pt>
                <c:pt idx="62">
                  <c:v>0.14214848</c:v>
                </c:pt>
                <c:pt idx="63">
                  <c:v>0.070259655</c:v>
                </c:pt>
                <c:pt idx="64">
                  <c:v>0</c:v>
                </c:pt>
                <c:pt idx="65">
                  <c:v>0.0685560445</c:v>
                </c:pt>
                <c:pt idx="66">
                  <c:v>0.1353366035</c:v>
                </c:pt>
                <c:pt idx="67">
                  <c:v>0.2002724616</c:v>
                </c:pt>
                <c:pt idx="68">
                  <c:v>0.2632971533</c:v>
                </c:pt>
                <c:pt idx="69">
                  <c:v>0.3243470504</c:v>
                </c:pt>
                <c:pt idx="70">
                  <c:v>0.3833614446</c:v>
                </c:pt>
                <c:pt idx="71">
                  <c:v>0.4402826265</c:v>
                </c:pt>
                <c:pt idx="72">
                  <c:v>0.4950559604</c:v>
                </c:pt>
                <c:pt idx="73">
                  <c:v>0.5476299551</c:v>
                </c:pt>
                <c:pt idx="74">
                  <c:v>0.5979563302</c:v>
                </c:pt>
                <c:pt idx="75">
                  <c:v>0.6459900781</c:v>
                </c:pt>
                <c:pt idx="76">
                  <c:v>0.6916895214</c:v>
                </c:pt>
                <c:pt idx="77">
                  <c:v>0.7350163658</c:v>
                </c:pt>
                <c:pt idx="78">
                  <c:v>0.7759357488</c:v>
                </c:pt>
                <c:pt idx="79">
                  <c:v>0.8144162828</c:v>
                </c:pt>
                <c:pt idx="80">
                  <c:v>0.8504300948</c:v>
                </c:pt>
                <c:pt idx="81">
                  <c:v>0.8839528595</c:v>
                </c:pt>
                <c:pt idx="82">
                  <c:v>0.9149638294</c:v>
                </c:pt>
                <c:pt idx="83">
                  <c:v>0.943445859</c:v>
                </c:pt>
                <c:pt idx="84">
                  <c:v>0.969385424</c:v>
                </c:pt>
                <c:pt idx="85">
                  <c:v>0.9927726362</c:v>
                </c:pt>
                <c:pt idx="86">
                  <c:v>1.0136012529</c:v>
                </c:pt>
                <c:pt idx="87">
                  <c:v>1.0318686816</c:v>
                </c:pt>
                <c:pt idx="88">
                  <c:v>1.0475759797</c:v>
                </c:pt>
                <c:pt idx="89">
                  <c:v>1.0607278489</c:v>
                </c:pt>
                <c:pt idx="90">
                  <c:v>1.0713326255</c:v>
                </c:pt>
                <c:pt idx="91">
                  <c:v>1.0794022644</c:v>
                </c:pt>
                <c:pt idx="92">
                  <c:v>1.0849523195</c:v>
                </c:pt>
                <c:pt idx="93">
                  <c:v>1.0880019186</c:v>
                </c:pt>
                <c:pt idx="94">
                  <c:v>1.0885737332</c:v>
                </c:pt>
                <c:pt idx="95">
                  <c:v>1.0866939437</c:v>
                </c:pt>
                <c:pt idx="96">
                  <c:v>1.0823922003</c:v>
                </c:pt>
                <c:pt idx="97">
                  <c:v>1.0757015783</c:v>
                </c:pt>
                <c:pt idx="98">
                  <c:v>1.0666585293</c:v>
                </c:pt>
                <c:pt idx="99">
                  <c:v>1.0553028279</c:v>
                </c:pt>
                <c:pt idx="100">
                  <c:v>1.0416775132</c:v>
                </c:pt>
                <c:pt idx="101">
                  <c:v>1.0258288268</c:v>
                </c:pt>
                <c:pt idx="102">
                  <c:v>1.0078061455</c:v>
                </c:pt>
                <c:pt idx="103">
                  <c:v>0.9876619106</c:v>
                </c:pt>
                <c:pt idx="104">
                  <c:v>0.9654515522</c:v>
                </c:pt>
                <c:pt idx="105">
                  <c:v>0.9412334103</c:v>
                </c:pt>
                <c:pt idx="106">
                  <c:v>0.915068651</c:v>
                </c:pt>
                <c:pt idx="107">
                  <c:v>0.8870211796</c:v>
                </c:pt>
                <c:pt idx="108">
                  <c:v>0.8571575499</c:v>
                </c:pt>
                <c:pt idx="109">
                  <c:v>0.8255468692</c:v>
                </c:pt>
                <c:pt idx="110">
                  <c:v>0.7922607008</c:v>
                </c:pt>
                <c:pt idx="111">
                  <c:v>0.7573729625</c:v>
                </c:pt>
                <c:pt idx="112">
                  <c:v>0.720959822</c:v>
                </c:pt>
                <c:pt idx="113">
                  <c:v>0.6830995894</c:v>
                </c:pt>
                <c:pt idx="114">
                  <c:v>0.6438726069</c:v>
                </c:pt>
                <c:pt idx="115">
                  <c:v>0.6033611352</c:v>
                </c:pt>
                <c:pt idx="116">
                  <c:v>0.5616492379</c:v>
                </c:pt>
                <c:pt idx="117">
                  <c:v>0.5188226631</c:v>
                </c:pt>
                <c:pt idx="118">
                  <c:v>0.4749687227</c:v>
                </c:pt>
                <c:pt idx="119">
                  <c:v>0.4301761697</c:v>
                </c:pt>
                <c:pt idx="120">
                  <c:v>0.3845350738</c:v>
                </c:pt>
                <c:pt idx="121">
                  <c:v>0.3381366945</c:v>
                </c:pt>
                <c:pt idx="122">
                  <c:v>0.2910733531</c:v>
                </c:pt>
                <c:pt idx="123">
                  <c:v>0.2434383033</c:v>
                </c:pt>
                <c:pt idx="124">
                  <c:v>0.1953256003</c:v>
                </c:pt>
                <c:pt idx="125">
                  <c:v>0.1468299687</c:v>
                </c:pt>
                <c:pt idx="126">
                  <c:v>0.0980466702</c:v>
                </c:pt>
                <c:pt idx="127">
                  <c:v>0.0490713693</c:v>
                </c:pt>
                <c:pt idx="128">
                  <c:v>0</c:v>
                </c:pt>
                <c:pt idx="129">
                  <c:v>0.0490713693</c:v>
                </c:pt>
                <c:pt idx="130">
                  <c:v>0.0980466702</c:v>
                </c:pt>
                <c:pt idx="131">
                  <c:v>0.1468299687</c:v>
                </c:pt>
                <c:pt idx="132">
                  <c:v>0.1953256003</c:v>
                </c:pt>
                <c:pt idx="133">
                  <c:v>0.2434383033</c:v>
                </c:pt>
                <c:pt idx="134">
                  <c:v>0.2910733531</c:v>
                </c:pt>
                <c:pt idx="135">
                  <c:v>0.3381366945</c:v>
                </c:pt>
                <c:pt idx="136">
                  <c:v>0.3845350738</c:v>
                </c:pt>
                <c:pt idx="137">
                  <c:v>0.4301761697</c:v>
                </c:pt>
                <c:pt idx="138">
                  <c:v>0.4749687227</c:v>
                </c:pt>
                <c:pt idx="139">
                  <c:v>0.5188226631</c:v>
                </c:pt>
                <c:pt idx="140">
                  <c:v>0.5616492379</c:v>
                </c:pt>
                <c:pt idx="141">
                  <c:v>0.6033611352</c:v>
                </c:pt>
                <c:pt idx="142">
                  <c:v>0.6438726069</c:v>
                </c:pt>
                <c:pt idx="143">
                  <c:v>0.6830995894</c:v>
                </c:pt>
                <c:pt idx="144">
                  <c:v>0.720959822</c:v>
                </c:pt>
                <c:pt idx="145">
                  <c:v>0.7573729625</c:v>
                </c:pt>
                <c:pt idx="146">
                  <c:v>0.7922607008</c:v>
                </c:pt>
                <c:pt idx="147">
                  <c:v>0.8255468692</c:v>
                </c:pt>
                <c:pt idx="148">
                  <c:v>0.8571575499</c:v>
                </c:pt>
                <c:pt idx="149">
                  <c:v>0.8870211796</c:v>
                </c:pt>
                <c:pt idx="150">
                  <c:v>0.915068651</c:v>
                </c:pt>
                <c:pt idx="151">
                  <c:v>0.9412334103</c:v>
                </c:pt>
                <c:pt idx="152">
                  <c:v>0.9654515522</c:v>
                </c:pt>
                <c:pt idx="153">
                  <c:v>0.9876619106</c:v>
                </c:pt>
                <c:pt idx="154">
                  <c:v>1.0078061455</c:v>
                </c:pt>
                <c:pt idx="155">
                  <c:v>1.0258288268</c:v>
                </c:pt>
                <c:pt idx="156">
                  <c:v>1.0416775132</c:v>
                </c:pt>
                <c:pt idx="157">
                  <c:v>1.0553028279</c:v>
                </c:pt>
                <c:pt idx="158">
                  <c:v>1.0666585293</c:v>
                </c:pt>
                <c:pt idx="159">
                  <c:v>1.0757015783</c:v>
                </c:pt>
                <c:pt idx="160">
                  <c:v>1.0823922003</c:v>
                </c:pt>
                <c:pt idx="161">
                  <c:v>1.0866939437</c:v>
                </c:pt>
                <c:pt idx="162">
                  <c:v>1.0885737332</c:v>
                </c:pt>
                <c:pt idx="163">
                  <c:v>1.0880019186</c:v>
                </c:pt>
                <c:pt idx="164">
                  <c:v>1.0849523195</c:v>
                </c:pt>
                <c:pt idx="165">
                  <c:v>1.0794022644</c:v>
                </c:pt>
                <c:pt idx="166">
                  <c:v>1.0713326255</c:v>
                </c:pt>
                <c:pt idx="167">
                  <c:v>1.0607278489</c:v>
                </c:pt>
                <c:pt idx="168">
                  <c:v>1.0475759797</c:v>
                </c:pt>
                <c:pt idx="169">
                  <c:v>1.0318686816</c:v>
                </c:pt>
                <c:pt idx="170">
                  <c:v>1.0136012529</c:v>
                </c:pt>
                <c:pt idx="171">
                  <c:v>0.9927726362</c:v>
                </c:pt>
                <c:pt idx="172">
                  <c:v>0.969385424</c:v>
                </c:pt>
                <c:pt idx="173">
                  <c:v>0.943445859</c:v>
                </c:pt>
                <c:pt idx="174">
                  <c:v>0.9149638294</c:v>
                </c:pt>
                <c:pt idx="175">
                  <c:v>0.8839528595</c:v>
                </c:pt>
                <c:pt idx="176">
                  <c:v>0.8504300948</c:v>
                </c:pt>
                <c:pt idx="177">
                  <c:v>0.8144162828</c:v>
                </c:pt>
                <c:pt idx="178">
                  <c:v>0.7759357488</c:v>
                </c:pt>
                <c:pt idx="179">
                  <c:v>0.7350163658</c:v>
                </c:pt>
                <c:pt idx="180">
                  <c:v>0.6916895214</c:v>
                </c:pt>
                <c:pt idx="181">
                  <c:v>0.6459900781</c:v>
                </c:pt>
                <c:pt idx="182">
                  <c:v>0.5979563302</c:v>
                </c:pt>
                <c:pt idx="183">
                  <c:v>0.5476299551</c:v>
                </c:pt>
                <c:pt idx="184">
                  <c:v>0.4950559604</c:v>
                </c:pt>
                <c:pt idx="185">
                  <c:v>0.4402826265</c:v>
                </c:pt>
                <c:pt idx="186">
                  <c:v>0.3833614446</c:v>
                </c:pt>
                <c:pt idx="187">
                  <c:v>0.3243470504</c:v>
                </c:pt>
                <c:pt idx="188">
                  <c:v>0.2632971533</c:v>
                </c:pt>
                <c:pt idx="189">
                  <c:v>0.2002724616</c:v>
                </c:pt>
                <c:pt idx="190">
                  <c:v>0.1353366035</c:v>
                </c:pt>
                <c:pt idx="191">
                  <c:v>0.0685560445</c:v>
                </c:pt>
                <c:pt idx="192">
                  <c:v>0</c:v>
                </c:pt>
                <c:pt idx="193">
                  <c:v>0.070259655</c:v>
                </c:pt>
                <c:pt idx="194">
                  <c:v>0.14214848</c:v>
                </c:pt>
                <c:pt idx="195">
                  <c:v>0.2155895671</c:v>
                </c:pt>
                <c:pt idx="196">
                  <c:v>0.2905036417</c:v>
                </c:pt>
                <c:pt idx="197">
                  <c:v>0.3668091675</c:v>
                </c:pt>
                <c:pt idx="198">
                  <c:v>0.4444224532</c:v>
                </c:pt>
                <c:pt idx="199">
                  <c:v>0.5232577638</c:v>
                </c:pt>
                <c:pt idx="200">
                  <c:v>0.6032274331</c:v>
                </c:pt>
                <c:pt idx="201">
                  <c:v>0.6842419801</c:v>
                </c:pt>
                <c:pt idx="202">
                  <c:v>0.7662102272</c:v>
                </c:pt>
                <c:pt idx="203">
                  <c:v>0.8490394213</c:v>
                </c:pt>
                <c:pt idx="204">
                  <c:v>0.9326353562</c:v>
                </c:pt>
                <c:pt idx="205">
                  <c:v>1.0169024979</c:v>
                </c:pt>
                <c:pt idx="206">
                  <c:v>1.1017441114</c:v>
                </c:pt>
                <c:pt idx="207">
                  <c:v>1.187062389</c:v>
                </c:pt>
                <c:pt idx="208">
                  <c:v>1.2727585806</c:v>
                </c:pt>
                <c:pt idx="209">
                  <c:v>1.3587331244</c:v>
                </c:pt>
                <c:pt idx="210">
                  <c:v>1.4448857801</c:v>
                </c:pt>
                <c:pt idx="211">
                  <c:v>1.5311157615</c:v>
                </c:pt>
                <c:pt idx="212">
                  <c:v>1.6173218713</c:v>
                </c:pt>
                <c:pt idx="213">
                  <c:v>1.7034026357</c:v>
                </c:pt>
                <c:pt idx="214">
                  <c:v>1.7892564393</c:v>
                </c:pt>
                <c:pt idx="215">
                  <c:v>1.874781661</c:v>
                </c:pt>
                <c:pt idx="216">
                  <c:v>1.9598768094</c:v>
                </c:pt>
                <c:pt idx="217">
                  <c:v>2.0444406578</c:v>
                </c:pt>
                <c:pt idx="218">
                  <c:v>2.1283723799</c:v>
                </c:pt>
                <c:pt idx="219">
                  <c:v>2.2115716838</c:v>
                </c:pt>
                <c:pt idx="220">
                  <c:v>2.2939389461</c:v>
                </c:pt>
                <c:pt idx="221">
                  <c:v>2.375375345</c:v>
                </c:pt>
                <c:pt idx="222">
                  <c:v>2.4557829922</c:v>
                </c:pt>
                <c:pt idx="223">
                  <c:v>2.5350650639</c:v>
                </c:pt>
                <c:pt idx="224">
                  <c:v>2.6131259298</c:v>
                </c:pt>
                <c:pt idx="225">
                  <c:v>2.6898712811</c:v>
                </c:pt>
                <c:pt idx="226">
                  <c:v>2.765208257</c:v>
                </c:pt>
                <c:pt idx="227">
                  <c:v>2.839045568</c:v>
                </c:pt>
                <c:pt idx="228">
                  <c:v>2.9112936188</c:v>
                </c:pt>
                <c:pt idx="229">
                  <c:v>2.9818646276</c:v>
                </c:pt>
                <c:pt idx="230">
                  <c:v>3.050672744</c:v>
                </c:pt>
                <c:pt idx="231">
                  <c:v>3.1176341635</c:v>
                </c:pt>
                <c:pt idx="232">
                  <c:v>3.1826672398</c:v>
                </c:pt>
                <c:pt idx="233">
                  <c:v>3.245692594</c:v>
                </c:pt>
                <c:pt idx="234">
                  <c:v>3.3066332211</c:v>
                </c:pt>
                <c:pt idx="235">
                  <c:v>3.3654145927</c:v>
                </c:pt>
                <c:pt idx="236">
                  <c:v>3.4219647571</c:v>
                </c:pt>
                <c:pt idx="237">
                  <c:v>3.4762144357</c:v>
                </c:pt>
                <c:pt idx="238">
                  <c:v>3.5280971153</c:v>
                </c:pt>
                <c:pt idx="239">
                  <c:v>3.5775491379</c:v>
                </c:pt>
                <c:pt idx="240">
                  <c:v>3.6245097854</c:v>
                </c:pt>
                <c:pt idx="241">
                  <c:v>3.6689213611</c:v>
                </c:pt>
                <c:pt idx="242">
                  <c:v>3.710729267</c:v>
                </c:pt>
                <c:pt idx="243">
                  <c:v>3.7498820771</c:v>
                </c:pt>
                <c:pt idx="244">
                  <c:v>3.7863316062</c:v>
                </c:pt>
                <c:pt idx="245">
                  <c:v>3.8200329742</c:v>
                </c:pt>
                <c:pt idx="246">
                  <c:v>3.8509446669</c:v>
                </c:pt>
                <c:pt idx="247">
                  <c:v>3.8790285908</c:v>
                </c:pt>
                <c:pt idx="248">
                  <c:v>3.9042501248</c:v>
                </c:pt>
                <c:pt idx="249">
                  <c:v>3.9265781665</c:v>
                </c:pt>
                <c:pt idx="250">
                  <c:v>3.9459851734</c:v>
                </c:pt>
                <c:pt idx="251">
                  <c:v>3.9624472007</c:v>
                </c:pt>
                <c:pt idx="252">
                  <c:v>3.9759439323</c:v>
                </c:pt>
                <c:pt idx="253">
                  <c:v>3.9864587092</c:v>
                </c:pt>
                <c:pt idx="254">
                  <c:v>3.9939785507</c:v>
                </c:pt>
                <c:pt idx="255">
                  <c:v>3.9984941729</c:v>
                </c:pt>
                <c:pt idx="256">
                  <c:v>4</c:v>
                </c:pt>
              </c:numCache>
            </c:numRef>
          </c:yVal>
        </c:ser>
        <c:ser>
          <c:idx val="1"/>
          <c:order val="1"/>
          <c:tx>
            <c:v>8-point DFT</c:v>
          </c:tx>
          <c:spPr>
            <a:solidFill xmlns:a="http://schemas.openxmlformats.org/drawingml/2006/main">
              <a:srgbClr val="D26C26"/>
            </a:solidFill>
            <a:ln xmlns:a="http://schemas.openxmlformats.org/drawingml/2006/main" w="0">
              <a:noFill/>
            </a:ln>
          </c:spPr>
          <c:marker>
            <c:symbol val="circle"/>
            <c:size val="7"/>
            <c:spPr>
              <a:noFill xmlns:a="http://schemas.openxmlformats.org/drawingml/2006/main"/>
            </c:spPr>
          </c:marker>
          <c:xVal>
            <c:numRef>
              <c:f>'Chart Data'!$C$2:$C$9</c:f>
              <c:numCache>
                <c:formatCode>General</c:formatCode>
                <c:ptCount val="8"/>
                <c:pt idx="0">
                  <c:v>0</c:v>
                </c:pt>
                <c:pt idx="1">
                  <c:v>0.125</c:v>
                </c:pt>
                <c:pt idx="2">
                  <c:v>0.25</c:v>
                </c:pt>
                <c:pt idx="3">
                  <c:v>0.375</c:v>
                </c:pt>
                <c:pt idx="4">
                  <c:v>0.5</c:v>
                </c:pt>
                <c:pt idx="5">
                  <c:v>0.625</c:v>
                </c:pt>
                <c:pt idx="6">
                  <c:v>0.75</c:v>
                </c:pt>
                <c:pt idx="7">
                  <c:v>0.875</c:v>
                </c:pt>
              </c:numCache>
            </c:numRef>
          </c:xVal>
          <c:yVal>
            <c:numRef>
              <c:f>'Chart Data'!$D$2:$D$9</c:f>
              <c:numCache>
                <c:formatCode>0.00</c:formatCode>
                <c:ptCount val="8"/>
                <c:pt idx="0">
                  <c:v>4</c:v>
                </c:pt>
                <c:pt idx="1">
                  <c:v>2.6131259298</c:v>
                </c:pt>
                <c:pt idx="2">
                  <c:v>0</c:v>
                </c:pt>
                <c:pt idx="3">
                  <c:v>1.0823922003</c:v>
                </c:pt>
                <c:pt idx="4">
                  <c:v>0</c:v>
                </c:pt>
                <c:pt idx="5">
                  <c:v>1.0823922003</c:v>
                </c:pt>
                <c:pt idx="6">
                  <c:v>0</c:v>
                </c:pt>
                <c:pt idx="7">
                  <c:v>2.6131259298</c:v>
                </c:pt>
              </c:numCache>
            </c:numRef>
          </c:y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FE7ED"/>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Magnitude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50112"/>
        <c:majorUnit val="1"/>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Normalized frequency ω/(2π)</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72768"/>
        <c:majorUnit val="0.2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52B3C"/>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DTFT</c:v>
          </c:tx>
          <c:spPr>
            <a:solidFill xmlns:a="http://schemas.openxmlformats.org/drawingml/2006/main">
              <a:srgbClr val="176FA8"/>
            </a:solidFill>
            <a:ln xmlns:a="http://schemas.openxmlformats.org/drawingml/2006/main" w="23813">
              <a:solidFill>
                <a:srgbClr val="176FA8"/>
              </a:solidFill>
            </a:ln>
          </c:spPr>
          <c:marker>
            <c:symbol val="none"/>
            <c:size val="2"/>
          </c:marker>
          <c:xVal>
            <c:numRef>
              <c:f>'Chart Data'!$A$2:$A$258</c:f>
              <c:numCache>
                <c:formatCode>General</c:formatCode>
                <c:ptCount val="257"/>
                <c:pt idx="0">
                  <c:v>0</c:v>
                </c:pt>
                <c:pt idx="1">
                  <c:v>0.0015625</c:v>
                </c:pt>
                <c:pt idx="2">
                  <c:v>0.003125</c:v>
                </c:pt>
                <c:pt idx="3">
                  <c:v>0.0046875</c:v>
                </c:pt>
                <c:pt idx="4">
                  <c:v>0.00625</c:v>
                </c:pt>
                <c:pt idx="5">
                  <c:v>0.0078125</c:v>
                </c:pt>
                <c:pt idx="6">
                  <c:v>0.009375</c:v>
                </c:pt>
                <c:pt idx="7">
                  <c:v>0.0109375</c:v>
                </c:pt>
                <c:pt idx="8">
                  <c:v>0.0125</c:v>
                </c:pt>
                <c:pt idx="9">
                  <c:v>0.0140625</c:v>
                </c:pt>
                <c:pt idx="10">
                  <c:v>0.015625</c:v>
                </c:pt>
                <c:pt idx="11">
                  <c:v>0.0171875</c:v>
                </c:pt>
                <c:pt idx="12">
                  <c:v>0.01875</c:v>
                </c:pt>
                <c:pt idx="13">
                  <c:v>0.0203125</c:v>
                </c:pt>
                <c:pt idx="14">
                  <c:v>0.021875</c:v>
                </c:pt>
                <c:pt idx="15">
                  <c:v>0.0234375</c:v>
                </c:pt>
                <c:pt idx="16">
                  <c:v>0.025</c:v>
                </c:pt>
                <c:pt idx="17">
                  <c:v>0.0265625</c:v>
                </c:pt>
                <c:pt idx="18">
                  <c:v>0.028125</c:v>
                </c:pt>
                <c:pt idx="19">
                  <c:v>0.0296875</c:v>
                </c:pt>
                <c:pt idx="20">
                  <c:v>0.03125</c:v>
                </c:pt>
                <c:pt idx="21">
                  <c:v>0.0328125</c:v>
                </c:pt>
                <c:pt idx="22">
                  <c:v>0.034375</c:v>
                </c:pt>
                <c:pt idx="23">
                  <c:v>0.0359375</c:v>
                </c:pt>
                <c:pt idx="24">
                  <c:v>0.0375</c:v>
                </c:pt>
                <c:pt idx="25">
                  <c:v>0.0390625</c:v>
                </c:pt>
                <c:pt idx="26">
                  <c:v>0.040625</c:v>
                </c:pt>
                <c:pt idx="27">
                  <c:v>0.0421875</c:v>
                </c:pt>
                <c:pt idx="28">
                  <c:v>0.04375</c:v>
                </c:pt>
                <c:pt idx="29">
                  <c:v>0.0453125</c:v>
                </c:pt>
                <c:pt idx="30">
                  <c:v>0.046875</c:v>
                </c:pt>
                <c:pt idx="31">
                  <c:v>0.0484375</c:v>
                </c:pt>
                <c:pt idx="32">
                  <c:v>0.05</c:v>
                </c:pt>
                <c:pt idx="33">
                  <c:v>0.0515625</c:v>
                </c:pt>
                <c:pt idx="34">
                  <c:v>0.053125</c:v>
                </c:pt>
                <c:pt idx="35">
                  <c:v>0.0546875</c:v>
                </c:pt>
                <c:pt idx="36">
                  <c:v>0.05625</c:v>
                </c:pt>
                <c:pt idx="37">
                  <c:v>0.0578125</c:v>
                </c:pt>
                <c:pt idx="38">
                  <c:v>0.059375</c:v>
                </c:pt>
                <c:pt idx="39">
                  <c:v>0.0609375</c:v>
                </c:pt>
                <c:pt idx="40">
                  <c:v>0.0625</c:v>
                </c:pt>
                <c:pt idx="41">
                  <c:v>0.0640625</c:v>
                </c:pt>
                <c:pt idx="42">
                  <c:v>0.065625</c:v>
                </c:pt>
                <c:pt idx="43">
                  <c:v>0.0671875</c:v>
                </c:pt>
                <c:pt idx="44">
                  <c:v>0.06875</c:v>
                </c:pt>
                <c:pt idx="45">
                  <c:v>0.0703125</c:v>
                </c:pt>
                <c:pt idx="46">
                  <c:v>0.071875</c:v>
                </c:pt>
                <c:pt idx="47">
                  <c:v>0.0734375</c:v>
                </c:pt>
                <c:pt idx="48">
                  <c:v>0.075</c:v>
                </c:pt>
                <c:pt idx="49">
                  <c:v>0.0765625</c:v>
                </c:pt>
                <c:pt idx="50">
                  <c:v>0.078125</c:v>
                </c:pt>
                <c:pt idx="51">
                  <c:v>0.0796875</c:v>
                </c:pt>
                <c:pt idx="52">
                  <c:v>0.08125</c:v>
                </c:pt>
                <c:pt idx="53">
                  <c:v>0.0828125</c:v>
                </c:pt>
                <c:pt idx="54">
                  <c:v>0.084375</c:v>
                </c:pt>
                <c:pt idx="55">
                  <c:v>0.0859375</c:v>
                </c:pt>
                <c:pt idx="56">
                  <c:v>0.0875</c:v>
                </c:pt>
                <c:pt idx="57">
                  <c:v>0.0890625</c:v>
                </c:pt>
                <c:pt idx="58">
                  <c:v>0.090625</c:v>
                </c:pt>
                <c:pt idx="59">
                  <c:v>0.0921875</c:v>
                </c:pt>
                <c:pt idx="60">
                  <c:v>0.09375</c:v>
                </c:pt>
                <c:pt idx="61">
                  <c:v>0.0953125</c:v>
                </c:pt>
                <c:pt idx="62">
                  <c:v>0.096875</c:v>
                </c:pt>
                <c:pt idx="63">
                  <c:v>0.0984375</c:v>
                </c:pt>
                <c:pt idx="64">
                  <c:v>0.1</c:v>
                </c:pt>
                <c:pt idx="65">
                  <c:v>0.1015625</c:v>
                </c:pt>
                <c:pt idx="66">
                  <c:v>0.103125</c:v>
                </c:pt>
                <c:pt idx="67">
                  <c:v>0.1046875</c:v>
                </c:pt>
                <c:pt idx="68">
                  <c:v>0.10625</c:v>
                </c:pt>
                <c:pt idx="69">
                  <c:v>0.1078125</c:v>
                </c:pt>
                <c:pt idx="70">
                  <c:v>0.109375</c:v>
                </c:pt>
                <c:pt idx="71">
                  <c:v>0.1109375</c:v>
                </c:pt>
                <c:pt idx="72">
                  <c:v>0.1125</c:v>
                </c:pt>
                <c:pt idx="73">
                  <c:v>0.1140625</c:v>
                </c:pt>
                <c:pt idx="74">
                  <c:v>0.115625</c:v>
                </c:pt>
                <c:pt idx="75">
                  <c:v>0.1171875</c:v>
                </c:pt>
                <c:pt idx="76">
                  <c:v>0.11875</c:v>
                </c:pt>
                <c:pt idx="77">
                  <c:v>0.1203125</c:v>
                </c:pt>
                <c:pt idx="78">
                  <c:v>0.121875</c:v>
                </c:pt>
                <c:pt idx="79">
                  <c:v>0.1234375</c:v>
                </c:pt>
                <c:pt idx="80">
                  <c:v>0.125</c:v>
                </c:pt>
                <c:pt idx="81">
                  <c:v>0.1265625</c:v>
                </c:pt>
                <c:pt idx="82">
                  <c:v>0.128125</c:v>
                </c:pt>
                <c:pt idx="83">
                  <c:v>0.1296875</c:v>
                </c:pt>
                <c:pt idx="84">
                  <c:v>0.13125</c:v>
                </c:pt>
                <c:pt idx="85">
                  <c:v>0.1328125</c:v>
                </c:pt>
                <c:pt idx="86">
                  <c:v>0.134375</c:v>
                </c:pt>
                <c:pt idx="87">
                  <c:v>0.1359375</c:v>
                </c:pt>
                <c:pt idx="88">
                  <c:v>0.1375</c:v>
                </c:pt>
                <c:pt idx="89">
                  <c:v>0.1390625</c:v>
                </c:pt>
                <c:pt idx="90">
                  <c:v>0.140625</c:v>
                </c:pt>
                <c:pt idx="91">
                  <c:v>0.1421875</c:v>
                </c:pt>
                <c:pt idx="92">
                  <c:v>0.14375</c:v>
                </c:pt>
                <c:pt idx="93">
                  <c:v>0.1453125</c:v>
                </c:pt>
                <c:pt idx="94">
                  <c:v>0.146875</c:v>
                </c:pt>
                <c:pt idx="95">
                  <c:v>0.1484375</c:v>
                </c:pt>
                <c:pt idx="96">
                  <c:v>0.15</c:v>
                </c:pt>
                <c:pt idx="97">
                  <c:v>0.1515625</c:v>
                </c:pt>
                <c:pt idx="98">
                  <c:v>0.153125</c:v>
                </c:pt>
                <c:pt idx="99">
                  <c:v>0.1546875</c:v>
                </c:pt>
                <c:pt idx="100">
                  <c:v>0.15625</c:v>
                </c:pt>
                <c:pt idx="101">
                  <c:v>0.1578125</c:v>
                </c:pt>
                <c:pt idx="102">
                  <c:v>0.159375</c:v>
                </c:pt>
                <c:pt idx="103">
                  <c:v>0.1609375</c:v>
                </c:pt>
                <c:pt idx="104">
                  <c:v>0.1625</c:v>
                </c:pt>
                <c:pt idx="105">
                  <c:v>0.1640625</c:v>
                </c:pt>
                <c:pt idx="106">
                  <c:v>0.165625</c:v>
                </c:pt>
                <c:pt idx="107">
                  <c:v>0.1671875</c:v>
                </c:pt>
                <c:pt idx="108">
                  <c:v>0.16875</c:v>
                </c:pt>
                <c:pt idx="109">
                  <c:v>0.1703125</c:v>
                </c:pt>
                <c:pt idx="110">
                  <c:v>0.171875</c:v>
                </c:pt>
                <c:pt idx="111">
                  <c:v>0.1734375</c:v>
                </c:pt>
                <c:pt idx="112">
                  <c:v>0.175</c:v>
                </c:pt>
                <c:pt idx="113">
                  <c:v>0.1765625</c:v>
                </c:pt>
                <c:pt idx="114">
                  <c:v>0.178125</c:v>
                </c:pt>
                <c:pt idx="115">
                  <c:v>0.1796875</c:v>
                </c:pt>
                <c:pt idx="116">
                  <c:v>0.18125</c:v>
                </c:pt>
                <c:pt idx="117">
                  <c:v>0.1828125</c:v>
                </c:pt>
                <c:pt idx="118">
                  <c:v>0.184375</c:v>
                </c:pt>
                <c:pt idx="119">
                  <c:v>0.1859375</c:v>
                </c:pt>
                <c:pt idx="120">
                  <c:v>0.1875</c:v>
                </c:pt>
                <c:pt idx="121">
                  <c:v>0.1890625</c:v>
                </c:pt>
                <c:pt idx="122">
                  <c:v>0.190625</c:v>
                </c:pt>
                <c:pt idx="123">
                  <c:v>0.1921875</c:v>
                </c:pt>
                <c:pt idx="124">
                  <c:v>0.19375</c:v>
                </c:pt>
                <c:pt idx="125">
                  <c:v>0.1953125</c:v>
                </c:pt>
                <c:pt idx="126">
                  <c:v>0.196875</c:v>
                </c:pt>
                <c:pt idx="127">
                  <c:v>0.1984375</c:v>
                </c:pt>
                <c:pt idx="128">
                  <c:v>0.2</c:v>
                </c:pt>
                <c:pt idx="129">
                  <c:v>0.2015625</c:v>
                </c:pt>
                <c:pt idx="130">
                  <c:v>0.203125</c:v>
                </c:pt>
                <c:pt idx="131">
                  <c:v>0.2046875</c:v>
                </c:pt>
                <c:pt idx="132">
                  <c:v>0.20625</c:v>
                </c:pt>
                <c:pt idx="133">
                  <c:v>0.2078125</c:v>
                </c:pt>
                <c:pt idx="134">
                  <c:v>0.209375</c:v>
                </c:pt>
                <c:pt idx="135">
                  <c:v>0.2109375</c:v>
                </c:pt>
                <c:pt idx="136">
                  <c:v>0.2125</c:v>
                </c:pt>
                <c:pt idx="137">
                  <c:v>0.2140625</c:v>
                </c:pt>
                <c:pt idx="138">
                  <c:v>0.215625</c:v>
                </c:pt>
                <c:pt idx="139">
                  <c:v>0.2171875</c:v>
                </c:pt>
                <c:pt idx="140">
                  <c:v>0.21875</c:v>
                </c:pt>
                <c:pt idx="141">
                  <c:v>0.2203125</c:v>
                </c:pt>
                <c:pt idx="142">
                  <c:v>0.221875</c:v>
                </c:pt>
                <c:pt idx="143">
                  <c:v>0.2234375</c:v>
                </c:pt>
                <c:pt idx="144">
                  <c:v>0.225</c:v>
                </c:pt>
                <c:pt idx="145">
                  <c:v>0.2265625</c:v>
                </c:pt>
                <c:pt idx="146">
                  <c:v>0.228125</c:v>
                </c:pt>
                <c:pt idx="147">
                  <c:v>0.2296875</c:v>
                </c:pt>
                <c:pt idx="148">
                  <c:v>0.23125</c:v>
                </c:pt>
                <c:pt idx="149">
                  <c:v>0.2328125</c:v>
                </c:pt>
                <c:pt idx="150">
                  <c:v>0.234375</c:v>
                </c:pt>
                <c:pt idx="151">
                  <c:v>0.2359375</c:v>
                </c:pt>
                <c:pt idx="152">
                  <c:v>0.2375</c:v>
                </c:pt>
                <c:pt idx="153">
                  <c:v>0.2390625</c:v>
                </c:pt>
                <c:pt idx="154">
                  <c:v>0.240625</c:v>
                </c:pt>
                <c:pt idx="155">
                  <c:v>0.2421875</c:v>
                </c:pt>
                <c:pt idx="156">
                  <c:v>0.24375</c:v>
                </c:pt>
                <c:pt idx="157">
                  <c:v>0.2453125</c:v>
                </c:pt>
                <c:pt idx="158">
                  <c:v>0.246875</c:v>
                </c:pt>
                <c:pt idx="159">
                  <c:v>0.2484375</c:v>
                </c:pt>
                <c:pt idx="160">
                  <c:v>0.25</c:v>
                </c:pt>
                <c:pt idx="161">
                  <c:v>0.2515625</c:v>
                </c:pt>
                <c:pt idx="162">
                  <c:v>0.253125</c:v>
                </c:pt>
                <c:pt idx="163">
                  <c:v>0.2546875</c:v>
                </c:pt>
                <c:pt idx="164">
                  <c:v>0.25625</c:v>
                </c:pt>
                <c:pt idx="165">
                  <c:v>0.2578125</c:v>
                </c:pt>
                <c:pt idx="166">
                  <c:v>0.259375</c:v>
                </c:pt>
                <c:pt idx="167">
                  <c:v>0.2609375</c:v>
                </c:pt>
                <c:pt idx="168">
                  <c:v>0.2625</c:v>
                </c:pt>
                <c:pt idx="169">
                  <c:v>0.2640625</c:v>
                </c:pt>
                <c:pt idx="170">
                  <c:v>0.265625</c:v>
                </c:pt>
                <c:pt idx="171">
                  <c:v>0.2671875</c:v>
                </c:pt>
                <c:pt idx="172">
                  <c:v>0.26875</c:v>
                </c:pt>
                <c:pt idx="173">
                  <c:v>0.2703125</c:v>
                </c:pt>
                <c:pt idx="174">
                  <c:v>0.271875</c:v>
                </c:pt>
                <c:pt idx="175">
                  <c:v>0.2734375</c:v>
                </c:pt>
                <c:pt idx="176">
                  <c:v>0.275</c:v>
                </c:pt>
                <c:pt idx="177">
                  <c:v>0.2765625</c:v>
                </c:pt>
                <c:pt idx="178">
                  <c:v>0.278125</c:v>
                </c:pt>
                <c:pt idx="179">
                  <c:v>0.2796875</c:v>
                </c:pt>
                <c:pt idx="180">
                  <c:v>0.28125</c:v>
                </c:pt>
                <c:pt idx="181">
                  <c:v>0.2828125</c:v>
                </c:pt>
                <c:pt idx="182">
                  <c:v>0.284375</c:v>
                </c:pt>
                <c:pt idx="183">
                  <c:v>0.2859375</c:v>
                </c:pt>
                <c:pt idx="184">
                  <c:v>0.2875</c:v>
                </c:pt>
                <c:pt idx="185">
                  <c:v>0.2890625</c:v>
                </c:pt>
                <c:pt idx="186">
                  <c:v>0.290625</c:v>
                </c:pt>
                <c:pt idx="187">
                  <c:v>0.2921875</c:v>
                </c:pt>
                <c:pt idx="188">
                  <c:v>0.29375</c:v>
                </c:pt>
                <c:pt idx="189">
                  <c:v>0.2953125</c:v>
                </c:pt>
                <c:pt idx="190">
                  <c:v>0.296875</c:v>
                </c:pt>
                <c:pt idx="191">
                  <c:v>0.2984375</c:v>
                </c:pt>
                <c:pt idx="192">
                  <c:v>0.3</c:v>
                </c:pt>
                <c:pt idx="193">
                  <c:v>0.3015625</c:v>
                </c:pt>
                <c:pt idx="194">
                  <c:v>0.303125</c:v>
                </c:pt>
                <c:pt idx="195">
                  <c:v>0.3046875</c:v>
                </c:pt>
                <c:pt idx="196">
                  <c:v>0.30625</c:v>
                </c:pt>
                <c:pt idx="197">
                  <c:v>0.3078125</c:v>
                </c:pt>
                <c:pt idx="198">
                  <c:v>0.309375</c:v>
                </c:pt>
                <c:pt idx="199">
                  <c:v>0.3109375</c:v>
                </c:pt>
                <c:pt idx="200">
                  <c:v>0.3125</c:v>
                </c:pt>
                <c:pt idx="201">
                  <c:v>0.3140625</c:v>
                </c:pt>
                <c:pt idx="202">
                  <c:v>0.315625</c:v>
                </c:pt>
                <c:pt idx="203">
                  <c:v>0.3171875</c:v>
                </c:pt>
                <c:pt idx="204">
                  <c:v>0.31875</c:v>
                </c:pt>
                <c:pt idx="205">
                  <c:v>0.3203125</c:v>
                </c:pt>
                <c:pt idx="206">
                  <c:v>0.321875</c:v>
                </c:pt>
                <c:pt idx="207">
                  <c:v>0.3234375</c:v>
                </c:pt>
                <c:pt idx="208">
                  <c:v>0.325</c:v>
                </c:pt>
                <c:pt idx="209">
                  <c:v>0.3265625</c:v>
                </c:pt>
                <c:pt idx="210">
                  <c:v>0.328125</c:v>
                </c:pt>
                <c:pt idx="211">
                  <c:v>0.3296875</c:v>
                </c:pt>
                <c:pt idx="212">
                  <c:v>0.33125</c:v>
                </c:pt>
                <c:pt idx="213">
                  <c:v>0.3328125</c:v>
                </c:pt>
                <c:pt idx="214">
                  <c:v>0.334375</c:v>
                </c:pt>
                <c:pt idx="215">
                  <c:v>0.3359375</c:v>
                </c:pt>
                <c:pt idx="216">
                  <c:v>0.3375</c:v>
                </c:pt>
                <c:pt idx="217">
                  <c:v>0.3390625</c:v>
                </c:pt>
                <c:pt idx="218">
                  <c:v>0.340625</c:v>
                </c:pt>
                <c:pt idx="219">
                  <c:v>0.3421875</c:v>
                </c:pt>
                <c:pt idx="220">
                  <c:v>0.34375</c:v>
                </c:pt>
                <c:pt idx="221">
                  <c:v>0.3453125</c:v>
                </c:pt>
                <c:pt idx="222">
                  <c:v>0.346875</c:v>
                </c:pt>
                <c:pt idx="223">
                  <c:v>0.3484375</c:v>
                </c:pt>
                <c:pt idx="224">
                  <c:v>0.35</c:v>
                </c:pt>
                <c:pt idx="225">
                  <c:v>0.3515625</c:v>
                </c:pt>
                <c:pt idx="226">
                  <c:v>0.353125</c:v>
                </c:pt>
                <c:pt idx="227">
                  <c:v>0.3546875</c:v>
                </c:pt>
                <c:pt idx="228">
                  <c:v>0.35625</c:v>
                </c:pt>
                <c:pt idx="229">
                  <c:v>0.3578125</c:v>
                </c:pt>
                <c:pt idx="230">
                  <c:v>0.359375</c:v>
                </c:pt>
                <c:pt idx="231">
                  <c:v>0.3609375</c:v>
                </c:pt>
                <c:pt idx="232">
                  <c:v>0.3625</c:v>
                </c:pt>
                <c:pt idx="233">
                  <c:v>0.3640625</c:v>
                </c:pt>
                <c:pt idx="234">
                  <c:v>0.365625</c:v>
                </c:pt>
                <c:pt idx="235">
                  <c:v>0.3671875</c:v>
                </c:pt>
                <c:pt idx="236">
                  <c:v>0.36875</c:v>
                </c:pt>
                <c:pt idx="237">
                  <c:v>0.3703125</c:v>
                </c:pt>
                <c:pt idx="238">
                  <c:v>0.371875</c:v>
                </c:pt>
                <c:pt idx="239">
                  <c:v>0.3734375</c:v>
                </c:pt>
                <c:pt idx="240">
                  <c:v>0.375</c:v>
                </c:pt>
                <c:pt idx="241">
                  <c:v>0.3765625</c:v>
                </c:pt>
                <c:pt idx="242">
                  <c:v>0.378125</c:v>
                </c:pt>
                <c:pt idx="243">
                  <c:v>0.3796875</c:v>
                </c:pt>
                <c:pt idx="244">
                  <c:v>0.38125</c:v>
                </c:pt>
                <c:pt idx="245">
                  <c:v>0.3828125</c:v>
                </c:pt>
                <c:pt idx="246">
                  <c:v>0.384375</c:v>
                </c:pt>
                <c:pt idx="247">
                  <c:v>0.3859375</c:v>
                </c:pt>
                <c:pt idx="248">
                  <c:v>0.3875</c:v>
                </c:pt>
                <c:pt idx="249">
                  <c:v>0.3890625</c:v>
                </c:pt>
                <c:pt idx="250">
                  <c:v>0.390625</c:v>
                </c:pt>
                <c:pt idx="251">
                  <c:v>0.3921875</c:v>
                </c:pt>
                <c:pt idx="252">
                  <c:v>0.39375</c:v>
                </c:pt>
                <c:pt idx="253">
                  <c:v>0.3953125</c:v>
                </c:pt>
                <c:pt idx="254">
                  <c:v>0.396875</c:v>
                </c:pt>
                <c:pt idx="255">
                  <c:v>0.3984375</c:v>
                </c:pt>
                <c:pt idx="256">
                  <c:v>0.4</c:v>
                </c:pt>
              </c:numCache>
            </c:numRef>
          </c:xVal>
          <c:yVal>
            <c:numRef>
              <c:f>'Chart Data'!$B$2:$B$258</c:f>
              <c:numCache>
                <c:formatCode>0.00</c:formatCode>
                <c:ptCount val="257"/>
                <c:pt idx="0">
                  <c:v>0</c:v>
                </c:pt>
                <c:pt idx="1">
                  <c:v>0.0104666565</c:v>
                </c:pt>
                <c:pt idx="2">
                  <c:v>0.0208697836</c:v>
                </c:pt>
                <c:pt idx="3">
                  <c:v>0.0309521826</c:v>
                </c:pt>
                <c:pt idx="4">
                  <c:v>0.0404596333</c:v>
                </c:pt>
                <c:pt idx="5">
                  <c:v>0.0491470865</c:v>
                </c:pt>
                <c:pt idx="6">
                  <c:v>0.0567847486</c:v>
                </c:pt>
                <c:pt idx="7">
                  <c:v>0.0631639135</c:v>
                </c:pt>
                <c:pt idx="8">
                  <c:v>0.0681023988</c:v>
                </c:pt>
                <c:pt idx="9">
                  <c:v>0.0714494512</c:v>
                </c:pt>
                <c:pt idx="10">
                  <c:v>0.0730899958</c:v>
                </c:pt>
                <c:pt idx="11">
                  <c:v>0.0729481159</c:v>
                </c:pt>
                <c:pt idx="12">
                  <c:v>0.0709896689</c:v>
                </c:pt>
                <c:pt idx="13">
                  <c:v>0.0672239595</c:v>
                </c:pt>
                <c:pt idx="14">
                  <c:v>0.0617044137</c:v>
                </c:pt>
                <c:pt idx="15">
                  <c:v>0.0545282185</c:v>
                </c:pt>
                <c:pt idx="16">
                  <c:v>0.0458349161</c:v>
                </c:pt>
                <c:pt idx="17">
                  <c:v>0.0358039657</c:v>
                </c:pt>
                <c:pt idx="18">
                  <c:v>0.0246513097</c:v>
                </c:pt>
                <c:pt idx="19">
                  <c:v>0.0126250044</c:v>
                </c:pt>
                <c:pt idx="20">
                  <c:v>0</c:v>
                </c:pt>
                <c:pt idx="21">
                  <c:v>0.0129278269</c:v>
                </c:pt>
                <c:pt idx="22">
                  <c:v>0.0258482631</c:v>
                </c:pt>
                <c:pt idx="23">
                  <c:v>0.0384438313</c:v>
                </c:pt>
                <c:pt idx="24">
                  <c:v>0.0503971903</c:v>
                </c:pt>
                <c:pt idx="25">
                  <c:v>0.0613986987</c:v>
                </c:pt>
                <c:pt idx="26">
                  <c:v>0.0711539696</c:v>
                </c:pt>
                <c:pt idx="27">
                  <c:v>0.0793912421</c:v>
                </c:pt>
                <c:pt idx="28">
                  <c:v>0.0858683949</c:v>
                </c:pt>
                <c:pt idx="29">
                  <c:v>0.0903794334</c:v>
                </c:pt>
                <c:pt idx="30">
                  <c:v>0.0927602885</c:v>
                </c:pt>
                <c:pt idx="31">
                  <c:v>0.0928937797</c:v>
                </c:pt>
                <c:pt idx="32">
                  <c:v>0.0907136094</c:v>
                </c:pt>
                <c:pt idx="33">
                  <c:v>0.0862072755</c:v>
                </c:pt>
                <c:pt idx="34">
                  <c:v>0.0794178118</c:v>
                </c:pt>
                <c:pt idx="35">
                  <c:v>0.0704442882</c:v>
                </c:pt>
                <c:pt idx="36">
                  <c:v>0.0594410323</c:v>
                </c:pt>
                <c:pt idx="37">
                  <c:v>0.0466155591</c:v>
                </c:pt>
                <c:pt idx="38">
                  <c:v>0.0322252253</c:v>
                </c:pt>
                <c:pt idx="39">
                  <c:v>0.0165726537</c:v>
                </c:pt>
                <c:pt idx="40">
                  <c:v>0</c:v>
                </c:pt>
                <c:pt idx="41">
                  <c:v>0.0171178356</c:v>
                </c:pt>
                <c:pt idx="42">
                  <c:v>0.0343809285</c:v>
                </c:pt>
                <c:pt idx="43">
                  <c:v>0.0513728304</c:v>
                </c:pt>
                <c:pt idx="44">
                  <c:v>0.0676696828</c:v>
                </c:pt>
                <c:pt idx="45">
                  <c:v>0.0828497561</c:v>
                </c:pt>
                <c:pt idx="46">
                  <c:v>0.0965032158</c:v>
                </c:pt>
                <c:pt idx="47">
                  <c:v>0.1082419063</c:v>
                </c:pt>
                <c:pt idx="48">
                  <c:v>0.117708941</c:v>
                </c:pt>
                <c:pt idx="49">
                  <c:v>0.1245878836</c:v>
                </c:pt>
                <c:pt idx="50">
                  <c:v>0.1286113131</c:v>
                </c:pt>
                <c:pt idx="51">
                  <c:v>0.1295685724</c:v>
                </c:pt>
                <c:pt idx="52">
                  <c:v>0.1273125139</c:v>
                </c:pt>
                <c:pt idx="53">
                  <c:v>0.1217650743</c:v>
                </c:pt>
                <c:pt idx="54">
                  <c:v>0.1129215307</c:v>
                </c:pt>
                <c:pt idx="55">
                  <c:v>0.1008533174</c:v>
                </c:pt>
                <c:pt idx="56">
                  <c:v>0.0857093077</c:v>
                </c:pt>
                <c:pt idx="57">
                  <c:v>0.0677154996</c:v>
                </c:pt>
                <c:pt idx="58">
                  <c:v>0.0471730732</c:v>
                </c:pt>
                <c:pt idx="59">
                  <c:v>0.0244548227</c:v>
                </c:pt>
                <c:pt idx="60">
                  <c:v>0</c:v>
                </c:pt>
                <c:pt idx="61">
                  <c:v>0.0256923595</c:v>
                </c:pt>
                <c:pt idx="62">
                  <c:v>0.0520715262</c:v>
                </c:pt>
                <c:pt idx="63">
                  <c:v>0.0785444451</c:v>
                </c:pt>
                <c:pt idx="64">
                  <c:v>0.104486222</c:v>
                </c:pt>
                <c:pt idx="65">
                  <c:v>0.1292515371</c:v>
                </c:pt>
                <c:pt idx="66">
                  <c:v>0.1521867744</c:v>
                </c:pt>
                <c:pt idx="67">
                  <c:v>0.1726426377</c:v>
                </c:pt>
                <c:pt idx="68">
                  <c:v>0.1899870091</c:v>
                </c:pt>
                <c:pt idx="69">
                  <c:v>0.2036177985</c:v>
                </c:pt>
                <c:pt idx="70">
                  <c:v>0.2129755262</c:v>
                </c:pt>
                <c:pt idx="71">
                  <c:v>0.2175553849</c:v>
                </c:pt>
                <c:pt idx="72">
                  <c:v>0.2169185328</c:v>
                </c:pt>
                <c:pt idx="73">
                  <c:v>0.2107023801</c:v>
                </c:pt>
                <c:pt idx="74">
                  <c:v>0.1986296494</c:v>
                </c:pt>
                <c:pt idx="75">
                  <c:v>0.180516012</c:v>
                </c:pt>
                <c:pt idx="76">
                  <c:v>0.156276126</c:v>
                </c:pt>
                <c:pt idx="77">
                  <c:v>0.1259279334</c:v>
                </c:pt>
                <c:pt idx="78">
                  <c:v>0.0895951048</c:v>
                </c:pt>
                <c:pt idx="79">
                  <c:v>0.0475075564</c:v>
                </c:pt>
                <c:pt idx="80">
                  <c:v>0</c:v>
                </c:pt>
                <c:pt idx="81">
                  <c:v>0.052491474</c:v>
                </c:pt>
                <c:pt idx="82">
                  <c:v>0.1094347423</c:v>
                </c:pt>
                <c:pt idx="83">
                  <c:v>0.1702088471</c:v>
                </c:pt>
                <c:pt idx="84">
                  <c:v>0.2341129344</c:v>
                </c:pt>
                <c:pt idx="85">
                  <c:v>0.3003767824</c:v>
                </c:pt>
                <c:pt idx="86">
                  <c:v>0.3681727407</c:v>
                </c:pt>
                <c:pt idx="87">
                  <c:v>0.4366288707</c:v>
                </c:pt>
                <c:pt idx="88">
                  <c:v>0.5048430511</c:v>
                </c:pt>
                <c:pt idx="89">
                  <c:v>0.5718977952</c:v>
                </c:pt>
                <c:pt idx="90">
                  <c:v>0.6368755077</c:v>
                </c:pt>
                <c:pt idx="91">
                  <c:v>0.6988739011</c:v>
                </c:pt>
                <c:pt idx="92">
                  <c:v>0.757021284</c:v>
                </c:pt>
                <c:pt idx="93">
                  <c:v>0.8104914384</c:v>
                </c:pt>
                <c:pt idx="94">
                  <c:v>0.8585178055</c:v>
                </c:pt>
                <c:pt idx="95">
                  <c:v>0.9004067132</c:v>
                </c:pt>
                <c:pt idx="96">
                  <c:v>0.9355493966</c:v>
                </c:pt>
                <c:pt idx="97">
                  <c:v>0.9634325835</c:v>
                </c:pt>
                <c:pt idx="98">
                  <c:v>0.9836474441</c:v>
                </c:pt>
                <c:pt idx="99">
                  <c:v>0.9958967347</c:v>
                </c:pt>
                <c:pt idx="100">
                  <c:v>1</c:v>
                </c:pt>
                <c:pt idx="101">
                  <c:v>0.9958967347</c:v>
                </c:pt>
                <c:pt idx="102">
                  <c:v>0.9836474441</c:v>
                </c:pt>
                <c:pt idx="103">
                  <c:v>0.9634325835</c:v>
                </c:pt>
                <c:pt idx="104">
                  <c:v>0.9355493966</c:v>
                </c:pt>
                <c:pt idx="105">
                  <c:v>0.9004067132</c:v>
                </c:pt>
                <c:pt idx="106">
                  <c:v>0.8585178055</c:v>
                </c:pt>
                <c:pt idx="107">
                  <c:v>0.8104914384</c:v>
                </c:pt>
                <c:pt idx="108">
                  <c:v>0.757021284</c:v>
                </c:pt>
                <c:pt idx="109">
                  <c:v>0.6988739011</c:v>
                </c:pt>
                <c:pt idx="110">
                  <c:v>0.6368755077</c:v>
                </c:pt>
                <c:pt idx="111">
                  <c:v>0.5718977952</c:v>
                </c:pt>
                <c:pt idx="112">
                  <c:v>0.5048430511</c:v>
                </c:pt>
                <c:pt idx="113">
                  <c:v>0.4366288707</c:v>
                </c:pt>
                <c:pt idx="114">
                  <c:v>0.3681727407</c:v>
                </c:pt>
                <c:pt idx="115">
                  <c:v>0.3003767824</c:v>
                </c:pt>
                <c:pt idx="116">
                  <c:v>0.2341129344</c:v>
                </c:pt>
                <c:pt idx="117">
                  <c:v>0.1702088471</c:v>
                </c:pt>
                <c:pt idx="118">
                  <c:v>0.1094347423</c:v>
                </c:pt>
                <c:pt idx="119">
                  <c:v>0.052491474</c:v>
                </c:pt>
                <c:pt idx="120">
                  <c:v>0</c:v>
                </c:pt>
                <c:pt idx="121">
                  <c:v>0.0475075564</c:v>
                </c:pt>
                <c:pt idx="122">
                  <c:v>0.0895951048</c:v>
                </c:pt>
                <c:pt idx="123">
                  <c:v>0.1259279334</c:v>
                </c:pt>
                <c:pt idx="124">
                  <c:v>0.156276126</c:v>
                </c:pt>
                <c:pt idx="125">
                  <c:v>0.180516012</c:v>
                </c:pt>
                <c:pt idx="126">
                  <c:v>0.1986296494</c:v>
                </c:pt>
                <c:pt idx="127">
                  <c:v>0.2107023801</c:v>
                </c:pt>
                <c:pt idx="128">
                  <c:v>0.2169185328</c:v>
                </c:pt>
                <c:pt idx="129">
                  <c:v>0.2175553849</c:v>
                </c:pt>
                <c:pt idx="130">
                  <c:v>0.2129755262</c:v>
                </c:pt>
                <c:pt idx="131">
                  <c:v>0.2036177985</c:v>
                </c:pt>
                <c:pt idx="132">
                  <c:v>0.1899870091</c:v>
                </c:pt>
                <c:pt idx="133">
                  <c:v>0.1726426377</c:v>
                </c:pt>
                <c:pt idx="134">
                  <c:v>0.1521867744</c:v>
                </c:pt>
                <c:pt idx="135">
                  <c:v>0.1292515371</c:v>
                </c:pt>
                <c:pt idx="136">
                  <c:v>0.104486222</c:v>
                </c:pt>
                <c:pt idx="137">
                  <c:v>0.0785444451</c:v>
                </c:pt>
                <c:pt idx="138">
                  <c:v>0.0520715262</c:v>
                </c:pt>
                <c:pt idx="139">
                  <c:v>0.0256923595</c:v>
                </c:pt>
                <c:pt idx="140">
                  <c:v>0</c:v>
                </c:pt>
                <c:pt idx="141">
                  <c:v>0.0244548227</c:v>
                </c:pt>
                <c:pt idx="142">
                  <c:v>0.0471730732</c:v>
                </c:pt>
                <c:pt idx="143">
                  <c:v>0.0677154996</c:v>
                </c:pt>
                <c:pt idx="144">
                  <c:v>0.0857093077</c:v>
                </c:pt>
                <c:pt idx="145">
                  <c:v>0.1008533174</c:v>
                </c:pt>
                <c:pt idx="146">
                  <c:v>0.1129215307</c:v>
                </c:pt>
                <c:pt idx="147">
                  <c:v>0.1217650743</c:v>
                </c:pt>
                <c:pt idx="148">
                  <c:v>0.1273125139</c:v>
                </c:pt>
                <c:pt idx="149">
                  <c:v>0.1295685724</c:v>
                </c:pt>
                <c:pt idx="150">
                  <c:v>0.1286113131</c:v>
                </c:pt>
                <c:pt idx="151">
                  <c:v>0.1245878836</c:v>
                </c:pt>
                <c:pt idx="152">
                  <c:v>0.117708941</c:v>
                </c:pt>
                <c:pt idx="153">
                  <c:v>0.1082419063</c:v>
                </c:pt>
                <c:pt idx="154">
                  <c:v>0.0965032158</c:v>
                </c:pt>
                <c:pt idx="155">
                  <c:v>0.0828497561</c:v>
                </c:pt>
                <c:pt idx="156">
                  <c:v>0.0676696828</c:v>
                </c:pt>
                <c:pt idx="157">
                  <c:v>0.0513728304</c:v>
                </c:pt>
                <c:pt idx="158">
                  <c:v>0.0343809285</c:v>
                </c:pt>
                <c:pt idx="159">
                  <c:v>0.0171178356</c:v>
                </c:pt>
                <c:pt idx="160">
                  <c:v>0</c:v>
                </c:pt>
                <c:pt idx="161">
                  <c:v>0.0165726537</c:v>
                </c:pt>
                <c:pt idx="162">
                  <c:v>0.0322252253</c:v>
                </c:pt>
                <c:pt idx="163">
                  <c:v>0.0466155591</c:v>
                </c:pt>
                <c:pt idx="164">
                  <c:v>0.0594410323</c:v>
                </c:pt>
                <c:pt idx="165">
                  <c:v>0.0704442882</c:v>
                </c:pt>
                <c:pt idx="166">
                  <c:v>0.0794178118</c:v>
                </c:pt>
                <c:pt idx="167">
                  <c:v>0.0862072755</c:v>
                </c:pt>
                <c:pt idx="168">
                  <c:v>0.0907136094</c:v>
                </c:pt>
                <c:pt idx="169">
                  <c:v>0.0928937797</c:v>
                </c:pt>
                <c:pt idx="170">
                  <c:v>0.0927602885</c:v>
                </c:pt>
                <c:pt idx="171">
                  <c:v>0.0903794334</c:v>
                </c:pt>
                <c:pt idx="172">
                  <c:v>0.0858683949</c:v>
                </c:pt>
                <c:pt idx="173">
                  <c:v>0.0793912421</c:v>
                </c:pt>
                <c:pt idx="174">
                  <c:v>0.0711539696</c:v>
                </c:pt>
                <c:pt idx="175">
                  <c:v>0.0613986987</c:v>
                </c:pt>
                <c:pt idx="176">
                  <c:v>0.0503971903</c:v>
                </c:pt>
                <c:pt idx="177">
                  <c:v>0.0384438313</c:v>
                </c:pt>
                <c:pt idx="178">
                  <c:v>0.0258482631</c:v>
                </c:pt>
                <c:pt idx="179">
                  <c:v>0.0129278269</c:v>
                </c:pt>
                <c:pt idx="180">
                  <c:v>0</c:v>
                </c:pt>
                <c:pt idx="181">
                  <c:v>0.0126250044</c:v>
                </c:pt>
                <c:pt idx="182">
                  <c:v>0.0246513097</c:v>
                </c:pt>
                <c:pt idx="183">
                  <c:v>0.0358039657</c:v>
                </c:pt>
                <c:pt idx="184">
                  <c:v>0.0458349161</c:v>
                </c:pt>
                <c:pt idx="185">
                  <c:v>0.0545282185</c:v>
                </c:pt>
                <c:pt idx="186">
                  <c:v>0.0617044137</c:v>
                </c:pt>
                <c:pt idx="187">
                  <c:v>0.0672239595</c:v>
                </c:pt>
                <c:pt idx="188">
                  <c:v>0.0709896689</c:v>
                </c:pt>
                <c:pt idx="189">
                  <c:v>0.0729481159</c:v>
                </c:pt>
                <c:pt idx="190">
                  <c:v>0.0730899958</c:v>
                </c:pt>
                <c:pt idx="191">
                  <c:v>0.0714494512</c:v>
                </c:pt>
                <c:pt idx="192">
                  <c:v>0.0681023988</c:v>
                </c:pt>
                <c:pt idx="193">
                  <c:v>0.0631639135</c:v>
                </c:pt>
                <c:pt idx="194">
                  <c:v>0.0567847486</c:v>
                </c:pt>
                <c:pt idx="195">
                  <c:v>0.0491470865</c:v>
                </c:pt>
                <c:pt idx="196">
                  <c:v>0.0404596333</c:v>
                </c:pt>
                <c:pt idx="197">
                  <c:v>0.0309521826</c:v>
                </c:pt>
                <c:pt idx="198">
                  <c:v>0.0208697836</c:v>
                </c:pt>
                <c:pt idx="199">
                  <c:v>0.0104666565</c:v>
                </c:pt>
                <c:pt idx="200">
                  <c:v>0</c:v>
                </c:pt>
                <c:pt idx="201">
                  <c:v>0.0102761611</c:v>
                </c:pt>
                <c:pt idx="202">
                  <c:v>0.0201169476</c:v>
                </c:pt>
                <c:pt idx="203">
                  <c:v>0.0292922788</c:v>
                </c:pt>
                <c:pt idx="204">
                  <c:v>0.0375920807</c:v>
                </c:pt>
                <c:pt idx="205">
                  <c:v>0.0448309352</c:v>
                </c:pt>
                <c:pt idx="206">
                  <c:v>0.0508520697</c:v>
                </c:pt>
                <c:pt idx="207">
                  <c:v>0.055530605</c:v>
                </c:pt>
                <c:pt idx="208">
                  <c:v>0.0587759967</c:v>
                </c:pt>
                <c:pt idx="209">
                  <c:v>0.060533626</c:v>
                </c:pt>
                <c:pt idx="210">
                  <c:v>0.0607855149</c:v>
                </c:pt>
                <c:pt idx="211">
                  <c:v>0.0595501636</c:v>
                </c:pt>
                <c:pt idx="212">
                  <c:v>0.0568815268</c:v>
                </c:pt>
                <c:pt idx="213">
                  <c:v>0.0528671653</c:v>
                </c:pt>
                <c:pt idx="214">
                  <c:v>0.0476256298</c:v>
                </c:pt>
                <c:pt idx="215">
                  <c:v>0.0413031499</c:v>
                </c:pt>
                <c:pt idx="216">
                  <c:v>0.0340697152</c:v>
                </c:pt>
                <c:pt idx="217">
                  <c:v>0.0261146514</c:v>
                </c:pt>
                <c:pt idx="218">
                  <c:v>0.0176418018</c:v>
                </c:pt>
                <c:pt idx="219">
                  <c:v>0.0088644348</c:v>
                </c:pt>
                <c:pt idx="220">
                  <c:v>0</c:v>
                </c:pt>
                <c:pt idx="221">
                  <c:v>0.0087351395</c:v>
                </c:pt>
                <c:pt idx="222">
                  <c:v>0.0171308742</c:v>
                </c:pt>
                <c:pt idx="223">
                  <c:v>0.0249882948</c:v>
                </c:pt>
                <c:pt idx="224">
                  <c:v>0.032124302</c:v>
                </c:pt>
                <c:pt idx="225">
                  <c:v>0.0383757773</c:v>
                </c:pt>
                <c:pt idx="226">
                  <c:v>0.0436032196</c:v>
                </c:pt>
                <c:pt idx="227">
                  <c:v>0.0476937704</c:v>
                </c:pt>
                <c:pt idx="228">
                  <c:v>0.0505635621</c:v>
                </c:pt>
                <c:pt idx="229">
                  <c:v>0.0521593435</c:v>
                </c:pt>
                <c:pt idx="230">
                  <c:v>0.0524593528</c:v>
                </c:pt>
                <c:pt idx="231">
                  <c:v>0.0514734272</c:v>
                </c:pt>
                <c:pt idx="232">
                  <c:v>0.0492423553</c:v>
                </c:pt>
                <c:pt idx="233">
                  <c:v>0.0458364989</c:v>
                </c:pt>
                <c:pt idx="234">
                  <c:v>0.0413537234</c:v>
                </c:pt>
                <c:pt idx="235">
                  <c:v>0.0359166975</c:v>
                </c:pt>
                <c:pt idx="236">
                  <c:v>0.0296696312</c:v>
                </c:pt>
                <c:pt idx="237">
                  <c:v>0.0227745392</c:v>
                </c:pt>
                <c:pt idx="238">
                  <c:v>0.0154071225</c:v>
                </c:pt>
                <c:pt idx="239">
                  <c:v>0.0077523718</c:v>
                </c:pt>
                <c:pt idx="240">
                  <c:v>0</c:v>
                </c:pt>
                <c:pt idx="241">
                  <c:v>0.0076601837</c:v>
                </c:pt>
                <c:pt idx="242">
                  <c:v>0.0150428491</c:v>
                </c:pt>
                <c:pt idx="243">
                  <c:v>0.0219715596</c:v>
                </c:pt>
                <c:pt idx="244">
                  <c:v>0.028282923</c:v>
                </c:pt>
                <c:pt idx="245">
                  <c:v>0.0338303822</c:v>
                </c:pt>
                <c:pt idx="246">
                  <c:v>0.0384875594</c:v>
                </c:pt>
                <c:pt idx="247">
                  <c:v>0.0421510783</c:v>
                </c:pt>
                <c:pt idx="248">
                  <c:v>0.0447428032</c:v>
                </c:pt>
                <c:pt idx="249">
                  <c:v>0.0462114471</c:v>
                </c:pt>
                <c:pt idx="250">
                  <c:v>0.0465335169</c:v>
                </c:pt>
                <c:pt idx="251">
                  <c:v>0.045713581</c:v>
                </c:pt>
                <c:pt idx="252">
                  <c:v>0.043783859</c:v>
                </c:pt>
                <c:pt idx="253">
                  <c:v>0.0408031509</c:v>
                </c:pt>
                <c:pt idx="254">
                  <c:v>0.0368551379</c:v>
                </c:pt>
                <c:pt idx="255">
                  <c:v>0.0320461024</c:v>
                </c:pt>
                <c:pt idx="256">
                  <c:v>0.0265021268</c:v>
                </c:pt>
              </c:numCache>
            </c:numRef>
          </c:yVal>
        </c:ser>
        <c:ser>
          <c:idx val="1"/>
          <c:order val="1"/>
          <c:tx>
            <c:v>DFT bins</c:v>
          </c:tx>
          <c:spPr>
            <a:solidFill xmlns:a="http://schemas.openxmlformats.org/drawingml/2006/main">
              <a:srgbClr val="D26C26"/>
            </a:solidFill>
            <a:ln xmlns:a="http://schemas.openxmlformats.org/drawingml/2006/main" w="0">
              <a:noFill/>
            </a:ln>
          </c:spPr>
          <c:marker>
            <c:symbol val="circle"/>
            <c:size val="7"/>
            <c:spPr>
              <a:noFill xmlns:a="http://schemas.openxmlformats.org/drawingml/2006/main"/>
            </c:spPr>
          </c:marker>
          <c:xVal>
            <c:numRef>
              <c:f>'Chart Data'!$C$2:$C$14</c:f>
              <c:numCache>
                <c:formatCode>General</c:formatCode>
                <c:ptCount val="13"/>
                <c:pt idx="0">
                  <c:v>0</c:v>
                </c:pt>
                <c:pt idx="1">
                  <c:v>0.03125</c:v>
                </c:pt>
                <c:pt idx="2">
                  <c:v>0.0625</c:v>
                </c:pt>
                <c:pt idx="3">
                  <c:v>0.09375</c:v>
                </c:pt>
                <c:pt idx="4">
                  <c:v>0.125</c:v>
                </c:pt>
                <c:pt idx="5">
                  <c:v>0.15625</c:v>
                </c:pt>
                <c:pt idx="6">
                  <c:v>0.1875</c:v>
                </c:pt>
                <c:pt idx="7">
                  <c:v>0.21875</c:v>
                </c:pt>
                <c:pt idx="8">
                  <c:v>0.25</c:v>
                </c:pt>
                <c:pt idx="9">
                  <c:v>0.28125</c:v>
                </c:pt>
                <c:pt idx="10">
                  <c:v>0.3125</c:v>
                </c:pt>
                <c:pt idx="11">
                  <c:v>0.34375</c:v>
                </c:pt>
                <c:pt idx="12">
                  <c:v>0.375</c:v>
                </c:pt>
              </c:numCache>
            </c:numRef>
          </c:xVal>
          <c:yVal>
            <c:numRef>
              <c:f>'Chart Data'!$D$2:$D$14</c:f>
              <c:numCache>
                <c:formatCode>0.00</c:formatCode>
                <c:ptCount val="13"/>
                <c:pt idx="0">
                  <c:v>0</c:v>
                </c:pt>
                <c:pt idx="1">
                  <c:v>0</c:v>
                </c:pt>
                <c:pt idx="2">
                  <c:v>0</c:v>
                </c:pt>
                <c:pt idx="3">
                  <c:v>0</c:v>
                </c:pt>
                <c:pt idx="4">
                  <c:v>0</c:v>
                </c:pt>
                <c:pt idx="5">
                  <c:v>1</c:v>
                </c:pt>
                <c:pt idx="6">
                  <c:v>0</c:v>
                </c:pt>
                <c:pt idx="7">
                  <c:v>0</c:v>
                </c:pt>
                <c:pt idx="8">
                  <c:v>0</c:v>
                </c:pt>
                <c:pt idx="9">
                  <c:v>0</c:v>
                </c:pt>
                <c:pt idx="10">
                  <c:v>0</c:v>
                </c:pt>
                <c:pt idx="11">
                  <c:v>0</c:v>
                </c:pt>
                <c:pt idx="12">
                  <c:v>0</c:v>
                </c:pt>
              </c:numCache>
            </c:numRef>
          </c:y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FE7ED"/>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Magnitude / 32</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50112"/>
        <c:majorUnit val="0.25"/>
      </c:valAx>
      <c:valAx>
        <c:axId val="48650112"/>
        <c:scaling>
          <c:orientation val="minMax"/>
          <c:max val="0.4"/>
          <c:min val="0"/>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Normalized frequency ω/(2π)</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72768"/>
        <c:majorUnit val="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52B3C"/>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DTFT</c:v>
          </c:tx>
          <c:spPr>
            <a:solidFill xmlns:a="http://schemas.openxmlformats.org/drawingml/2006/main">
              <a:srgbClr val="176FA8"/>
            </a:solidFill>
            <a:ln xmlns:a="http://schemas.openxmlformats.org/drawingml/2006/main" w="23813">
              <a:solidFill>
                <a:srgbClr val="176FA8"/>
              </a:solidFill>
            </a:ln>
          </c:spPr>
          <c:marker>
            <c:symbol val="none"/>
            <c:size val="2"/>
          </c:marker>
          <c:xVal>
            <c:numRef>
              <c:f>'Chart Data'!$A$2:$A$258</c:f>
              <c:numCache>
                <c:formatCode>General</c:formatCode>
                <c:ptCount val="257"/>
                <c:pt idx="0">
                  <c:v>0</c:v>
                </c:pt>
                <c:pt idx="1">
                  <c:v>0.0015625</c:v>
                </c:pt>
                <c:pt idx="2">
                  <c:v>0.003125</c:v>
                </c:pt>
                <c:pt idx="3">
                  <c:v>0.0046875</c:v>
                </c:pt>
                <c:pt idx="4">
                  <c:v>0.00625</c:v>
                </c:pt>
                <c:pt idx="5">
                  <c:v>0.0078125</c:v>
                </c:pt>
                <c:pt idx="6">
                  <c:v>0.009375</c:v>
                </c:pt>
                <c:pt idx="7">
                  <c:v>0.0109375</c:v>
                </c:pt>
                <c:pt idx="8">
                  <c:v>0.0125</c:v>
                </c:pt>
                <c:pt idx="9">
                  <c:v>0.0140625</c:v>
                </c:pt>
                <c:pt idx="10">
                  <c:v>0.015625</c:v>
                </c:pt>
                <c:pt idx="11">
                  <c:v>0.0171875</c:v>
                </c:pt>
                <c:pt idx="12">
                  <c:v>0.01875</c:v>
                </c:pt>
                <c:pt idx="13">
                  <c:v>0.0203125</c:v>
                </c:pt>
                <c:pt idx="14">
                  <c:v>0.021875</c:v>
                </c:pt>
                <c:pt idx="15">
                  <c:v>0.0234375</c:v>
                </c:pt>
                <c:pt idx="16">
                  <c:v>0.025</c:v>
                </c:pt>
                <c:pt idx="17">
                  <c:v>0.0265625</c:v>
                </c:pt>
                <c:pt idx="18">
                  <c:v>0.028125</c:v>
                </c:pt>
                <c:pt idx="19">
                  <c:v>0.0296875</c:v>
                </c:pt>
                <c:pt idx="20">
                  <c:v>0.03125</c:v>
                </c:pt>
                <c:pt idx="21">
                  <c:v>0.0328125</c:v>
                </c:pt>
                <c:pt idx="22">
                  <c:v>0.034375</c:v>
                </c:pt>
                <c:pt idx="23">
                  <c:v>0.0359375</c:v>
                </c:pt>
                <c:pt idx="24">
                  <c:v>0.0375</c:v>
                </c:pt>
                <c:pt idx="25">
                  <c:v>0.0390625</c:v>
                </c:pt>
                <c:pt idx="26">
                  <c:v>0.040625</c:v>
                </c:pt>
                <c:pt idx="27">
                  <c:v>0.0421875</c:v>
                </c:pt>
                <c:pt idx="28">
                  <c:v>0.04375</c:v>
                </c:pt>
                <c:pt idx="29">
                  <c:v>0.0453125</c:v>
                </c:pt>
                <c:pt idx="30">
                  <c:v>0.046875</c:v>
                </c:pt>
                <c:pt idx="31">
                  <c:v>0.0484375</c:v>
                </c:pt>
                <c:pt idx="32">
                  <c:v>0.05</c:v>
                </c:pt>
                <c:pt idx="33">
                  <c:v>0.0515625</c:v>
                </c:pt>
                <c:pt idx="34">
                  <c:v>0.053125</c:v>
                </c:pt>
                <c:pt idx="35">
                  <c:v>0.0546875</c:v>
                </c:pt>
                <c:pt idx="36">
                  <c:v>0.05625</c:v>
                </c:pt>
                <c:pt idx="37">
                  <c:v>0.0578125</c:v>
                </c:pt>
                <c:pt idx="38">
                  <c:v>0.059375</c:v>
                </c:pt>
                <c:pt idx="39">
                  <c:v>0.0609375</c:v>
                </c:pt>
                <c:pt idx="40">
                  <c:v>0.0625</c:v>
                </c:pt>
                <c:pt idx="41">
                  <c:v>0.0640625</c:v>
                </c:pt>
                <c:pt idx="42">
                  <c:v>0.065625</c:v>
                </c:pt>
                <c:pt idx="43">
                  <c:v>0.0671875</c:v>
                </c:pt>
                <c:pt idx="44">
                  <c:v>0.06875</c:v>
                </c:pt>
                <c:pt idx="45">
                  <c:v>0.0703125</c:v>
                </c:pt>
                <c:pt idx="46">
                  <c:v>0.071875</c:v>
                </c:pt>
                <c:pt idx="47">
                  <c:v>0.0734375</c:v>
                </c:pt>
                <c:pt idx="48">
                  <c:v>0.075</c:v>
                </c:pt>
                <c:pt idx="49">
                  <c:v>0.0765625</c:v>
                </c:pt>
                <c:pt idx="50">
                  <c:v>0.078125</c:v>
                </c:pt>
                <c:pt idx="51">
                  <c:v>0.0796875</c:v>
                </c:pt>
                <c:pt idx="52">
                  <c:v>0.08125</c:v>
                </c:pt>
                <c:pt idx="53">
                  <c:v>0.0828125</c:v>
                </c:pt>
                <c:pt idx="54">
                  <c:v>0.084375</c:v>
                </c:pt>
                <c:pt idx="55">
                  <c:v>0.0859375</c:v>
                </c:pt>
                <c:pt idx="56">
                  <c:v>0.0875</c:v>
                </c:pt>
                <c:pt idx="57">
                  <c:v>0.0890625</c:v>
                </c:pt>
                <c:pt idx="58">
                  <c:v>0.090625</c:v>
                </c:pt>
                <c:pt idx="59">
                  <c:v>0.0921875</c:v>
                </c:pt>
                <c:pt idx="60">
                  <c:v>0.09375</c:v>
                </c:pt>
                <c:pt idx="61">
                  <c:v>0.0953125</c:v>
                </c:pt>
                <c:pt idx="62">
                  <c:v>0.096875</c:v>
                </c:pt>
                <c:pt idx="63">
                  <c:v>0.0984375</c:v>
                </c:pt>
                <c:pt idx="64">
                  <c:v>0.1</c:v>
                </c:pt>
                <c:pt idx="65">
                  <c:v>0.1015625</c:v>
                </c:pt>
                <c:pt idx="66">
                  <c:v>0.103125</c:v>
                </c:pt>
                <c:pt idx="67">
                  <c:v>0.1046875</c:v>
                </c:pt>
                <c:pt idx="68">
                  <c:v>0.10625</c:v>
                </c:pt>
                <c:pt idx="69">
                  <c:v>0.1078125</c:v>
                </c:pt>
                <c:pt idx="70">
                  <c:v>0.109375</c:v>
                </c:pt>
                <c:pt idx="71">
                  <c:v>0.1109375</c:v>
                </c:pt>
                <c:pt idx="72">
                  <c:v>0.1125</c:v>
                </c:pt>
                <c:pt idx="73">
                  <c:v>0.1140625</c:v>
                </c:pt>
                <c:pt idx="74">
                  <c:v>0.115625</c:v>
                </c:pt>
                <c:pt idx="75">
                  <c:v>0.1171875</c:v>
                </c:pt>
                <c:pt idx="76">
                  <c:v>0.11875</c:v>
                </c:pt>
                <c:pt idx="77">
                  <c:v>0.1203125</c:v>
                </c:pt>
                <c:pt idx="78">
                  <c:v>0.121875</c:v>
                </c:pt>
                <c:pt idx="79">
                  <c:v>0.1234375</c:v>
                </c:pt>
                <c:pt idx="80">
                  <c:v>0.125</c:v>
                </c:pt>
                <c:pt idx="81">
                  <c:v>0.1265625</c:v>
                </c:pt>
                <c:pt idx="82">
                  <c:v>0.128125</c:v>
                </c:pt>
                <c:pt idx="83">
                  <c:v>0.1296875</c:v>
                </c:pt>
                <c:pt idx="84">
                  <c:v>0.13125</c:v>
                </c:pt>
                <c:pt idx="85">
                  <c:v>0.1328125</c:v>
                </c:pt>
                <c:pt idx="86">
                  <c:v>0.134375</c:v>
                </c:pt>
                <c:pt idx="87">
                  <c:v>0.1359375</c:v>
                </c:pt>
                <c:pt idx="88">
                  <c:v>0.1375</c:v>
                </c:pt>
                <c:pt idx="89">
                  <c:v>0.1390625</c:v>
                </c:pt>
                <c:pt idx="90">
                  <c:v>0.140625</c:v>
                </c:pt>
                <c:pt idx="91">
                  <c:v>0.1421875</c:v>
                </c:pt>
                <c:pt idx="92">
                  <c:v>0.14375</c:v>
                </c:pt>
                <c:pt idx="93">
                  <c:v>0.1453125</c:v>
                </c:pt>
                <c:pt idx="94">
                  <c:v>0.146875</c:v>
                </c:pt>
                <c:pt idx="95">
                  <c:v>0.1484375</c:v>
                </c:pt>
                <c:pt idx="96">
                  <c:v>0.15</c:v>
                </c:pt>
                <c:pt idx="97">
                  <c:v>0.1515625</c:v>
                </c:pt>
                <c:pt idx="98">
                  <c:v>0.153125</c:v>
                </c:pt>
                <c:pt idx="99">
                  <c:v>0.1546875</c:v>
                </c:pt>
                <c:pt idx="100">
                  <c:v>0.15625</c:v>
                </c:pt>
                <c:pt idx="101">
                  <c:v>0.1578125</c:v>
                </c:pt>
                <c:pt idx="102">
                  <c:v>0.159375</c:v>
                </c:pt>
                <c:pt idx="103">
                  <c:v>0.1609375</c:v>
                </c:pt>
                <c:pt idx="104">
                  <c:v>0.1625</c:v>
                </c:pt>
                <c:pt idx="105">
                  <c:v>0.1640625</c:v>
                </c:pt>
                <c:pt idx="106">
                  <c:v>0.165625</c:v>
                </c:pt>
                <c:pt idx="107">
                  <c:v>0.1671875</c:v>
                </c:pt>
                <c:pt idx="108">
                  <c:v>0.16875</c:v>
                </c:pt>
                <c:pt idx="109">
                  <c:v>0.1703125</c:v>
                </c:pt>
                <c:pt idx="110">
                  <c:v>0.171875</c:v>
                </c:pt>
                <c:pt idx="111">
                  <c:v>0.1734375</c:v>
                </c:pt>
                <c:pt idx="112">
                  <c:v>0.175</c:v>
                </c:pt>
                <c:pt idx="113">
                  <c:v>0.1765625</c:v>
                </c:pt>
                <c:pt idx="114">
                  <c:v>0.178125</c:v>
                </c:pt>
                <c:pt idx="115">
                  <c:v>0.1796875</c:v>
                </c:pt>
                <c:pt idx="116">
                  <c:v>0.18125</c:v>
                </c:pt>
                <c:pt idx="117">
                  <c:v>0.1828125</c:v>
                </c:pt>
                <c:pt idx="118">
                  <c:v>0.184375</c:v>
                </c:pt>
                <c:pt idx="119">
                  <c:v>0.1859375</c:v>
                </c:pt>
                <c:pt idx="120">
                  <c:v>0.1875</c:v>
                </c:pt>
                <c:pt idx="121">
                  <c:v>0.1890625</c:v>
                </c:pt>
                <c:pt idx="122">
                  <c:v>0.190625</c:v>
                </c:pt>
                <c:pt idx="123">
                  <c:v>0.1921875</c:v>
                </c:pt>
                <c:pt idx="124">
                  <c:v>0.19375</c:v>
                </c:pt>
                <c:pt idx="125">
                  <c:v>0.1953125</c:v>
                </c:pt>
                <c:pt idx="126">
                  <c:v>0.196875</c:v>
                </c:pt>
                <c:pt idx="127">
                  <c:v>0.1984375</c:v>
                </c:pt>
                <c:pt idx="128">
                  <c:v>0.2</c:v>
                </c:pt>
                <c:pt idx="129">
                  <c:v>0.2015625</c:v>
                </c:pt>
                <c:pt idx="130">
                  <c:v>0.203125</c:v>
                </c:pt>
                <c:pt idx="131">
                  <c:v>0.2046875</c:v>
                </c:pt>
                <c:pt idx="132">
                  <c:v>0.20625</c:v>
                </c:pt>
                <c:pt idx="133">
                  <c:v>0.2078125</c:v>
                </c:pt>
                <c:pt idx="134">
                  <c:v>0.209375</c:v>
                </c:pt>
                <c:pt idx="135">
                  <c:v>0.2109375</c:v>
                </c:pt>
                <c:pt idx="136">
                  <c:v>0.2125</c:v>
                </c:pt>
                <c:pt idx="137">
                  <c:v>0.2140625</c:v>
                </c:pt>
                <c:pt idx="138">
                  <c:v>0.215625</c:v>
                </c:pt>
                <c:pt idx="139">
                  <c:v>0.2171875</c:v>
                </c:pt>
                <c:pt idx="140">
                  <c:v>0.21875</c:v>
                </c:pt>
                <c:pt idx="141">
                  <c:v>0.2203125</c:v>
                </c:pt>
                <c:pt idx="142">
                  <c:v>0.221875</c:v>
                </c:pt>
                <c:pt idx="143">
                  <c:v>0.2234375</c:v>
                </c:pt>
                <c:pt idx="144">
                  <c:v>0.225</c:v>
                </c:pt>
                <c:pt idx="145">
                  <c:v>0.2265625</c:v>
                </c:pt>
                <c:pt idx="146">
                  <c:v>0.228125</c:v>
                </c:pt>
                <c:pt idx="147">
                  <c:v>0.2296875</c:v>
                </c:pt>
                <c:pt idx="148">
                  <c:v>0.23125</c:v>
                </c:pt>
                <c:pt idx="149">
                  <c:v>0.2328125</c:v>
                </c:pt>
                <c:pt idx="150">
                  <c:v>0.234375</c:v>
                </c:pt>
                <c:pt idx="151">
                  <c:v>0.2359375</c:v>
                </c:pt>
                <c:pt idx="152">
                  <c:v>0.2375</c:v>
                </c:pt>
                <c:pt idx="153">
                  <c:v>0.2390625</c:v>
                </c:pt>
                <c:pt idx="154">
                  <c:v>0.240625</c:v>
                </c:pt>
                <c:pt idx="155">
                  <c:v>0.2421875</c:v>
                </c:pt>
                <c:pt idx="156">
                  <c:v>0.24375</c:v>
                </c:pt>
                <c:pt idx="157">
                  <c:v>0.2453125</c:v>
                </c:pt>
                <c:pt idx="158">
                  <c:v>0.246875</c:v>
                </c:pt>
                <c:pt idx="159">
                  <c:v>0.2484375</c:v>
                </c:pt>
                <c:pt idx="160">
                  <c:v>0.25</c:v>
                </c:pt>
                <c:pt idx="161">
                  <c:v>0.2515625</c:v>
                </c:pt>
                <c:pt idx="162">
                  <c:v>0.253125</c:v>
                </c:pt>
                <c:pt idx="163">
                  <c:v>0.2546875</c:v>
                </c:pt>
                <c:pt idx="164">
                  <c:v>0.25625</c:v>
                </c:pt>
                <c:pt idx="165">
                  <c:v>0.2578125</c:v>
                </c:pt>
                <c:pt idx="166">
                  <c:v>0.259375</c:v>
                </c:pt>
                <c:pt idx="167">
                  <c:v>0.2609375</c:v>
                </c:pt>
                <c:pt idx="168">
                  <c:v>0.2625</c:v>
                </c:pt>
                <c:pt idx="169">
                  <c:v>0.2640625</c:v>
                </c:pt>
                <c:pt idx="170">
                  <c:v>0.265625</c:v>
                </c:pt>
                <c:pt idx="171">
                  <c:v>0.2671875</c:v>
                </c:pt>
                <c:pt idx="172">
                  <c:v>0.26875</c:v>
                </c:pt>
                <c:pt idx="173">
                  <c:v>0.2703125</c:v>
                </c:pt>
                <c:pt idx="174">
                  <c:v>0.271875</c:v>
                </c:pt>
                <c:pt idx="175">
                  <c:v>0.2734375</c:v>
                </c:pt>
                <c:pt idx="176">
                  <c:v>0.275</c:v>
                </c:pt>
                <c:pt idx="177">
                  <c:v>0.2765625</c:v>
                </c:pt>
                <c:pt idx="178">
                  <c:v>0.278125</c:v>
                </c:pt>
                <c:pt idx="179">
                  <c:v>0.2796875</c:v>
                </c:pt>
                <c:pt idx="180">
                  <c:v>0.28125</c:v>
                </c:pt>
                <c:pt idx="181">
                  <c:v>0.2828125</c:v>
                </c:pt>
                <c:pt idx="182">
                  <c:v>0.284375</c:v>
                </c:pt>
                <c:pt idx="183">
                  <c:v>0.2859375</c:v>
                </c:pt>
                <c:pt idx="184">
                  <c:v>0.2875</c:v>
                </c:pt>
                <c:pt idx="185">
                  <c:v>0.2890625</c:v>
                </c:pt>
                <c:pt idx="186">
                  <c:v>0.290625</c:v>
                </c:pt>
                <c:pt idx="187">
                  <c:v>0.2921875</c:v>
                </c:pt>
                <c:pt idx="188">
                  <c:v>0.29375</c:v>
                </c:pt>
                <c:pt idx="189">
                  <c:v>0.2953125</c:v>
                </c:pt>
                <c:pt idx="190">
                  <c:v>0.296875</c:v>
                </c:pt>
                <c:pt idx="191">
                  <c:v>0.2984375</c:v>
                </c:pt>
                <c:pt idx="192">
                  <c:v>0.3</c:v>
                </c:pt>
                <c:pt idx="193">
                  <c:v>0.3015625</c:v>
                </c:pt>
                <c:pt idx="194">
                  <c:v>0.303125</c:v>
                </c:pt>
                <c:pt idx="195">
                  <c:v>0.3046875</c:v>
                </c:pt>
                <c:pt idx="196">
                  <c:v>0.30625</c:v>
                </c:pt>
                <c:pt idx="197">
                  <c:v>0.3078125</c:v>
                </c:pt>
                <c:pt idx="198">
                  <c:v>0.309375</c:v>
                </c:pt>
                <c:pt idx="199">
                  <c:v>0.3109375</c:v>
                </c:pt>
                <c:pt idx="200">
                  <c:v>0.3125</c:v>
                </c:pt>
                <c:pt idx="201">
                  <c:v>0.3140625</c:v>
                </c:pt>
                <c:pt idx="202">
                  <c:v>0.315625</c:v>
                </c:pt>
                <c:pt idx="203">
                  <c:v>0.3171875</c:v>
                </c:pt>
                <c:pt idx="204">
                  <c:v>0.31875</c:v>
                </c:pt>
                <c:pt idx="205">
                  <c:v>0.3203125</c:v>
                </c:pt>
                <c:pt idx="206">
                  <c:v>0.321875</c:v>
                </c:pt>
                <c:pt idx="207">
                  <c:v>0.3234375</c:v>
                </c:pt>
                <c:pt idx="208">
                  <c:v>0.325</c:v>
                </c:pt>
                <c:pt idx="209">
                  <c:v>0.3265625</c:v>
                </c:pt>
                <c:pt idx="210">
                  <c:v>0.328125</c:v>
                </c:pt>
                <c:pt idx="211">
                  <c:v>0.3296875</c:v>
                </c:pt>
                <c:pt idx="212">
                  <c:v>0.33125</c:v>
                </c:pt>
                <c:pt idx="213">
                  <c:v>0.3328125</c:v>
                </c:pt>
                <c:pt idx="214">
                  <c:v>0.334375</c:v>
                </c:pt>
                <c:pt idx="215">
                  <c:v>0.3359375</c:v>
                </c:pt>
                <c:pt idx="216">
                  <c:v>0.3375</c:v>
                </c:pt>
                <c:pt idx="217">
                  <c:v>0.3390625</c:v>
                </c:pt>
                <c:pt idx="218">
                  <c:v>0.340625</c:v>
                </c:pt>
                <c:pt idx="219">
                  <c:v>0.3421875</c:v>
                </c:pt>
                <c:pt idx="220">
                  <c:v>0.34375</c:v>
                </c:pt>
                <c:pt idx="221">
                  <c:v>0.3453125</c:v>
                </c:pt>
                <c:pt idx="222">
                  <c:v>0.346875</c:v>
                </c:pt>
                <c:pt idx="223">
                  <c:v>0.3484375</c:v>
                </c:pt>
                <c:pt idx="224">
                  <c:v>0.35</c:v>
                </c:pt>
                <c:pt idx="225">
                  <c:v>0.3515625</c:v>
                </c:pt>
                <c:pt idx="226">
                  <c:v>0.353125</c:v>
                </c:pt>
                <c:pt idx="227">
                  <c:v>0.3546875</c:v>
                </c:pt>
                <c:pt idx="228">
                  <c:v>0.35625</c:v>
                </c:pt>
                <c:pt idx="229">
                  <c:v>0.3578125</c:v>
                </c:pt>
                <c:pt idx="230">
                  <c:v>0.359375</c:v>
                </c:pt>
                <c:pt idx="231">
                  <c:v>0.3609375</c:v>
                </c:pt>
                <c:pt idx="232">
                  <c:v>0.3625</c:v>
                </c:pt>
                <c:pt idx="233">
                  <c:v>0.3640625</c:v>
                </c:pt>
                <c:pt idx="234">
                  <c:v>0.365625</c:v>
                </c:pt>
                <c:pt idx="235">
                  <c:v>0.3671875</c:v>
                </c:pt>
                <c:pt idx="236">
                  <c:v>0.36875</c:v>
                </c:pt>
                <c:pt idx="237">
                  <c:v>0.3703125</c:v>
                </c:pt>
                <c:pt idx="238">
                  <c:v>0.371875</c:v>
                </c:pt>
                <c:pt idx="239">
                  <c:v>0.3734375</c:v>
                </c:pt>
                <c:pt idx="240">
                  <c:v>0.375</c:v>
                </c:pt>
                <c:pt idx="241">
                  <c:v>0.3765625</c:v>
                </c:pt>
                <c:pt idx="242">
                  <c:v>0.378125</c:v>
                </c:pt>
                <c:pt idx="243">
                  <c:v>0.3796875</c:v>
                </c:pt>
                <c:pt idx="244">
                  <c:v>0.38125</c:v>
                </c:pt>
                <c:pt idx="245">
                  <c:v>0.3828125</c:v>
                </c:pt>
                <c:pt idx="246">
                  <c:v>0.384375</c:v>
                </c:pt>
                <c:pt idx="247">
                  <c:v>0.3859375</c:v>
                </c:pt>
                <c:pt idx="248">
                  <c:v>0.3875</c:v>
                </c:pt>
                <c:pt idx="249">
                  <c:v>0.3890625</c:v>
                </c:pt>
                <c:pt idx="250">
                  <c:v>0.390625</c:v>
                </c:pt>
                <c:pt idx="251">
                  <c:v>0.3921875</c:v>
                </c:pt>
                <c:pt idx="252">
                  <c:v>0.39375</c:v>
                </c:pt>
                <c:pt idx="253">
                  <c:v>0.3953125</c:v>
                </c:pt>
                <c:pt idx="254">
                  <c:v>0.396875</c:v>
                </c:pt>
                <c:pt idx="255">
                  <c:v>0.3984375</c:v>
                </c:pt>
                <c:pt idx="256">
                  <c:v>0.4</c:v>
                </c:pt>
              </c:numCache>
            </c:numRef>
          </c:xVal>
          <c:yVal>
            <c:numRef>
              <c:f>'Chart Data'!$B$2:$B$258</c:f>
              <c:numCache>
                <c:formatCode>0.00</c:formatCode>
                <c:ptCount val="257"/>
                <c:pt idx="0">
                  <c:v>0.0607855149</c:v>
                </c:pt>
                <c:pt idx="1">
                  <c:v>0.060533626</c:v>
                </c:pt>
                <c:pt idx="2">
                  <c:v>0.0587759967</c:v>
                </c:pt>
                <c:pt idx="3">
                  <c:v>0.055530605</c:v>
                </c:pt>
                <c:pt idx="4">
                  <c:v>0.0508520697</c:v>
                </c:pt>
                <c:pt idx="5">
                  <c:v>0.0448309352</c:v>
                </c:pt>
                <c:pt idx="6">
                  <c:v>0.0375920807</c:v>
                </c:pt>
                <c:pt idx="7">
                  <c:v>0.0292922788</c:v>
                </c:pt>
                <c:pt idx="8">
                  <c:v>0.0201169476</c:v>
                </c:pt>
                <c:pt idx="9">
                  <c:v>0.0102761611</c:v>
                </c:pt>
                <c:pt idx="10">
                  <c:v>0</c:v>
                </c:pt>
                <c:pt idx="11">
                  <c:v>0.0104666565</c:v>
                </c:pt>
                <c:pt idx="12">
                  <c:v>0.0208697836</c:v>
                </c:pt>
                <c:pt idx="13">
                  <c:v>0.0309521826</c:v>
                </c:pt>
                <c:pt idx="14">
                  <c:v>0.0404596333</c:v>
                </c:pt>
                <c:pt idx="15">
                  <c:v>0.0491470865</c:v>
                </c:pt>
                <c:pt idx="16">
                  <c:v>0.0567847486</c:v>
                </c:pt>
                <c:pt idx="17">
                  <c:v>0.0631639135</c:v>
                </c:pt>
                <c:pt idx="18">
                  <c:v>0.0681023988</c:v>
                </c:pt>
                <c:pt idx="19">
                  <c:v>0.0714494512</c:v>
                </c:pt>
                <c:pt idx="20">
                  <c:v>0.0730899958</c:v>
                </c:pt>
                <c:pt idx="21">
                  <c:v>0.0729481159</c:v>
                </c:pt>
                <c:pt idx="22">
                  <c:v>0.0709896689</c:v>
                </c:pt>
                <c:pt idx="23">
                  <c:v>0.0672239595</c:v>
                </c:pt>
                <c:pt idx="24">
                  <c:v>0.0617044137</c:v>
                </c:pt>
                <c:pt idx="25">
                  <c:v>0.0545282185</c:v>
                </c:pt>
                <c:pt idx="26">
                  <c:v>0.0458349161</c:v>
                </c:pt>
                <c:pt idx="27">
                  <c:v>0.0358039657</c:v>
                </c:pt>
                <c:pt idx="28">
                  <c:v>0.0246513097</c:v>
                </c:pt>
                <c:pt idx="29">
                  <c:v>0.0126250044</c:v>
                </c:pt>
                <c:pt idx="30">
                  <c:v>0</c:v>
                </c:pt>
                <c:pt idx="31">
                  <c:v>0.0129278269</c:v>
                </c:pt>
                <c:pt idx="32">
                  <c:v>0.0258482631</c:v>
                </c:pt>
                <c:pt idx="33">
                  <c:v>0.0384438313</c:v>
                </c:pt>
                <c:pt idx="34">
                  <c:v>0.0503971903</c:v>
                </c:pt>
                <c:pt idx="35">
                  <c:v>0.0613986987</c:v>
                </c:pt>
                <c:pt idx="36">
                  <c:v>0.0711539696</c:v>
                </c:pt>
                <c:pt idx="37">
                  <c:v>0.0793912421</c:v>
                </c:pt>
                <c:pt idx="38">
                  <c:v>0.0858683949</c:v>
                </c:pt>
                <c:pt idx="39">
                  <c:v>0.0903794334</c:v>
                </c:pt>
                <c:pt idx="40">
                  <c:v>0.0927602885</c:v>
                </c:pt>
                <c:pt idx="41">
                  <c:v>0.0928937797</c:v>
                </c:pt>
                <c:pt idx="42">
                  <c:v>0.0907136094</c:v>
                </c:pt>
                <c:pt idx="43">
                  <c:v>0.0862072755</c:v>
                </c:pt>
                <c:pt idx="44">
                  <c:v>0.0794178118</c:v>
                </c:pt>
                <c:pt idx="45">
                  <c:v>0.0704442882</c:v>
                </c:pt>
                <c:pt idx="46">
                  <c:v>0.0594410323</c:v>
                </c:pt>
                <c:pt idx="47">
                  <c:v>0.0466155591</c:v>
                </c:pt>
                <c:pt idx="48">
                  <c:v>0.0322252253</c:v>
                </c:pt>
                <c:pt idx="49">
                  <c:v>0.0165726537</c:v>
                </c:pt>
                <c:pt idx="50">
                  <c:v>0</c:v>
                </c:pt>
                <c:pt idx="51">
                  <c:v>0.0171178356</c:v>
                </c:pt>
                <c:pt idx="52">
                  <c:v>0.0343809285</c:v>
                </c:pt>
                <c:pt idx="53">
                  <c:v>0.0513728304</c:v>
                </c:pt>
                <c:pt idx="54">
                  <c:v>0.0676696828</c:v>
                </c:pt>
                <c:pt idx="55">
                  <c:v>0.0828497561</c:v>
                </c:pt>
                <c:pt idx="56">
                  <c:v>0.0965032158</c:v>
                </c:pt>
                <c:pt idx="57">
                  <c:v>0.1082419063</c:v>
                </c:pt>
                <c:pt idx="58">
                  <c:v>0.117708941</c:v>
                </c:pt>
                <c:pt idx="59">
                  <c:v>0.1245878836</c:v>
                </c:pt>
                <c:pt idx="60">
                  <c:v>0.1286113131</c:v>
                </c:pt>
                <c:pt idx="61">
                  <c:v>0.1295685724</c:v>
                </c:pt>
                <c:pt idx="62">
                  <c:v>0.1273125139</c:v>
                </c:pt>
                <c:pt idx="63">
                  <c:v>0.1217650743</c:v>
                </c:pt>
                <c:pt idx="64">
                  <c:v>0.1129215307</c:v>
                </c:pt>
                <c:pt idx="65">
                  <c:v>0.1008533174</c:v>
                </c:pt>
                <c:pt idx="66">
                  <c:v>0.0857093077</c:v>
                </c:pt>
                <c:pt idx="67">
                  <c:v>0.0677154996</c:v>
                </c:pt>
                <c:pt idx="68">
                  <c:v>0.0471730732</c:v>
                </c:pt>
                <c:pt idx="69">
                  <c:v>0.0244548227</c:v>
                </c:pt>
                <c:pt idx="70">
                  <c:v>0</c:v>
                </c:pt>
                <c:pt idx="71">
                  <c:v>0.0256923595</c:v>
                </c:pt>
                <c:pt idx="72">
                  <c:v>0.0520715262</c:v>
                </c:pt>
                <c:pt idx="73">
                  <c:v>0.0785444451</c:v>
                </c:pt>
                <c:pt idx="74">
                  <c:v>0.104486222</c:v>
                </c:pt>
                <c:pt idx="75">
                  <c:v>0.1292515371</c:v>
                </c:pt>
                <c:pt idx="76">
                  <c:v>0.1521867744</c:v>
                </c:pt>
                <c:pt idx="77">
                  <c:v>0.1726426377</c:v>
                </c:pt>
                <c:pt idx="78">
                  <c:v>0.1899870091</c:v>
                </c:pt>
                <c:pt idx="79">
                  <c:v>0.2036177985</c:v>
                </c:pt>
                <c:pt idx="80">
                  <c:v>0.2129755262</c:v>
                </c:pt>
                <c:pt idx="81">
                  <c:v>0.2175553849</c:v>
                </c:pt>
                <c:pt idx="82">
                  <c:v>0.2169185328</c:v>
                </c:pt>
                <c:pt idx="83">
                  <c:v>0.2107023801</c:v>
                </c:pt>
                <c:pt idx="84">
                  <c:v>0.1986296494</c:v>
                </c:pt>
                <c:pt idx="85">
                  <c:v>0.180516012</c:v>
                </c:pt>
                <c:pt idx="86">
                  <c:v>0.156276126</c:v>
                </c:pt>
                <c:pt idx="87">
                  <c:v>0.1259279334</c:v>
                </c:pt>
                <c:pt idx="88">
                  <c:v>0.0895951048</c:v>
                </c:pt>
                <c:pt idx="89">
                  <c:v>0.0475075564</c:v>
                </c:pt>
                <c:pt idx="90">
                  <c:v>0</c:v>
                </c:pt>
                <c:pt idx="91">
                  <c:v>0.052491474</c:v>
                </c:pt>
                <c:pt idx="92">
                  <c:v>0.1094347423</c:v>
                </c:pt>
                <c:pt idx="93">
                  <c:v>0.1702088471</c:v>
                </c:pt>
                <c:pt idx="94">
                  <c:v>0.2341129344</c:v>
                </c:pt>
                <c:pt idx="95">
                  <c:v>0.3003767824</c:v>
                </c:pt>
                <c:pt idx="96">
                  <c:v>0.3681727407</c:v>
                </c:pt>
                <c:pt idx="97">
                  <c:v>0.4366288707</c:v>
                </c:pt>
                <c:pt idx="98">
                  <c:v>0.5048430511</c:v>
                </c:pt>
                <c:pt idx="99">
                  <c:v>0.5718977952</c:v>
                </c:pt>
                <c:pt idx="100">
                  <c:v>0.6368755077</c:v>
                </c:pt>
                <c:pt idx="101">
                  <c:v>0.6988739011</c:v>
                </c:pt>
                <c:pt idx="102">
                  <c:v>0.757021284</c:v>
                </c:pt>
                <c:pt idx="103">
                  <c:v>0.8104914384</c:v>
                </c:pt>
                <c:pt idx="104">
                  <c:v>0.8585178055</c:v>
                </c:pt>
                <c:pt idx="105">
                  <c:v>0.9004067132</c:v>
                </c:pt>
                <c:pt idx="106">
                  <c:v>0.9355493966</c:v>
                </c:pt>
                <c:pt idx="107">
                  <c:v>0.9634325835</c:v>
                </c:pt>
                <c:pt idx="108">
                  <c:v>0.9836474441</c:v>
                </c:pt>
                <c:pt idx="109">
                  <c:v>0.9958967347</c:v>
                </c:pt>
                <c:pt idx="110">
                  <c:v>1</c:v>
                </c:pt>
                <c:pt idx="111">
                  <c:v>0.9958967347</c:v>
                </c:pt>
                <c:pt idx="112">
                  <c:v>0.9836474441</c:v>
                </c:pt>
                <c:pt idx="113">
                  <c:v>0.9634325835</c:v>
                </c:pt>
                <c:pt idx="114">
                  <c:v>0.9355493966</c:v>
                </c:pt>
                <c:pt idx="115">
                  <c:v>0.9004067132</c:v>
                </c:pt>
                <c:pt idx="116">
                  <c:v>0.8585178055</c:v>
                </c:pt>
                <c:pt idx="117">
                  <c:v>0.8104914384</c:v>
                </c:pt>
                <c:pt idx="118">
                  <c:v>0.757021284</c:v>
                </c:pt>
                <c:pt idx="119">
                  <c:v>0.6988739011</c:v>
                </c:pt>
                <c:pt idx="120">
                  <c:v>0.6368755077</c:v>
                </c:pt>
                <c:pt idx="121">
                  <c:v>0.5718977952</c:v>
                </c:pt>
                <c:pt idx="122">
                  <c:v>0.5048430511</c:v>
                </c:pt>
                <c:pt idx="123">
                  <c:v>0.4366288707</c:v>
                </c:pt>
                <c:pt idx="124">
                  <c:v>0.3681727407</c:v>
                </c:pt>
                <c:pt idx="125">
                  <c:v>0.3003767824</c:v>
                </c:pt>
                <c:pt idx="126">
                  <c:v>0.2341129344</c:v>
                </c:pt>
                <c:pt idx="127">
                  <c:v>0.1702088471</c:v>
                </c:pt>
                <c:pt idx="128">
                  <c:v>0.1094347423</c:v>
                </c:pt>
                <c:pt idx="129">
                  <c:v>0.052491474</c:v>
                </c:pt>
                <c:pt idx="130">
                  <c:v>0</c:v>
                </c:pt>
                <c:pt idx="131">
                  <c:v>0.0475075564</c:v>
                </c:pt>
                <c:pt idx="132">
                  <c:v>0.0895951048</c:v>
                </c:pt>
                <c:pt idx="133">
                  <c:v>0.1259279334</c:v>
                </c:pt>
                <c:pt idx="134">
                  <c:v>0.156276126</c:v>
                </c:pt>
                <c:pt idx="135">
                  <c:v>0.180516012</c:v>
                </c:pt>
                <c:pt idx="136">
                  <c:v>0.1986296494</c:v>
                </c:pt>
                <c:pt idx="137">
                  <c:v>0.2107023801</c:v>
                </c:pt>
                <c:pt idx="138">
                  <c:v>0.2169185328</c:v>
                </c:pt>
                <c:pt idx="139">
                  <c:v>0.2175553849</c:v>
                </c:pt>
                <c:pt idx="140">
                  <c:v>0.2129755262</c:v>
                </c:pt>
                <c:pt idx="141">
                  <c:v>0.2036177985</c:v>
                </c:pt>
                <c:pt idx="142">
                  <c:v>0.1899870091</c:v>
                </c:pt>
                <c:pt idx="143">
                  <c:v>0.1726426377</c:v>
                </c:pt>
                <c:pt idx="144">
                  <c:v>0.1521867744</c:v>
                </c:pt>
                <c:pt idx="145">
                  <c:v>0.1292515371</c:v>
                </c:pt>
                <c:pt idx="146">
                  <c:v>0.104486222</c:v>
                </c:pt>
                <c:pt idx="147">
                  <c:v>0.0785444451</c:v>
                </c:pt>
                <c:pt idx="148">
                  <c:v>0.0520715262</c:v>
                </c:pt>
                <c:pt idx="149">
                  <c:v>0.0256923595</c:v>
                </c:pt>
                <c:pt idx="150">
                  <c:v>0</c:v>
                </c:pt>
                <c:pt idx="151">
                  <c:v>0.0244548227</c:v>
                </c:pt>
                <c:pt idx="152">
                  <c:v>0.0471730732</c:v>
                </c:pt>
                <c:pt idx="153">
                  <c:v>0.0677154996</c:v>
                </c:pt>
                <c:pt idx="154">
                  <c:v>0.0857093077</c:v>
                </c:pt>
                <c:pt idx="155">
                  <c:v>0.1008533174</c:v>
                </c:pt>
                <c:pt idx="156">
                  <c:v>0.1129215307</c:v>
                </c:pt>
                <c:pt idx="157">
                  <c:v>0.1217650743</c:v>
                </c:pt>
                <c:pt idx="158">
                  <c:v>0.1273125139</c:v>
                </c:pt>
                <c:pt idx="159">
                  <c:v>0.1295685724</c:v>
                </c:pt>
                <c:pt idx="160">
                  <c:v>0.1286113131</c:v>
                </c:pt>
                <c:pt idx="161">
                  <c:v>0.1245878836</c:v>
                </c:pt>
                <c:pt idx="162">
                  <c:v>0.117708941</c:v>
                </c:pt>
                <c:pt idx="163">
                  <c:v>0.1082419063</c:v>
                </c:pt>
                <c:pt idx="164">
                  <c:v>0.0965032158</c:v>
                </c:pt>
                <c:pt idx="165">
                  <c:v>0.0828497561</c:v>
                </c:pt>
                <c:pt idx="166">
                  <c:v>0.0676696828</c:v>
                </c:pt>
                <c:pt idx="167">
                  <c:v>0.0513728304</c:v>
                </c:pt>
                <c:pt idx="168">
                  <c:v>0.0343809285</c:v>
                </c:pt>
                <c:pt idx="169">
                  <c:v>0.0171178356</c:v>
                </c:pt>
                <c:pt idx="170">
                  <c:v>0</c:v>
                </c:pt>
                <c:pt idx="171">
                  <c:v>0.0165726537</c:v>
                </c:pt>
                <c:pt idx="172">
                  <c:v>0.0322252253</c:v>
                </c:pt>
                <c:pt idx="173">
                  <c:v>0.0466155591</c:v>
                </c:pt>
                <c:pt idx="174">
                  <c:v>0.0594410323</c:v>
                </c:pt>
                <c:pt idx="175">
                  <c:v>0.0704442882</c:v>
                </c:pt>
                <c:pt idx="176">
                  <c:v>0.0794178118</c:v>
                </c:pt>
                <c:pt idx="177">
                  <c:v>0.0862072755</c:v>
                </c:pt>
                <c:pt idx="178">
                  <c:v>0.0907136094</c:v>
                </c:pt>
                <c:pt idx="179">
                  <c:v>0.0928937797</c:v>
                </c:pt>
                <c:pt idx="180">
                  <c:v>0.0927602885</c:v>
                </c:pt>
                <c:pt idx="181">
                  <c:v>0.0903794334</c:v>
                </c:pt>
                <c:pt idx="182">
                  <c:v>0.0858683949</c:v>
                </c:pt>
                <c:pt idx="183">
                  <c:v>0.0793912421</c:v>
                </c:pt>
                <c:pt idx="184">
                  <c:v>0.0711539696</c:v>
                </c:pt>
                <c:pt idx="185">
                  <c:v>0.0613986987</c:v>
                </c:pt>
                <c:pt idx="186">
                  <c:v>0.0503971903</c:v>
                </c:pt>
                <c:pt idx="187">
                  <c:v>0.0384438313</c:v>
                </c:pt>
                <c:pt idx="188">
                  <c:v>0.0258482631</c:v>
                </c:pt>
                <c:pt idx="189">
                  <c:v>0.0129278269</c:v>
                </c:pt>
                <c:pt idx="190">
                  <c:v>0</c:v>
                </c:pt>
                <c:pt idx="191">
                  <c:v>0.0126250044</c:v>
                </c:pt>
                <c:pt idx="192">
                  <c:v>0.0246513097</c:v>
                </c:pt>
                <c:pt idx="193">
                  <c:v>0.0358039657</c:v>
                </c:pt>
                <c:pt idx="194">
                  <c:v>0.0458349161</c:v>
                </c:pt>
                <c:pt idx="195">
                  <c:v>0.0545282185</c:v>
                </c:pt>
                <c:pt idx="196">
                  <c:v>0.0617044137</c:v>
                </c:pt>
                <c:pt idx="197">
                  <c:v>0.0672239595</c:v>
                </c:pt>
                <c:pt idx="198">
                  <c:v>0.0709896689</c:v>
                </c:pt>
                <c:pt idx="199">
                  <c:v>0.0729481159</c:v>
                </c:pt>
                <c:pt idx="200">
                  <c:v>0.0730899958</c:v>
                </c:pt>
                <c:pt idx="201">
                  <c:v>0.0714494512</c:v>
                </c:pt>
                <c:pt idx="202">
                  <c:v>0.0681023988</c:v>
                </c:pt>
                <c:pt idx="203">
                  <c:v>0.0631639135</c:v>
                </c:pt>
                <c:pt idx="204">
                  <c:v>0.0567847486</c:v>
                </c:pt>
                <c:pt idx="205">
                  <c:v>0.0491470865</c:v>
                </c:pt>
                <c:pt idx="206">
                  <c:v>0.0404596333</c:v>
                </c:pt>
                <c:pt idx="207">
                  <c:v>0.0309521826</c:v>
                </c:pt>
                <c:pt idx="208">
                  <c:v>0.0208697836</c:v>
                </c:pt>
                <c:pt idx="209">
                  <c:v>0.0104666565</c:v>
                </c:pt>
                <c:pt idx="210">
                  <c:v>0</c:v>
                </c:pt>
                <c:pt idx="211">
                  <c:v>0.0102761611</c:v>
                </c:pt>
                <c:pt idx="212">
                  <c:v>0.0201169476</c:v>
                </c:pt>
                <c:pt idx="213">
                  <c:v>0.0292922788</c:v>
                </c:pt>
                <c:pt idx="214">
                  <c:v>0.0375920807</c:v>
                </c:pt>
                <c:pt idx="215">
                  <c:v>0.0448309352</c:v>
                </c:pt>
                <c:pt idx="216">
                  <c:v>0.0508520697</c:v>
                </c:pt>
                <c:pt idx="217">
                  <c:v>0.055530605</c:v>
                </c:pt>
                <c:pt idx="218">
                  <c:v>0.0587759967</c:v>
                </c:pt>
                <c:pt idx="219">
                  <c:v>0.060533626</c:v>
                </c:pt>
                <c:pt idx="220">
                  <c:v>0.0607855149</c:v>
                </c:pt>
                <c:pt idx="221">
                  <c:v>0.0595501636</c:v>
                </c:pt>
                <c:pt idx="222">
                  <c:v>0.0568815268</c:v>
                </c:pt>
                <c:pt idx="223">
                  <c:v>0.0528671653</c:v>
                </c:pt>
                <c:pt idx="224">
                  <c:v>0.0476256298</c:v>
                </c:pt>
                <c:pt idx="225">
                  <c:v>0.0413031499</c:v>
                </c:pt>
                <c:pt idx="226">
                  <c:v>0.0340697152</c:v>
                </c:pt>
                <c:pt idx="227">
                  <c:v>0.0261146514</c:v>
                </c:pt>
                <c:pt idx="228">
                  <c:v>0.0176418018</c:v>
                </c:pt>
                <c:pt idx="229">
                  <c:v>0.0088644348</c:v>
                </c:pt>
                <c:pt idx="230">
                  <c:v>0</c:v>
                </c:pt>
                <c:pt idx="231">
                  <c:v>0.0087351395</c:v>
                </c:pt>
                <c:pt idx="232">
                  <c:v>0.0171308742</c:v>
                </c:pt>
                <c:pt idx="233">
                  <c:v>0.0249882948</c:v>
                </c:pt>
                <c:pt idx="234">
                  <c:v>0.032124302</c:v>
                </c:pt>
                <c:pt idx="235">
                  <c:v>0.0383757773</c:v>
                </c:pt>
                <c:pt idx="236">
                  <c:v>0.0436032196</c:v>
                </c:pt>
                <c:pt idx="237">
                  <c:v>0.0476937704</c:v>
                </c:pt>
                <c:pt idx="238">
                  <c:v>0.0505635621</c:v>
                </c:pt>
                <c:pt idx="239">
                  <c:v>0.0521593435</c:v>
                </c:pt>
                <c:pt idx="240">
                  <c:v>0.0524593528</c:v>
                </c:pt>
                <c:pt idx="241">
                  <c:v>0.0514734272</c:v>
                </c:pt>
                <c:pt idx="242">
                  <c:v>0.0492423553</c:v>
                </c:pt>
                <c:pt idx="243">
                  <c:v>0.0458364989</c:v>
                </c:pt>
                <c:pt idx="244">
                  <c:v>0.0413537234</c:v>
                </c:pt>
                <c:pt idx="245">
                  <c:v>0.0359166975</c:v>
                </c:pt>
                <c:pt idx="246">
                  <c:v>0.0296696312</c:v>
                </c:pt>
                <c:pt idx="247">
                  <c:v>0.0227745392</c:v>
                </c:pt>
                <c:pt idx="248">
                  <c:v>0.0154071225</c:v>
                </c:pt>
                <c:pt idx="249">
                  <c:v>0.0077523718</c:v>
                </c:pt>
                <c:pt idx="250">
                  <c:v>0</c:v>
                </c:pt>
                <c:pt idx="251">
                  <c:v>0.0076601837</c:v>
                </c:pt>
                <c:pt idx="252">
                  <c:v>0.0150428491</c:v>
                </c:pt>
                <c:pt idx="253">
                  <c:v>0.0219715596</c:v>
                </c:pt>
                <c:pt idx="254">
                  <c:v>0.028282923</c:v>
                </c:pt>
                <c:pt idx="255">
                  <c:v>0.0338303822</c:v>
                </c:pt>
                <c:pt idx="256">
                  <c:v>0.0384875594</c:v>
                </c:pt>
              </c:numCache>
            </c:numRef>
          </c:yVal>
        </c:ser>
        <c:ser>
          <c:idx val="1"/>
          <c:order val="1"/>
          <c:tx>
            <c:v>DFT bins</c:v>
          </c:tx>
          <c:spPr>
            <a:solidFill xmlns:a="http://schemas.openxmlformats.org/drawingml/2006/main">
              <a:srgbClr val="D26C26"/>
            </a:solidFill>
            <a:ln xmlns:a="http://schemas.openxmlformats.org/drawingml/2006/main" w="0">
              <a:noFill/>
            </a:ln>
          </c:spPr>
          <c:marker>
            <c:symbol val="circle"/>
            <c:size val="7"/>
            <c:spPr>
              <a:noFill xmlns:a="http://schemas.openxmlformats.org/drawingml/2006/main"/>
            </c:spPr>
          </c:marker>
          <c:xVal>
            <c:numRef>
              <c:f>'Chart Data'!$C$2:$C$14</c:f>
              <c:numCache>
                <c:formatCode>General</c:formatCode>
                <c:ptCount val="13"/>
                <c:pt idx="0">
                  <c:v>0</c:v>
                </c:pt>
                <c:pt idx="1">
                  <c:v>0.03125</c:v>
                </c:pt>
                <c:pt idx="2">
                  <c:v>0.0625</c:v>
                </c:pt>
                <c:pt idx="3">
                  <c:v>0.09375</c:v>
                </c:pt>
                <c:pt idx="4">
                  <c:v>0.125</c:v>
                </c:pt>
                <c:pt idx="5">
                  <c:v>0.15625</c:v>
                </c:pt>
                <c:pt idx="6">
                  <c:v>0.1875</c:v>
                </c:pt>
                <c:pt idx="7">
                  <c:v>0.21875</c:v>
                </c:pt>
                <c:pt idx="8">
                  <c:v>0.25</c:v>
                </c:pt>
                <c:pt idx="9">
                  <c:v>0.28125</c:v>
                </c:pt>
                <c:pt idx="10">
                  <c:v>0.3125</c:v>
                </c:pt>
                <c:pt idx="11">
                  <c:v>0.34375</c:v>
                </c:pt>
                <c:pt idx="12">
                  <c:v>0.375</c:v>
                </c:pt>
              </c:numCache>
            </c:numRef>
          </c:xVal>
          <c:yVal>
            <c:numRef>
              <c:f>'Chart Data'!$D$2:$D$14</c:f>
              <c:numCache>
                <c:formatCode>0.00</c:formatCode>
                <c:ptCount val="13"/>
                <c:pt idx="0">
                  <c:v>0.0607855149</c:v>
                </c:pt>
                <c:pt idx="1">
                  <c:v>0.0730899958</c:v>
                </c:pt>
                <c:pt idx="2">
                  <c:v>0.0927602885</c:v>
                </c:pt>
                <c:pt idx="3">
                  <c:v>0.1286113131</c:v>
                </c:pt>
                <c:pt idx="4">
                  <c:v>0.2129755262</c:v>
                </c:pt>
                <c:pt idx="5">
                  <c:v>0.6368755077</c:v>
                </c:pt>
                <c:pt idx="6">
                  <c:v>0.6368755077</c:v>
                </c:pt>
                <c:pt idx="7">
                  <c:v>0.2129755262</c:v>
                </c:pt>
                <c:pt idx="8">
                  <c:v>0.1286113131</c:v>
                </c:pt>
                <c:pt idx="9">
                  <c:v>0.0927602885</c:v>
                </c:pt>
                <c:pt idx="10">
                  <c:v>0.0730899958</c:v>
                </c:pt>
                <c:pt idx="11">
                  <c:v>0.0607855149</c:v>
                </c:pt>
                <c:pt idx="12">
                  <c:v>0.0524593528</c:v>
                </c:pt>
              </c:numCache>
            </c:numRef>
          </c:y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FE7ED"/>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Magnitude / 32</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50112"/>
        <c:majorUnit val="0.25"/>
      </c:valAx>
      <c:valAx>
        <c:axId val="48650112"/>
        <c:scaling>
          <c:orientation val="minMax"/>
          <c:max val="0.4"/>
          <c:min val="0"/>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Normalized frequency ω/(2π)</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72768"/>
        <c:majorUnit val="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52B3C"/>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Same DTFT</c:v>
          </c:tx>
          <c:spPr>
            <a:solidFill xmlns:a="http://schemas.openxmlformats.org/drawingml/2006/main">
              <a:srgbClr val="176FA8"/>
            </a:solidFill>
            <a:ln xmlns:a="http://schemas.openxmlformats.org/drawingml/2006/main" w="23813">
              <a:solidFill>
                <a:srgbClr val="176FA8"/>
              </a:solidFill>
            </a:ln>
          </c:spPr>
          <c:marker>
            <c:symbol val="none"/>
            <c:size val="2"/>
          </c:marker>
          <c:xVal>
            <c:numRef>
              <c:f>'Chart Data'!$A$2:$A$258</c:f>
              <c:numCache>
                <c:formatCode>General</c:formatCode>
                <c:ptCount val="257"/>
                <c:pt idx="0">
                  <c:v>0</c:v>
                </c:pt>
                <c:pt idx="1">
                  <c:v>0.00195313</c:v>
                </c:pt>
                <c:pt idx="2">
                  <c:v>0.00390625</c:v>
                </c:pt>
                <c:pt idx="3">
                  <c:v>0.00585938</c:v>
                </c:pt>
                <c:pt idx="4">
                  <c:v>0.0078125</c:v>
                </c:pt>
                <c:pt idx="5">
                  <c:v>0.00976563</c:v>
                </c:pt>
                <c:pt idx="6">
                  <c:v>0.01171875</c:v>
                </c:pt>
                <c:pt idx="7">
                  <c:v>0.01367188</c:v>
                </c:pt>
                <c:pt idx="8">
                  <c:v>0.015625</c:v>
                </c:pt>
                <c:pt idx="9">
                  <c:v>0.01757813</c:v>
                </c:pt>
                <c:pt idx="10">
                  <c:v>0.01953125</c:v>
                </c:pt>
                <c:pt idx="11">
                  <c:v>0.02148438</c:v>
                </c:pt>
                <c:pt idx="12">
                  <c:v>0.0234375</c:v>
                </c:pt>
                <c:pt idx="13">
                  <c:v>0.02539063</c:v>
                </c:pt>
                <c:pt idx="14">
                  <c:v>0.02734375</c:v>
                </c:pt>
                <c:pt idx="15">
                  <c:v>0.02929688</c:v>
                </c:pt>
                <c:pt idx="16">
                  <c:v>0.03125</c:v>
                </c:pt>
                <c:pt idx="17">
                  <c:v>0.03320313</c:v>
                </c:pt>
                <c:pt idx="18">
                  <c:v>0.03515625</c:v>
                </c:pt>
                <c:pt idx="19">
                  <c:v>0.03710938</c:v>
                </c:pt>
                <c:pt idx="20">
                  <c:v>0.0390625</c:v>
                </c:pt>
                <c:pt idx="21">
                  <c:v>0.04101563</c:v>
                </c:pt>
                <c:pt idx="22">
                  <c:v>0.04296875</c:v>
                </c:pt>
                <c:pt idx="23">
                  <c:v>0.04492188</c:v>
                </c:pt>
                <c:pt idx="24">
                  <c:v>0.046875</c:v>
                </c:pt>
                <c:pt idx="25">
                  <c:v>0.04882813</c:v>
                </c:pt>
                <c:pt idx="26">
                  <c:v>0.05078125</c:v>
                </c:pt>
                <c:pt idx="27">
                  <c:v>0.05273438</c:v>
                </c:pt>
                <c:pt idx="28">
                  <c:v>0.0546875</c:v>
                </c:pt>
                <c:pt idx="29">
                  <c:v>0.05664063</c:v>
                </c:pt>
                <c:pt idx="30">
                  <c:v>0.05859375</c:v>
                </c:pt>
                <c:pt idx="31">
                  <c:v>0.06054688</c:v>
                </c:pt>
                <c:pt idx="32">
                  <c:v>0.0625</c:v>
                </c:pt>
                <c:pt idx="33">
                  <c:v>0.06445313</c:v>
                </c:pt>
                <c:pt idx="34">
                  <c:v>0.06640625</c:v>
                </c:pt>
                <c:pt idx="35">
                  <c:v>0.06835938</c:v>
                </c:pt>
                <c:pt idx="36">
                  <c:v>0.0703125</c:v>
                </c:pt>
                <c:pt idx="37">
                  <c:v>0.07226563</c:v>
                </c:pt>
                <c:pt idx="38">
                  <c:v>0.07421875</c:v>
                </c:pt>
                <c:pt idx="39">
                  <c:v>0.07617188</c:v>
                </c:pt>
                <c:pt idx="40">
                  <c:v>0.078125</c:v>
                </c:pt>
                <c:pt idx="41">
                  <c:v>0.08007813</c:v>
                </c:pt>
                <c:pt idx="42">
                  <c:v>0.08203125</c:v>
                </c:pt>
                <c:pt idx="43">
                  <c:v>0.08398438</c:v>
                </c:pt>
                <c:pt idx="44">
                  <c:v>0.0859375</c:v>
                </c:pt>
                <c:pt idx="45">
                  <c:v>0.08789063</c:v>
                </c:pt>
                <c:pt idx="46">
                  <c:v>0.08984375</c:v>
                </c:pt>
                <c:pt idx="47">
                  <c:v>0.09179688</c:v>
                </c:pt>
                <c:pt idx="48">
                  <c:v>0.09375</c:v>
                </c:pt>
                <c:pt idx="49">
                  <c:v>0.09570313</c:v>
                </c:pt>
                <c:pt idx="50">
                  <c:v>0.09765625</c:v>
                </c:pt>
                <c:pt idx="51">
                  <c:v>0.09960938</c:v>
                </c:pt>
                <c:pt idx="52">
                  <c:v>0.1015625</c:v>
                </c:pt>
                <c:pt idx="53">
                  <c:v>0.10351563</c:v>
                </c:pt>
                <c:pt idx="54">
                  <c:v>0.10546875</c:v>
                </c:pt>
                <c:pt idx="55">
                  <c:v>0.10742188</c:v>
                </c:pt>
                <c:pt idx="56">
                  <c:v>0.109375</c:v>
                </c:pt>
                <c:pt idx="57">
                  <c:v>0.11132813</c:v>
                </c:pt>
                <c:pt idx="58">
                  <c:v>0.11328125</c:v>
                </c:pt>
                <c:pt idx="59">
                  <c:v>0.11523438</c:v>
                </c:pt>
                <c:pt idx="60">
                  <c:v>0.1171875</c:v>
                </c:pt>
                <c:pt idx="61">
                  <c:v>0.11914063</c:v>
                </c:pt>
                <c:pt idx="62">
                  <c:v>0.12109375</c:v>
                </c:pt>
                <c:pt idx="63">
                  <c:v>0.12304688</c:v>
                </c:pt>
                <c:pt idx="64">
                  <c:v>0.125</c:v>
                </c:pt>
                <c:pt idx="65">
                  <c:v>0.12695313</c:v>
                </c:pt>
                <c:pt idx="66">
                  <c:v>0.12890625</c:v>
                </c:pt>
                <c:pt idx="67">
                  <c:v>0.13085938</c:v>
                </c:pt>
                <c:pt idx="68">
                  <c:v>0.1328125</c:v>
                </c:pt>
                <c:pt idx="69">
                  <c:v>0.13476563</c:v>
                </c:pt>
                <c:pt idx="70">
                  <c:v>0.13671875</c:v>
                </c:pt>
                <c:pt idx="71">
                  <c:v>0.13867188</c:v>
                </c:pt>
                <c:pt idx="72">
                  <c:v>0.140625</c:v>
                </c:pt>
                <c:pt idx="73">
                  <c:v>0.14257813</c:v>
                </c:pt>
                <c:pt idx="74">
                  <c:v>0.14453125</c:v>
                </c:pt>
                <c:pt idx="75">
                  <c:v>0.14648438</c:v>
                </c:pt>
                <c:pt idx="76">
                  <c:v>0.1484375</c:v>
                </c:pt>
                <c:pt idx="77">
                  <c:v>0.15039063</c:v>
                </c:pt>
                <c:pt idx="78">
                  <c:v>0.15234375</c:v>
                </c:pt>
                <c:pt idx="79">
                  <c:v>0.15429688</c:v>
                </c:pt>
                <c:pt idx="80">
                  <c:v>0.15625</c:v>
                </c:pt>
                <c:pt idx="81">
                  <c:v>0.15820313</c:v>
                </c:pt>
                <c:pt idx="82">
                  <c:v>0.16015625</c:v>
                </c:pt>
                <c:pt idx="83">
                  <c:v>0.16210938</c:v>
                </c:pt>
                <c:pt idx="84">
                  <c:v>0.1640625</c:v>
                </c:pt>
                <c:pt idx="85">
                  <c:v>0.16601563</c:v>
                </c:pt>
                <c:pt idx="86">
                  <c:v>0.16796875</c:v>
                </c:pt>
                <c:pt idx="87">
                  <c:v>0.16992188</c:v>
                </c:pt>
                <c:pt idx="88">
                  <c:v>0.171875</c:v>
                </c:pt>
                <c:pt idx="89">
                  <c:v>0.17382813</c:v>
                </c:pt>
                <c:pt idx="90">
                  <c:v>0.17578125</c:v>
                </c:pt>
                <c:pt idx="91">
                  <c:v>0.17773438</c:v>
                </c:pt>
                <c:pt idx="92">
                  <c:v>0.1796875</c:v>
                </c:pt>
                <c:pt idx="93">
                  <c:v>0.18164063</c:v>
                </c:pt>
                <c:pt idx="94">
                  <c:v>0.18359375</c:v>
                </c:pt>
                <c:pt idx="95">
                  <c:v>0.18554688</c:v>
                </c:pt>
                <c:pt idx="96">
                  <c:v>0.1875</c:v>
                </c:pt>
                <c:pt idx="97">
                  <c:v>0.18945313</c:v>
                </c:pt>
                <c:pt idx="98">
                  <c:v>0.19140625</c:v>
                </c:pt>
                <c:pt idx="99">
                  <c:v>0.19335938</c:v>
                </c:pt>
                <c:pt idx="100">
                  <c:v>0.1953125</c:v>
                </c:pt>
                <c:pt idx="101">
                  <c:v>0.19726563</c:v>
                </c:pt>
                <c:pt idx="102">
                  <c:v>0.19921875</c:v>
                </c:pt>
                <c:pt idx="103">
                  <c:v>0.20117188</c:v>
                </c:pt>
                <c:pt idx="104">
                  <c:v>0.203125</c:v>
                </c:pt>
                <c:pt idx="105">
                  <c:v>0.20507813</c:v>
                </c:pt>
                <c:pt idx="106">
                  <c:v>0.20703125</c:v>
                </c:pt>
                <c:pt idx="107">
                  <c:v>0.20898438</c:v>
                </c:pt>
                <c:pt idx="108">
                  <c:v>0.2109375</c:v>
                </c:pt>
                <c:pt idx="109">
                  <c:v>0.21289063</c:v>
                </c:pt>
                <c:pt idx="110">
                  <c:v>0.21484375</c:v>
                </c:pt>
                <c:pt idx="111">
                  <c:v>0.21679688</c:v>
                </c:pt>
                <c:pt idx="112">
                  <c:v>0.21875</c:v>
                </c:pt>
                <c:pt idx="113">
                  <c:v>0.22070313</c:v>
                </c:pt>
                <c:pt idx="114">
                  <c:v>0.22265625</c:v>
                </c:pt>
                <c:pt idx="115">
                  <c:v>0.22460938</c:v>
                </c:pt>
                <c:pt idx="116">
                  <c:v>0.2265625</c:v>
                </c:pt>
                <c:pt idx="117">
                  <c:v>0.22851563</c:v>
                </c:pt>
                <c:pt idx="118">
                  <c:v>0.23046875</c:v>
                </c:pt>
                <c:pt idx="119">
                  <c:v>0.23242188</c:v>
                </c:pt>
                <c:pt idx="120">
                  <c:v>0.234375</c:v>
                </c:pt>
                <c:pt idx="121">
                  <c:v>0.23632813</c:v>
                </c:pt>
                <c:pt idx="122">
                  <c:v>0.23828125</c:v>
                </c:pt>
                <c:pt idx="123">
                  <c:v>0.24023438</c:v>
                </c:pt>
                <c:pt idx="124">
                  <c:v>0.2421875</c:v>
                </c:pt>
                <c:pt idx="125">
                  <c:v>0.24414063</c:v>
                </c:pt>
                <c:pt idx="126">
                  <c:v>0.24609375</c:v>
                </c:pt>
                <c:pt idx="127">
                  <c:v>0.24804688</c:v>
                </c:pt>
                <c:pt idx="128">
                  <c:v>0.25</c:v>
                </c:pt>
                <c:pt idx="129">
                  <c:v>0.25195313</c:v>
                </c:pt>
                <c:pt idx="130">
                  <c:v>0.25390625</c:v>
                </c:pt>
                <c:pt idx="131">
                  <c:v>0.25585938</c:v>
                </c:pt>
                <c:pt idx="132">
                  <c:v>0.2578125</c:v>
                </c:pt>
                <c:pt idx="133">
                  <c:v>0.25976563</c:v>
                </c:pt>
                <c:pt idx="134">
                  <c:v>0.26171875</c:v>
                </c:pt>
                <c:pt idx="135">
                  <c:v>0.26367188</c:v>
                </c:pt>
                <c:pt idx="136">
                  <c:v>0.265625</c:v>
                </c:pt>
                <c:pt idx="137">
                  <c:v>0.26757813</c:v>
                </c:pt>
                <c:pt idx="138">
                  <c:v>0.26953125</c:v>
                </c:pt>
                <c:pt idx="139">
                  <c:v>0.27148438</c:v>
                </c:pt>
                <c:pt idx="140">
                  <c:v>0.2734375</c:v>
                </c:pt>
                <c:pt idx="141">
                  <c:v>0.27539063</c:v>
                </c:pt>
                <c:pt idx="142">
                  <c:v>0.27734375</c:v>
                </c:pt>
                <c:pt idx="143">
                  <c:v>0.27929688</c:v>
                </c:pt>
                <c:pt idx="144">
                  <c:v>0.28125</c:v>
                </c:pt>
                <c:pt idx="145">
                  <c:v>0.28320313</c:v>
                </c:pt>
                <c:pt idx="146">
                  <c:v>0.28515625</c:v>
                </c:pt>
                <c:pt idx="147">
                  <c:v>0.28710938</c:v>
                </c:pt>
                <c:pt idx="148">
                  <c:v>0.2890625</c:v>
                </c:pt>
                <c:pt idx="149">
                  <c:v>0.29101563</c:v>
                </c:pt>
                <c:pt idx="150">
                  <c:v>0.29296875</c:v>
                </c:pt>
                <c:pt idx="151">
                  <c:v>0.29492188</c:v>
                </c:pt>
                <c:pt idx="152">
                  <c:v>0.296875</c:v>
                </c:pt>
                <c:pt idx="153">
                  <c:v>0.29882813</c:v>
                </c:pt>
                <c:pt idx="154">
                  <c:v>0.30078125</c:v>
                </c:pt>
                <c:pt idx="155">
                  <c:v>0.30273438</c:v>
                </c:pt>
                <c:pt idx="156">
                  <c:v>0.3046875</c:v>
                </c:pt>
                <c:pt idx="157">
                  <c:v>0.30664063</c:v>
                </c:pt>
                <c:pt idx="158">
                  <c:v>0.30859375</c:v>
                </c:pt>
                <c:pt idx="159">
                  <c:v>0.31054688</c:v>
                </c:pt>
                <c:pt idx="160">
                  <c:v>0.3125</c:v>
                </c:pt>
                <c:pt idx="161">
                  <c:v>0.31445313</c:v>
                </c:pt>
                <c:pt idx="162">
                  <c:v>0.31640625</c:v>
                </c:pt>
                <c:pt idx="163">
                  <c:v>0.31835938</c:v>
                </c:pt>
                <c:pt idx="164">
                  <c:v>0.3203125</c:v>
                </c:pt>
                <c:pt idx="165">
                  <c:v>0.32226563</c:v>
                </c:pt>
                <c:pt idx="166">
                  <c:v>0.32421875</c:v>
                </c:pt>
                <c:pt idx="167">
                  <c:v>0.32617188</c:v>
                </c:pt>
                <c:pt idx="168">
                  <c:v>0.328125</c:v>
                </c:pt>
                <c:pt idx="169">
                  <c:v>0.33007813</c:v>
                </c:pt>
                <c:pt idx="170">
                  <c:v>0.33203125</c:v>
                </c:pt>
                <c:pt idx="171">
                  <c:v>0.33398438</c:v>
                </c:pt>
                <c:pt idx="172">
                  <c:v>0.3359375</c:v>
                </c:pt>
                <c:pt idx="173">
                  <c:v>0.33789063</c:v>
                </c:pt>
                <c:pt idx="174">
                  <c:v>0.33984375</c:v>
                </c:pt>
                <c:pt idx="175">
                  <c:v>0.34179688</c:v>
                </c:pt>
                <c:pt idx="176">
                  <c:v>0.34375</c:v>
                </c:pt>
                <c:pt idx="177">
                  <c:v>0.34570313</c:v>
                </c:pt>
                <c:pt idx="178">
                  <c:v>0.34765625</c:v>
                </c:pt>
                <c:pt idx="179">
                  <c:v>0.34960938</c:v>
                </c:pt>
                <c:pt idx="180">
                  <c:v>0.3515625</c:v>
                </c:pt>
                <c:pt idx="181">
                  <c:v>0.35351563</c:v>
                </c:pt>
                <c:pt idx="182">
                  <c:v>0.35546875</c:v>
                </c:pt>
                <c:pt idx="183">
                  <c:v>0.35742188</c:v>
                </c:pt>
                <c:pt idx="184">
                  <c:v>0.359375</c:v>
                </c:pt>
                <c:pt idx="185">
                  <c:v>0.36132813</c:v>
                </c:pt>
                <c:pt idx="186">
                  <c:v>0.36328125</c:v>
                </c:pt>
                <c:pt idx="187">
                  <c:v>0.36523438</c:v>
                </c:pt>
                <c:pt idx="188">
                  <c:v>0.3671875</c:v>
                </c:pt>
                <c:pt idx="189">
                  <c:v>0.36914063</c:v>
                </c:pt>
                <c:pt idx="190">
                  <c:v>0.37109375</c:v>
                </c:pt>
                <c:pt idx="191">
                  <c:v>0.37304688</c:v>
                </c:pt>
                <c:pt idx="192">
                  <c:v>0.375</c:v>
                </c:pt>
                <c:pt idx="193">
                  <c:v>0.37695313</c:v>
                </c:pt>
                <c:pt idx="194">
                  <c:v>0.37890625</c:v>
                </c:pt>
                <c:pt idx="195">
                  <c:v>0.38085938</c:v>
                </c:pt>
                <c:pt idx="196">
                  <c:v>0.3828125</c:v>
                </c:pt>
                <c:pt idx="197">
                  <c:v>0.38476563</c:v>
                </c:pt>
                <c:pt idx="198">
                  <c:v>0.38671875</c:v>
                </c:pt>
                <c:pt idx="199">
                  <c:v>0.38867188</c:v>
                </c:pt>
                <c:pt idx="200">
                  <c:v>0.390625</c:v>
                </c:pt>
                <c:pt idx="201">
                  <c:v>0.39257813</c:v>
                </c:pt>
                <c:pt idx="202">
                  <c:v>0.39453125</c:v>
                </c:pt>
                <c:pt idx="203">
                  <c:v>0.39648438</c:v>
                </c:pt>
                <c:pt idx="204">
                  <c:v>0.3984375</c:v>
                </c:pt>
                <c:pt idx="205">
                  <c:v>0.40039063</c:v>
                </c:pt>
                <c:pt idx="206">
                  <c:v>0.40234375</c:v>
                </c:pt>
                <c:pt idx="207">
                  <c:v>0.40429688</c:v>
                </c:pt>
                <c:pt idx="208">
                  <c:v>0.40625</c:v>
                </c:pt>
                <c:pt idx="209">
                  <c:v>0.40820313</c:v>
                </c:pt>
                <c:pt idx="210">
                  <c:v>0.41015625</c:v>
                </c:pt>
                <c:pt idx="211">
                  <c:v>0.41210938</c:v>
                </c:pt>
                <c:pt idx="212">
                  <c:v>0.4140625</c:v>
                </c:pt>
                <c:pt idx="213">
                  <c:v>0.41601563</c:v>
                </c:pt>
                <c:pt idx="214">
                  <c:v>0.41796875</c:v>
                </c:pt>
                <c:pt idx="215">
                  <c:v>0.41992188</c:v>
                </c:pt>
                <c:pt idx="216">
                  <c:v>0.421875</c:v>
                </c:pt>
                <c:pt idx="217">
                  <c:v>0.42382813</c:v>
                </c:pt>
                <c:pt idx="218">
                  <c:v>0.42578125</c:v>
                </c:pt>
                <c:pt idx="219">
                  <c:v>0.42773438</c:v>
                </c:pt>
                <c:pt idx="220">
                  <c:v>0.4296875</c:v>
                </c:pt>
                <c:pt idx="221">
                  <c:v>0.43164063</c:v>
                </c:pt>
                <c:pt idx="222">
                  <c:v>0.43359375</c:v>
                </c:pt>
                <c:pt idx="223">
                  <c:v>0.43554688</c:v>
                </c:pt>
                <c:pt idx="224">
                  <c:v>0.4375</c:v>
                </c:pt>
                <c:pt idx="225">
                  <c:v>0.43945313</c:v>
                </c:pt>
                <c:pt idx="226">
                  <c:v>0.44140625</c:v>
                </c:pt>
                <c:pt idx="227">
                  <c:v>0.44335938</c:v>
                </c:pt>
                <c:pt idx="228">
                  <c:v>0.4453125</c:v>
                </c:pt>
                <c:pt idx="229">
                  <c:v>0.44726563</c:v>
                </c:pt>
                <c:pt idx="230">
                  <c:v>0.44921875</c:v>
                </c:pt>
                <c:pt idx="231">
                  <c:v>0.45117188</c:v>
                </c:pt>
                <c:pt idx="232">
                  <c:v>0.453125</c:v>
                </c:pt>
                <c:pt idx="233">
                  <c:v>0.45507813</c:v>
                </c:pt>
                <c:pt idx="234">
                  <c:v>0.45703125</c:v>
                </c:pt>
                <c:pt idx="235">
                  <c:v>0.45898438</c:v>
                </c:pt>
                <c:pt idx="236">
                  <c:v>0.4609375</c:v>
                </c:pt>
                <c:pt idx="237">
                  <c:v>0.46289063</c:v>
                </c:pt>
                <c:pt idx="238">
                  <c:v>0.46484375</c:v>
                </c:pt>
                <c:pt idx="239">
                  <c:v>0.46679688</c:v>
                </c:pt>
                <c:pt idx="240">
                  <c:v>0.46875</c:v>
                </c:pt>
                <c:pt idx="241">
                  <c:v>0.47070313</c:v>
                </c:pt>
                <c:pt idx="242">
                  <c:v>0.47265625</c:v>
                </c:pt>
                <c:pt idx="243">
                  <c:v>0.47460938</c:v>
                </c:pt>
                <c:pt idx="244">
                  <c:v>0.4765625</c:v>
                </c:pt>
                <c:pt idx="245">
                  <c:v>0.47851563</c:v>
                </c:pt>
                <c:pt idx="246">
                  <c:v>0.48046875</c:v>
                </c:pt>
                <c:pt idx="247">
                  <c:v>0.48242188</c:v>
                </c:pt>
                <c:pt idx="248">
                  <c:v>0.484375</c:v>
                </c:pt>
                <c:pt idx="249">
                  <c:v>0.48632813</c:v>
                </c:pt>
                <c:pt idx="250">
                  <c:v>0.48828125</c:v>
                </c:pt>
                <c:pt idx="251">
                  <c:v>0.49023438</c:v>
                </c:pt>
                <c:pt idx="252">
                  <c:v>0.4921875</c:v>
                </c:pt>
                <c:pt idx="253">
                  <c:v>0.49414063</c:v>
                </c:pt>
                <c:pt idx="254">
                  <c:v>0.49609375</c:v>
                </c:pt>
                <c:pt idx="255">
                  <c:v>0.49804688</c:v>
                </c:pt>
                <c:pt idx="256">
                  <c:v>0.5</c:v>
                </c:pt>
              </c:numCache>
            </c:numRef>
          </c:xVal>
          <c:yVal>
            <c:numRef>
              <c:f>'Chart Data'!$B$2:$B$258</c:f>
              <c:numCache>
                <c:formatCode>0.00</c:formatCode>
                <c:ptCount val="257"/>
                <c:pt idx="0">
                  <c:v>0.0960129433</c:v>
                </c:pt>
                <c:pt idx="1">
                  <c:v>0.0932201416</c:v>
                </c:pt>
                <c:pt idx="2">
                  <c:v>0.0894815885</c:v>
                </c:pt>
                <c:pt idx="3">
                  <c:v>0.0848175532</c:v>
                </c:pt>
                <c:pt idx="4">
                  <c:v>0.0792571897</c:v>
                </c:pt>
                <c:pt idx="5">
                  <c:v>0.0728384071</c:v>
                </c:pt>
                <c:pt idx="6">
                  <c:v>0.0656076614</c:v>
                </c:pt>
                <c:pt idx="7">
                  <c:v>0.0576196679</c:v>
                </c:pt>
                <c:pt idx="8">
                  <c:v>0.0489370374</c:v>
                </c:pt>
                <c:pt idx="9">
                  <c:v>0.0396298376</c:v>
                </c:pt>
                <c:pt idx="10">
                  <c:v>0.0297750822</c:v>
                </c:pt>
                <c:pt idx="11">
                  <c:v>0.0194561517</c:v>
                </c:pt>
                <c:pt idx="12">
                  <c:v>0.0087621502</c:v>
                </c:pt>
                <c:pt idx="13">
                  <c:v>0.0022127978</c:v>
                </c:pt>
                <c:pt idx="14">
                  <c:v>0.0133703053</c:v>
                </c:pt>
                <c:pt idx="15">
                  <c:v>0.0246085292</c:v>
                </c:pt>
                <c:pt idx="16">
                  <c:v>0.0358230186</c:v>
                </c:pt>
                <c:pt idx="17">
                  <c:v>0.0469076</c:v>
                </c:pt>
                <c:pt idx="18">
                  <c:v>0.0577552907</c:v>
                </c:pt>
                <c:pt idx="19">
                  <c:v>0.0682592335</c:v>
                </c:pt>
                <c:pt idx="20">
                  <c:v>0.078313646</c:v>
                </c:pt>
                <c:pt idx="21">
                  <c:v>0.0878147751</c:v>
                </c:pt>
                <c:pt idx="22">
                  <c:v>0.09666185</c:v>
                </c:pt>
                <c:pt idx="23">
                  <c:v>0.1047580257</c:v>
                </c:pt>
                <c:pt idx="24">
                  <c:v>0.112011308</c:v>
                </c:pt>
                <c:pt idx="25">
                  <c:v>0.118335453</c:v>
                </c:pt>
                <c:pt idx="26">
                  <c:v>0.1236508325</c:v>
                </c:pt>
                <c:pt idx="27">
                  <c:v>0.1278852585</c:v>
                </c:pt>
                <c:pt idx="28">
                  <c:v>0.1309747588</c:v>
                </c:pt>
                <c:pt idx="29">
                  <c:v>0.132864297</c:v>
                </c:pt>
                <c:pt idx="30">
                  <c:v>0.1335084294</c:v>
                </c:pt>
                <c:pt idx="31">
                  <c:v>0.1328718938</c:v>
                </c:pt>
                <c:pt idx="32">
                  <c:v>0.1309301237</c:v>
                </c:pt>
                <c:pt idx="33">
                  <c:v>0.1276696827</c:v>
                </c:pt>
                <c:pt idx="34">
                  <c:v>0.1230886146</c:v>
                </c:pt>
                <c:pt idx="35">
                  <c:v>0.1171967053</c:v>
                </c:pt>
                <c:pt idx="36">
                  <c:v>0.1100156532</c:v>
                </c:pt>
                <c:pt idx="37">
                  <c:v>0.1015791451</c:v>
                </c:pt>
                <c:pt idx="38">
                  <c:v>0.0919328364</c:v>
                </c:pt>
                <c:pt idx="39">
                  <c:v>0.0811342342</c:v>
                </c:pt>
                <c:pt idx="40">
                  <c:v>0.0692524825</c:v>
                </c:pt>
                <c:pt idx="41">
                  <c:v>0.0563680508</c:v>
                </c:pt>
                <c:pt idx="42">
                  <c:v>0.0425723267</c:v>
                </c:pt>
                <c:pt idx="43">
                  <c:v>0.0279671146</c:v>
                </c:pt>
                <c:pt idx="44">
                  <c:v>0.0126640434</c:v>
                </c:pt>
                <c:pt idx="45">
                  <c:v>0.0032161127</c:v>
                </c:pt>
                <c:pt idx="46">
                  <c:v>0.0195441979</c:v>
                </c:pt>
                <c:pt idx="47">
                  <c:v>0.0361835154</c:v>
                </c:pt>
                <c:pt idx="48">
                  <c:v>0.0529907418</c:v>
                </c:pt>
                <c:pt idx="49">
                  <c:v>0.0698169066</c:v>
                </c:pt>
                <c:pt idx="50">
                  <c:v>0.0865084325</c:v>
                </c:pt>
                <c:pt idx="51">
                  <c:v>0.1029082268</c:v>
                </c:pt>
                <c:pt idx="52">
                  <c:v>0.1188568179</c:v>
                </c:pt>
                <c:pt idx="53">
                  <c:v>0.1341935266</c:v>
                </c:pt>
                <c:pt idx="54">
                  <c:v>0.1487576657</c:v>
                </c:pt>
                <c:pt idx="55">
                  <c:v>0.1623897578</c:v>
                </c:pt>
                <c:pt idx="56">
                  <c:v>0.1749327615</c:v>
                </c:pt>
                <c:pt idx="57">
                  <c:v>0.186233298</c:v>
                </c:pt>
                <c:pt idx="58">
                  <c:v>0.1961428684</c:v>
                </c:pt>
                <c:pt idx="59">
                  <c:v>0.2045190512</c:v>
                </c:pt>
                <c:pt idx="60">
                  <c:v>0.2112266718</c:v>
                </c:pt>
                <c:pt idx="61">
                  <c:v>0.2161389345</c:v>
                </c:pt>
                <c:pt idx="62">
                  <c:v>0.2191385075</c:v>
                </c:pt>
                <c:pt idx="63">
                  <c:v>0.2201185531</c:v>
                </c:pt>
                <c:pt idx="64">
                  <c:v>0.2189836935</c:v>
                </c:pt>
                <c:pt idx="65">
                  <c:v>0.2156509053</c:v>
                </c:pt>
                <c:pt idx="66">
                  <c:v>0.2100503352</c:v>
                </c:pt>
                <c:pt idx="67">
                  <c:v>0.2021260284</c:v>
                </c:pt>
                <c:pt idx="68">
                  <c:v>0.1918365663</c:v>
                </c:pt>
                <c:pt idx="69">
                  <c:v>0.1791556047</c:v>
                </c:pt>
                <c:pt idx="70">
                  <c:v>0.1640723096</c:v>
                </c:pt>
                <c:pt idx="71">
                  <c:v>0.1465916864</c:v>
                </c:pt>
                <c:pt idx="72">
                  <c:v>0.1267347967</c:v>
                </c:pt>
                <c:pt idx="73">
                  <c:v>0.1045388643</c:v>
                </c:pt>
                <c:pt idx="74">
                  <c:v>0.0800572639</c:v>
                </c:pt>
                <c:pt idx="75">
                  <c:v>0.0533593954</c:v>
                </c:pt>
                <c:pt idx="76">
                  <c:v>0.0245304419</c:v>
                </c:pt>
                <c:pt idx="77">
                  <c:v>0.006328988</c:v>
                </c:pt>
                <c:pt idx="78">
                  <c:v>0.0391033302</c:v>
                </c:pt>
                <c:pt idx="79">
                  <c:v>0.0736626469</c:v>
                </c:pt>
                <c:pt idx="80">
                  <c:v>0.1098633154</c:v>
                </c:pt>
                <c:pt idx="81">
                  <c:v>0.1475488196</c:v>
                </c:pt>
                <c:pt idx="82">
                  <c:v>0.1865506406</c:v>
                </c:pt>
                <c:pt idx="83">
                  <c:v>0.2266892382</c:v>
                </c:pt>
                <c:pt idx="84">
                  <c:v>0.2677751198</c:v>
                </c:pt>
                <c:pt idx="85">
                  <c:v>0.3096099861</c:v>
                </c:pt>
                <c:pt idx="86">
                  <c:v>0.3519879489</c:v>
                </c:pt>
                <c:pt idx="87">
                  <c:v>0.3946968104</c:v>
                </c:pt>
                <c:pt idx="88">
                  <c:v>0.4375193963</c:v>
                </c:pt>
                <c:pt idx="89">
                  <c:v>0.4802349328</c:v>
                </c:pt>
                <c:pt idx="90">
                  <c:v>0.522620458</c:v>
                </c:pt>
                <c:pt idx="91">
                  <c:v>0.5644522577</c:v>
                </c:pt>
                <c:pt idx="92">
                  <c:v>0.6055073156</c:v>
                </c:pt>
                <c:pt idx="93">
                  <c:v>0.6455647669</c:v>
                </c:pt>
                <c:pt idx="94">
                  <c:v>0.6844073458</c:v>
                </c:pt>
                <c:pt idx="95">
                  <c:v>0.7218228152</c:v>
                </c:pt>
                <c:pt idx="96">
                  <c:v>0.7576053703</c:v>
                </c:pt>
                <c:pt idx="97">
                  <c:v>0.7915570031</c:v>
                </c:pt>
                <c:pt idx="98">
                  <c:v>0.8234888213</c:v>
                </c:pt>
                <c:pt idx="99">
                  <c:v>0.8532223088</c:v>
                </c:pt>
                <c:pt idx="100">
                  <c:v>0.8805905209</c:v>
                </c:pt>
                <c:pt idx="101">
                  <c:v>0.9054392041</c:v>
                </c:pt>
                <c:pt idx="102">
                  <c:v>0.9276278339</c:v>
                </c:pt>
                <c:pt idx="103">
                  <c:v>0.9470305605</c:v>
                </c:pt>
                <c:pt idx="104">
                  <c:v>0.9635370586</c:v>
                </c:pt>
                <c:pt idx="105">
                  <c:v>0.9770532722</c:v>
                </c:pt>
                <c:pt idx="106">
                  <c:v>0.9875020507</c:v>
                </c:pt>
                <c:pt idx="107">
                  <c:v>0.9948236718</c:v>
                </c:pt>
                <c:pt idx="108">
                  <c:v>0.9989762451</c:v>
                </c:pt>
                <c:pt idx="109">
                  <c:v>0.999935997</c:v>
                </c:pt>
                <c:pt idx="110">
                  <c:v>0.9976974313</c:v>
                </c:pt>
                <c:pt idx="111">
                  <c:v>0.9922733665</c:v>
                </c:pt>
                <c:pt idx="112">
                  <c:v>0.9836948494</c:v>
                </c:pt>
                <c:pt idx="113">
                  <c:v>0.9720109438</c:v>
                </c:pt>
                <c:pt idx="114">
                  <c:v>0.9572883988</c:v>
                </c:pt>
                <c:pt idx="115">
                  <c:v>0.939611196</c:v>
                </c:pt>
                <c:pt idx="116">
                  <c:v>0.9190799819</c:v>
                </c:pt>
                <c:pt idx="117">
                  <c:v>0.8958113868</c:v>
                </c:pt>
                <c:pt idx="118">
                  <c:v>0.8699372381</c:v>
                </c:pt>
                <c:pt idx="119">
                  <c:v>0.8416036706</c:v>
                </c:pt>
                <c:pt idx="120">
                  <c:v>0.8109701435</c:v>
                </c:pt>
                <c:pt idx="121">
                  <c:v>0.7782083689</c:v>
                </c:pt>
                <c:pt idx="122">
                  <c:v>0.7435011607</c:v>
                </c:pt>
                <c:pt idx="123">
                  <c:v>0.7070412123</c:v>
                </c:pt>
                <c:pt idx="124">
                  <c:v>0.6690298112</c:v>
                </c:pt>
                <c:pt idx="125">
                  <c:v>0.6296755015</c:v>
                </c:pt>
                <c:pt idx="126">
                  <c:v>0.5891927019</c:v>
                </c:pt>
                <c:pt idx="127">
                  <c:v>0.5478002905</c:v>
                </c:pt>
                <c:pt idx="128">
                  <c:v>0.505720167</c:v>
                </c:pt>
                <c:pt idx="129">
                  <c:v>0.4631758013</c:v>
                </c:pt>
                <c:pt idx="130">
                  <c:v>0.4203907802</c:v>
                </c:pt>
                <c:pt idx="131">
                  <c:v>0.3775873615</c:v>
                </c:pt>
                <c:pt idx="132">
                  <c:v>0.3349850468</c:v>
                </c:pt>
                <c:pt idx="133">
                  <c:v>0.2927991829</c:v>
                </c:pt>
                <c:pt idx="134">
                  <c:v>0.2512396008</c:v>
                </c:pt>
                <c:pt idx="135">
                  <c:v>0.2105093036</c:v>
                </c:pt>
                <c:pt idx="136">
                  <c:v>0.1708032099</c:v>
                </c:pt>
                <c:pt idx="137">
                  <c:v>0.132306965</c:v>
                </c:pt>
                <c:pt idx="138">
                  <c:v>0.0951958239</c:v>
                </c:pt>
                <c:pt idx="139">
                  <c:v>0.0596336174</c:v>
                </c:pt>
                <c:pt idx="140">
                  <c:v>0.0257718054</c:v>
                </c:pt>
                <c:pt idx="141">
                  <c:v>0.0062513737</c:v>
                </c:pt>
                <c:pt idx="142">
                  <c:v>0.0363116551</c:v>
                </c:pt>
                <c:pt idx="143">
                  <c:v>0.0642993931</c:v>
                </c:pt>
                <c:pt idx="144">
                  <c:v>0.0901200993</c:v>
                </c:pt>
                <c:pt idx="145">
                  <c:v>0.1136948673</c:v>
                </c:pt>
                <c:pt idx="146">
                  <c:v>0.1349606847</c:v>
                </c:pt>
                <c:pt idx="147">
                  <c:v>0.1538706285</c:v>
                </c:pt>
                <c:pt idx="148">
                  <c:v>0.1703939452</c:v>
                </c:pt>
                <c:pt idx="149">
                  <c:v>0.1845160144</c:v>
                </c:pt>
                <c:pt idx="150">
                  <c:v>0.196238199</c:v>
                </c:pt>
                <c:pt idx="151">
                  <c:v>0.2055775826</c:v>
                </c:pt>
                <c:pt idx="152">
                  <c:v>0.2125665974</c:v>
                </c:pt>
                <c:pt idx="153">
                  <c:v>0.2172525465</c:v>
                </c:pt>
                <c:pt idx="154">
                  <c:v>0.2196970261</c:v>
                </c:pt>
                <c:pt idx="155">
                  <c:v>0.2199752498</c:v>
                </c:pt>
                <c:pt idx="156">
                  <c:v>0.2181752853</c:v>
                </c:pt>
                <c:pt idx="157">
                  <c:v>0.2143972059</c:v>
                </c:pt>
                <c:pt idx="158">
                  <c:v>0.2087521665</c:v>
                </c:pt>
                <c:pt idx="159">
                  <c:v>0.2013614115</c:v>
                </c:pt>
                <c:pt idx="160">
                  <c:v>0.1923552211</c:v>
                </c:pt>
                <c:pt idx="161">
                  <c:v>0.1818718067</c:v>
                </c:pt>
                <c:pt idx="162">
                  <c:v>0.1700561631</c:v>
                </c:pt>
                <c:pt idx="163">
                  <c:v>0.1570588862</c:v>
                </c:pt>
                <c:pt idx="164">
                  <c:v>0.1430349663</c:v>
                </c:pt>
                <c:pt idx="165">
                  <c:v>0.1281425669</c:v>
                </c:pt>
                <c:pt idx="166">
                  <c:v>0.1125417962</c:v>
                </c:pt>
                <c:pt idx="167">
                  <c:v>0.0963934833</c:v>
                </c:pt>
                <c:pt idx="168">
                  <c:v>0.079857967</c:v>
                </c:pt>
                <c:pt idx="169">
                  <c:v>0.0630939063</c:v>
                </c:pt>
                <c:pt idx="170">
                  <c:v>0.0462571217</c:v>
                </c:pt>
                <c:pt idx="171">
                  <c:v>0.0294994759</c:v>
                </c:pt>
                <c:pt idx="172">
                  <c:v>0.0129678023</c:v>
                </c:pt>
                <c:pt idx="173">
                  <c:v>0.0031971123</c:v>
                </c:pt>
                <c:pt idx="174">
                  <c:v>0.0188614818</c:v>
                </c:pt>
                <c:pt idx="175">
                  <c:v>0.0338994063</c:v>
                </c:pt>
                <c:pt idx="176">
                  <c:v>0.0481936828</c:v>
                </c:pt>
                <c:pt idx="177">
                  <c:v>0.0616365354</c:v>
                </c:pt>
                <c:pt idx="178">
                  <c:v>0.0741302604</c:v>
                </c:pt>
                <c:pt idx="179">
                  <c:v>0.0855877825</c:v>
                </c:pt>
                <c:pt idx="180">
                  <c:v>0.0959331189</c:v>
                </c:pt>
                <c:pt idx="181">
                  <c:v>0.1051017483</c:v>
                </c:pt>
                <c:pt idx="182">
                  <c:v>0.113040884</c:v>
                </c:pt>
                <c:pt idx="183">
                  <c:v>0.1197096494</c:v>
                </c:pt>
                <c:pt idx="184">
                  <c:v>0.1250791562</c:v>
                </c:pt>
                <c:pt idx="185">
                  <c:v>0.1291324854</c:v>
                </c:pt>
                <c:pt idx="186">
                  <c:v>0.1318645736</c:v>
                </c:pt>
                <c:pt idx="187">
                  <c:v>0.1332820054</c:v>
                </c:pt>
                <c:pt idx="188">
                  <c:v>0.1334027163</c:v>
                </c:pt>
                <c:pt idx="189">
                  <c:v>0.1322556077</c:v>
                </c:pt>
                <c:pt idx="190">
                  <c:v>0.1298800802</c:v>
                </c:pt>
                <c:pt idx="191">
                  <c:v>0.1263254894</c:v>
                </c:pt>
                <c:pt idx="192">
                  <c:v>0.1216505285</c:v>
                </c:pt>
                <c:pt idx="193">
                  <c:v>0.1159225457</c:v>
                </c:pt>
                <c:pt idx="194">
                  <c:v>0.109216801</c:v>
                </c:pt>
                <c:pt idx="195">
                  <c:v>0.1016156702</c:v>
                </c:pt>
                <c:pt idx="196">
                  <c:v>0.0932078034</c:v>
                </c:pt>
                <c:pt idx="197">
                  <c:v>0.0840872446</c:v>
                </c:pt>
                <c:pt idx="198">
                  <c:v>0.0743525215</c:v>
                </c:pt>
                <c:pt idx="199">
                  <c:v>0.0641057114</c:v>
                </c:pt>
                <c:pt idx="200">
                  <c:v>0.053451494</c:v>
                </c:pt>
                <c:pt idx="201">
                  <c:v>0.0424961959</c:v>
                </c:pt>
                <c:pt idx="202">
                  <c:v>0.031346838</c:v>
                </c:pt>
                <c:pt idx="203">
                  <c:v>0.0201101903</c:v>
                </c:pt>
                <c:pt idx="204">
                  <c:v>0.0088918454</c:v>
                </c:pt>
                <c:pt idx="205">
                  <c:v>0.0022046846</c:v>
                </c:pt>
                <c:pt idx="206">
                  <c:v>0.0130788392</c:v>
                </c:pt>
                <c:pt idx="207">
                  <c:v>0.0236338425</c:v>
                </c:pt>
                <c:pt idx="208">
                  <c:v>0.0337774901</c:v>
                </c:pt>
                <c:pt idx="209">
                  <c:v>0.0434228861</c:v>
                </c:pt>
                <c:pt idx="210">
                  <c:v>0.0524891231</c:v>
                </c:pt>
                <c:pt idx="211">
                  <c:v>0.0609019</c:v>
                </c:pt>
                <c:pt idx="212">
                  <c:v>0.0685940746</c:v>
                </c:pt>
                <c:pt idx="213">
                  <c:v>0.0755061457</c:v>
                </c:pt>
                <c:pt idx="214">
                  <c:v>0.0815866624</c:v>
                </c:pt>
                <c:pt idx="215">
                  <c:v>0.0867925572</c:v>
                </c:pt>
                <c:pt idx="216">
                  <c:v>0.0910894026</c:v>
                </c:pt>
                <c:pt idx="217">
                  <c:v>0.0944515874</c:v>
                </c:pt>
                <c:pt idx="218">
                  <c:v>0.0968624147</c:v>
                </c:pt>
                <c:pt idx="219">
                  <c:v>0.0983141208</c:v>
                </c:pt>
                <c:pt idx="220">
                  <c:v>0.0988078145</c:v>
                </c:pt>
                <c:pt idx="221">
                  <c:v>0.0983533409</c:v>
                </c:pt>
                <c:pt idx="222">
                  <c:v>0.0969690696</c:v>
                </c:pt>
                <c:pt idx="223">
                  <c:v>0.0946816104</c:v>
                </c:pt>
                <c:pt idx="224">
                  <c:v>0.0915254614</c:v>
                </c:pt>
                <c:pt idx="225">
                  <c:v>0.0875425906</c:v>
                </c:pt>
                <c:pt idx="226">
                  <c:v>0.0827819582</c:v>
                </c:pt>
                <c:pt idx="227">
                  <c:v>0.0772989825</c:v>
                </c:pt>
                <c:pt idx="228">
                  <c:v>0.0711549558</c:v>
                </c:pt>
                <c:pt idx="229">
                  <c:v>0.0644164144</c:v>
                </c:pt>
                <c:pt idx="230">
                  <c:v>0.0571544717</c:v>
                </c:pt>
                <c:pt idx="231">
                  <c:v>0.0494441168</c:v>
                </c:pt>
                <c:pt idx="232">
                  <c:v>0.0413634883</c:v>
                </c:pt>
                <c:pt idx="233">
                  <c:v>0.0329931282</c:v>
                </c:pt>
                <c:pt idx="234">
                  <c:v>0.0244152233</c:v>
                </c:pt>
                <c:pt idx="235">
                  <c:v>0.0157128405</c:v>
                </c:pt>
                <c:pt idx="236">
                  <c:v>0.0069691635</c:v>
                </c:pt>
                <c:pt idx="237">
                  <c:v>0.0017332639</c:v>
                </c:pt>
                <c:pt idx="238">
                  <c:v>0.0103132788</c:v>
                </c:pt>
                <c:pt idx="239">
                  <c:v>0.0186918211</c:v>
                </c:pt>
                <c:pt idx="240">
                  <c:v>0.0267926278</c:v>
                </c:pt>
                <c:pt idx="241">
                  <c:v>0.034542895</c:v>
                </c:pt>
                <c:pt idx="242">
                  <c:v>0.0418739016</c:v>
                </c:pt>
                <c:pt idx="243">
                  <c:v>0.04872159</c:v>
                </c:pt>
                <c:pt idx="244">
                  <c:v>0.0550270988</c:v>
                </c:pt>
                <c:pt idx="245">
                  <c:v>0.0607372429</c:v>
                </c:pt>
                <c:pt idx="246">
                  <c:v>0.0658049384</c:v>
                </c:pt>
                <c:pt idx="247">
                  <c:v>0.070189567</c:v>
                </c:pt>
                <c:pt idx="248">
                  <c:v>0.0738572801</c:v>
                </c:pt>
                <c:pt idx="249">
                  <c:v>0.0767812373</c:v>
                </c:pt>
                <c:pt idx="250">
                  <c:v>0.0789417809</c:v>
                </c:pt>
                <c:pt idx="251">
                  <c:v>0.0803265424</c:v>
                </c:pt>
                <c:pt idx="252">
                  <c:v>0.0809304829</c:v>
                </c:pt>
                <c:pt idx="253">
                  <c:v>0.0807558674</c:v>
                </c:pt>
                <c:pt idx="254">
                  <c:v>0.0798121719</c:v>
                </c:pt>
                <c:pt idx="255">
                  <c:v>0.0781159276</c:v>
                </c:pt>
                <c:pt idx="256">
                  <c:v>0.0756905014</c:v>
                </c:pt>
              </c:numCache>
            </c:numRef>
          </c:yVal>
        </c:ser>
        <c:ser>
          <c:idx val="1"/>
          <c:order val="1"/>
          <c:tx>
            <c:v>M = 16 (large)</c:v>
          </c:tx>
          <c:spPr>
            <a:solidFill xmlns:a="http://schemas.openxmlformats.org/drawingml/2006/main">
              <a:srgbClr val="D26C26"/>
            </a:solidFill>
            <a:ln xmlns:a="http://schemas.openxmlformats.org/drawingml/2006/main" w="0">
              <a:noFill/>
            </a:ln>
          </c:spPr>
          <c:marker>
            <c:symbol val="diamond"/>
            <c:size val="11"/>
            <c:spPr>
              <a:noFill xmlns:a="http://schemas.openxmlformats.org/drawingml/2006/main"/>
            </c:spPr>
          </c:marker>
          <c:xVal>
            <c:numRef>
              <c:f>'Chart Data'!$C$2:$C$10</c:f>
              <c:numCache>
                <c:formatCode>General</c:formatCode>
                <c:ptCount val="9"/>
                <c:pt idx="0">
                  <c:v>0</c:v>
                </c:pt>
                <c:pt idx="1">
                  <c:v>0.0625</c:v>
                </c:pt>
                <c:pt idx="2">
                  <c:v>0.125</c:v>
                </c:pt>
                <c:pt idx="3">
                  <c:v>0.1875</c:v>
                </c:pt>
                <c:pt idx="4">
                  <c:v>0.25</c:v>
                </c:pt>
                <c:pt idx="5">
                  <c:v>0.3125</c:v>
                </c:pt>
                <c:pt idx="6">
                  <c:v>0.375</c:v>
                </c:pt>
                <c:pt idx="7">
                  <c:v>0.4375</c:v>
                </c:pt>
                <c:pt idx="8">
                  <c:v>0.5</c:v>
                </c:pt>
              </c:numCache>
            </c:numRef>
          </c:xVal>
          <c:yVal>
            <c:numRef>
              <c:f>'Chart Data'!$D$2:$D$10</c:f>
              <c:numCache>
                <c:formatCode>0.00</c:formatCode>
                <c:ptCount val="9"/>
                <c:pt idx="0">
                  <c:v>0.0960129433</c:v>
                </c:pt>
                <c:pt idx="1">
                  <c:v>0.1309301237</c:v>
                </c:pt>
                <c:pt idx="2">
                  <c:v>0.2189836935</c:v>
                </c:pt>
                <c:pt idx="3">
                  <c:v>0.7576053703</c:v>
                </c:pt>
                <c:pt idx="4">
                  <c:v>0.505720167</c:v>
                </c:pt>
                <c:pt idx="5">
                  <c:v>0.1923552211</c:v>
                </c:pt>
                <c:pt idx="6">
                  <c:v>0.1216505285</c:v>
                </c:pt>
                <c:pt idx="7">
                  <c:v>0.0915254614</c:v>
                </c:pt>
                <c:pt idx="8">
                  <c:v>0.0756905014</c:v>
                </c:pt>
              </c:numCache>
            </c:numRef>
          </c:yVal>
        </c:ser>
        <c:ser>
          <c:idx val="2"/>
          <c:order val="2"/>
          <c:tx>
            <c:v>M = 64 (small)</c:v>
          </c:tx>
          <c:spPr>
            <a:solidFill xmlns:a="http://schemas.openxmlformats.org/drawingml/2006/main">
              <a:srgbClr val="507C61"/>
            </a:solidFill>
            <a:ln xmlns:a="http://schemas.openxmlformats.org/drawingml/2006/main" w="0">
              <a:noFill/>
            </a:ln>
          </c:spPr>
          <c:marker>
            <c:symbol val="circle"/>
            <c:size val="5"/>
            <c:spPr>
              <a:noFill xmlns:a="http://schemas.openxmlformats.org/drawingml/2006/main"/>
            </c:spPr>
          </c:marker>
          <c:xVal>
            <c:numRef>
              <c:f>'Chart Data'!$E$2:$E$34</c:f>
              <c:numCache>
                <c:formatCode>General</c:formatCode>
                <c:ptCount val="33"/>
                <c:pt idx="0">
                  <c:v>0</c:v>
                </c:pt>
                <c:pt idx="1">
                  <c:v>0.015625</c:v>
                </c:pt>
                <c:pt idx="2">
                  <c:v>0.03125</c:v>
                </c:pt>
                <c:pt idx="3">
                  <c:v>0.046875</c:v>
                </c:pt>
                <c:pt idx="4">
                  <c:v>0.0625</c:v>
                </c:pt>
                <c:pt idx="5">
                  <c:v>0.078125</c:v>
                </c:pt>
                <c:pt idx="6">
                  <c:v>0.09375</c:v>
                </c:pt>
                <c:pt idx="7">
                  <c:v>0.109375</c:v>
                </c:pt>
                <c:pt idx="8">
                  <c:v>0.125</c:v>
                </c:pt>
                <c:pt idx="9">
                  <c:v>0.140625</c:v>
                </c:pt>
                <c:pt idx="10">
                  <c:v>0.15625</c:v>
                </c:pt>
                <c:pt idx="11">
                  <c:v>0.171875</c:v>
                </c:pt>
                <c:pt idx="12">
                  <c:v>0.1875</c:v>
                </c:pt>
                <c:pt idx="13">
                  <c:v>0.203125</c:v>
                </c:pt>
                <c:pt idx="14">
                  <c:v>0.21875</c:v>
                </c:pt>
                <c:pt idx="15">
                  <c:v>0.234375</c:v>
                </c:pt>
                <c:pt idx="16">
                  <c:v>0.25</c:v>
                </c:pt>
                <c:pt idx="17">
                  <c:v>0.265625</c:v>
                </c:pt>
                <c:pt idx="18">
                  <c:v>0.28125</c:v>
                </c:pt>
                <c:pt idx="19">
                  <c:v>0.296875</c:v>
                </c:pt>
                <c:pt idx="20">
                  <c:v>0.3125</c:v>
                </c:pt>
                <c:pt idx="21">
                  <c:v>0.328125</c:v>
                </c:pt>
                <c:pt idx="22">
                  <c:v>0.34375</c:v>
                </c:pt>
                <c:pt idx="23">
                  <c:v>0.359375</c:v>
                </c:pt>
                <c:pt idx="24">
                  <c:v>0.375</c:v>
                </c:pt>
                <c:pt idx="25">
                  <c:v>0.390625</c:v>
                </c:pt>
                <c:pt idx="26">
                  <c:v>0.40625</c:v>
                </c:pt>
                <c:pt idx="27">
                  <c:v>0.421875</c:v>
                </c:pt>
                <c:pt idx="28">
                  <c:v>0.4375</c:v>
                </c:pt>
                <c:pt idx="29">
                  <c:v>0.453125</c:v>
                </c:pt>
                <c:pt idx="30">
                  <c:v>0.46875</c:v>
                </c:pt>
                <c:pt idx="31">
                  <c:v>0.484375</c:v>
                </c:pt>
                <c:pt idx="32">
                  <c:v>0.5</c:v>
                </c:pt>
              </c:numCache>
            </c:numRef>
          </c:xVal>
          <c:yVal>
            <c:numRef>
              <c:f>'Chart Data'!$F$2:$F$34</c:f>
              <c:numCache>
                <c:formatCode>0.00</c:formatCode>
                <c:ptCount val="33"/>
                <c:pt idx="0">
                  <c:v>0.0960129433</c:v>
                </c:pt>
                <c:pt idx="1">
                  <c:v>0.0489370374</c:v>
                </c:pt>
                <c:pt idx="2">
                  <c:v>0.0358230186</c:v>
                </c:pt>
                <c:pt idx="3">
                  <c:v>0.112011308</c:v>
                </c:pt>
                <c:pt idx="4">
                  <c:v>0.1309301237</c:v>
                </c:pt>
                <c:pt idx="5">
                  <c:v>0.0692524825</c:v>
                </c:pt>
                <c:pt idx="6">
                  <c:v>0.0529907418</c:v>
                </c:pt>
                <c:pt idx="7">
                  <c:v>0.1749327615</c:v>
                </c:pt>
                <c:pt idx="8">
                  <c:v>0.2189836935</c:v>
                </c:pt>
                <c:pt idx="9">
                  <c:v>0.1267347967</c:v>
                </c:pt>
                <c:pt idx="10">
                  <c:v>0.1098633154</c:v>
                </c:pt>
                <c:pt idx="11">
                  <c:v>0.4375193963</c:v>
                </c:pt>
                <c:pt idx="12">
                  <c:v>0.7576053703</c:v>
                </c:pt>
                <c:pt idx="13">
                  <c:v>0.9635370586</c:v>
                </c:pt>
                <c:pt idx="14">
                  <c:v>0.9836948494</c:v>
                </c:pt>
                <c:pt idx="15">
                  <c:v>0.8109701435</c:v>
                </c:pt>
                <c:pt idx="16">
                  <c:v>0.505720167</c:v>
                </c:pt>
                <c:pt idx="17">
                  <c:v>0.1708032099</c:v>
                </c:pt>
                <c:pt idx="18">
                  <c:v>0.0901200993</c:v>
                </c:pt>
                <c:pt idx="19">
                  <c:v>0.2125665974</c:v>
                </c:pt>
                <c:pt idx="20">
                  <c:v>0.1923552211</c:v>
                </c:pt>
                <c:pt idx="21">
                  <c:v>0.079857967</c:v>
                </c:pt>
                <c:pt idx="22">
                  <c:v>0.0481936828</c:v>
                </c:pt>
                <c:pt idx="23">
                  <c:v>0.1250791562</c:v>
                </c:pt>
                <c:pt idx="24">
                  <c:v>0.1216505285</c:v>
                </c:pt>
                <c:pt idx="25">
                  <c:v>0.053451494</c:v>
                </c:pt>
                <c:pt idx="26">
                  <c:v>0.0337774901</c:v>
                </c:pt>
                <c:pt idx="27">
                  <c:v>0.0910894026</c:v>
                </c:pt>
                <c:pt idx="28">
                  <c:v>0.0915254614</c:v>
                </c:pt>
                <c:pt idx="29">
                  <c:v>0.0413634883</c:v>
                </c:pt>
                <c:pt idx="30">
                  <c:v>0.0267926278</c:v>
                </c:pt>
                <c:pt idx="31">
                  <c:v>0.0738572801</c:v>
                </c:pt>
                <c:pt idx="32">
                  <c:v>0.0756905014</c:v>
                </c:pt>
              </c:numCache>
            </c:numRef>
          </c:y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FE7ED"/>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Magnitude / 16</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50112"/>
        <c:majorUnit val="0.25"/>
      </c:valAx>
      <c:valAx>
        <c:axId val="48650112"/>
        <c:scaling>
          <c:orientation val="minMax"/>
          <c:max val="0.5"/>
          <c:min val="0"/>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Normalized frequency ω/(2π)</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0"/>
        <c:majorTickMark val="none"/>
        <c:minorTickMark val="none"/>
        <c:spPr>
          <a:ln xmlns:a="http://schemas.openxmlformats.org/drawingml/2006/main" w="9525">
            <a:solidFill>
              <a:srgbClr val="526777"/>
            </a:solidFill>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ptos"/>
                <a:ea typeface="Aptos"/>
                <a:cs typeface="Aptos"/>
              </a:defRPr>
            </a:pPr>
          </a:p>
        </c:txPr>
        <c:crossAx val="48672768"/>
        <c:majorUnit val="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52B3C"/>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4913BF-1BBD-4765-B442-0D8EE4C49339}"/>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The DTFT and the DFT</a:t>
            </a:r>
          </a:p>
        </p:txBody>
      </p:sp>
      <p:sp>
        <p:nvSpPr>
          <p:cNvPr id="2" name="">
            <a:extLst xmlns:a="http://schemas.openxmlformats.org/drawingml/2006/main">
              <a:ext uri="{FF2B5EF4-FFF2-40B4-BE49-F238E27FC236}">
                <a16:creationId xmlns:a16="http://schemas.microsoft.com/office/drawing/2014/main" id="{128D8B81-9355-4228-B72E-D2B9A2E630FD}"/>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2C71DA71-BD09-43B3-8B48-72AD028E2763}"/>
              </a:ext>
            </a:extLst>
          </p:cNvPr>
          <p:cNvSpPr>
            <a:spLocks xmlns:a="http://schemas.openxmlformats.org/drawingml/2006/main" noGrp="1"/>
          </p:cNvSpPr>
          <p:nvPr/>
        </p:nvSpPr>
        <p:spPr>
          <a:xfrm xmlns:a="http://schemas.openxmlformats.org/drawingml/2006/main">
            <a:off x="723900" y="22098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0">
                <a:solidFill>
                  <a:srgbClr val="176FA8"/>
                </a:solidFill>
                <a:latin typeface="Aptos"/>
                <a:ea typeface="Aptos"/>
                <a:cs typeface="Aptos"/>
              </a:defRPr>
            </a:pPr>
            <a:r>
              <a:rPr sz="3675" b="0">
                <a:solidFill>
                  <a:srgbClr val="176FA8"/>
                </a:solidFill>
                <a:latin typeface="Aptos"/>
                <a:ea typeface="Aptos"/>
                <a:cs typeface="Aptos"/>
              </a:rPr>
              <a:t>A finite spectrum for a finite record</a:t>
            </a:r>
          </a:p>
        </p:txBody>
      </p:sp>
      <p:sp>
        <p:nvSpPr>
          <p:cNvPr id="4" name="">
            <a:extLst xmlns:a="http://schemas.openxmlformats.org/drawingml/2006/main">
              <a:ext uri="{FF2B5EF4-FFF2-40B4-BE49-F238E27FC236}">
                <a16:creationId xmlns:a16="http://schemas.microsoft.com/office/drawing/2014/main" id="{5C83D181-7A75-4414-B6C2-C7341B515FEA}"/>
              </a:ext>
            </a:extLst>
          </p:cNvPr>
          <p:cNvSpPr>
            <a:spLocks xmlns:a="http://schemas.openxmlformats.org/drawingml/2006/main" noGrp="1"/>
          </p:cNvSpPr>
          <p:nvPr/>
        </p:nvSpPr>
        <p:spPr>
          <a:xfrm xmlns:a="http://schemas.openxmlformats.org/drawingml/2006/main">
            <a:off x="723900" y="3371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Senior electrical engineering · Digital signal processing</a:t>
            </a:r>
          </a:p>
        </p:txBody>
      </p:sp>
      <p:sp>
        <p:nvSpPr>
          <p:cNvPr id="5" name="">
            <a:extLst xmlns:a="http://schemas.openxmlformats.org/drawingml/2006/main">
              <a:ext uri="{FF2B5EF4-FFF2-40B4-BE49-F238E27FC236}">
                <a16:creationId xmlns:a16="http://schemas.microsoft.com/office/drawing/2014/main" id="{190CB6EA-7FFF-4498-B5DB-E8AB1A97A1C9}"/>
              </a:ext>
            </a:extLst>
          </p:cNvPr>
          <p:cNvSpPr>
            <a:spLocks xmlns:a="http://schemas.openxmlformats.org/drawingml/2006/main" noGrp="1"/>
          </p:cNvSpPr>
          <p:nvPr/>
        </p:nvSpPr>
        <p:spPr>
          <a:xfrm xmlns:a="http://schemas.openxmlformats.org/drawingml/2006/main">
            <a:off x="723900" y="41624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526777"/>
                </a:solidFill>
                <a:latin typeface="Aptos"/>
                <a:ea typeface="Aptos"/>
                <a:cs typeface="Aptos"/>
              </a:defRPr>
            </a:pPr>
            <a:r>
              <a:rPr sz="2025" b="0">
                <a:solidFill>
                  <a:srgbClr val="526777"/>
                </a:solidFill>
                <a:latin typeface="Aptos"/>
                <a:ea typeface="Aptos"/>
                <a:cs typeface="Aptos"/>
              </a:rPr>
              <a:t>30-minute introduction</a:t>
            </a:r>
          </a:p>
        </p:txBody>
      </p:sp>
    </p:spTree>
    <p:extLst>
      <p:ext uri="{BB962C8B-B14F-4D97-AF65-F5344CB8AC3E}">
        <p14:creationId xmlns:p14="http://schemas.microsoft.com/office/powerpoint/2010/main" val="19270382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A10A8F-097D-4FEA-B906-E12E10AE0A0B}"/>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DTFT review</a:t>
            </a:r>
          </a:p>
        </p:txBody>
      </p:sp>
      <p:sp>
        <p:nvSpPr>
          <p:cNvPr id="2" name="">
            <a:extLst xmlns:a="http://schemas.openxmlformats.org/drawingml/2006/main">
              <a:ext uri="{FF2B5EF4-FFF2-40B4-BE49-F238E27FC236}">
                <a16:creationId xmlns:a16="http://schemas.microsoft.com/office/drawing/2014/main" id="{B50EE083-D6D0-4EFE-B1CC-F4994F8FC1E6}"/>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1259B2A0-7612-4F9E-9C4D-B2DAFA86F73C}"/>
              </a:ext>
            </a:extLst>
          </p:cNvPr>
          <p:cNvSpPr>
            <a:spLocks xmlns:a="http://schemas.openxmlformats.org/drawingml/2006/main" noGrp="1"/>
          </p:cNvSpPr>
          <p:nvPr/>
        </p:nvSpPr>
        <p:spPr>
          <a:xfrm xmlns:a="http://schemas.openxmlformats.org/drawingml/2006/main">
            <a:off x="723900" y="1381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26777"/>
                </a:solidFill>
                <a:latin typeface="Aptos"/>
                <a:ea typeface="Aptos"/>
                <a:cs typeface="Aptos"/>
              </a:defRPr>
            </a:pPr>
            <a:r>
              <a:rPr sz="1950" b="0">
                <a:solidFill>
                  <a:srgbClr val="526777"/>
                </a:solidFill>
                <a:latin typeface="Aptos"/>
                <a:ea typeface="Aptos"/>
                <a:cs typeface="Aptos"/>
              </a:rPr>
              <a:t>Notation: X(ω) denotes the DTFT, usually written X(exp(jω)).</a:t>
            </a:r>
          </a:p>
        </p:txBody>
      </p:sp>
      <p:sp>
        <p:nvSpPr>
          <p:cNvPr id="4" name="">
            <a:extLst xmlns:a="http://schemas.openxmlformats.org/drawingml/2006/main">
              <a:ext uri="{FF2B5EF4-FFF2-40B4-BE49-F238E27FC236}">
                <a16:creationId xmlns:a16="http://schemas.microsoft.com/office/drawing/2014/main" id="{D8B011ED-A55C-45A8-A4F5-E654DC51771E}"/>
              </a:ext>
            </a:extLst>
          </p:cNvPr>
          <p:cNvSpPr>
            <a:spLocks xmlns:a="http://schemas.openxmlformats.org/drawingml/2006/main" noGrp="1"/>
          </p:cNvSpPr>
          <p:nvPr/>
        </p:nvSpPr>
        <p:spPr>
          <a:xfrm xmlns:a="http://schemas.openxmlformats.org/drawingml/2006/main">
            <a:off x="723900" y="2409825"/>
            <a:ext cx="1287018"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0">
                <a:solidFill>
                  <a:srgbClr val="176FA8"/>
                </a:solidFill>
                <a:latin typeface="Aptos"/>
                <a:ea typeface="Aptos"/>
                <a:cs typeface="Aptos"/>
              </a:defRPr>
            </a:pPr>
            <a:r>
              <a:rPr sz="2850" b="0">
                <a:solidFill>
                  <a:srgbClr val="176FA8"/>
                </a:solidFill>
                <a:latin typeface="Aptos"/>
                <a:ea typeface="Aptos"/>
                <a:cs typeface="Aptos"/>
              </a:rPr>
              <a:t>X(ω) =</a:t>
            </a:r>
          </a:p>
        </p:txBody>
      </p:sp>
      <p:sp>
        <p:nvSpPr>
          <p:cNvPr id="5" name="">
            <a:extLst xmlns:a="http://schemas.openxmlformats.org/drawingml/2006/main">
              <a:ext uri="{FF2B5EF4-FFF2-40B4-BE49-F238E27FC236}">
                <a16:creationId xmlns:a16="http://schemas.microsoft.com/office/drawing/2014/main" id="{266398FE-03C1-4A24-BC90-6B98E8805543}"/>
              </a:ext>
            </a:extLst>
          </p:cNvPr>
          <p:cNvSpPr>
            <a:spLocks xmlns:a="http://schemas.openxmlformats.org/drawingml/2006/main" noGrp="1"/>
          </p:cNvSpPr>
          <p:nvPr/>
        </p:nvSpPr>
        <p:spPr>
          <a:xfrm xmlns:a="http://schemas.openxmlformats.org/drawingml/2006/main">
            <a:off x="1991868" y="23812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825" b="0">
                <a:solidFill>
                  <a:srgbClr val="176FA8"/>
                </a:solidFill>
                <a:latin typeface="Aptos"/>
                <a:ea typeface="Aptos"/>
                <a:cs typeface="Aptos"/>
              </a:defRPr>
            </a:pPr>
            <a:r>
              <a:rPr sz="3825" b="0">
                <a:solidFill>
                  <a:srgbClr val="176FA8"/>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92F92C58-AF98-4590-8E99-D97F5F76803D}"/>
              </a:ext>
            </a:extLst>
          </p:cNvPr>
          <p:cNvSpPr>
            <a:spLocks xmlns:a="http://schemas.openxmlformats.org/drawingml/2006/main" noGrp="1"/>
          </p:cNvSpPr>
          <p:nvPr/>
        </p:nvSpPr>
        <p:spPr>
          <a:xfrm xmlns:a="http://schemas.openxmlformats.org/drawingml/2006/main">
            <a:off x="1963293" y="2190750"/>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a:t>
            </a:r>
          </a:p>
        </p:txBody>
      </p:sp>
      <p:sp>
        <p:nvSpPr>
          <p:cNvPr id="7" name="">
            <a:extLst xmlns:a="http://schemas.openxmlformats.org/drawingml/2006/main">
              <a:ext uri="{FF2B5EF4-FFF2-40B4-BE49-F238E27FC236}">
                <a16:creationId xmlns:a16="http://schemas.microsoft.com/office/drawing/2014/main" id="{4B90AA89-9141-4E8A-94F3-ED8280CB9A2A}"/>
              </a:ext>
            </a:extLst>
          </p:cNvPr>
          <p:cNvSpPr>
            <a:spLocks xmlns:a="http://schemas.openxmlformats.org/drawingml/2006/main" noGrp="1"/>
          </p:cNvSpPr>
          <p:nvPr/>
        </p:nvSpPr>
        <p:spPr>
          <a:xfrm xmlns:a="http://schemas.openxmlformats.org/drawingml/2006/main">
            <a:off x="1963293" y="28765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a:t>
            </a:r>
          </a:p>
        </p:txBody>
      </p:sp>
      <p:sp>
        <p:nvSpPr>
          <p:cNvPr id="8" name="">
            <a:extLst xmlns:a="http://schemas.openxmlformats.org/drawingml/2006/main">
              <a:ext uri="{FF2B5EF4-FFF2-40B4-BE49-F238E27FC236}">
                <a16:creationId xmlns:a16="http://schemas.microsoft.com/office/drawing/2014/main" id="{B74880A7-4D13-4E1A-A7CD-CCF128134B6A}"/>
              </a:ext>
            </a:extLst>
          </p:cNvPr>
          <p:cNvSpPr>
            <a:spLocks xmlns:a="http://schemas.openxmlformats.org/drawingml/2006/main" noGrp="1"/>
          </p:cNvSpPr>
          <p:nvPr/>
        </p:nvSpPr>
        <p:spPr>
          <a:xfrm xmlns:a="http://schemas.openxmlformats.org/drawingml/2006/main">
            <a:off x="2677668" y="2428875"/>
            <a:ext cx="8809482"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0">
                <a:solidFill>
                  <a:srgbClr val="176FA8"/>
                </a:solidFill>
                <a:latin typeface="Aptos"/>
                <a:ea typeface="Aptos"/>
                <a:cs typeface="Aptos"/>
              </a:defRPr>
            </a:pPr>
            <a:r>
              <a:rPr sz="2850" b="0">
                <a:solidFill>
                  <a:srgbClr val="176FA8"/>
                </a:solidFill>
                <a:latin typeface="Aptos"/>
                <a:ea typeface="Aptos"/>
                <a:cs typeface="Aptos"/>
              </a:rPr>
              <a:t>x[n] exp(−jωn)</a:t>
            </a:r>
          </a:p>
        </p:txBody>
      </p:sp>
      <p:sp>
        <p:nvSpPr>
          <p:cNvPr id="9" name="">
            <a:extLst xmlns:a="http://schemas.openxmlformats.org/drawingml/2006/main">
              <a:ext uri="{FF2B5EF4-FFF2-40B4-BE49-F238E27FC236}">
                <a16:creationId xmlns:a16="http://schemas.microsoft.com/office/drawing/2014/main" id="{39215F5E-ED06-46F0-8CC1-1102842144E4}"/>
              </a:ext>
            </a:extLst>
          </p:cNvPr>
          <p:cNvSpPr>
            <a:spLocks xmlns:a="http://schemas.openxmlformats.org/drawingml/2006/main" noGrp="1"/>
          </p:cNvSpPr>
          <p:nvPr/>
        </p:nvSpPr>
        <p:spPr>
          <a:xfrm xmlns:a="http://schemas.openxmlformats.org/drawingml/2006/main">
            <a:off x="723900" y="38576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52B3C"/>
                </a:solidFill>
                <a:latin typeface="Aptos"/>
                <a:ea typeface="Aptos"/>
                <a:cs typeface="Aptos"/>
              </a:defRPr>
            </a:pPr>
            <a:r>
              <a:rPr sz="2325" b="0">
                <a:solidFill>
                  <a:srgbClr val="152B3C"/>
                </a:solidFill>
                <a:latin typeface="Aptos"/>
                <a:ea typeface="Aptos"/>
                <a:cs typeface="Aptos"/>
              </a:rPr>
              <a:t>Discrete time index n, continuous frequency ω</a:t>
            </a:r>
          </a:p>
        </p:txBody>
      </p:sp>
      <p:sp>
        <p:nvSpPr>
          <p:cNvPr id="10" name="">
            <a:extLst xmlns:a="http://schemas.openxmlformats.org/drawingml/2006/main">
              <a:ext uri="{FF2B5EF4-FFF2-40B4-BE49-F238E27FC236}">
                <a16:creationId xmlns:a16="http://schemas.microsoft.com/office/drawing/2014/main" id="{2C85B995-462E-492E-B14D-59D10E2C978F}"/>
              </a:ext>
            </a:extLst>
          </p:cNvPr>
          <p:cNvSpPr>
            <a:spLocks xmlns:a="http://schemas.openxmlformats.org/drawingml/2006/main" noGrp="1"/>
          </p:cNvSpPr>
          <p:nvPr/>
        </p:nvSpPr>
        <p:spPr>
          <a:xfrm xmlns:a="http://schemas.openxmlformats.org/drawingml/2006/main">
            <a:off x="723900" y="44767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52B3C"/>
                </a:solidFill>
                <a:latin typeface="Aptos"/>
                <a:ea typeface="Aptos"/>
                <a:cs typeface="Aptos"/>
              </a:defRPr>
            </a:pPr>
            <a:r>
              <a:rPr sz="2325" b="0">
                <a:solidFill>
                  <a:srgbClr val="152B3C"/>
                </a:solidFill>
                <a:latin typeface="Aptos"/>
                <a:ea typeface="Aptos"/>
                <a:cs typeface="Aptos"/>
              </a:rPr>
              <a:t>Periodicity: X(ω + 2π) = X(ω)</a:t>
            </a:r>
          </a:p>
        </p:txBody>
      </p:sp>
      <p:sp>
        <p:nvSpPr>
          <p:cNvPr id="11" name="">
            <a:extLst xmlns:a="http://schemas.openxmlformats.org/drawingml/2006/main">
              <a:ext uri="{FF2B5EF4-FFF2-40B4-BE49-F238E27FC236}">
                <a16:creationId xmlns:a16="http://schemas.microsoft.com/office/drawing/2014/main" id="{67AB04DE-104E-477F-8BB7-C7A71B91BF6D}"/>
              </a:ext>
            </a:extLst>
          </p:cNvPr>
          <p:cNvSpPr>
            <a:spLocks xmlns:a="http://schemas.openxmlformats.org/drawingml/2006/main" noGrp="1"/>
          </p:cNvSpPr>
          <p:nvPr/>
        </p:nvSpPr>
        <p:spPr>
          <a:xfrm xmlns:a="http://schemas.openxmlformats.org/drawingml/2006/main">
            <a:off x="723900" y="50958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52B3C"/>
                </a:solidFill>
                <a:latin typeface="Aptos"/>
                <a:ea typeface="Aptos"/>
                <a:cs typeface="Aptos"/>
              </a:defRPr>
            </a:pPr>
            <a:r>
              <a:rPr sz="2325" b="0">
                <a:solidFill>
                  <a:srgbClr val="152B3C"/>
                </a:solidFill>
                <a:latin typeface="Aptos"/>
                <a:ea typeface="Aptos"/>
                <a:cs typeface="Aptos"/>
              </a:rPr>
              <a:t>One period contains the full DTFT.</a:t>
            </a:r>
          </a:p>
        </p:txBody>
      </p:sp>
    </p:spTree>
    <p:extLst>
      <p:ext uri="{BB962C8B-B14F-4D97-AF65-F5344CB8AC3E}">
        <p14:creationId xmlns:p14="http://schemas.microsoft.com/office/powerpoint/2010/main" val="7132308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F15860-542F-403A-A344-5084D51FAE33}"/>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A finite observation changes the signal</a:t>
            </a:r>
          </a:p>
        </p:txBody>
      </p:sp>
      <p:sp>
        <p:nvSpPr>
          <p:cNvPr id="2" name="">
            <a:extLst xmlns:a="http://schemas.openxmlformats.org/drawingml/2006/main">
              <a:ext uri="{FF2B5EF4-FFF2-40B4-BE49-F238E27FC236}">
                <a16:creationId xmlns:a16="http://schemas.microsoft.com/office/drawing/2014/main" id="{096A8C08-B87E-4927-8FAB-F28857737640}"/>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076C4446-A0C7-4801-8120-85D50A52B594}"/>
              </a:ext>
            </a:extLst>
          </p:cNvPr>
          <p:cNvSpPr>
            <a:spLocks xmlns:a="http://schemas.openxmlformats.org/drawingml/2006/main" noGrp="1"/>
          </p:cNvSpPr>
          <p:nvPr/>
        </p:nvSpPr>
        <p:spPr>
          <a:xfrm xmlns:a="http://schemas.openxmlformats.org/drawingml/2006/main">
            <a:off x="723900" y="16573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76FA8"/>
                </a:solidFill>
                <a:latin typeface="Aptos"/>
                <a:ea typeface="Aptos"/>
                <a:cs typeface="Aptos"/>
              </a:defRPr>
            </a:pPr>
            <a:r>
              <a:rPr sz="2325" b="0">
                <a:solidFill>
                  <a:srgbClr val="176FA8"/>
                </a:solidFill>
                <a:latin typeface="Aptos"/>
                <a:ea typeface="Aptos"/>
                <a:cs typeface="Aptos"/>
              </a:rPr>
              <a:t>Finite record: xᵣ[n] = x[n] for 0 ≤ n ≤ N − 1, and 0 otherwise</a:t>
            </a:r>
          </a:p>
        </p:txBody>
      </p:sp>
      <p:sp>
        <p:nvSpPr>
          <p:cNvPr id="4" name="">
            <a:extLst xmlns:a="http://schemas.openxmlformats.org/drawingml/2006/main">
              <a:ext uri="{FF2B5EF4-FFF2-40B4-BE49-F238E27FC236}">
                <a16:creationId xmlns:a16="http://schemas.microsoft.com/office/drawing/2014/main" id="{6CB00DB1-CE60-44B5-B5C5-AD8B414808B3}"/>
              </a:ext>
            </a:extLst>
          </p:cNvPr>
          <p:cNvSpPr>
            <a:spLocks xmlns:a="http://schemas.openxmlformats.org/drawingml/2006/main" noGrp="1"/>
          </p:cNvSpPr>
          <p:nvPr/>
        </p:nvSpPr>
        <p:spPr>
          <a:xfrm xmlns:a="http://schemas.openxmlformats.org/drawingml/2006/main">
            <a:off x="723900" y="2771775"/>
            <a:ext cx="1374458"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25" b="0">
                <a:solidFill>
                  <a:srgbClr val="176FA8"/>
                </a:solidFill>
                <a:latin typeface="Aptos"/>
                <a:ea typeface="Aptos"/>
                <a:cs typeface="Aptos"/>
              </a:defRPr>
            </a:pPr>
            <a:r>
              <a:rPr sz="2625" b="0">
                <a:solidFill>
                  <a:srgbClr val="176FA8"/>
                </a:solidFill>
                <a:latin typeface="Aptos"/>
                <a:ea typeface="Aptos"/>
                <a:cs typeface="Aptos"/>
              </a:rPr>
              <a:t>Xᵣ(ω) =</a:t>
            </a:r>
          </a:p>
        </p:txBody>
      </p:sp>
      <p:sp>
        <p:nvSpPr>
          <p:cNvPr id="5" name="">
            <a:extLst xmlns:a="http://schemas.openxmlformats.org/drawingml/2006/main">
              <a:ext uri="{FF2B5EF4-FFF2-40B4-BE49-F238E27FC236}">
                <a16:creationId xmlns:a16="http://schemas.microsoft.com/office/drawing/2014/main" id="{BFA6A773-7B35-4151-AEDA-7FE144541E8D}"/>
              </a:ext>
            </a:extLst>
          </p:cNvPr>
          <p:cNvSpPr>
            <a:spLocks xmlns:a="http://schemas.openxmlformats.org/drawingml/2006/main" noGrp="1"/>
          </p:cNvSpPr>
          <p:nvPr/>
        </p:nvSpPr>
        <p:spPr>
          <a:xfrm xmlns:a="http://schemas.openxmlformats.org/drawingml/2006/main">
            <a:off x="2079308" y="274320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0">
                <a:solidFill>
                  <a:srgbClr val="176FA8"/>
                </a:solidFill>
                <a:latin typeface="Aptos"/>
                <a:ea typeface="Aptos"/>
                <a:cs typeface="Aptos"/>
              </a:defRPr>
            </a:pPr>
            <a:r>
              <a:rPr sz="3600" b="0">
                <a:solidFill>
                  <a:srgbClr val="176FA8"/>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B8347E01-275F-4AE5-9A93-1E378E552F10}"/>
              </a:ext>
            </a:extLst>
          </p:cNvPr>
          <p:cNvSpPr>
            <a:spLocks xmlns:a="http://schemas.openxmlformats.org/drawingml/2006/main" noGrp="1"/>
          </p:cNvSpPr>
          <p:nvPr/>
        </p:nvSpPr>
        <p:spPr>
          <a:xfrm xmlns:a="http://schemas.openxmlformats.org/drawingml/2006/main">
            <a:off x="2050733" y="2552700"/>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− 1</a:t>
            </a:r>
          </a:p>
        </p:txBody>
      </p:sp>
      <p:sp>
        <p:nvSpPr>
          <p:cNvPr id="7" name="">
            <a:extLst xmlns:a="http://schemas.openxmlformats.org/drawingml/2006/main">
              <a:ext uri="{FF2B5EF4-FFF2-40B4-BE49-F238E27FC236}">
                <a16:creationId xmlns:a16="http://schemas.microsoft.com/office/drawing/2014/main" id="{4DAB3F40-7CA1-4417-8E87-59F8021C2986}"/>
              </a:ext>
            </a:extLst>
          </p:cNvPr>
          <p:cNvSpPr>
            <a:spLocks xmlns:a="http://schemas.openxmlformats.org/drawingml/2006/main" noGrp="1"/>
          </p:cNvSpPr>
          <p:nvPr/>
        </p:nvSpPr>
        <p:spPr>
          <a:xfrm xmlns:a="http://schemas.openxmlformats.org/drawingml/2006/main">
            <a:off x="2050733" y="3238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0</a:t>
            </a:r>
          </a:p>
        </p:txBody>
      </p:sp>
      <p:sp>
        <p:nvSpPr>
          <p:cNvPr id="8" name="">
            <a:extLst xmlns:a="http://schemas.openxmlformats.org/drawingml/2006/main">
              <a:ext uri="{FF2B5EF4-FFF2-40B4-BE49-F238E27FC236}">
                <a16:creationId xmlns:a16="http://schemas.microsoft.com/office/drawing/2014/main" id="{C8DC723F-2A2C-4472-BD5E-5FFAF8455E24}"/>
              </a:ext>
            </a:extLst>
          </p:cNvPr>
          <p:cNvSpPr>
            <a:spLocks xmlns:a="http://schemas.openxmlformats.org/drawingml/2006/main" noGrp="1"/>
          </p:cNvSpPr>
          <p:nvPr/>
        </p:nvSpPr>
        <p:spPr>
          <a:xfrm xmlns:a="http://schemas.openxmlformats.org/drawingml/2006/main">
            <a:off x="2765108" y="2790825"/>
            <a:ext cx="8722043"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25" b="0">
                <a:solidFill>
                  <a:srgbClr val="176FA8"/>
                </a:solidFill>
                <a:latin typeface="Aptos"/>
                <a:ea typeface="Aptos"/>
                <a:cs typeface="Aptos"/>
              </a:defRPr>
            </a:pPr>
            <a:r>
              <a:rPr sz="2625" b="0">
                <a:solidFill>
                  <a:srgbClr val="176FA8"/>
                </a:solidFill>
                <a:latin typeface="Aptos"/>
                <a:ea typeface="Aptos"/>
                <a:cs typeface="Aptos"/>
              </a:rPr>
              <a:t>xᵣ[n] exp(−jωn)</a:t>
            </a:r>
          </a:p>
        </p:txBody>
      </p:sp>
      <p:sp>
        <p:nvSpPr>
          <p:cNvPr id="9" name="">
            <a:extLst xmlns:a="http://schemas.openxmlformats.org/drawingml/2006/main">
              <a:ext uri="{FF2B5EF4-FFF2-40B4-BE49-F238E27FC236}">
                <a16:creationId xmlns:a16="http://schemas.microsoft.com/office/drawing/2014/main" id="{413E9CAF-A08D-42E3-ACA4-3F8BC4BAE177}"/>
              </a:ext>
            </a:extLst>
          </p:cNvPr>
          <p:cNvSpPr>
            <a:spLocks xmlns:a="http://schemas.openxmlformats.org/drawingml/2006/main" noGrp="1"/>
          </p:cNvSpPr>
          <p:nvPr/>
        </p:nvSpPr>
        <p:spPr>
          <a:xfrm xmlns:a="http://schemas.openxmlformats.org/drawingml/2006/main">
            <a:off x="723900" y="43434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The sum is finite. Its frequency argument remains continuous.</a:t>
            </a:r>
          </a:p>
        </p:txBody>
      </p:sp>
      <p:sp>
        <p:nvSpPr>
          <p:cNvPr id="10" name="">
            <a:extLst xmlns:a="http://schemas.openxmlformats.org/drawingml/2006/main">
              <a:ext uri="{FF2B5EF4-FFF2-40B4-BE49-F238E27FC236}">
                <a16:creationId xmlns:a16="http://schemas.microsoft.com/office/drawing/2014/main" id="{577E26ED-8858-45BD-AF06-70E066ED83ED}"/>
              </a:ext>
            </a:extLst>
          </p:cNvPr>
          <p:cNvSpPr>
            <a:spLocks xmlns:a="http://schemas.openxmlformats.org/drawingml/2006/main" noGrp="1"/>
          </p:cNvSpPr>
          <p:nvPr/>
        </p:nvSpPr>
        <p:spPr>
          <a:xfrm xmlns:a="http://schemas.openxmlformats.org/drawingml/2006/main">
            <a:off x="723900" y="51244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Windowing determines which signal’s spectrum we compute.</a:t>
            </a:r>
          </a:p>
        </p:txBody>
      </p:sp>
    </p:spTree>
    <p:extLst>
      <p:ext uri="{BB962C8B-B14F-4D97-AF65-F5344CB8AC3E}">
        <p14:creationId xmlns:p14="http://schemas.microsoft.com/office/powerpoint/2010/main" val="4902324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144101-66BD-40EA-8CD0-A97A5AA411F2}"/>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Equally spaced DTFT samples define the DFT</a:t>
            </a:r>
          </a:p>
        </p:txBody>
      </p:sp>
      <p:sp>
        <p:nvSpPr>
          <p:cNvPr id="2" name="">
            <a:extLst xmlns:a="http://schemas.openxmlformats.org/drawingml/2006/main">
              <a:ext uri="{FF2B5EF4-FFF2-40B4-BE49-F238E27FC236}">
                <a16:creationId xmlns:a16="http://schemas.microsoft.com/office/drawing/2014/main" id="{A3E45E23-758A-4E73-9C3C-DBEF7748F41C}"/>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6FF45BEA-FC17-46CC-8686-C68D80DACC20}"/>
              </a:ext>
            </a:extLst>
          </p:cNvPr>
          <p:cNvSpPr>
            <a:spLocks xmlns:a="http://schemas.openxmlformats.org/drawingml/2006/main" noGrp="1"/>
          </p:cNvSpPr>
          <p:nvPr/>
        </p:nvSpPr>
        <p:spPr>
          <a:xfrm xmlns:a="http://schemas.openxmlformats.org/drawingml/2006/main">
            <a:off x="723900" y="15621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0">
                <a:solidFill>
                  <a:srgbClr val="176FA8"/>
                </a:solidFill>
                <a:latin typeface="Aptos"/>
                <a:ea typeface="Aptos"/>
                <a:cs typeface="Aptos"/>
              </a:defRPr>
            </a:pPr>
            <a:r>
              <a:rPr sz="2700" b="0">
                <a:solidFill>
                  <a:srgbClr val="176FA8"/>
                </a:solidFill>
                <a:latin typeface="Aptos"/>
                <a:ea typeface="Aptos"/>
                <a:cs typeface="Aptos"/>
              </a:rPr>
              <a:t>ωₖ = 2πk/N,     k = 0, 1, …, N − 1</a:t>
            </a:r>
          </a:p>
        </p:txBody>
      </p:sp>
      <p:sp>
        <p:nvSpPr>
          <p:cNvPr id="4" name="">
            <a:extLst xmlns:a="http://schemas.openxmlformats.org/drawingml/2006/main">
              <a:ext uri="{FF2B5EF4-FFF2-40B4-BE49-F238E27FC236}">
                <a16:creationId xmlns:a16="http://schemas.microsoft.com/office/drawing/2014/main" id="{AB8B01D5-3519-4232-9921-A0FA1756E472}"/>
              </a:ext>
            </a:extLst>
          </p:cNvPr>
          <p:cNvSpPr>
            <a:spLocks xmlns:a="http://schemas.openxmlformats.org/drawingml/2006/main" noGrp="1"/>
          </p:cNvSpPr>
          <p:nvPr/>
        </p:nvSpPr>
        <p:spPr>
          <a:xfrm xmlns:a="http://schemas.openxmlformats.org/drawingml/2006/main">
            <a:off x="723900" y="25812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0">
                <a:solidFill>
                  <a:srgbClr val="176FA8"/>
                </a:solidFill>
                <a:latin typeface="Aptos"/>
                <a:ea typeface="Aptos"/>
                <a:cs typeface="Aptos"/>
              </a:defRPr>
            </a:pPr>
            <a:r>
              <a:rPr sz="3150" b="0">
                <a:solidFill>
                  <a:srgbClr val="176FA8"/>
                </a:solidFill>
                <a:latin typeface="Aptos"/>
                <a:ea typeface="Aptos"/>
                <a:cs typeface="Aptos"/>
              </a:rPr>
              <a:t>X[k] = Xᵣ(ωₖ)</a:t>
            </a:r>
          </a:p>
        </p:txBody>
      </p:sp>
      <p:sp>
        <p:nvSpPr>
          <p:cNvPr id="5" name="">
            <a:extLst xmlns:a="http://schemas.openxmlformats.org/drawingml/2006/main">
              <a:ext uri="{FF2B5EF4-FFF2-40B4-BE49-F238E27FC236}">
                <a16:creationId xmlns:a16="http://schemas.microsoft.com/office/drawing/2014/main" id="{81F69D42-14C5-4BCF-BDC4-D98442065249}"/>
              </a:ext>
            </a:extLst>
          </p:cNvPr>
          <p:cNvSpPr>
            <a:spLocks xmlns:a="http://schemas.openxmlformats.org/drawingml/2006/main" noGrp="1"/>
          </p:cNvSpPr>
          <p:nvPr/>
        </p:nvSpPr>
        <p:spPr>
          <a:xfrm xmlns:a="http://schemas.openxmlformats.org/drawingml/2006/main">
            <a:off x="723900" y="3714750"/>
            <a:ext cx="1163574"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76FA8"/>
                </a:solidFill>
                <a:latin typeface="Aptos"/>
                <a:ea typeface="Aptos"/>
                <a:cs typeface="Aptos"/>
              </a:defRPr>
            </a:pPr>
            <a:r>
              <a:rPr sz="2550" b="0">
                <a:solidFill>
                  <a:srgbClr val="176FA8"/>
                </a:solidFill>
                <a:latin typeface="Aptos"/>
                <a:ea typeface="Aptos"/>
                <a:cs typeface="Aptos"/>
              </a:rPr>
              <a:t>X[k] =</a:t>
            </a:r>
          </a:p>
        </p:txBody>
      </p:sp>
      <p:sp>
        <p:nvSpPr>
          <p:cNvPr id="6" name="">
            <a:extLst xmlns:a="http://schemas.openxmlformats.org/drawingml/2006/main">
              <a:ext uri="{FF2B5EF4-FFF2-40B4-BE49-F238E27FC236}">
                <a16:creationId xmlns:a16="http://schemas.microsoft.com/office/drawing/2014/main" id="{08B2D3AB-626F-413F-AAAD-99C70945139C}"/>
              </a:ext>
            </a:extLst>
          </p:cNvPr>
          <p:cNvSpPr>
            <a:spLocks xmlns:a="http://schemas.openxmlformats.org/drawingml/2006/main" noGrp="1"/>
          </p:cNvSpPr>
          <p:nvPr/>
        </p:nvSpPr>
        <p:spPr>
          <a:xfrm xmlns:a="http://schemas.openxmlformats.org/drawingml/2006/main">
            <a:off x="1868424" y="3686175"/>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525" b="0">
                <a:solidFill>
                  <a:srgbClr val="176FA8"/>
                </a:solidFill>
                <a:latin typeface="Aptos"/>
                <a:ea typeface="Aptos"/>
                <a:cs typeface="Aptos"/>
              </a:defRPr>
            </a:pPr>
            <a:r>
              <a:rPr sz="3525" b="0">
                <a:solidFill>
                  <a:srgbClr val="176FA8"/>
                </a:solidFill>
                <a:latin typeface="Aptos"/>
                <a:ea typeface="Aptos"/>
                <a:cs typeface="Aptos"/>
              </a:rPr>
              <a:t>∑</a:t>
            </a:r>
          </a:p>
        </p:txBody>
      </p:sp>
      <p:sp>
        <p:nvSpPr>
          <p:cNvPr id="7" name="">
            <a:extLst xmlns:a="http://schemas.openxmlformats.org/drawingml/2006/main">
              <a:ext uri="{FF2B5EF4-FFF2-40B4-BE49-F238E27FC236}">
                <a16:creationId xmlns:a16="http://schemas.microsoft.com/office/drawing/2014/main" id="{E2D1CB87-0A54-4948-A736-EB929874A703}"/>
              </a:ext>
            </a:extLst>
          </p:cNvPr>
          <p:cNvSpPr>
            <a:spLocks xmlns:a="http://schemas.openxmlformats.org/drawingml/2006/main" noGrp="1"/>
          </p:cNvSpPr>
          <p:nvPr/>
        </p:nvSpPr>
        <p:spPr>
          <a:xfrm xmlns:a="http://schemas.openxmlformats.org/drawingml/2006/main">
            <a:off x="1839849" y="3495675"/>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− 1</a:t>
            </a:r>
          </a:p>
        </p:txBody>
      </p:sp>
      <p:sp>
        <p:nvSpPr>
          <p:cNvPr id="8" name="">
            <a:extLst xmlns:a="http://schemas.openxmlformats.org/drawingml/2006/main">
              <a:ext uri="{FF2B5EF4-FFF2-40B4-BE49-F238E27FC236}">
                <a16:creationId xmlns:a16="http://schemas.microsoft.com/office/drawing/2014/main" id="{F37FE7A3-8672-4D58-A6A7-0B7ED9379BBA}"/>
              </a:ext>
            </a:extLst>
          </p:cNvPr>
          <p:cNvSpPr>
            <a:spLocks xmlns:a="http://schemas.openxmlformats.org/drawingml/2006/main" noGrp="1"/>
          </p:cNvSpPr>
          <p:nvPr/>
        </p:nvSpPr>
        <p:spPr>
          <a:xfrm xmlns:a="http://schemas.openxmlformats.org/drawingml/2006/main">
            <a:off x="1839849" y="41814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0</a:t>
            </a:r>
          </a:p>
        </p:txBody>
      </p:sp>
      <p:sp>
        <p:nvSpPr>
          <p:cNvPr id="9" name="">
            <a:extLst xmlns:a="http://schemas.openxmlformats.org/drawingml/2006/main">
              <a:ext uri="{FF2B5EF4-FFF2-40B4-BE49-F238E27FC236}">
                <a16:creationId xmlns:a16="http://schemas.microsoft.com/office/drawing/2014/main" id="{F207774D-28A3-48D2-96A4-617FB45A26E7}"/>
              </a:ext>
            </a:extLst>
          </p:cNvPr>
          <p:cNvSpPr>
            <a:spLocks xmlns:a="http://schemas.openxmlformats.org/drawingml/2006/main" noGrp="1"/>
          </p:cNvSpPr>
          <p:nvPr/>
        </p:nvSpPr>
        <p:spPr>
          <a:xfrm xmlns:a="http://schemas.openxmlformats.org/drawingml/2006/main">
            <a:off x="2554224" y="3733800"/>
            <a:ext cx="893292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76FA8"/>
                </a:solidFill>
                <a:latin typeface="Aptos"/>
                <a:ea typeface="Aptos"/>
                <a:cs typeface="Aptos"/>
              </a:defRPr>
            </a:pPr>
            <a:r>
              <a:rPr sz="2550" b="0">
                <a:solidFill>
                  <a:srgbClr val="176FA8"/>
                </a:solidFill>
                <a:latin typeface="Aptos"/>
                <a:ea typeface="Aptos"/>
                <a:cs typeface="Aptos"/>
              </a:rPr>
              <a:t>xᵣ[n] exp(−j2πkn/N)</a:t>
            </a:r>
          </a:p>
        </p:txBody>
      </p:sp>
      <p:sp>
        <p:nvSpPr>
          <p:cNvPr id="10" name="">
            <a:extLst xmlns:a="http://schemas.openxmlformats.org/drawingml/2006/main">
              <a:ext uri="{FF2B5EF4-FFF2-40B4-BE49-F238E27FC236}">
                <a16:creationId xmlns:a16="http://schemas.microsoft.com/office/drawing/2014/main" id="{FE6FC09E-DFDD-47D5-8127-03938D9AD776}"/>
              </a:ext>
            </a:extLst>
          </p:cNvPr>
          <p:cNvSpPr>
            <a:spLocks xmlns:a="http://schemas.openxmlformats.org/drawingml/2006/main" noGrp="1"/>
          </p:cNvSpPr>
          <p:nvPr/>
        </p:nvSpPr>
        <p:spPr>
          <a:xfrm xmlns:a="http://schemas.openxmlformats.org/drawingml/2006/main">
            <a:off x="723900" y="538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52B3C"/>
                </a:solidFill>
                <a:latin typeface="Aptos"/>
                <a:ea typeface="Aptos"/>
                <a:cs typeface="Aptos"/>
              </a:defRPr>
            </a:pPr>
            <a:r>
              <a:rPr sz="2250" b="1">
                <a:solidFill>
                  <a:srgbClr val="152B3C"/>
                </a:solidFill>
                <a:latin typeface="Aptos"/>
                <a:ea typeface="Aptos"/>
                <a:cs typeface="Aptos"/>
              </a:rPr>
              <a:t>The N-point DFT gives N exact samples of the record’s DTFT.</a:t>
            </a:r>
          </a:p>
        </p:txBody>
      </p:sp>
    </p:spTree>
    <p:extLst>
      <p:ext uri="{BB962C8B-B14F-4D97-AF65-F5344CB8AC3E}">
        <p14:creationId xmlns:p14="http://schemas.microsoft.com/office/powerpoint/2010/main" val="12599869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83AA96-F010-46DD-94C2-095B40D8EC47}"/>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A DTFT curve and its DFT samples</a:t>
            </a:r>
          </a:p>
        </p:txBody>
      </p:sp>
      <p:sp>
        <p:nvSpPr>
          <p:cNvPr id="2" name="">
            <a:extLst xmlns:a="http://schemas.openxmlformats.org/drawingml/2006/main">
              <a:ext uri="{FF2B5EF4-FFF2-40B4-BE49-F238E27FC236}">
                <a16:creationId xmlns:a16="http://schemas.microsoft.com/office/drawing/2014/main" id="{389B6A70-8E20-480C-9090-E2D145911952}"/>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3540497A-1B79-4EE8-9C32-5C73AC3252FB}"/>
              </a:ext>
            </a:extLst>
          </p:cNvPr>
          <p:cNvSpPr>
            <a:spLocks xmlns:a="http://schemas.openxmlformats.org/drawingml/2006/main" noGrp="1"/>
          </p:cNvSpPr>
          <p:nvPr/>
        </p:nvSpPr>
        <p:spPr>
          <a:xfrm xmlns:a="http://schemas.openxmlformats.org/drawingml/2006/main">
            <a:off x="723900" y="13335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xᵣ = [1, 1, 1, 1, 0, 0, 0, 0],     N = 8</a:t>
            </a:r>
          </a:p>
        </p:txBody>
      </p:sp>
      <p:graphicFrame>
        <p:nvGraphicFramePr>
          <p:cNvPr id="9" name="Chart"/>
          <p:cNvGraphicFramePr/>
          <p:nvPr/>
        </p:nvGraphicFramePr>
        <p:xfrm>
          <a:off xmlns:a="http://schemas.openxmlformats.org/drawingml/2006/main" x="666750" y="1962150"/>
          <a:ext xmlns:a="http://schemas.openxmlformats.org/drawingml/2006/main" cx="10810875" cy="3762375"/>
        </p:xfrm>
        <a:graphic xmlns:a="http://schemas.openxmlformats.org/drawingml/2006/main">
          <a:graphicData uri="http://schemas.openxmlformats.org/drawingml/2006/chart">
            <c:chart xmlns:r="http://schemas.openxmlformats.org/officeDocument/2006/relationships" xmlns:c="http://schemas.openxmlformats.org/drawingml/2006/chart" r:id="R6ee29eb00390445e"/>
          </a:graphicData>
        </a:graphic>
      </p:graphicFrame>
      <p:sp>
        <p:nvSpPr>
          <p:cNvPr id="5" name="">
            <a:extLst xmlns:a="http://schemas.openxmlformats.org/drawingml/2006/main">
              <a:ext uri="{FF2B5EF4-FFF2-40B4-BE49-F238E27FC236}">
                <a16:creationId xmlns:a16="http://schemas.microsoft.com/office/drawing/2014/main" id="{789ECD47-49F2-4813-96F0-8EB39673B5E9}"/>
              </a:ext>
            </a:extLst>
          </p:cNvPr>
          <p:cNvSpPr>
            <a:spLocks xmlns:a="http://schemas.openxmlformats.org/drawingml/2006/main" noGrp="1"/>
          </p:cNvSpPr>
          <p:nvPr/>
        </p:nvSpPr>
        <p:spPr>
          <a:xfrm xmlns:a="http://schemas.openxmlformats.org/drawingml/2006/main">
            <a:off x="723900" y="59531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152B3C"/>
                </a:solidFill>
                <a:latin typeface="Aptos"/>
                <a:ea typeface="Aptos"/>
                <a:cs typeface="Aptos"/>
              </a:defRPr>
            </a:pPr>
            <a:r>
              <a:rPr sz="2025" b="0">
                <a:solidFill>
                  <a:srgbClr val="152B3C"/>
                </a:solidFill>
                <a:latin typeface="Aptos"/>
                <a:ea typeface="Aptos"/>
                <a:cs typeface="Aptos"/>
              </a:rPr>
              <a:t>Frequency sampling keeps values at a selected grid.</a:t>
            </a:r>
          </a:p>
        </p:txBody>
      </p:sp>
    </p:spTree>
    <p:extLst>
      <p:ext uri="{BB962C8B-B14F-4D97-AF65-F5344CB8AC3E}">
        <p14:creationId xmlns:p14="http://schemas.microsoft.com/office/powerpoint/2010/main" val="6730723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8160AB-F132-48B5-B60B-7A10E4C95B3E}"/>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Frequency bins and physical units</a:t>
            </a:r>
          </a:p>
        </p:txBody>
      </p:sp>
      <p:sp>
        <p:nvSpPr>
          <p:cNvPr id="2" name="">
            <a:extLst xmlns:a="http://schemas.openxmlformats.org/drawingml/2006/main">
              <a:ext uri="{FF2B5EF4-FFF2-40B4-BE49-F238E27FC236}">
                <a16:creationId xmlns:a16="http://schemas.microsoft.com/office/drawing/2014/main" id="{A590B298-6E3E-4BFB-BE51-A9C0AE218575}"/>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01D00590-C6A2-4862-AF64-14E0824AEDD2}"/>
              </a:ext>
            </a:extLst>
          </p:cNvPr>
          <p:cNvSpPr>
            <a:spLocks xmlns:a="http://schemas.openxmlformats.org/drawingml/2006/main" noGrp="1"/>
          </p:cNvSpPr>
          <p:nvPr/>
        </p:nvSpPr>
        <p:spPr>
          <a:xfrm xmlns:a="http://schemas.openxmlformats.org/drawingml/2006/main">
            <a:off x="723900" y="16478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0">
                <a:solidFill>
                  <a:srgbClr val="176FA8"/>
                </a:solidFill>
                <a:latin typeface="Aptos"/>
                <a:ea typeface="Aptos"/>
                <a:cs typeface="Aptos"/>
              </a:defRPr>
            </a:pPr>
            <a:r>
              <a:rPr sz="2850" b="0">
                <a:solidFill>
                  <a:srgbClr val="176FA8"/>
                </a:solidFill>
                <a:latin typeface="Aptos"/>
                <a:ea typeface="Aptos"/>
                <a:cs typeface="Aptos"/>
              </a:rPr>
              <a:t>Δω = 2π/N       Δf = fₛ/N</a:t>
            </a:r>
          </a:p>
        </p:txBody>
      </p:sp>
      <p:sp>
        <p:nvSpPr>
          <p:cNvPr id="4" name="">
            <a:extLst xmlns:a="http://schemas.openxmlformats.org/drawingml/2006/main">
              <a:ext uri="{FF2B5EF4-FFF2-40B4-BE49-F238E27FC236}">
                <a16:creationId xmlns:a16="http://schemas.microsoft.com/office/drawing/2014/main" id="{F744DD73-CA59-4CD6-9A5B-18277D5261E0}"/>
              </a:ext>
            </a:extLst>
          </p:cNvPr>
          <p:cNvSpPr>
            <a:spLocks xmlns:a="http://schemas.openxmlformats.org/drawingml/2006/main" noGrp="1"/>
          </p:cNvSpPr>
          <p:nvPr/>
        </p:nvSpPr>
        <p:spPr>
          <a:xfrm xmlns:a="http://schemas.openxmlformats.org/drawingml/2006/main">
            <a:off x="723900" y="25622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625" b="0">
                <a:solidFill>
                  <a:srgbClr val="176FA8"/>
                </a:solidFill>
                <a:latin typeface="Aptos"/>
                <a:ea typeface="Aptos"/>
                <a:cs typeface="Aptos"/>
              </a:defRPr>
            </a:pPr>
            <a:r>
              <a:rPr sz="2625" b="0">
                <a:solidFill>
                  <a:srgbClr val="176FA8"/>
                </a:solidFill>
                <a:latin typeface="Aptos"/>
                <a:ea typeface="Aptos"/>
                <a:cs typeface="Aptos"/>
              </a:rPr>
              <a:t>fₖ = k fₛ/N     (before wrapping)</a:t>
            </a:r>
          </a:p>
        </p:txBody>
      </p:sp>
      <p:sp>
        <p:nvSpPr>
          <p:cNvPr id="5" name="">
            <a:extLst xmlns:a="http://schemas.openxmlformats.org/drawingml/2006/main">
              <a:ext uri="{FF2B5EF4-FFF2-40B4-BE49-F238E27FC236}">
                <a16:creationId xmlns:a16="http://schemas.microsoft.com/office/drawing/2014/main" id="{4510EB79-1799-4E31-81B2-3C1E513C95C3}"/>
              </a:ext>
            </a:extLst>
          </p:cNvPr>
          <p:cNvSpPr>
            <a:spLocks xmlns:a="http://schemas.openxmlformats.org/drawingml/2006/main" noGrp="1"/>
          </p:cNvSpPr>
          <p:nvPr/>
        </p:nvSpPr>
        <p:spPr>
          <a:xfrm xmlns:a="http://schemas.openxmlformats.org/drawingml/2006/main">
            <a:off x="723900" y="36290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Example: N = 8, fₛ = 8 kHz gives Δf = 1 kHz</a:t>
            </a:r>
          </a:p>
        </p:txBody>
      </p:sp>
      <p:sp>
        <p:nvSpPr>
          <p:cNvPr id="6" name="">
            <a:extLst xmlns:a="http://schemas.openxmlformats.org/drawingml/2006/main">
              <a:ext uri="{FF2B5EF4-FFF2-40B4-BE49-F238E27FC236}">
                <a16:creationId xmlns:a16="http://schemas.microsoft.com/office/drawing/2014/main" id="{62821DB2-1437-496C-93D4-FA6603FE115E}"/>
              </a:ext>
            </a:extLst>
          </p:cNvPr>
          <p:cNvSpPr>
            <a:spLocks xmlns:a="http://schemas.openxmlformats.org/drawingml/2006/main" noGrp="1"/>
          </p:cNvSpPr>
          <p:nvPr/>
        </p:nvSpPr>
        <p:spPr>
          <a:xfrm xmlns:a="http://schemas.openxmlformats.org/drawingml/2006/main">
            <a:off x="723900" y="43529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Bin k = 1: +1 kHz        Bin k = 7: −1 kHz</a:t>
            </a:r>
          </a:p>
        </p:txBody>
      </p:sp>
      <p:sp>
        <p:nvSpPr>
          <p:cNvPr id="7" name="">
            <a:extLst xmlns:a="http://schemas.openxmlformats.org/drawingml/2006/main">
              <a:ext uri="{FF2B5EF4-FFF2-40B4-BE49-F238E27FC236}">
                <a16:creationId xmlns:a16="http://schemas.microsoft.com/office/drawing/2014/main" id="{A67949F0-5B55-450B-B876-A91B610DFB9E}"/>
              </a:ext>
            </a:extLst>
          </p:cNvPr>
          <p:cNvSpPr>
            <a:spLocks xmlns:a="http://schemas.openxmlformats.org/drawingml/2006/main" noGrp="1"/>
          </p:cNvSpPr>
          <p:nvPr/>
        </p:nvSpPr>
        <p:spPr>
          <a:xfrm xmlns:a="http://schemas.openxmlformats.org/drawingml/2006/main">
            <a:off x="723900" y="50768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For real records: X[N − k] = X[k]*,   1 ≤ k ≤ N − 1</a:t>
            </a:r>
          </a:p>
        </p:txBody>
      </p:sp>
      <p:sp>
        <p:nvSpPr>
          <p:cNvPr id="8" name="">
            <a:extLst xmlns:a="http://schemas.openxmlformats.org/drawingml/2006/main">
              <a:ext uri="{FF2B5EF4-FFF2-40B4-BE49-F238E27FC236}">
                <a16:creationId xmlns:a16="http://schemas.microsoft.com/office/drawing/2014/main" id="{8A82B792-944F-440E-9A53-821DB4B5C9D4}"/>
              </a:ext>
            </a:extLst>
          </p:cNvPr>
          <p:cNvSpPr>
            <a:spLocks xmlns:a="http://schemas.openxmlformats.org/drawingml/2006/main" noGrp="1"/>
          </p:cNvSpPr>
          <p:nvPr/>
        </p:nvSpPr>
        <p:spPr>
          <a:xfrm xmlns:a="http://schemas.openxmlformats.org/drawingml/2006/main">
            <a:off x="7239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26777"/>
                </a:solidFill>
                <a:latin typeface="Aptos"/>
                <a:ea typeface="Aptos"/>
                <a:cs typeface="Aptos"/>
              </a:defRPr>
            </a:pPr>
            <a:r>
              <a:rPr sz="1950" b="0">
                <a:solidFill>
                  <a:srgbClr val="526777"/>
                </a:solidFill>
                <a:latin typeface="Aptos"/>
                <a:ea typeface="Aptos"/>
                <a:cs typeface="Aptos"/>
              </a:rPr>
              <a:t>Bins repeat modulo N, just as DTFT frequency repeats modulo 2π.</a:t>
            </a:r>
          </a:p>
        </p:txBody>
      </p:sp>
    </p:spTree>
    <p:extLst>
      <p:ext uri="{BB962C8B-B14F-4D97-AF65-F5344CB8AC3E}">
        <p14:creationId xmlns:p14="http://schemas.microsoft.com/office/powerpoint/2010/main" val="2433097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2C5D35-D587-4649-85BC-15C32A43794B}"/>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A four-point DFT by hand</a:t>
            </a:r>
          </a:p>
        </p:txBody>
      </p:sp>
      <p:sp>
        <p:nvSpPr>
          <p:cNvPr id="2" name="">
            <a:extLst xmlns:a="http://schemas.openxmlformats.org/drawingml/2006/main">
              <a:ext uri="{FF2B5EF4-FFF2-40B4-BE49-F238E27FC236}">
                <a16:creationId xmlns:a16="http://schemas.microsoft.com/office/drawing/2014/main" id="{85858647-8A8E-4CE3-9CE0-1287A6BE4BE6}"/>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77D5ECE2-1254-4245-8ADA-DEB5289B18DE}"/>
              </a:ext>
            </a:extLst>
          </p:cNvPr>
          <p:cNvSpPr>
            <a:spLocks xmlns:a="http://schemas.openxmlformats.org/drawingml/2006/main" noGrp="1"/>
          </p:cNvSpPr>
          <p:nvPr/>
        </p:nvSpPr>
        <p:spPr>
          <a:xfrm xmlns:a="http://schemas.openxmlformats.org/drawingml/2006/main">
            <a:off x="723900" y="15335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0">
                <a:solidFill>
                  <a:srgbClr val="176FA8"/>
                </a:solidFill>
                <a:latin typeface="Aptos"/>
                <a:ea typeface="Aptos"/>
                <a:cs typeface="Aptos"/>
              </a:defRPr>
            </a:pPr>
            <a:r>
              <a:rPr sz="2700" b="0">
                <a:solidFill>
                  <a:srgbClr val="176FA8"/>
                </a:solidFill>
                <a:latin typeface="Aptos"/>
                <a:ea typeface="Aptos"/>
                <a:cs typeface="Aptos"/>
              </a:rPr>
              <a:t>x = [1, 2, 0, 0],     N = 4</a:t>
            </a:r>
          </a:p>
        </p:txBody>
      </p:sp>
      <p:sp>
        <p:nvSpPr>
          <p:cNvPr id="4" name="">
            <a:extLst xmlns:a="http://schemas.openxmlformats.org/drawingml/2006/main">
              <a:ext uri="{FF2B5EF4-FFF2-40B4-BE49-F238E27FC236}">
                <a16:creationId xmlns:a16="http://schemas.microsoft.com/office/drawing/2014/main" id="{1D922C42-41B9-4D04-BA10-5C693D4C03CC}"/>
              </a:ext>
            </a:extLst>
          </p:cNvPr>
          <p:cNvSpPr>
            <a:spLocks xmlns:a="http://schemas.openxmlformats.org/drawingml/2006/main" noGrp="1"/>
          </p:cNvSpPr>
          <p:nvPr/>
        </p:nvSpPr>
        <p:spPr>
          <a:xfrm xmlns:a="http://schemas.openxmlformats.org/drawingml/2006/main">
            <a:off x="723900" y="24479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0">
                <a:solidFill>
                  <a:srgbClr val="176FA8"/>
                </a:solidFill>
                <a:latin typeface="Aptos"/>
                <a:ea typeface="Aptos"/>
                <a:cs typeface="Aptos"/>
              </a:defRPr>
            </a:pPr>
            <a:r>
              <a:rPr sz="2700" b="0">
                <a:solidFill>
                  <a:srgbClr val="176FA8"/>
                </a:solidFill>
                <a:latin typeface="Aptos"/>
                <a:ea typeface="Aptos"/>
                <a:cs typeface="Aptos"/>
              </a:rPr>
              <a:t>X[k] = 1 + 2 exp(−jπk/2)</a:t>
            </a:r>
          </a:p>
        </p:txBody>
      </p:sp>
      <p:graphicFrame>
        <p:nvGraphicFramePr>
          <p:cNvPr id="11" name=""/>
          <p:cNvGraphicFramePr/>
          <p:nvPr/>
        </p:nvGraphicFramePr>
        <p:xfrm>
          <a:off xmlns:a="http://schemas.openxmlformats.org/drawingml/2006/main" x="723900" y="3486150"/>
          <a:ext xmlns:a="http://schemas.openxmlformats.org/drawingml/2006/main" cx="10477500" cy="1562100"/>
        </p:xfrm>
        <a:graphic xmlns:a="http://schemas.openxmlformats.org/drawingml/2006/main">
          <a:graphicData uri="http://schemas.openxmlformats.org/drawingml/2006/table">
            <a:tbl>
              <a:tblPr/>
              <a:tblGrid>
                <a:gridCol w="2095500"/>
                <a:gridCol w="2095500"/>
                <a:gridCol w="2095500"/>
                <a:gridCol w="2095500"/>
                <a:gridCol w="2095500"/>
              </a:tblGrid>
              <a:tr h="781050">
                <a:tc>
                  <a:txBody>
                    <a:bodyPr lIns="114300" tIns="76200" rIns="114300" bIns="76200"/>
                    <a:lstStyle/>
                    <a:p>
                      <a:r>
                        <a:rPr sz="2400" b="1">
                          <a:solidFill>
                            <a:srgbClr val="152B3C"/>
                          </a:solidFill>
                          <a:latin typeface="Aptos"/>
                          <a:ea typeface="Aptos"/>
                          <a:cs typeface="Aptos"/>
                        </a:rPr>
                        <a:t>k</a:t>
                      </a:r>
                    </a:p>
                  </a:txBody>
                  <a:tcPr marL="91440" marR="91440" marT="45720" marB="45720">
                    <a:solidFill>
                      <a:srgbClr val="FFFFFF"/>
                    </a:solidFill>
                  </a:tcPr>
                </a:tc>
                <a:tc>
                  <a:txBody>
                    <a:bodyPr lIns="114300" tIns="76200" rIns="114300" bIns="76200"/>
                    <a:lstStyle/>
                    <a:p>
                      <a:r>
                        <a:rPr sz="2400" b="0">
                          <a:solidFill>
                            <a:srgbClr val="152B3C"/>
                          </a:solidFill>
                          <a:latin typeface="Aptos"/>
                          <a:ea typeface="Aptos"/>
                          <a:cs typeface="Aptos"/>
                        </a:rPr>
                        <a:t>0</a:t>
                      </a:r>
                    </a:p>
                  </a:txBody>
                  <a:tcPr marL="91440" marR="91440" marT="45720" marB="45720">
                    <a:solidFill>
                      <a:srgbClr val="FFFFFF"/>
                    </a:solidFill>
                  </a:tcPr>
                </a:tc>
                <a:tc>
                  <a:txBody>
                    <a:bodyPr lIns="114300" tIns="76200" rIns="114300" bIns="76200"/>
                    <a:lstStyle/>
                    <a:p>
                      <a:r>
                        <a:rPr sz="2400" b="0">
                          <a:solidFill>
                            <a:srgbClr val="152B3C"/>
                          </a:solidFill>
                          <a:latin typeface="Aptos"/>
                          <a:ea typeface="Aptos"/>
                          <a:cs typeface="Aptos"/>
                        </a:rPr>
                        <a:t>1</a:t>
                      </a:r>
                    </a:p>
                  </a:txBody>
                  <a:tcPr marL="91440" marR="91440" marT="45720" marB="45720">
                    <a:solidFill>
                      <a:srgbClr val="FFFFFF"/>
                    </a:solidFill>
                  </a:tcPr>
                </a:tc>
                <a:tc>
                  <a:txBody>
                    <a:bodyPr lIns="114300" tIns="76200" rIns="114300" bIns="76200"/>
                    <a:lstStyle/>
                    <a:p>
                      <a:r>
                        <a:rPr sz="2400" b="0">
                          <a:solidFill>
                            <a:srgbClr val="152B3C"/>
                          </a:solidFill>
                          <a:latin typeface="Aptos"/>
                          <a:ea typeface="Aptos"/>
                          <a:cs typeface="Aptos"/>
                        </a:rPr>
                        <a:t>2</a:t>
                      </a:r>
                    </a:p>
                  </a:txBody>
                  <a:tcPr marL="91440" marR="91440" marT="45720" marB="45720">
                    <a:solidFill>
                      <a:srgbClr val="FFFFFF"/>
                    </a:solidFill>
                  </a:tcPr>
                </a:tc>
                <a:tc>
                  <a:txBody>
                    <a:bodyPr lIns="114300" tIns="76200" rIns="114300" bIns="76200"/>
                    <a:lstStyle/>
                    <a:p>
                      <a:r>
                        <a:rPr sz="2400" b="0">
                          <a:solidFill>
                            <a:srgbClr val="152B3C"/>
                          </a:solidFill>
                          <a:latin typeface="Aptos"/>
                          <a:ea typeface="Aptos"/>
                          <a:cs typeface="Aptos"/>
                        </a:rPr>
                        <a:t>3</a:t>
                      </a:r>
                    </a:p>
                  </a:txBody>
                  <a:tcPr marL="91440" marR="91440" marT="45720" marB="45720">
                    <a:solidFill>
                      <a:srgbClr val="FFFFFF"/>
                    </a:solidFill>
                  </a:tcPr>
                </a:tc>
              </a:tr>
              <a:tr h="781050">
                <a:tc>
                  <a:txBody>
                    <a:bodyPr lIns="114300" tIns="76200" rIns="114300" bIns="76200"/>
                    <a:lstStyle/>
                    <a:p>
                      <a:r>
                        <a:rPr sz="2400" b="1">
                          <a:solidFill>
                            <a:srgbClr val="176FA8"/>
                          </a:solidFill>
                          <a:latin typeface="Aptos"/>
                          <a:ea typeface="Aptos"/>
                          <a:cs typeface="Aptos"/>
                        </a:rPr>
                        <a:t>X[k]</a:t>
                      </a:r>
                    </a:p>
                  </a:txBody>
                  <a:tcPr marL="91440" marR="91440" marT="45720" marB="45720">
                    <a:solidFill>
                      <a:srgbClr val="FFFFFF"/>
                    </a:solidFill>
                  </a:tcPr>
                </a:tc>
                <a:tc>
                  <a:txBody>
                    <a:bodyPr lIns="114300" tIns="76200" rIns="114300" bIns="76200"/>
                    <a:lstStyle/>
                    <a:p>
                      <a:r>
                        <a:rPr sz="2400" b="0">
                          <a:solidFill>
                            <a:srgbClr val="176FA8"/>
                          </a:solidFill>
                          <a:latin typeface="Aptos"/>
                          <a:ea typeface="Aptos"/>
                          <a:cs typeface="Aptos"/>
                        </a:rPr>
                        <a:t>3</a:t>
                      </a:r>
                    </a:p>
                  </a:txBody>
                  <a:tcPr marL="91440" marR="91440" marT="45720" marB="45720">
                    <a:solidFill>
                      <a:srgbClr val="FFFFFF"/>
                    </a:solidFill>
                  </a:tcPr>
                </a:tc>
                <a:tc>
                  <a:txBody>
                    <a:bodyPr lIns="114300" tIns="76200" rIns="114300" bIns="76200"/>
                    <a:lstStyle/>
                    <a:p>
                      <a:r>
                        <a:rPr sz="2400" b="0">
                          <a:solidFill>
                            <a:srgbClr val="176FA8"/>
                          </a:solidFill>
                          <a:latin typeface="Aptos"/>
                          <a:ea typeface="Aptos"/>
                          <a:cs typeface="Aptos"/>
                        </a:rPr>
                        <a:t>1 − 2j</a:t>
                      </a:r>
                    </a:p>
                  </a:txBody>
                  <a:tcPr marL="91440" marR="91440" marT="45720" marB="45720">
                    <a:solidFill>
                      <a:srgbClr val="FFFFFF"/>
                    </a:solidFill>
                  </a:tcPr>
                </a:tc>
                <a:tc>
                  <a:txBody>
                    <a:bodyPr lIns="114300" tIns="76200" rIns="114300" bIns="76200"/>
                    <a:lstStyle/>
                    <a:p>
                      <a:r>
                        <a:rPr sz="2400" b="0">
                          <a:solidFill>
                            <a:srgbClr val="176FA8"/>
                          </a:solidFill>
                          <a:latin typeface="Aptos"/>
                          <a:ea typeface="Aptos"/>
                          <a:cs typeface="Aptos"/>
                        </a:rPr>
                        <a:t>−1</a:t>
                      </a:r>
                    </a:p>
                  </a:txBody>
                  <a:tcPr marL="91440" marR="91440" marT="45720" marB="45720">
                    <a:solidFill>
                      <a:srgbClr val="FFFFFF"/>
                    </a:solidFill>
                  </a:tcPr>
                </a:tc>
                <a:tc>
                  <a:txBody>
                    <a:bodyPr lIns="114300" tIns="76200" rIns="114300" bIns="76200"/>
                    <a:lstStyle/>
                    <a:p>
                      <a:r>
                        <a:rPr sz="2400" b="0">
                          <a:solidFill>
                            <a:srgbClr val="176FA8"/>
                          </a:solidFill>
                          <a:latin typeface="Aptos"/>
                          <a:ea typeface="Aptos"/>
                          <a:cs typeface="Aptos"/>
                        </a:rPr>
                        <a:t>1 + 2j</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43DD30F-C99C-4B85-B03E-A2C7256EC512}"/>
              </a:ext>
            </a:extLst>
          </p:cNvPr>
          <p:cNvSpPr>
            <a:spLocks xmlns:a="http://schemas.openxmlformats.org/drawingml/2006/main" noGrp="1"/>
          </p:cNvSpPr>
          <p:nvPr/>
        </p:nvSpPr>
        <p:spPr>
          <a:xfrm xmlns:a="http://schemas.openxmlformats.org/drawingml/2006/main">
            <a:off x="723900" y="56388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X[0] is the sample sum. Real input gives conjugate symmetry.</a:t>
            </a:r>
          </a:p>
        </p:txBody>
      </p:sp>
    </p:spTree>
    <p:extLst>
      <p:ext uri="{BB962C8B-B14F-4D97-AF65-F5344CB8AC3E}">
        <p14:creationId xmlns:p14="http://schemas.microsoft.com/office/powerpoint/2010/main" val="11650085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0146700-9683-4D50-B9C8-72BEF04BAEE6}"/>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The inverse DFT recovers the record</a:t>
            </a:r>
          </a:p>
        </p:txBody>
      </p:sp>
      <p:sp>
        <p:nvSpPr>
          <p:cNvPr id="2" name="">
            <a:extLst xmlns:a="http://schemas.openxmlformats.org/drawingml/2006/main">
              <a:ext uri="{FF2B5EF4-FFF2-40B4-BE49-F238E27FC236}">
                <a16:creationId xmlns:a16="http://schemas.microsoft.com/office/drawing/2014/main" id="{76C8864B-E00D-4D01-A141-45A7FA32D679}"/>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CB72FA19-AAF0-4A08-8DFE-36A7B5E7EAE7}"/>
              </a:ext>
            </a:extLst>
          </p:cNvPr>
          <p:cNvSpPr>
            <a:spLocks xmlns:a="http://schemas.openxmlformats.org/drawingml/2006/main" noGrp="1"/>
          </p:cNvSpPr>
          <p:nvPr/>
        </p:nvSpPr>
        <p:spPr>
          <a:xfrm xmlns:a="http://schemas.openxmlformats.org/drawingml/2006/main">
            <a:off x="723900" y="1857375"/>
            <a:ext cx="2187131"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76FA8"/>
                </a:solidFill>
                <a:latin typeface="Aptos"/>
                <a:ea typeface="Aptos"/>
                <a:cs typeface="Aptos"/>
              </a:defRPr>
            </a:pPr>
            <a:r>
              <a:rPr sz="2325" b="0">
                <a:solidFill>
                  <a:srgbClr val="176FA8"/>
                </a:solidFill>
                <a:latin typeface="Aptos"/>
                <a:ea typeface="Aptos"/>
                <a:cs typeface="Aptos"/>
              </a:rPr>
              <a:t>xᵣ[n] = (1/N)</a:t>
            </a:r>
          </a:p>
        </p:txBody>
      </p:sp>
      <p:sp>
        <p:nvSpPr>
          <p:cNvPr id="4" name="">
            <a:extLst xmlns:a="http://schemas.openxmlformats.org/drawingml/2006/main">
              <a:ext uri="{FF2B5EF4-FFF2-40B4-BE49-F238E27FC236}">
                <a16:creationId xmlns:a16="http://schemas.microsoft.com/office/drawing/2014/main" id="{08B7DBDE-8CFB-4CCF-9B0E-053439464531}"/>
              </a:ext>
            </a:extLst>
          </p:cNvPr>
          <p:cNvSpPr>
            <a:spLocks xmlns:a="http://schemas.openxmlformats.org/drawingml/2006/main" noGrp="1"/>
          </p:cNvSpPr>
          <p:nvPr/>
        </p:nvSpPr>
        <p:spPr>
          <a:xfrm xmlns:a="http://schemas.openxmlformats.org/drawingml/2006/main">
            <a:off x="2891981" y="182880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0">
                <a:solidFill>
                  <a:srgbClr val="176FA8"/>
                </a:solidFill>
                <a:latin typeface="Aptos"/>
                <a:ea typeface="Aptos"/>
                <a:cs typeface="Aptos"/>
              </a:defRPr>
            </a:pPr>
            <a:r>
              <a:rPr sz="3300" b="0">
                <a:solidFill>
                  <a:srgbClr val="176FA8"/>
                </a:solidFill>
                <a:latin typeface="Aptos"/>
                <a:ea typeface="Aptos"/>
                <a:cs typeface="Aptos"/>
              </a:rPr>
              <a:t>∑</a:t>
            </a:r>
          </a:p>
        </p:txBody>
      </p:sp>
      <p:sp>
        <p:nvSpPr>
          <p:cNvPr id="5" name="">
            <a:extLst xmlns:a="http://schemas.openxmlformats.org/drawingml/2006/main">
              <a:ext uri="{FF2B5EF4-FFF2-40B4-BE49-F238E27FC236}">
                <a16:creationId xmlns:a16="http://schemas.microsoft.com/office/drawing/2014/main" id="{A9337CF9-6A3C-4CB7-9DCA-1D0724C50C74}"/>
              </a:ext>
            </a:extLst>
          </p:cNvPr>
          <p:cNvSpPr>
            <a:spLocks xmlns:a="http://schemas.openxmlformats.org/drawingml/2006/main" noGrp="1"/>
          </p:cNvSpPr>
          <p:nvPr/>
        </p:nvSpPr>
        <p:spPr>
          <a:xfrm xmlns:a="http://schemas.openxmlformats.org/drawingml/2006/main">
            <a:off x="2863406" y="1638300"/>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− 1</a:t>
            </a:r>
          </a:p>
        </p:txBody>
      </p:sp>
      <p:sp>
        <p:nvSpPr>
          <p:cNvPr id="6" name="">
            <a:extLst xmlns:a="http://schemas.openxmlformats.org/drawingml/2006/main">
              <a:ext uri="{FF2B5EF4-FFF2-40B4-BE49-F238E27FC236}">
                <a16:creationId xmlns:a16="http://schemas.microsoft.com/office/drawing/2014/main" id="{13436632-74B2-45F1-A69E-F3DD1A2E00F8}"/>
              </a:ext>
            </a:extLst>
          </p:cNvPr>
          <p:cNvSpPr>
            <a:spLocks xmlns:a="http://schemas.openxmlformats.org/drawingml/2006/main" noGrp="1"/>
          </p:cNvSpPr>
          <p:nvPr/>
        </p:nvSpPr>
        <p:spPr>
          <a:xfrm xmlns:a="http://schemas.openxmlformats.org/drawingml/2006/main">
            <a:off x="2863406" y="23241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k = 0</a:t>
            </a:r>
          </a:p>
        </p:txBody>
      </p:sp>
      <p:sp>
        <p:nvSpPr>
          <p:cNvPr id="7" name="">
            <a:extLst xmlns:a="http://schemas.openxmlformats.org/drawingml/2006/main">
              <a:ext uri="{FF2B5EF4-FFF2-40B4-BE49-F238E27FC236}">
                <a16:creationId xmlns:a16="http://schemas.microsoft.com/office/drawing/2014/main" id="{E809F731-4F3E-482D-8141-01EEFB40BF75}"/>
              </a:ext>
            </a:extLst>
          </p:cNvPr>
          <p:cNvSpPr>
            <a:spLocks xmlns:a="http://schemas.openxmlformats.org/drawingml/2006/main" noGrp="1"/>
          </p:cNvSpPr>
          <p:nvPr/>
        </p:nvSpPr>
        <p:spPr>
          <a:xfrm xmlns:a="http://schemas.openxmlformats.org/drawingml/2006/main">
            <a:off x="3577781" y="1876425"/>
            <a:ext cx="790937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76FA8"/>
                </a:solidFill>
                <a:latin typeface="Aptos"/>
                <a:ea typeface="Aptos"/>
                <a:cs typeface="Aptos"/>
              </a:defRPr>
            </a:pPr>
            <a:r>
              <a:rPr sz="2325" b="0">
                <a:solidFill>
                  <a:srgbClr val="176FA8"/>
                </a:solidFill>
                <a:latin typeface="Aptos"/>
                <a:ea typeface="Aptos"/>
                <a:cs typeface="Aptos"/>
              </a:rPr>
              <a:t>X[k] exp(+j2πkn/N)</a:t>
            </a:r>
          </a:p>
        </p:txBody>
      </p:sp>
      <p:sp>
        <p:nvSpPr>
          <p:cNvPr id="8" name="">
            <a:extLst xmlns:a="http://schemas.openxmlformats.org/drawingml/2006/main">
              <a:ext uri="{FF2B5EF4-FFF2-40B4-BE49-F238E27FC236}">
                <a16:creationId xmlns:a16="http://schemas.microsoft.com/office/drawing/2014/main" id="{817B1712-3266-4FA0-BD8C-A5C5D2023DF2}"/>
              </a:ext>
            </a:extLst>
          </p:cNvPr>
          <p:cNvSpPr>
            <a:spLocks xmlns:a="http://schemas.openxmlformats.org/drawingml/2006/main" noGrp="1"/>
          </p:cNvSpPr>
          <p:nvPr/>
        </p:nvSpPr>
        <p:spPr>
          <a:xfrm xmlns:a="http://schemas.openxmlformats.org/drawingml/2006/main">
            <a:off x="723900" y="31718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For 0 ≤ n ≤ N − 1, the IDFT returns the original N samples.</a:t>
            </a:r>
          </a:p>
        </p:txBody>
      </p:sp>
      <p:sp>
        <p:nvSpPr>
          <p:cNvPr id="9" name="">
            <a:extLst xmlns:a="http://schemas.openxmlformats.org/drawingml/2006/main">
              <a:ext uri="{FF2B5EF4-FFF2-40B4-BE49-F238E27FC236}">
                <a16:creationId xmlns:a16="http://schemas.microsoft.com/office/drawing/2014/main" id="{07B8B4C7-9FE0-4568-9677-E7E59B77A6AB}"/>
              </a:ext>
            </a:extLst>
          </p:cNvPr>
          <p:cNvSpPr>
            <a:spLocks xmlns:a="http://schemas.openxmlformats.org/drawingml/2006/main" noGrp="1"/>
          </p:cNvSpPr>
          <p:nvPr/>
        </p:nvSpPr>
        <p:spPr>
          <a:xfrm xmlns:a="http://schemas.openxmlformats.org/drawingml/2006/main">
            <a:off x="723900" y="4191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52B3C"/>
                </a:solidFill>
                <a:latin typeface="Aptos"/>
                <a:ea typeface="Aptos"/>
                <a:cs typeface="Aptos"/>
              </a:defRPr>
            </a:pPr>
            <a:r>
              <a:rPr sz="2175" b="1">
                <a:solidFill>
                  <a:srgbClr val="152B3C"/>
                </a:solidFill>
                <a:latin typeface="Aptos"/>
                <a:ea typeface="Aptos"/>
                <a:cs typeface="Aptos"/>
              </a:rPr>
              <a:t>Orthogonality over one period</a:t>
            </a:r>
          </a:p>
        </p:txBody>
      </p:sp>
      <p:sp>
        <p:nvSpPr>
          <p:cNvPr id="10" name="">
            <a:extLst xmlns:a="http://schemas.openxmlformats.org/drawingml/2006/main">
              <a:ext uri="{FF2B5EF4-FFF2-40B4-BE49-F238E27FC236}">
                <a16:creationId xmlns:a16="http://schemas.microsoft.com/office/drawing/2014/main" id="{448B83E7-306F-4DF7-907B-EE6C13759768}"/>
              </a:ext>
            </a:extLst>
          </p:cNvPr>
          <p:cNvSpPr>
            <a:spLocks xmlns:a="http://schemas.openxmlformats.org/drawingml/2006/main" noGrp="1"/>
          </p:cNvSpPr>
          <p:nvPr/>
        </p:nvSpPr>
        <p:spPr>
          <a:xfrm xmlns:a="http://schemas.openxmlformats.org/drawingml/2006/main">
            <a:off x="723900" y="5029200"/>
            <a:ext cx="114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5EDF854-86FE-4F27-AF3B-4F7FD74B52AC}"/>
              </a:ext>
            </a:extLst>
          </p:cNvPr>
          <p:cNvSpPr>
            <a:spLocks xmlns:a="http://schemas.openxmlformats.org/drawingml/2006/main" noGrp="1"/>
          </p:cNvSpPr>
          <p:nvPr/>
        </p:nvSpPr>
        <p:spPr>
          <a:xfrm xmlns:a="http://schemas.openxmlformats.org/drawingml/2006/main">
            <a:off x="819150" y="5000625"/>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75" b="0">
                <a:solidFill>
                  <a:srgbClr val="176FA8"/>
                </a:solidFill>
                <a:latin typeface="Aptos"/>
                <a:ea typeface="Aptos"/>
                <a:cs typeface="Aptos"/>
              </a:defRPr>
            </a:pPr>
            <a:r>
              <a:rPr sz="3075" b="0">
                <a:solidFill>
                  <a:srgbClr val="176FA8"/>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B957DCD8-3B02-4FE6-AD83-2A401DFFEB4A}"/>
              </a:ext>
            </a:extLst>
          </p:cNvPr>
          <p:cNvSpPr>
            <a:spLocks xmlns:a="http://schemas.openxmlformats.org/drawingml/2006/main" noGrp="1"/>
          </p:cNvSpPr>
          <p:nvPr/>
        </p:nvSpPr>
        <p:spPr>
          <a:xfrm xmlns:a="http://schemas.openxmlformats.org/drawingml/2006/main">
            <a:off x="790575" y="4810125"/>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− 1</a:t>
            </a:r>
          </a:p>
        </p:txBody>
      </p:sp>
      <p:sp>
        <p:nvSpPr>
          <p:cNvPr id="13" name="">
            <a:extLst xmlns:a="http://schemas.openxmlformats.org/drawingml/2006/main">
              <a:ext uri="{FF2B5EF4-FFF2-40B4-BE49-F238E27FC236}">
                <a16:creationId xmlns:a16="http://schemas.microsoft.com/office/drawing/2014/main" id="{7435EDBE-8400-4621-B366-541D3B0629D5}"/>
              </a:ext>
            </a:extLst>
          </p:cNvPr>
          <p:cNvSpPr>
            <a:spLocks xmlns:a="http://schemas.openxmlformats.org/drawingml/2006/main" noGrp="1"/>
          </p:cNvSpPr>
          <p:nvPr/>
        </p:nvSpPr>
        <p:spPr>
          <a:xfrm xmlns:a="http://schemas.openxmlformats.org/drawingml/2006/main">
            <a:off x="790575" y="54959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k = 0</a:t>
            </a:r>
          </a:p>
        </p:txBody>
      </p:sp>
      <p:sp>
        <p:nvSpPr>
          <p:cNvPr id="14" name="">
            <a:extLst xmlns:a="http://schemas.openxmlformats.org/drawingml/2006/main">
              <a:ext uri="{FF2B5EF4-FFF2-40B4-BE49-F238E27FC236}">
                <a16:creationId xmlns:a16="http://schemas.microsoft.com/office/drawing/2014/main" id="{8E123698-9EA2-437B-B64A-A2CE8FA6A212}"/>
              </a:ext>
            </a:extLst>
          </p:cNvPr>
          <p:cNvSpPr>
            <a:spLocks xmlns:a="http://schemas.openxmlformats.org/drawingml/2006/main" noGrp="1"/>
          </p:cNvSpPr>
          <p:nvPr/>
        </p:nvSpPr>
        <p:spPr>
          <a:xfrm xmlns:a="http://schemas.openxmlformats.org/drawingml/2006/main">
            <a:off x="1504950" y="504825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76FA8"/>
                </a:solidFill>
                <a:latin typeface="Aptos"/>
                <a:ea typeface="Aptos"/>
                <a:cs typeface="Aptos"/>
              </a:defRPr>
            </a:pPr>
            <a:r>
              <a:rPr sz="2100" b="0">
                <a:solidFill>
                  <a:srgbClr val="176FA8"/>
                </a:solidFill>
                <a:latin typeface="Aptos"/>
                <a:ea typeface="Aptos"/>
                <a:cs typeface="Aptos"/>
              </a:rPr>
              <a:t>exp(j2πk(n − m)/N)</a:t>
            </a:r>
          </a:p>
        </p:txBody>
      </p:sp>
      <p:sp>
        <p:nvSpPr>
          <p:cNvPr id="15" name="">
            <a:extLst xmlns:a="http://schemas.openxmlformats.org/drawingml/2006/main">
              <a:ext uri="{FF2B5EF4-FFF2-40B4-BE49-F238E27FC236}">
                <a16:creationId xmlns:a16="http://schemas.microsoft.com/office/drawing/2014/main" id="{B322059A-6879-4E6C-B52D-17C8F74DF6C1}"/>
              </a:ext>
            </a:extLst>
          </p:cNvPr>
          <p:cNvSpPr>
            <a:spLocks xmlns:a="http://schemas.openxmlformats.org/drawingml/2006/main" noGrp="1"/>
          </p:cNvSpPr>
          <p:nvPr/>
        </p:nvSpPr>
        <p:spPr>
          <a:xfrm xmlns:a="http://schemas.openxmlformats.org/drawingml/2006/main">
            <a:off x="4667250" y="5076825"/>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176FA8"/>
                </a:solidFill>
                <a:latin typeface="Aptos"/>
                <a:ea typeface="Aptos"/>
                <a:cs typeface="Aptos"/>
              </a:defRPr>
            </a:pPr>
            <a:r>
              <a:rPr sz="2025" b="0">
                <a:solidFill>
                  <a:srgbClr val="176FA8"/>
                </a:solidFill>
                <a:latin typeface="Aptos"/>
                <a:ea typeface="Aptos"/>
                <a:cs typeface="Aptos"/>
              </a:rPr>
              <a:t>= N if n ≡ m (mod N), otherwise 0</a:t>
            </a:r>
          </a:p>
        </p:txBody>
      </p:sp>
    </p:spTree>
    <p:extLst>
      <p:ext uri="{BB962C8B-B14F-4D97-AF65-F5344CB8AC3E}">
        <p14:creationId xmlns:p14="http://schemas.microsoft.com/office/powerpoint/2010/main" val="3213421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9AC1E5-6BB8-48FC-931D-88926F7CCB0E}"/>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The periodic interpretation</a:t>
            </a:r>
          </a:p>
        </p:txBody>
      </p:sp>
      <p:sp>
        <p:nvSpPr>
          <p:cNvPr id="2" name="">
            <a:extLst xmlns:a="http://schemas.openxmlformats.org/drawingml/2006/main">
              <a:ext uri="{FF2B5EF4-FFF2-40B4-BE49-F238E27FC236}">
                <a16:creationId xmlns:a16="http://schemas.microsoft.com/office/drawing/2014/main" id="{7F215202-71EE-46E2-9334-28CB244C1420}"/>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58AA32D9-15C3-4B6B-BBE8-38587EF3C0ED}"/>
              </a:ext>
            </a:extLst>
          </p:cNvPr>
          <p:cNvSpPr>
            <a:spLocks xmlns:a="http://schemas.openxmlformats.org/drawingml/2006/main" noGrp="1"/>
          </p:cNvSpPr>
          <p:nvPr/>
        </p:nvSpPr>
        <p:spPr>
          <a:xfrm xmlns:a="http://schemas.openxmlformats.org/drawingml/2006/main">
            <a:off x="723900" y="16192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925" b="0">
                <a:solidFill>
                  <a:srgbClr val="176FA8"/>
                </a:solidFill>
                <a:latin typeface="Aptos"/>
                <a:ea typeface="Aptos"/>
                <a:cs typeface="Aptos"/>
              </a:defRPr>
            </a:pPr>
            <a:r>
              <a:rPr sz="2925" b="0">
                <a:solidFill>
                  <a:srgbClr val="176FA8"/>
                </a:solidFill>
                <a:latin typeface="Aptos"/>
                <a:ea typeface="Aptos"/>
                <a:cs typeface="Aptos"/>
              </a:rPr>
              <a:t>x̃[n] = xᵣ[n mod N]</a:t>
            </a:r>
          </a:p>
        </p:txBody>
      </p:sp>
      <p:sp>
        <p:nvSpPr>
          <p:cNvPr id="4" name="">
            <a:extLst xmlns:a="http://schemas.openxmlformats.org/drawingml/2006/main">
              <a:ext uri="{FF2B5EF4-FFF2-40B4-BE49-F238E27FC236}">
                <a16:creationId xmlns:a16="http://schemas.microsoft.com/office/drawing/2014/main" id="{0A3CE6A6-D657-4EF7-8EC1-45EA925532E4}"/>
              </a:ext>
            </a:extLst>
          </p:cNvPr>
          <p:cNvSpPr>
            <a:spLocks xmlns:a="http://schemas.openxmlformats.org/drawingml/2006/main" noGrp="1"/>
          </p:cNvSpPr>
          <p:nvPr/>
        </p:nvSpPr>
        <p:spPr>
          <a:xfrm xmlns:a="http://schemas.openxmlformats.org/drawingml/2006/main">
            <a:off x="723900" y="2819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75" b="0">
                <a:solidFill>
                  <a:srgbClr val="152B3C"/>
                </a:solidFill>
                <a:latin typeface="Aptos"/>
                <a:ea typeface="Aptos"/>
                <a:cs typeface="Aptos"/>
              </a:defRPr>
            </a:pPr>
            <a:r>
              <a:rPr sz="2475" b="0">
                <a:solidFill>
                  <a:srgbClr val="152B3C"/>
                </a:solidFill>
                <a:latin typeface="Aptos"/>
                <a:ea typeface="Aptos"/>
                <a:cs typeface="Aptos"/>
              </a:rPr>
              <a:t>One record:       [1, 2, 0, 0]</a:t>
            </a:r>
          </a:p>
        </p:txBody>
      </p:sp>
      <p:sp>
        <p:nvSpPr>
          <p:cNvPr id="5" name="">
            <a:extLst xmlns:a="http://schemas.openxmlformats.org/drawingml/2006/main">
              <a:ext uri="{FF2B5EF4-FFF2-40B4-BE49-F238E27FC236}">
                <a16:creationId xmlns:a16="http://schemas.microsoft.com/office/drawing/2014/main" id="{A833A9EA-6AE6-4101-8304-F6A431C5F3FF}"/>
              </a:ext>
            </a:extLst>
          </p:cNvPr>
          <p:cNvSpPr>
            <a:spLocks xmlns:a="http://schemas.openxmlformats.org/drawingml/2006/main" noGrp="1"/>
          </p:cNvSpPr>
          <p:nvPr/>
        </p:nvSpPr>
        <p:spPr>
          <a:xfrm xmlns:a="http://schemas.openxmlformats.org/drawingml/2006/main">
            <a:off x="723900" y="37052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526777"/>
                </a:solidFill>
                <a:latin typeface="Aptos"/>
                <a:ea typeface="Aptos"/>
                <a:cs typeface="Aptos"/>
              </a:defRPr>
            </a:pPr>
            <a:r>
              <a:rPr sz="2250" b="0">
                <a:solidFill>
                  <a:srgbClr val="526777"/>
                </a:solidFill>
                <a:latin typeface="Aptos"/>
                <a:ea typeface="Aptos"/>
                <a:cs typeface="Aptos"/>
              </a:rPr>
              <a:t>Periodic extension:</a:t>
            </a:r>
          </a:p>
        </p:txBody>
      </p:sp>
      <p:sp>
        <p:nvSpPr>
          <p:cNvPr id="6" name="">
            <a:extLst xmlns:a="http://schemas.openxmlformats.org/drawingml/2006/main">
              <a:ext uri="{FF2B5EF4-FFF2-40B4-BE49-F238E27FC236}">
                <a16:creationId xmlns:a16="http://schemas.microsoft.com/office/drawing/2014/main" id="{9536FD39-1FC0-44DF-BE71-BACED010B9DB}"/>
              </a:ext>
            </a:extLst>
          </p:cNvPr>
          <p:cNvSpPr>
            <a:spLocks xmlns:a="http://schemas.openxmlformats.org/drawingml/2006/main" noGrp="1"/>
          </p:cNvSpPr>
          <p:nvPr/>
        </p:nvSpPr>
        <p:spPr>
          <a:xfrm xmlns:a="http://schemas.openxmlformats.org/drawingml/2006/main">
            <a:off x="723900" y="43719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75" b="0">
                <a:solidFill>
                  <a:srgbClr val="176FA8"/>
                </a:solidFill>
                <a:latin typeface="Aptos"/>
                <a:ea typeface="Aptos"/>
                <a:cs typeface="Aptos"/>
              </a:defRPr>
            </a:pPr>
            <a:r>
              <a:rPr sz="2475" b="0">
                <a:solidFill>
                  <a:srgbClr val="176FA8"/>
                </a:solidFill>
                <a:latin typeface="Aptos"/>
                <a:ea typeface="Aptos"/>
                <a:cs typeface="Aptos"/>
              </a:rPr>
              <a:t>…   1, 2, 0, 0     1, 2, 0, 0     1, 2, 0, 0   …</a:t>
            </a:r>
          </a:p>
        </p:txBody>
      </p:sp>
      <p:sp>
        <p:nvSpPr>
          <p:cNvPr id="7" name="">
            <a:extLst xmlns:a="http://schemas.openxmlformats.org/drawingml/2006/main">
              <a:ext uri="{FF2B5EF4-FFF2-40B4-BE49-F238E27FC236}">
                <a16:creationId xmlns:a16="http://schemas.microsoft.com/office/drawing/2014/main" id="{1E55744C-8D07-4E23-913F-EACDDC71399A}"/>
              </a:ext>
            </a:extLst>
          </p:cNvPr>
          <p:cNvSpPr>
            <a:spLocks xmlns:a="http://schemas.openxmlformats.org/drawingml/2006/main" noGrp="1"/>
          </p:cNvSpPr>
          <p:nvPr/>
        </p:nvSpPr>
        <p:spPr>
          <a:xfrm xmlns:a="http://schemas.openxmlformats.org/drawingml/2006/main">
            <a:off x="723900" y="561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52B3C"/>
                </a:solidFill>
                <a:latin typeface="Aptos"/>
                <a:ea typeface="Aptos"/>
                <a:cs typeface="Aptos"/>
              </a:defRPr>
            </a:pPr>
            <a:r>
              <a:rPr sz="2325" b="1">
                <a:solidFill>
                  <a:srgbClr val="152B3C"/>
                </a:solidFill>
                <a:latin typeface="Aptos"/>
                <a:ea typeface="Aptos"/>
                <a:cs typeface="Aptos"/>
              </a:rPr>
              <a:t>The DFT describes one period of this extension.</a:t>
            </a:r>
          </a:p>
        </p:txBody>
      </p:sp>
    </p:spTree>
    <p:extLst>
      <p:ext uri="{BB962C8B-B14F-4D97-AF65-F5344CB8AC3E}">
        <p14:creationId xmlns:p14="http://schemas.microsoft.com/office/powerpoint/2010/main" val="2225174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50818B-FB9D-4788-8091-2FAC02C2C7B2}"/>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Concept check: what does the DFT sample?</a:t>
            </a:r>
          </a:p>
        </p:txBody>
      </p:sp>
      <p:sp>
        <p:nvSpPr>
          <p:cNvPr id="2" name="">
            <a:extLst xmlns:a="http://schemas.openxmlformats.org/drawingml/2006/main">
              <a:ext uri="{FF2B5EF4-FFF2-40B4-BE49-F238E27FC236}">
                <a16:creationId xmlns:a16="http://schemas.microsoft.com/office/drawing/2014/main" id="{080972A0-4654-4E85-9A26-326D25D0DF0A}"/>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BEE91590-6A1D-4C5B-B73B-4FFB35050722}"/>
              </a:ext>
            </a:extLst>
          </p:cNvPr>
          <p:cNvSpPr>
            <a:spLocks xmlns:a="http://schemas.openxmlformats.org/drawingml/2006/main" noGrp="1"/>
          </p:cNvSpPr>
          <p:nvPr/>
        </p:nvSpPr>
        <p:spPr>
          <a:xfrm xmlns:a="http://schemas.openxmlformats.org/drawingml/2006/main">
            <a:off x="723900" y="1485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52B3C"/>
                </a:solidFill>
                <a:latin typeface="Aptos"/>
                <a:ea typeface="Aptos"/>
                <a:cs typeface="Aptos"/>
              </a:defRPr>
            </a:pPr>
            <a:r>
              <a:rPr sz="2400" b="1">
                <a:solidFill>
                  <a:srgbClr val="152B3C"/>
                </a:solidFill>
                <a:latin typeface="Aptos"/>
                <a:ea typeface="Aptos"/>
                <a:cs typeface="Aptos"/>
              </a:rPr>
              <a:t>We keep N samples of a longer sequence and compute its DFT.</a:t>
            </a:r>
          </a:p>
        </p:txBody>
      </p:sp>
      <p:sp>
        <p:nvSpPr>
          <p:cNvPr id="4" name="">
            <a:extLst xmlns:a="http://schemas.openxmlformats.org/drawingml/2006/main">
              <a:ext uri="{FF2B5EF4-FFF2-40B4-BE49-F238E27FC236}">
                <a16:creationId xmlns:a16="http://schemas.microsoft.com/office/drawing/2014/main" id="{0959621D-622C-4FD0-89B7-4790D1ABE19A}"/>
              </a:ext>
            </a:extLst>
          </p:cNvPr>
          <p:cNvSpPr>
            <a:spLocks xmlns:a="http://schemas.openxmlformats.org/drawingml/2006/main" noGrp="1"/>
          </p:cNvSpPr>
          <p:nvPr/>
        </p:nvSpPr>
        <p:spPr>
          <a:xfrm xmlns:a="http://schemas.openxmlformats.org/drawingml/2006/main">
            <a:off x="723900" y="27241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A   It exactly samples the original sequence’s DTFT.</a:t>
            </a:r>
          </a:p>
        </p:txBody>
      </p:sp>
      <p:sp>
        <p:nvSpPr>
          <p:cNvPr id="5" name="">
            <a:extLst xmlns:a="http://schemas.openxmlformats.org/drawingml/2006/main">
              <a:ext uri="{FF2B5EF4-FFF2-40B4-BE49-F238E27FC236}">
                <a16:creationId xmlns:a16="http://schemas.microsoft.com/office/drawing/2014/main" id="{1736828D-8A22-4EBD-8967-9884206612FE}"/>
              </a:ext>
            </a:extLst>
          </p:cNvPr>
          <p:cNvSpPr>
            <a:spLocks xmlns:a="http://schemas.openxmlformats.org/drawingml/2006/main" noGrp="1"/>
          </p:cNvSpPr>
          <p:nvPr/>
        </p:nvSpPr>
        <p:spPr>
          <a:xfrm xmlns:a="http://schemas.openxmlformats.org/drawingml/2006/main">
            <a:off x="723900" y="3457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B   A finite record has a discrete-frequency DTFT.</a:t>
            </a:r>
          </a:p>
        </p:txBody>
      </p:sp>
      <p:sp>
        <p:nvSpPr>
          <p:cNvPr id="6" name="">
            <a:extLst xmlns:a="http://schemas.openxmlformats.org/drawingml/2006/main">
              <a:ext uri="{FF2B5EF4-FFF2-40B4-BE49-F238E27FC236}">
                <a16:creationId xmlns:a16="http://schemas.microsoft.com/office/drawing/2014/main" id="{A3C05967-FDA1-4198-B650-1D8DEE2155BB}"/>
              </a:ext>
            </a:extLst>
          </p:cNvPr>
          <p:cNvSpPr>
            <a:spLocks xmlns:a="http://schemas.openxmlformats.org/drawingml/2006/main" noGrp="1"/>
          </p:cNvSpPr>
          <p:nvPr/>
        </p:nvSpPr>
        <p:spPr>
          <a:xfrm xmlns:a="http://schemas.openxmlformats.org/drawingml/2006/main">
            <a:off x="723900" y="41910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C   It exactly samples the finite record’s DTFT.</a:t>
            </a:r>
          </a:p>
        </p:txBody>
      </p:sp>
      <p:sp>
        <p:nvSpPr>
          <p:cNvPr id="7" name="">
            <a:extLst xmlns:a="http://schemas.openxmlformats.org/drawingml/2006/main">
              <a:ext uri="{FF2B5EF4-FFF2-40B4-BE49-F238E27FC236}">
                <a16:creationId xmlns:a16="http://schemas.microsoft.com/office/drawing/2014/main" id="{DCA715B3-0313-464B-A688-3B1C03B83D3F}"/>
              </a:ext>
            </a:extLst>
          </p:cNvPr>
          <p:cNvSpPr>
            <a:spLocks xmlns:a="http://schemas.openxmlformats.org/drawingml/2006/main" noGrp="1"/>
          </p:cNvSpPr>
          <p:nvPr/>
        </p:nvSpPr>
        <p:spPr>
          <a:xfrm xmlns:a="http://schemas.openxmlformats.org/drawingml/2006/main">
            <a:off x="723900" y="49244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D   A larger DFT recovers the discarded time samples.</a:t>
            </a:r>
          </a:p>
        </p:txBody>
      </p:sp>
    </p:spTree>
    <p:extLst>
      <p:ext uri="{BB962C8B-B14F-4D97-AF65-F5344CB8AC3E}">
        <p14:creationId xmlns:p14="http://schemas.microsoft.com/office/powerpoint/2010/main" val="166587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EE4CEB-D94A-433E-BFCA-62DEA84F518E}"/>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DFT multiplication gives circular convolution</a:t>
            </a:r>
          </a:p>
        </p:txBody>
      </p:sp>
      <p:sp>
        <p:nvSpPr>
          <p:cNvPr id="2" name="">
            <a:extLst xmlns:a="http://schemas.openxmlformats.org/drawingml/2006/main">
              <a:ext uri="{FF2B5EF4-FFF2-40B4-BE49-F238E27FC236}">
                <a16:creationId xmlns:a16="http://schemas.microsoft.com/office/drawing/2014/main" id="{E5785247-7531-4E42-82C3-A889D65EC244}"/>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D26E8B41-1593-4D48-9F59-88B27E963ED6}"/>
              </a:ext>
            </a:extLst>
          </p:cNvPr>
          <p:cNvSpPr>
            <a:spLocks xmlns:a="http://schemas.openxmlformats.org/drawingml/2006/main" noGrp="1"/>
          </p:cNvSpPr>
          <p:nvPr/>
        </p:nvSpPr>
        <p:spPr>
          <a:xfrm xmlns:a="http://schemas.openxmlformats.org/drawingml/2006/main">
            <a:off x="723900" y="15716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176FA8"/>
                </a:solidFill>
                <a:latin typeface="Aptos"/>
                <a:ea typeface="Aptos"/>
                <a:cs typeface="Aptos"/>
              </a:defRPr>
            </a:pPr>
            <a:r>
              <a:rPr sz="2400" b="0">
                <a:solidFill>
                  <a:srgbClr val="176FA8"/>
                </a:solidFill>
                <a:latin typeface="Aptos"/>
                <a:ea typeface="Aptos"/>
                <a:cs typeface="Aptos"/>
              </a:rPr>
              <a:t>IDFT{X[k]H[k]} = N-point circular convolution</a:t>
            </a:r>
          </a:p>
        </p:txBody>
      </p:sp>
      <p:sp>
        <p:nvSpPr>
          <p:cNvPr id="4" name="">
            <a:extLst xmlns:a="http://schemas.openxmlformats.org/drawingml/2006/main">
              <a:ext uri="{FF2B5EF4-FFF2-40B4-BE49-F238E27FC236}">
                <a16:creationId xmlns:a16="http://schemas.microsoft.com/office/drawing/2014/main" id="{8ECB6921-98BB-4A81-A52C-B2728D6D2C4D}"/>
              </a:ext>
            </a:extLst>
          </p:cNvPr>
          <p:cNvSpPr>
            <a:spLocks xmlns:a="http://schemas.openxmlformats.org/drawingml/2006/main" noGrp="1"/>
          </p:cNvSpPr>
          <p:nvPr/>
        </p:nvSpPr>
        <p:spPr>
          <a:xfrm xmlns:a="http://schemas.openxmlformats.org/drawingml/2006/main">
            <a:off x="723900" y="2695575"/>
            <a:ext cx="1070991"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76FA8"/>
                </a:solidFill>
                <a:latin typeface="Aptos"/>
                <a:ea typeface="Aptos"/>
                <a:cs typeface="Aptos"/>
              </a:defRPr>
            </a:pPr>
            <a:r>
              <a:rPr sz="2325" b="0">
                <a:solidFill>
                  <a:srgbClr val="176FA8"/>
                </a:solidFill>
                <a:latin typeface="Aptos"/>
                <a:ea typeface="Aptos"/>
                <a:cs typeface="Aptos"/>
              </a:rPr>
              <a:t>y[n] =</a:t>
            </a:r>
          </a:p>
        </p:txBody>
      </p:sp>
      <p:sp>
        <p:nvSpPr>
          <p:cNvPr id="5" name="">
            <a:extLst xmlns:a="http://schemas.openxmlformats.org/drawingml/2006/main">
              <a:ext uri="{FF2B5EF4-FFF2-40B4-BE49-F238E27FC236}">
                <a16:creationId xmlns:a16="http://schemas.microsoft.com/office/drawing/2014/main" id="{05A8C245-FF70-4BB8-94A1-5999D459D849}"/>
              </a:ext>
            </a:extLst>
          </p:cNvPr>
          <p:cNvSpPr>
            <a:spLocks xmlns:a="http://schemas.openxmlformats.org/drawingml/2006/main" noGrp="1"/>
          </p:cNvSpPr>
          <p:nvPr/>
        </p:nvSpPr>
        <p:spPr>
          <a:xfrm xmlns:a="http://schemas.openxmlformats.org/drawingml/2006/main">
            <a:off x="1775841" y="266700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0">
                <a:solidFill>
                  <a:srgbClr val="176FA8"/>
                </a:solidFill>
                <a:latin typeface="Aptos"/>
                <a:ea typeface="Aptos"/>
                <a:cs typeface="Aptos"/>
              </a:defRPr>
            </a:pPr>
            <a:r>
              <a:rPr sz="3300" b="0">
                <a:solidFill>
                  <a:srgbClr val="176FA8"/>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E4EDDB60-4DF5-4512-82CF-3C5DA2AA1F27}"/>
              </a:ext>
            </a:extLst>
          </p:cNvPr>
          <p:cNvSpPr>
            <a:spLocks xmlns:a="http://schemas.openxmlformats.org/drawingml/2006/main" noGrp="1"/>
          </p:cNvSpPr>
          <p:nvPr/>
        </p:nvSpPr>
        <p:spPr>
          <a:xfrm xmlns:a="http://schemas.openxmlformats.org/drawingml/2006/main">
            <a:off x="1747266" y="2476500"/>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N − 1</a:t>
            </a:r>
          </a:p>
        </p:txBody>
      </p:sp>
      <p:sp>
        <p:nvSpPr>
          <p:cNvPr id="7" name="">
            <a:extLst xmlns:a="http://schemas.openxmlformats.org/drawingml/2006/main">
              <a:ext uri="{FF2B5EF4-FFF2-40B4-BE49-F238E27FC236}">
                <a16:creationId xmlns:a16="http://schemas.microsoft.com/office/drawing/2014/main" id="{94F3241D-9855-4F77-A932-BBD7A2467E09}"/>
              </a:ext>
            </a:extLst>
          </p:cNvPr>
          <p:cNvSpPr>
            <a:spLocks xmlns:a="http://schemas.openxmlformats.org/drawingml/2006/main" noGrp="1"/>
          </p:cNvSpPr>
          <p:nvPr/>
        </p:nvSpPr>
        <p:spPr>
          <a:xfrm xmlns:a="http://schemas.openxmlformats.org/drawingml/2006/main">
            <a:off x="1747266" y="31623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m = 0</a:t>
            </a:r>
          </a:p>
        </p:txBody>
      </p:sp>
      <p:sp>
        <p:nvSpPr>
          <p:cNvPr id="8" name="">
            <a:extLst xmlns:a="http://schemas.openxmlformats.org/drawingml/2006/main">
              <a:ext uri="{FF2B5EF4-FFF2-40B4-BE49-F238E27FC236}">
                <a16:creationId xmlns:a16="http://schemas.microsoft.com/office/drawing/2014/main" id="{E4045191-7CE5-46D1-BC23-E61FF6B337C6}"/>
              </a:ext>
            </a:extLst>
          </p:cNvPr>
          <p:cNvSpPr>
            <a:spLocks xmlns:a="http://schemas.openxmlformats.org/drawingml/2006/main" noGrp="1"/>
          </p:cNvSpPr>
          <p:nvPr/>
        </p:nvSpPr>
        <p:spPr>
          <a:xfrm xmlns:a="http://schemas.openxmlformats.org/drawingml/2006/main">
            <a:off x="2461641" y="2714625"/>
            <a:ext cx="9025509"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76FA8"/>
                </a:solidFill>
                <a:latin typeface="Aptos"/>
                <a:ea typeface="Aptos"/>
                <a:cs typeface="Aptos"/>
              </a:defRPr>
            </a:pPr>
            <a:r>
              <a:rPr sz="2325" b="0">
                <a:solidFill>
                  <a:srgbClr val="176FA8"/>
                </a:solidFill>
                <a:latin typeface="Aptos"/>
                <a:ea typeface="Aptos"/>
                <a:cs typeface="Aptos"/>
              </a:rPr>
              <a:t>x[m] h[(n − m) mod N]</a:t>
            </a:r>
          </a:p>
        </p:txBody>
      </p:sp>
      <p:sp>
        <p:nvSpPr>
          <p:cNvPr id="9" name="">
            <a:extLst xmlns:a="http://schemas.openxmlformats.org/drawingml/2006/main">
              <a:ext uri="{FF2B5EF4-FFF2-40B4-BE49-F238E27FC236}">
                <a16:creationId xmlns:a16="http://schemas.microsoft.com/office/drawing/2014/main" id="{EA83B8FE-5F4C-48D7-9058-3F0C438F457D}"/>
              </a:ext>
            </a:extLst>
          </p:cNvPr>
          <p:cNvSpPr>
            <a:spLocks xmlns:a="http://schemas.openxmlformats.org/drawingml/2006/main" noGrp="1"/>
          </p:cNvSpPr>
          <p:nvPr/>
        </p:nvSpPr>
        <p:spPr>
          <a:xfrm xmlns:a="http://schemas.openxmlformats.org/drawingml/2006/main">
            <a:off x="723900" y="41338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Example: [1, 1] * [1, 1] = [1, 2, 1]  (linear)</a:t>
            </a:r>
          </a:p>
        </p:txBody>
      </p:sp>
      <p:sp>
        <p:nvSpPr>
          <p:cNvPr id="10" name="">
            <a:extLst xmlns:a="http://schemas.openxmlformats.org/drawingml/2006/main">
              <a:ext uri="{FF2B5EF4-FFF2-40B4-BE49-F238E27FC236}">
                <a16:creationId xmlns:a16="http://schemas.microsoft.com/office/drawing/2014/main" id="{3FF3CD17-F405-42FE-8EFB-49DE43BE5C3E}"/>
              </a:ext>
            </a:extLst>
          </p:cNvPr>
          <p:cNvSpPr>
            <a:spLocks xmlns:a="http://schemas.openxmlformats.org/drawingml/2006/main" noGrp="1"/>
          </p:cNvSpPr>
          <p:nvPr/>
        </p:nvSpPr>
        <p:spPr>
          <a:xfrm xmlns:a="http://schemas.openxmlformats.org/drawingml/2006/main">
            <a:off x="723900" y="48006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A 2-point DFT product gives [2, 2]  (circular)</a:t>
            </a:r>
          </a:p>
        </p:txBody>
      </p:sp>
      <p:sp>
        <p:nvSpPr>
          <p:cNvPr id="11" name="">
            <a:extLst xmlns:a="http://schemas.openxmlformats.org/drawingml/2006/main">
              <a:ext uri="{FF2B5EF4-FFF2-40B4-BE49-F238E27FC236}">
                <a16:creationId xmlns:a16="http://schemas.microsoft.com/office/drawing/2014/main" id="{D2ABD1C7-A865-4ED3-B911-C50CE5D4BAA0}"/>
              </a:ext>
            </a:extLst>
          </p:cNvPr>
          <p:cNvSpPr>
            <a:spLocks xmlns:a="http://schemas.openxmlformats.org/drawingml/2006/main" noGrp="1"/>
          </p:cNvSpPr>
          <p:nvPr/>
        </p:nvSpPr>
        <p:spPr>
          <a:xfrm xmlns:a="http://schemas.openxmlformats.org/drawingml/2006/main">
            <a:off x="723900" y="54673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For linear convolution: choose N ≥ Lₓ + Lₕ − 1.</a:t>
            </a:r>
          </a:p>
        </p:txBody>
      </p:sp>
    </p:spTree>
    <p:extLst>
      <p:ext uri="{BB962C8B-B14F-4D97-AF65-F5344CB8AC3E}">
        <p14:creationId xmlns:p14="http://schemas.microsoft.com/office/powerpoint/2010/main" val="19505459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0EEB26-CB9F-49FB-9026-A26F70275BFB}"/>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An off-grid tone spreads across bins</a:t>
            </a:r>
          </a:p>
        </p:txBody>
      </p:sp>
      <p:sp>
        <p:nvSpPr>
          <p:cNvPr id="2" name="">
            <a:extLst xmlns:a="http://schemas.openxmlformats.org/drawingml/2006/main">
              <a:ext uri="{FF2B5EF4-FFF2-40B4-BE49-F238E27FC236}">
                <a16:creationId xmlns:a16="http://schemas.microsoft.com/office/drawing/2014/main" id="{8B1E979D-4306-4DD6-BA52-AF7BFD1FBF28}"/>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5F760EF3-DCF9-4980-A134-5BCBED1D71EE}"/>
              </a:ext>
            </a:extLst>
          </p:cNvPr>
          <p:cNvSpPr>
            <a:spLocks xmlns:a="http://schemas.openxmlformats.org/drawingml/2006/main" noGrp="1"/>
          </p:cNvSpPr>
          <p:nvPr/>
        </p:nvSpPr>
        <p:spPr>
          <a:xfrm xmlns:a="http://schemas.openxmlformats.org/drawingml/2006/main">
            <a:off x="723900" y="13430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32-sample complex tone: exp(j2πan/32)</a:t>
            </a:r>
          </a:p>
        </p:txBody>
      </p:sp>
      <p:sp>
        <p:nvSpPr>
          <p:cNvPr id="4" name="">
            <a:extLst xmlns:a="http://schemas.openxmlformats.org/drawingml/2006/main">
              <a:ext uri="{FF2B5EF4-FFF2-40B4-BE49-F238E27FC236}">
                <a16:creationId xmlns:a16="http://schemas.microsoft.com/office/drawing/2014/main" id="{91C5846F-AFB9-42F3-8B86-EEDE69DBD211}"/>
              </a:ext>
            </a:extLst>
          </p:cNvPr>
          <p:cNvSpPr>
            <a:spLocks xmlns:a="http://schemas.openxmlformats.org/drawingml/2006/main" noGrp="1"/>
          </p:cNvSpPr>
          <p:nvPr/>
        </p:nvSpPr>
        <p:spPr>
          <a:xfrm xmlns:a="http://schemas.openxmlformats.org/drawingml/2006/main">
            <a:off x="809625" y="20478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1">
                <a:solidFill>
                  <a:srgbClr val="176FA8"/>
                </a:solidFill>
                <a:latin typeface="Aptos"/>
                <a:ea typeface="Aptos"/>
                <a:cs typeface="Aptos"/>
              </a:defRPr>
            </a:pPr>
            <a:r>
              <a:rPr sz="2100" b="1">
                <a:solidFill>
                  <a:srgbClr val="176FA8"/>
                </a:solidFill>
                <a:latin typeface="Aptos"/>
                <a:ea typeface="Aptos"/>
                <a:cs typeface="Aptos"/>
              </a:rPr>
              <a:t>a = 5: exactly on a bin</a:t>
            </a:r>
          </a:p>
        </p:txBody>
      </p:sp>
      <p:sp>
        <p:nvSpPr>
          <p:cNvPr id="5" name="">
            <a:extLst xmlns:a="http://schemas.openxmlformats.org/drawingml/2006/main">
              <a:ext uri="{FF2B5EF4-FFF2-40B4-BE49-F238E27FC236}">
                <a16:creationId xmlns:a16="http://schemas.microsoft.com/office/drawing/2014/main" id="{E2FE3E46-AC6B-4492-825C-810373A608A5}"/>
              </a:ext>
            </a:extLst>
          </p:cNvPr>
          <p:cNvSpPr>
            <a:spLocks xmlns:a="http://schemas.openxmlformats.org/drawingml/2006/main" noGrp="1"/>
          </p:cNvSpPr>
          <p:nvPr/>
        </p:nvSpPr>
        <p:spPr>
          <a:xfrm xmlns:a="http://schemas.openxmlformats.org/drawingml/2006/main">
            <a:off x="6562725" y="20478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1">
                <a:solidFill>
                  <a:srgbClr val="176FA8"/>
                </a:solidFill>
                <a:latin typeface="Aptos"/>
                <a:ea typeface="Aptos"/>
                <a:cs typeface="Aptos"/>
              </a:defRPr>
            </a:pPr>
            <a:r>
              <a:rPr sz="2100" b="1">
                <a:solidFill>
                  <a:srgbClr val="176FA8"/>
                </a:solidFill>
                <a:latin typeface="Aptos"/>
                <a:ea typeface="Aptos"/>
                <a:cs typeface="Aptos"/>
              </a:rPr>
              <a:t>a = 5.5: between bins</a:t>
            </a:r>
          </a:p>
        </p:txBody>
      </p:sp>
      <p:graphicFrame>
        <p:nvGraphicFramePr>
          <p:cNvPr id="14" name="Chart"/>
          <p:cNvGraphicFramePr/>
          <p:nvPr/>
        </p:nvGraphicFramePr>
        <p:xfrm>
          <a:off xmlns:a="http://schemas.openxmlformats.org/drawingml/2006/main" x="619125" y="2552700"/>
          <a:ext xmlns:a="http://schemas.openxmlformats.org/drawingml/2006/main" cx="5143500" cy="2990850"/>
        </p:xfrm>
        <a:graphic xmlns:a="http://schemas.openxmlformats.org/drawingml/2006/main">
          <a:graphicData uri="http://schemas.openxmlformats.org/drawingml/2006/chart">
            <c:chart xmlns:r="http://schemas.openxmlformats.org/officeDocument/2006/relationships" xmlns:c="http://schemas.openxmlformats.org/drawingml/2006/chart" r:id="R40acb9b781764c79"/>
          </a:graphicData>
        </a:graphic>
      </p:graphicFrame>
      <p:graphicFrame>
        <p:nvGraphicFramePr>
          <p:cNvPr id="15" name="Chart"/>
          <p:cNvGraphicFramePr/>
          <p:nvPr/>
        </p:nvGraphicFramePr>
        <p:xfrm>
          <a:off xmlns:a="http://schemas.openxmlformats.org/drawingml/2006/main" x="6429375" y="2552700"/>
          <a:ext xmlns:a="http://schemas.openxmlformats.org/drawingml/2006/main" cx="5143500" cy="2990850"/>
        </p:xfrm>
        <a:graphic xmlns:a="http://schemas.openxmlformats.org/drawingml/2006/main">
          <a:graphicData uri="http://schemas.openxmlformats.org/drawingml/2006/chart">
            <c:chart xmlns:r="http://schemas.openxmlformats.org/officeDocument/2006/relationships" xmlns:c="http://schemas.openxmlformats.org/drawingml/2006/chart" r:id="R6a527ec139fe44e2"/>
          </a:graphicData>
        </a:graphic>
      </p:graphicFrame>
      <p:sp>
        <p:nvSpPr>
          <p:cNvPr id="8" name="">
            <a:extLst xmlns:a="http://schemas.openxmlformats.org/drawingml/2006/main">
              <a:ext uri="{FF2B5EF4-FFF2-40B4-BE49-F238E27FC236}">
                <a16:creationId xmlns:a16="http://schemas.microsoft.com/office/drawing/2014/main" id="{FE2EB2A4-64C1-4FD1-B69A-8485D95AE851}"/>
              </a:ext>
            </a:extLst>
          </p:cNvPr>
          <p:cNvSpPr>
            <a:spLocks xmlns:a="http://schemas.openxmlformats.org/drawingml/2006/main" noGrp="1"/>
          </p:cNvSpPr>
          <p:nvPr/>
        </p:nvSpPr>
        <p:spPr>
          <a:xfrm xmlns:a="http://schemas.openxmlformats.org/drawingml/2006/main">
            <a:off x="723900" y="58864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The window’s spectrum explains leakage and bin alignment.</a:t>
            </a:r>
          </a:p>
        </p:txBody>
      </p:sp>
    </p:spTree>
    <p:extLst>
      <p:ext uri="{BB962C8B-B14F-4D97-AF65-F5344CB8AC3E}">
        <p14:creationId xmlns:p14="http://schemas.microsoft.com/office/powerpoint/2010/main" val="7906482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AB6F14-AA20-4D45-999B-CA73FD71A7AF}"/>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Zero padding samples the same DTFT more densely</a:t>
            </a:r>
          </a:p>
        </p:txBody>
      </p:sp>
      <p:sp>
        <p:nvSpPr>
          <p:cNvPr id="2" name="">
            <a:extLst xmlns:a="http://schemas.openxmlformats.org/drawingml/2006/main">
              <a:ext uri="{FF2B5EF4-FFF2-40B4-BE49-F238E27FC236}">
                <a16:creationId xmlns:a16="http://schemas.microsoft.com/office/drawing/2014/main" id="{3480C396-0A1D-48DB-BF2D-B342AF7027F6}"/>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9DB68683-E55C-44FE-A122-280027413AB5}"/>
              </a:ext>
            </a:extLst>
          </p:cNvPr>
          <p:cNvSpPr>
            <a:spLocks xmlns:a="http://schemas.openxmlformats.org/drawingml/2006/main" noGrp="1"/>
          </p:cNvSpPr>
          <p:nvPr/>
        </p:nvSpPr>
        <p:spPr>
          <a:xfrm xmlns:a="http://schemas.openxmlformats.org/drawingml/2006/main">
            <a:off x="723900" y="1352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Record length L = 16. DFT length M = 16 or 64.</a:t>
            </a:r>
          </a:p>
        </p:txBody>
      </p:sp>
      <p:graphicFrame>
        <p:nvGraphicFramePr>
          <p:cNvPr id="12" name="Chart"/>
          <p:cNvGraphicFramePr/>
          <p:nvPr/>
        </p:nvGraphicFramePr>
        <p:xfrm>
          <a:off xmlns:a="http://schemas.openxmlformats.org/drawingml/2006/main" x="619125" y="2000250"/>
          <a:ext xmlns:a="http://schemas.openxmlformats.org/drawingml/2006/main" cx="7239000" cy="3695700"/>
        </p:xfrm>
        <a:graphic xmlns:a="http://schemas.openxmlformats.org/drawingml/2006/main">
          <a:graphicData uri="http://schemas.openxmlformats.org/drawingml/2006/chart">
            <c:chart xmlns:r="http://schemas.openxmlformats.org/officeDocument/2006/relationships" xmlns:c="http://schemas.openxmlformats.org/drawingml/2006/chart" r:id="R9c44a4d3adae4757"/>
          </a:graphicData>
        </a:graphic>
      </p:graphicFrame>
      <p:sp>
        <p:nvSpPr>
          <p:cNvPr id="5" name="">
            <a:extLst xmlns:a="http://schemas.openxmlformats.org/drawingml/2006/main">
              <a:ext uri="{FF2B5EF4-FFF2-40B4-BE49-F238E27FC236}">
                <a16:creationId xmlns:a16="http://schemas.microsoft.com/office/drawing/2014/main" id="{2EABB2A1-8414-46D0-BAA4-6AD3923C128C}"/>
              </a:ext>
            </a:extLst>
          </p:cNvPr>
          <p:cNvSpPr>
            <a:spLocks xmlns:a="http://schemas.openxmlformats.org/drawingml/2006/main" noGrp="1"/>
          </p:cNvSpPr>
          <p:nvPr/>
        </p:nvSpPr>
        <p:spPr>
          <a:xfrm xmlns:a="http://schemas.openxmlformats.org/drawingml/2006/main">
            <a:off x="8334375" y="27146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76FA8"/>
                </a:solidFill>
                <a:latin typeface="Aptos"/>
                <a:ea typeface="Aptos"/>
                <a:cs typeface="Aptos"/>
              </a:defRPr>
            </a:pPr>
            <a:r>
              <a:rPr sz="2250" b="1">
                <a:solidFill>
                  <a:srgbClr val="176FA8"/>
                </a:solidFill>
                <a:latin typeface="Aptos"/>
                <a:ea typeface="Aptos"/>
                <a:cs typeface="Aptos"/>
              </a:rPr>
              <a:t>Finer bin spacing</a:t>
            </a:r>
          </a:p>
        </p:txBody>
      </p:sp>
      <p:sp>
        <p:nvSpPr>
          <p:cNvPr id="6" name="">
            <a:extLst xmlns:a="http://schemas.openxmlformats.org/drawingml/2006/main">
              <a:ext uri="{FF2B5EF4-FFF2-40B4-BE49-F238E27FC236}">
                <a16:creationId xmlns:a16="http://schemas.microsoft.com/office/drawing/2014/main" id="{DFDD7BA7-5394-4B08-8959-DFF8D5D6793E}"/>
              </a:ext>
            </a:extLst>
          </p:cNvPr>
          <p:cNvSpPr>
            <a:spLocks xmlns:a="http://schemas.openxmlformats.org/drawingml/2006/main" noGrp="1"/>
          </p:cNvSpPr>
          <p:nvPr/>
        </p:nvSpPr>
        <p:spPr>
          <a:xfrm xmlns:a="http://schemas.openxmlformats.org/drawingml/2006/main">
            <a:off x="8334375" y="33432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6FA8"/>
                </a:solidFill>
                <a:latin typeface="Aptos"/>
                <a:ea typeface="Aptos"/>
                <a:cs typeface="Aptos"/>
              </a:defRPr>
            </a:pPr>
            <a:r>
              <a:rPr sz="2250" b="0">
                <a:solidFill>
                  <a:srgbClr val="176FA8"/>
                </a:solidFill>
                <a:latin typeface="Aptos"/>
                <a:ea typeface="Aptos"/>
                <a:cs typeface="Aptos"/>
              </a:rPr>
              <a:t>Δω = 2π/M</a:t>
            </a:r>
          </a:p>
        </p:txBody>
      </p:sp>
      <p:sp>
        <p:nvSpPr>
          <p:cNvPr id="7" name="">
            <a:extLst xmlns:a="http://schemas.openxmlformats.org/drawingml/2006/main">
              <a:ext uri="{FF2B5EF4-FFF2-40B4-BE49-F238E27FC236}">
                <a16:creationId xmlns:a16="http://schemas.microsoft.com/office/drawing/2014/main" id="{72BE66B6-A172-4720-8615-A992F1BCBAFB}"/>
              </a:ext>
            </a:extLst>
          </p:cNvPr>
          <p:cNvSpPr>
            <a:spLocks xmlns:a="http://schemas.openxmlformats.org/drawingml/2006/main" noGrp="1"/>
          </p:cNvSpPr>
          <p:nvPr/>
        </p:nvSpPr>
        <p:spPr>
          <a:xfrm xmlns:a="http://schemas.openxmlformats.org/drawingml/2006/main">
            <a:off x="8334375" y="42005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The main-lobe</a:t>
            </a:r>
          </a:p>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width stays fixed.</a:t>
            </a:r>
          </a:p>
        </p:txBody>
      </p:sp>
      <p:sp>
        <p:nvSpPr>
          <p:cNvPr id="8" name="">
            <a:extLst xmlns:a="http://schemas.openxmlformats.org/drawingml/2006/main">
              <a:ext uri="{FF2B5EF4-FFF2-40B4-BE49-F238E27FC236}">
                <a16:creationId xmlns:a16="http://schemas.microsoft.com/office/drawing/2014/main" id="{C0F6B3B7-5A2F-4521-AF7F-3265C8F691DA}"/>
              </a:ext>
            </a:extLst>
          </p:cNvPr>
          <p:cNvSpPr>
            <a:spLocks xmlns:a="http://schemas.openxmlformats.org/drawingml/2006/main" noGrp="1"/>
          </p:cNvSpPr>
          <p:nvPr/>
        </p:nvSpPr>
        <p:spPr>
          <a:xfrm xmlns:a="http://schemas.openxmlformats.org/drawingml/2006/main">
            <a:off x="723900" y="59340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A longer measured record can separate closer frequencies.</a:t>
            </a:r>
          </a:p>
        </p:txBody>
      </p:sp>
    </p:spTree>
    <p:extLst>
      <p:ext uri="{BB962C8B-B14F-4D97-AF65-F5344CB8AC3E}">
        <p14:creationId xmlns:p14="http://schemas.microsoft.com/office/powerpoint/2010/main" val="20216246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B18935-DD3F-4776-9036-2F2343AFD45E}"/>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The transition in one equation</a:t>
            </a:r>
          </a:p>
        </p:txBody>
      </p:sp>
      <p:sp>
        <p:nvSpPr>
          <p:cNvPr id="2" name="">
            <a:extLst xmlns:a="http://schemas.openxmlformats.org/drawingml/2006/main">
              <a:ext uri="{FF2B5EF4-FFF2-40B4-BE49-F238E27FC236}">
                <a16:creationId xmlns:a16="http://schemas.microsoft.com/office/drawing/2014/main" id="{9EDF5F08-38B9-4269-98E5-29E4434D4A3E}"/>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14</a:t>
            </a:r>
          </a:p>
        </p:txBody>
      </p:sp>
      <p:sp>
        <p:nvSpPr>
          <p:cNvPr id="3" name="">
            <a:extLst xmlns:a="http://schemas.openxmlformats.org/drawingml/2006/main">
              <a:ext uri="{FF2B5EF4-FFF2-40B4-BE49-F238E27FC236}">
                <a16:creationId xmlns:a16="http://schemas.microsoft.com/office/drawing/2014/main" id="{1D15C6DE-CF09-4284-9241-9B3A2CC25D9D}"/>
              </a:ext>
            </a:extLst>
          </p:cNvPr>
          <p:cNvSpPr>
            <a:spLocks xmlns:a="http://schemas.openxmlformats.org/drawingml/2006/main" noGrp="1"/>
          </p:cNvSpPr>
          <p:nvPr/>
        </p:nvSpPr>
        <p:spPr>
          <a:xfrm xmlns:a="http://schemas.openxmlformats.org/drawingml/2006/main">
            <a:off x="723900" y="15144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0">
                <a:solidFill>
                  <a:srgbClr val="176FA8"/>
                </a:solidFill>
                <a:latin typeface="Aptos"/>
                <a:ea typeface="Aptos"/>
                <a:cs typeface="Aptos"/>
              </a:defRPr>
            </a:pPr>
            <a:r>
              <a:rPr sz="3450" b="0">
                <a:solidFill>
                  <a:srgbClr val="176FA8"/>
                </a:solidFill>
                <a:latin typeface="Aptos"/>
                <a:ea typeface="Aptos"/>
                <a:cs typeface="Aptos"/>
              </a:rPr>
              <a:t>X[k] = Xᵣ(2πk/N)</a:t>
            </a:r>
          </a:p>
        </p:txBody>
      </p:sp>
      <p:sp>
        <p:nvSpPr>
          <p:cNvPr id="4" name="">
            <a:extLst xmlns:a="http://schemas.openxmlformats.org/drawingml/2006/main">
              <a:ext uri="{FF2B5EF4-FFF2-40B4-BE49-F238E27FC236}">
                <a16:creationId xmlns:a16="http://schemas.microsoft.com/office/drawing/2014/main" id="{7AE715F4-1BD7-44B3-B850-EAF0140F4C04}"/>
              </a:ext>
            </a:extLst>
          </p:cNvPr>
          <p:cNvSpPr>
            <a:spLocks xmlns:a="http://schemas.openxmlformats.org/drawingml/2006/main" noGrp="1"/>
          </p:cNvSpPr>
          <p:nvPr/>
        </p:nvSpPr>
        <p:spPr>
          <a:xfrm xmlns:a="http://schemas.openxmlformats.org/drawingml/2006/main">
            <a:off x="723900" y="2581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Windowing selects the record. Frequency sampling defines the DFT.</a:t>
            </a:r>
          </a:p>
        </p:txBody>
      </p:sp>
      <p:sp>
        <p:nvSpPr>
          <p:cNvPr id="5" name="">
            <a:extLst xmlns:a="http://schemas.openxmlformats.org/drawingml/2006/main">
              <a:ext uri="{FF2B5EF4-FFF2-40B4-BE49-F238E27FC236}">
                <a16:creationId xmlns:a16="http://schemas.microsoft.com/office/drawing/2014/main" id="{33880092-9698-4A19-8A35-D8E01164C847}"/>
              </a:ext>
            </a:extLst>
          </p:cNvPr>
          <p:cNvSpPr>
            <a:spLocks xmlns:a="http://schemas.openxmlformats.org/drawingml/2006/main" noGrp="1"/>
          </p:cNvSpPr>
          <p:nvPr/>
        </p:nvSpPr>
        <p:spPr>
          <a:xfrm xmlns:a="http://schemas.openxmlformats.org/drawingml/2006/main">
            <a:off x="723900" y="32004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The IDFT recovers the block and extends it periodically.</a:t>
            </a:r>
          </a:p>
        </p:txBody>
      </p:sp>
      <p:sp>
        <p:nvSpPr>
          <p:cNvPr id="6" name="">
            <a:extLst xmlns:a="http://schemas.openxmlformats.org/drawingml/2006/main">
              <a:ext uri="{FF2B5EF4-FFF2-40B4-BE49-F238E27FC236}">
                <a16:creationId xmlns:a16="http://schemas.microsoft.com/office/drawing/2014/main" id="{4711CA3C-7955-42D7-B6E2-0186ED2C1259}"/>
              </a:ext>
            </a:extLst>
          </p:cNvPr>
          <p:cNvSpPr>
            <a:spLocks xmlns:a="http://schemas.openxmlformats.org/drawingml/2006/main" noGrp="1"/>
          </p:cNvSpPr>
          <p:nvPr/>
        </p:nvSpPr>
        <p:spPr>
          <a:xfrm xmlns:a="http://schemas.openxmlformats.org/drawingml/2006/main">
            <a:off x="723900" y="38195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An FFT computes the DFT efficiently.</a:t>
            </a:r>
          </a:p>
        </p:txBody>
      </p:sp>
      <p:sp>
        <p:nvSpPr>
          <p:cNvPr id="7" name="">
            <a:extLst xmlns:a="http://schemas.openxmlformats.org/drawingml/2006/main">
              <a:ext uri="{FF2B5EF4-FFF2-40B4-BE49-F238E27FC236}">
                <a16:creationId xmlns:a16="http://schemas.microsoft.com/office/drawing/2014/main" id="{4B9AC5BA-41ED-433D-85AA-7174CC80718E}"/>
              </a:ext>
            </a:extLst>
          </p:cNvPr>
          <p:cNvSpPr>
            <a:spLocks xmlns:a="http://schemas.openxmlformats.org/drawingml/2006/main" noGrp="1"/>
          </p:cNvSpPr>
          <p:nvPr/>
        </p:nvSpPr>
        <p:spPr>
          <a:xfrm xmlns:a="http://schemas.openxmlformats.org/drawingml/2006/main">
            <a:off x="723900" y="47339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52B3C"/>
                </a:solidFill>
                <a:latin typeface="Aptos"/>
                <a:ea typeface="Aptos"/>
                <a:cs typeface="Aptos"/>
              </a:defRPr>
            </a:pPr>
            <a:r>
              <a:rPr sz="2325" b="1">
                <a:solidFill>
                  <a:srgbClr val="152B3C"/>
                </a:solidFill>
                <a:latin typeface="Aptos"/>
                <a:ea typeface="Aptos"/>
                <a:cs typeface="Aptos"/>
              </a:rPr>
              <a:t>Exit ticket</a:t>
            </a:r>
          </a:p>
        </p:txBody>
      </p:sp>
      <p:sp>
        <p:nvSpPr>
          <p:cNvPr id="8" name="">
            <a:extLst xmlns:a="http://schemas.openxmlformats.org/drawingml/2006/main">
              <a:ext uri="{FF2B5EF4-FFF2-40B4-BE49-F238E27FC236}">
                <a16:creationId xmlns:a16="http://schemas.microsoft.com/office/drawing/2014/main" id="{CAF88196-1FC1-44B6-8756-466381894368}"/>
              </a:ext>
            </a:extLst>
          </p:cNvPr>
          <p:cNvSpPr>
            <a:spLocks xmlns:a="http://schemas.openxmlformats.org/drawingml/2006/main" noGrp="1"/>
          </p:cNvSpPr>
          <p:nvPr/>
        </p:nvSpPr>
        <p:spPr>
          <a:xfrm xmlns:a="http://schemas.openxmlformats.org/drawingml/2006/main">
            <a:off x="723900" y="52959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152B3C"/>
                </a:solidFill>
                <a:latin typeface="Aptos"/>
                <a:ea typeface="Aptos"/>
                <a:cs typeface="Aptos"/>
              </a:defRPr>
            </a:pPr>
            <a:r>
              <a:rPr sz="2025" b="0">
                <a:solidFill>
                  <a:srgbClr val="152B3C"/>
                </a:solidFill>
                <a:latin typeface="Aptos"/>
                <a:ea typeface="Aptos"/>
                <a:cs typeface="Aptos"/>
              </a:rPr>
              <a:t>16 samples at 8 kHz, padded to 64: what is the new bin spacing?</a:t>
            </a:r>
          </a:p>
        </p:txBody>
      </p:sp>
      <p:sp>
        <p:nvSpPr>
          <p:cNvPr id="9" name="">
            <a:extLst xmlns:a="http://schemas.openxmlformats.org/drawingml/2006/main">
              <a:ext uri="{FF2B5EF4-FFF2-40B4-BE49-F238E27FC236}">
                <a16:creationId xmlns:a16="http://schemas.microsoft.com/office/drawing/2014/main" id="{F0AB1F97-FA89-461F-B68B-0A47D8B7E2CB}"/>
              </a:ext>
            </a:extLst>
          </p:cNvPr>
          <p:cNvSpPr>
            <a:spLocks xmlns:a="http://schemas.openxmlformats.org/drawingml/2006/main" noGrp="1"/>
          </p:cNvSpPr>
          <p:nvPr/>
        </p:nvSpPr>
        <p:spPr>
          <a:xfrm xmlns:a="http://schemas.openxmlformats.org/drawingml/2006/main">
            <a:off x="72390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152B3C"/>
                </a:solidFill>
                <a:latin typeface="Aptos"/>
                <a:ea typeface="Aptos"/>
                <a:cs typeface="Aptos"/>
              </a:defRPr>
            </a:pPr>
            <a:r>
              <a:rPr sz="2025" b="0">
                <a:solidFill>
                  <a:srgbClr val="152B3C"/>
                </a:solidFill>
                <a:latin typeface="Aptos"/>
                <a:ea typeface="Aptos"/>
                <a:cs typeface="Aptos"/>
              </a:rPr>
              <a:t>Does padding improve the ability to separate nearby tones? Why?</a:t>
            </a:r>
          </a:p>
        </p:txBody>
      </p:sp>
    </p:spTree>
    <p:extLst>
      <p:ext uri="{BB962C8B-B14F-4D97-AF65-F5344CB8AC3E}">
        <p14:creationId xmlns:p14="http://schemas.microsoft.com/office/powerpoint/2010/main" val="5198217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E455DB-1A2A-456E-BA8A-7A2E403ED983}"/>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Answers to the concept checks</a:t>
            </a:r>
          </a:p>
        </p:txBody>
      </p:sp>
      <p:sp>
        <p:nvSpPr>
          <p:cNvPr id="2" name="">
            <a:extLst xmlns:a="http://schemas.openxmlformats.org/drawingml/2006/main">
              <a:ext uri="{FF2B5EF4-FFF2-40B4-BE49-F238E27FC236}">
                <a16:creationId xmlns:a16="http://schemas.microsoft.com/office/drawing/2014/main" id="{9B79FFAA-A28B-4E77-80FC-E60617F081CD}"/>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15</a:t>
            </a:r>
          </a:p>
        </p:txBody>
      </p:sp>
      <p:sp>
        <p:nvSpPr>
          <p:cNvPr id="3" name="">
            <a:extLst xmlns:a="http://schemas.openxmlformats.org/drawingml/2006/main">
              <a:ext uri="{FF2B5EF4-FFF2-40B4-BE49-F238E27FC236}">
                <a16:creationId xmlns:a16="http://schemas.microsoft.com/office/drawing/2014/main" id="{DD2F2271-CF58-4CDF-9767-3A180D6E957A}"/>
              </a:ext>
            </a:extLst>
          </p:cNvPr>
          <p:cNvSpPr>
            <a:spLocks xmlns:a="http://schemas.openxmlformats.org/drawingml/2006/main" noGrp="1"/>
          </p:cNvSpPr>
          <p:nvPr/>
        </p:nvSpPr>
        <p:spPr>
          <a:xfrm xmlns:a="http://schemas.openxmlformats.org/drawingml/2006/main">
            <a:off x="723900" y="16383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52B3C"/>
                </a:solidFill>
                <a:latin typeface="Aptos"/>
                <a:ea typeface="Aptos"/>
                <a:cs typeface="Aptos"/>
              </a:defRPr>
            </a:pPr>
            <a:r>
              <a:rPr sz="2400" b="1">
                <a:solidFill>
                  <a:srgbClr val="152B3C"/>
                </a:solidFill>
                <a:latin typeface="Aptos"/>
                <a:ea typeface="Aptos"/>
                <a:cs typeface="Aptos"/>
              </a:rPr>
              <a:t>Concept check (slide 10)</a:t>
            </a:r>
          </a:p>
        </p:txBody>
      </p:sp>
      <p:sp>
        <p:nvSpPr>
          <p:cNvPr id="4" name="">
            <a:extLst xmlns:a="http://schemas.openxmlformats.org/drawingml/2006/main">
              <a:ext uri="{FF2B5EF4-FFF2-40B4-BE49-F238E27FC236}">
                <a16:creationId xmlns:a16="http://schemas.microsoft.com/office/drawing/2014/main" id="{BA0DA6FD-DFFE-4718-95D2-A44B1B99F61A}"/>
              </a:ext>
            </a:extLst>
          </p:cNvPr>
          <p:cNvSpPr>
            <a:spLocks xmlns:a="http://schemas.openxmlformats.org/drawingml/2006/main" noGrp="1"/>
          </p:cNvSpPr>
          <p:nvPr/>
        </p:nvSpPr>
        <p:spPr>
          <a:xfrm xmlns:a="http://schemas.openxmlformats.org/drawingml/2006/main">
            <a:off x="723900" y="2247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C: The DFT samples the finite record’s DTFT.</a:t>
            </a:r>
          </a:p>
        </p:txBody>
      </p:sp>
      <p:sp>
        <p:nvSpPr>
          <p:cNvPr id="5" name="">
            <a:extLst xmlns:a="http://schemas.openxmlformats.org/drawingml/2006/main">
              <a:ext uri="{FF2B5EF4-FFF2-40B4-BE49-F238E27FC236}">
                <a16:creationId xmlns:a16="http://schemas.microsoft.com/office/drawing/2014/main" id="{8A7E09AB-7F0A-4BEC-9766-1B80E5D804CA}"/>
              </a:ext>
            </a:extLst>
          </p:cNvPr>
          <p:cNvSpPr>
            <a:spLocks xmlns:a="http://schemas.openxmlformats.org/drawingml/2006/main" noGrp="1"/>
          </p:cNvSpPr>
          <p:nvPr/>
        </p:nvSpPr>
        <p:spPr>
          <a:xfrm xmlns:a="http://schemas.openxmlformats.org/drawingml/2006/main">
            <a:off x="7239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Truncation determines which spectrum the DFT samples.</a:t>
            </a:r>
          </a:p>
        </p:txBody>
      </p:sp>
      <p:sp>
        <p:nvSpPr>
          <p:cNvPr id="6" name="">
            <a:extLst xmlns:a="http://schemas.openxmlformats.org/drawingml/2006/main">
              <a:ext uri="{FF2B5EF4-FFF2-40B4-BE49-F238E27FC236}">
                <a16:creationId xmlns:a16="http://schemas.microsoft.com/office/drawing/2014/main" id="{B1697696-93AE-4AC0-A3CC-02FF080BFDA5}"/>
              </a:ext>
            </a:extLst>
          </p:cNvPr>
          <p:cNvSpPr>
            <a:spLocks xmlns:a="http://schemas.openxmlformats.org/drawingml/2006/main" noGrp="1"/>
          </p:cNvSpPr>
          <p:nvPr/>
        </p:nvSpPr>
        <p:spPr>
          <a:xfrm xmlns:a="http://schemas.openxmlformats.org/drawingml/2006/main">
            <a:off x="723900" y="3943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52B3C"/>
                </a:solidFill>
                <a:latin typeface="Aptos"/>
                <a:ea typeface="Aptos"/>
                <a:cs typeface="Aptos"/>
              </a:defRPr>
            </a:pPr>
            <a:r>
              <a:rPr sz="2400" b="1">
                <a:solidFill>
                  <a:srgbClr val="152B3C"/>
                </a:solidFill>
                <a:latin typeface="Aptos"/>
                <a:ea typeface="Aptos"/>
                <a:cs typeface="Aptos"/>
              </a:rPr>
              <a:t>Exit ticket (slide 14)</a:t>
            </a:r>
          </a:p>
        </p:txBody>
      </p:sp>
      <p:sp>
        <p:nvSpPr>
          <p:cNvPr id="7" name="">
            <a:extLst xmlns:a="http://schemas.openxmlformats.org/drawingml/2006/main">
              <a:ext uri="{FF2B5EF4-FFF2-40B4-BE49-F238E27FC236}">
                <a16:creationId xmlns:a16="http://schemas.microsoft.com/office/drawing/2014/main" id="{38C86B07-C024-4101-BA63-F976805F99AD}"/>
              </a:ext>
            </a:extLst>
          </p:cNvPr>
          <p:cNvSpPr>
            <a:spLocks xmlns:a="http://schemas.openxmlformats.org/drawingml/2006/main" noGrp="1"/>
          </p:cNvSpPr>
          <p:nvPr/>
        </p:nvSpPr>
        <p:spPr>
          <a:xfrm xmlns:a="http://schemas.openxmlformats.org/drawingml/2006/main">
            <a:off x="723900" y="460057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Δf = 8000/64 = 125 Hz</a:t>
            </a:r>
          </a:p>
        </p:txBody>
      </p:sp>
      <p:sp>
        <p:nvSpPr>
          <p:cNvPr id="8" name="">
            <a:extLst xmlns:a="http://schemas.openxmlformats.org/drawingml/2006/main">
              <a:ext uri="{FF2B5EF4-FFF2-40B4-BE49-F238E27FC236}">
                <a16:creationId xmlns:a16="http://schemas.microsoft.com/office/drawing/2014/main" id="{1D1C65E0-20FA-47B7-ADB6-868AC56BA8D9}"/>
              </a:ext>
            </a:extLst>
          </p:cNvPr>
          <p:cNvSpPr>
            <a:spLocks xmlns:a="http://schemas.openxmlformats.org/drawingml/2006/main" noGrp="1"/>
          </p:cNvSpPr>
          <p:nvPr/>
        </p:nvSpPr>
        <p:spPr>
          <a:xfrm xmlns:a="http://schemas.openxmlformats.org/drawingml/2006/main">
            <a:off x="723900" y="52673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152B3C"/>
                </a:solidFill>
                <a:latin typeface="Aptos"/>
                <a:ea typeface="Aptos"/>
                <a:cs typeface="Aptos"/>
              </a:defRPr>
            </a:pPr>
            <a:r>
              <a:rPr sz="2175" b="0">
                <a:solidFill>
                  <a:srgbClr val="152B3C"/>
                </a:solidFill>
                <a:latin typeface="Aptos"/>
                <a:ea typeface="Aptos"/>
                <a:cs typeface="Aptos"/>
              </a:rPr>
              <a:t>The same observation gives the same DTFT main-lobe width.</a:t>
            </a:r>
          </a:p>
        </p:txBody>
      </p:sp>
    </p:spTree>
    <p:extLst>
      <p:ext uri="{BB962C8B-B14F-4D97-AF65-F5344CB8AC3E}">
        <p14:creationId xmlns:p14="http://schemas.microsoft.com/office/powerpoint/2010/main" val="4979402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6B255D-D2CA-4929-A538-0E96404DF9E3}"/>
              </a:ext>
            </a:extLst>
          </p:cNvPr>
          <p:cNvSpPr>
            <a:spLocks xmlns:a="http://schemas.openxmlformats.org/drawingml/2006/main" noGrp="1"/>
          </p:cNvSpPr>
          <p:nvPr/>
        </p:nvSpPr>
        <p:spPr>
          <a:xfrm xmlns:a="http://schemas.openxmlformats.org/drawingml/2006/main">
            <a:off x="609600" y="4286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152B3C"/>
                </a:solidFill>
                <a:latin typeface="Aptos"/>
                <a:ea typeface="Aptos"/>
                <a:cs typeface="Aptos"/>
              </a:defRPr>
            </a:pPr>
            <a:r>
              <a:rPr sz="3225" b="1">
                <a:solidFill>
                  <a:srgbClr val="152B3C"/>
                </a:solidFill>
                <a:latin typeface="Aptos"/>
                <a:ea typeface="Aptos"/>
                <a:cs typeface="Aptos"/>
              </a:rPr>
              <a:t>Frequency sampling and time aliasing</a:t>
            </a:r>
          </a:p>
        </p:txBody>
      </p:sp>
      <p:sp>
        <p:nvSpPr>
          <p:cNvPr id="2" name="">
            <a:extLst xmlns:a="http://schemas.openxmlformats.org/drawingml/2006/main">
              <a:ext uri="{FF2B5EF4-FFF2-40B4-BE49-F238E27FC236}">
                <a16:creationId xmlns:a16="http://schemas.microsoft.com/office/drawing/2014/main" id="{706D4CC6-8669-4AA1-AE26-32643E780E6B}"/>
              </a:ext>
            </a:extLst>
          </p:cNvPr>
          <p:cNvSpPr>
            <a:spLocks xmlns:a="http://schemas.openxmlformats.org/drawingml/2006/main" noGrp="1"/>
          </p:cNvSpPr>
          <p:nvPr/>
        </p:nvSpPr>
        <p:spPr>
          <a:xfrm xmlns:a="http://schemas.openxmlformats.org/drawingml/2006/main">
            <a:off x="11144250" y="64103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26777"/>
                </a:solidFill>
                <a:latin typeface="Aptos"/>
                <a:ea typeface="Aptos"/>
                <a:cs typeface="Aptos"/>
              </a:defRPr>
            </a:pPr>
            <a:r>
              <a:rPr sz="1350" b="0">
                <a:solidFill>
                  <a:srgbClr val="526777"/>
                </a:solidFill>
                <a:latin typeface="Aptos"/>
                <a:ea typeface="Aptos"/>
                <a:cs typeface="Aptos"/>
              </a:rPr>
              <a:t>16</a:t>
            </a:r>
          </a:p>
        </p:txBody>
      </p:sp>
      <p:sp>
        <p:nvSpPr>
          <p:cNvPr id="3" name="">
            <a:extLst xmlns:a="http://schemas.openxmlformats.org/drawingml/2006/main">
              <a:ext uri="{FF2B5EF4-FFF2-40B4-BE49-F238E27FC236}">
                <a16:creationId xmlns:a16="http://schemas.microsoft.com/office/drawing/2014/main" id="{16BEF8A6-1A3C-4ECC-B3A2-CA6EA1B2FB88}"/>
              </a:ext>
            </a:extLst>
          </p:cNvPr>
          <p:cNvSpPr>
            <a:spLocks xmlns:a="http://schemas.openxmlformats.org/drawingml/2006/main" noGrp="1"/>
          </p:cNvSpPr>
          <p:nvPr/>
        </p:nvSpPr>
        <p:spPr>
          <a:xfrm xmlns:a="http://schemas.openxmlformats.org/drawingml/2006/main">
            <a:off x="723900" y="1524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176FA8"/>
                </a:solidFill>
                <a:latin typeface="Aptos"/>
                <a:ea typeface="Aptos"/>
                <a:cs typeface="Aptos"/>
              </a:defRPr>
            </a:pPr>
            <a:r>
              <a:rPr sz="2400" b="0">
                <a:solidFill>
                  <a:srgbClr val="176FA8"/>
                </a:solidFill>
                <a:latin typeface="Aptos"/>
                <a:ea typeface="Aptos"/>
                <a:cs typeface="Aptos"/>
              </a:rPr>
              <a:t>X[k] = X(2πk/N) for an infinite sequence x[n]</a:t>
            </a:r>
          </a:p>
        </p:txBody>
      </p:sp>
      <p:sp>
        <p:nvSpPr>
          <p:cNvPr id="4" name="">
            <a:extLst xmlns:a="http://schemas.openxmlformats.org/drawingml/2006/main">
              <a:ext uri="{FF2B5EF4-FFF2-40B4-BE49-F238E27FC236}">
                <a16:creationId xmlns:a16="http://schemas.microsoft.com/office/drawing/2014/main" id="{D675584A-5171-4445-B0A9-1072AB4085F6}"/>
              </a:ext>
            </a:extLst>
          </p:cNvPr>
          <p:cNvSpPr>
            <a:spLocks xmlns:a="http://schemas.openxmlformats.org/drawingml/2006/main" noGrp="1"/>
          </p:cNvSpPr>
          <p:nvPr/>
        </p:nvSpPr>
        <p:spPr>
          <a:xfrm xmlns:a="http://schemas.openxmlformats.org/drawingml/2006/main">
            <a:off x="723900" y="2867025"/>
            <a:ext cx="2398014"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0">
                <a:solidFill>
                  <a:srgbClr val="176FA8"/>
                </a:solidFill>
                <a:latin typeface="Aptos"/>
                <a:ea typeface="Aptos"/>
                <a:cs typeface="Aptos"/>
              </a:defRPr>
            </a:pPr>
            <a:r>
              <a:rPr sz="2775" b="0">
                <a:solidFill>
                  <a:srgbClr val="176FA8"/>
                </a:solidFill>
                <a:latin typeface="Aptos"/>
                <a:ea typeface="Aptos"/>
                <a:cs typeface="Aptos"/>
              </a:rPr>
              <a:t>IDFT{X[k]} =</a:t>
            </a:r>
          </a:p>
        </p:txBody>
      </p:sp>
      <p:sp>
        <p:nvSpPr>
          <p:cNvPr id="5" name="">
            <a:extLst xmlns:a="http://schemas.openxmlformats.org/drawingml/2006/main">
              <a:ext uri="{FF2B5EF4-FFF2-40B4-BE49-F238E27FC236}">
                <a16:creationId xmlns:a16="http://schemas.microsoft.com/office/drawing/2014/main" id="{1FF0F790-FB47-43E8-B3E3-777FD638CED3}"/>
              </a:ext>
            </a:extLst>
          </p:cNvPr>
          <p:cNvSpPr>
            <a:spLocks xmlns:a="http://schemas.openxmlformats.org/drawingml/2006/main" noGrp="1"/>
          </p:cNvSpPr>
          <p:nvPr/>
        </p:nvSpPr>
        <p:spPr>
          <a:xfrm xmlns:a="http://schemas.openxmlformats.org/drawingml/2006/main">
            <a:off x="3102864" y="2838450"/>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0">
                <a:solidFill>
                  <a:srgbClr val="176FA8"/>
                </a:solidFill>
                <a:latin typeface="Aptos"/>
                <a:ea typeface="Aptos"/>
                <a:cs typeface="Aptos"/>
              </a:defRPr>
            </a:pPr>
            <a:r>
              <a:rPr sz="3750" b="0">
                <a:solidFill>
                  <a:srgbClr val="176FA8"/>
                </a:solidFill>
                <a:latin typeface="Aptos"/>
                <a:ea typeface="Aptos"/>
                <a:cs typeface="Aptos"/>
              </a:rPr>
              <a:t>∑</a:t>
            </a:r>
          </a:p>
        </p:txBody>
      </p:sp>
      <p:sp>
        <p:nvSpPr>
          <p:cNvPr id="6" name="">
            <a:extLst xmlns:a="http://schemas.openxmlformats.org/drawingml/2006/main">
              <a:ext uri="{FF2B5EF4-FFF2-40B4-BE49-F238E27FC236}">
                <a16:creationId xmlns:a16="http://schemas.microsoft.com/office/drawing/2014/main" id="{07EEB2CF-3444-42D8-AD37-C4ED8F71FBF0}"/>
              </a:ext>
            </a:extLst>
          </p:cNvPr>
          <p:cNvSpPr>
            <a:spLocks xmlns:a="http://schemas.openxmlformats.org/drawingml/2006/main" noGrp="1"/>
          </p:cNvSpPr>
          <p:nvPr/>
        </p:nvSpPr>
        <p:spPr>
          <a:xfrm xmlns:a="http://schemas.openxmlformats.org/drawingml/2006/main">
            <a:off x="3074289" y="2647950"/>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a:t>
            </a:r>
          </a:p>
        </p:txBody>
      </p:sp>
      <p:sp>
        <p:nvSpPr>
          <p:cNvPr id="7" name="">
            <a:extLst xmlns:a="http://schemas.openxmlformats.org/drawingml/2006/main">
              <a:ext uri="{FF2B5EF4-FFF2-40B4-BE49-F238E27FC236}">
                <a16:creationId xmlns:a16="http://schemas.microsoft.com/office/drawing/2014/main" id="{002E3C4B-8135-4DE3-A887-571D1945D24B}"/>
              </a:ext>
            </a:extLst>
          </p:cNvPr>
          <p:cNvSpPr>
            <a:spLocks xmlns:a="http://schemas.openxmlformats.org/drawingml/2006/main" noGrp="1"/>
          </p:cNvSpPr>
          <p:nvPr/>
        </p:nvSpPr>
        <p:spPr>
          <a:xfrm xmlns:a="http://schemas.openxmlformats.org/drawingml/2006/main">
            <a:off x="3074289" y="33337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176FA8"/>
                </a:solidFill>
                <a:latin typeface="Aptos"/>
                <a:ea typeface="Aptos"/>
                <a:cs typeface="Aptos"/>
              </a:defRPr>
            </a:pPr>
            <a:r>
              <a:rPr sz="1350" b="0">
                <a:solidFill>
                  <a:srgbClr val="176FA8"/>
                </a:solidFill>
                <a:latin typeface="Aptos"/>
                <a:ea typeface="Aptos"/>
                <a:cs typeface="Aptos"/>
              </a:rPr>
              <a:t>ℓ = −∞</a:t>
            </a:r>
          </a:p>
        </p:txBody>
      </p:sp>
      <p:sp>
        <p:nvSpPr>
          <p:cNvPr id="8" name="">
            <a:extLst xmlns:a="http://schemas.openxmlformats.org/drawingml/2006/main">
              <a:ext uri="{FF2B5EF4-FFF2-40B4-BE49-F238E27FC236}">
                <a16:creationId xmlns:a16="http://schemas.microsoft.com/office/drawing/2014/main" id="{02B297A1-394A-490F-B0A2-5413C20D1984}"/>
              </a:ext>
            </a:extLst>
          </p:cNvPr>
          <p:cNvSpPr>
            <a:spLocks xmlns:a="http://schemas.openxmlformats.org/drawingml/2006/main" noGrp="1"/>
          </p:cNvSpPr>
          <p:nvPr/>
        </p:nvSpPr>
        <p:spPr>
          <a:xfrm xmlns:a="http://schemas.openxmlformats.org/drawingml/2006/main">
            <a:off x="3788664" y="2886075"/>
            <a:ext cx="769848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0">
                <a:solidFill>
                  <a:srgbClr val="176FA8"/>
                </a:solidFill>
                <a:latin typeface="Aptos"/>
                <a:ea typeface="Aptos"/>
                <a:cs typeface="Aptos"/>
              </a:defRPr>
            </a:pPr>
            <a:r>
              <a:rPr sz="2775" b="0">
                <a:solidFill>
                  <a:srgbClr val="176FA8"/>
                </a:solidFill>
                <a:latin typeface="Aptos"/>
                <a:ea typeface="Aptos"/>
                <a:cs typeface="Aptos"/>
              </a:rPr>
              <a:t>x[n + ℓN]</a:t>
            </a:r>
          </a:p>
        </p:txBody>
      </p:sp>
      <p:sp>
        <p:nvSpPr>
          <p:cNvPr id="9" name="">
            <a:extLst xmlns:a="http://schemas.openxmlformats.org/drawingml/2006/main">
              <a:ext uri="{FF2B5EF4-FFF2-40B4-BE49-F238E27FC236}">
                <a16:creationId xmlns:a16="http://schemas.microsoft.com/office/drawing/2014/main" id="{42A7D171-E68A-4756-A11C-FFADF575F714}"/>
              </a:ext>
            </a:extLst>
          </p:cNvPr>
          <p:cNvSpPr>
            <a:spLocks xmlns:a="http://schemas.openxmlformats.org/drawingml/2006/main" noGrp="1"/>
          </p:cNvSpPr>
          <p:nvPr/>
        </p:nvSpPr>
        <p:spPr>
          <a:xfrm xmlns:a="http://schemas.openxmlformats.org/drawingml/2006/main">
            <a:off x="723900" y="44672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Uniform frequency sampling creates periodic sums in time.</a:t>
            </a:r>
          </a:p>
        </p:txBody>
      </p:sp>
      <p:sp>
        <p:nvSpPr>
          <p:cNvPr id="10" name="">
            <a:extLst xmlns:a="http://schemas.openxmlformats.org/drawingml/2006/main">
              <a:ext uri="{FF2B5EF4-FFF2-40B4-BE49-F238E27FC236}">
                <a16:creationId xmlns:a16="http://schemas.microsoft.com/office/drawing/2014/main" id="{B8273475-0E8C-4684-BC39-7E7C99E1FC64}"/>
              </a:ext>
            </a:extLst>
          </p:cNvPr>
          <p:cNvSpPr>
            <a:spLocks xmlns:a="http://schemas.openxmlformats.org/drawingml/2006/main" noGrp="1"/>
          </p:cNvSpPr>
          <p:nvPr/>
        </p:nvSpPr>
        <p:spPr>
          <a:xfrm xmlns:a="http://schemas.openxmlformats.org/drawingml/2006/main">
            <a:off x="723900" y="50958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Overlapping copies produce time aliasing.</a:t>
            </a:r>
          </a:p>
        </p:txBody>
      </p:sp>
      <p:sp>
        <p:nvSpPr>
          <p:cNvPr id="11" name="">
            <a:extLst xmlns:a="http://schemas.openxmlformats.org/drawingml/2006/main">
              <a:ext uri="{FF2B5EF4-FFF2-40B4-BE49-F238E27FC236}">
                <a16:creationId xmlns:a16="http://schemas.microsoft.com/office/drawing/2014/main" id="{A42E6438-4A52-4BBF-9CE7-28C3E8FA8BCA}"/>
              </a:ext>
            </a:extLst>
          </p:cNvPr>
          <p:cNvSpPr>
            <a:spLocks xmlns:a="http://schemas.openxmlformats.org/drawingml/2006/main" noGrp="1"/>
          </p:cNvSpPr>
          <p:nvPr/>
        </p:nvSpPr>
        <p:spPr>
          <a:xfrm xmlns:a="http://schemas.openxmlformats.org/drawingml/2006/main">
            <a:off x="723900" y="57245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152B3C"/>
                </a:solidFill>
                <a:latin typeface="Aptos"/>
                <a:ea typeface="Aptos"/>
                <a:cs typeface="Aptos"/>
              </a:defRPr>
            </a:pPr>
            <a:r>
              <a:rPr sz="2100" b="0">
                <a:solidFill>
                  <a:srgbClr val="152B3C"/>
                </a:solidFill>
                <a:latin typeface="Aptos"/>
                <a:ea typeface="Aptos"/>
                <a:cs typeface="Aptos"/>
              </a:rPr>
              <a:t>A record supported on 0, …, N − 1 has no overlap.</a:t>
            </a:r>
          </a:p>
        </p:txBody>
      </p:sp>
    </p:spTree>
    <p:extLst>
      <p:ext uri="{BB962C8B-B14F-4D97-AF65-F5344CB8AC3E}">
        <p14:creationId xmlns:p14="http://schemas.microsoft.com/office/powerpoint/2010/main" val="1536358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2026-09-29T23:11:57.1580000Z</dcterms:created>
  <dcterms:modified xsi:type="dcterms:W3CDTF">2026-09-29T23:11:57.1580000Z</dcterms:modified>
</coreProperties>
</file>