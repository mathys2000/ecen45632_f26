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911923"/>
            <a:ext cx="1143000" cy="38100"/>
          </a:xfrm>
          <a:prstGeom prst="rect">
            <a:avLst/>
          </a:prstGeom>
          <a:solidFill>
            <a:srgbClr val="EE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907976"/>
            <a:ext cx="10715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4D2BD"/>
                </a:solidFill>
                <a:latin typeface="Fira Sans"/>
              </a:rPr>
              <a:t>DSP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336601"/>
            <a:ext cx="9101137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IBM Plex Serif"/>
              </a:rPr>
              <a:t>Reconstruction &amp; Filterbanks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149923"/>
            <a:ext cx="1071562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100" i="1" u="none">
                <a:solidFill>
                  <a:srgbClr val="E9D8A6"/>
                </a:solidFill>
                <a:latin typeface="IBM Plex Serif"/>
              </a:rPr>
              <a:t>From STFT back to the time domain.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9800" y="1514475"/>
            <a:ext cx="5562600" cy="4733925"/>
          </a:xfrm>
          <a:prstGeom prst="roundRect">
            <a:avLst>
              <a:gd name="adj" fmla="val 2414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00463"/>
            <a:ext cx="4953000" cy="676275"/>
          </a:xfrm>
          <a:prstGeom prst="rect">
            <a:avLst/>
          </a:prstGeom>
          <a:solidFill>
            <a:srgbClr val="E9D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900463"/>
            <a:ext cx="57150" cy="676275"/>
          </a:xfrm>
          <a:prstGeom prst="rect">
            <a:avLst/>
          </a:prstGeom>
          <a:solidFill>
            <a:srgbClr val="CA67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1219"/>
                </a:solidFill>
                <a:latin typeface="IBM Plex Serif"/>
              </a:rPr>
              <a:t>The Reconstruction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86136"/>
            <a:ext cx="6500812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05F73"/>
                </a:solidFill>
                <a:latin typeface="IBM Plex Serif"/>
              </a:rPr>
              <a:t>We analyzed the signal. Now what?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767161"/>
            <a:ext cx="50482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3333"/>
                </a:solidFill>
                <a:latin typeface="Fira Sans"/>
              </a:rPr>
              <a:t>The STFT maps a 1D time signal to a 2D time-frequency matrix.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35722"/>
            <a:ext cx="50482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3333"/>
                </a:solidFill>
                <a:latin typeface="Fira Sans"/>
              </a:rPr>
              <a:t>If we modify the STFT (e.g., noise reduction, pitch shifting), how do we return to a continuous 1D audio signal?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7268" y="3619500"/>
            <a:ext cx="3387514" cy="523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3600" i="1" u="none">
                <a:solidFill>
                  <a:srgbClr val="0A9396"/>
                </a:solidFill>
                <a:latin typeface="IBM Plex Serif"/>
              </a:rPr>
              <a:t>x[n] ⇄ X(m, ω)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5129063"/>
            <a:ext cx="55483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1219"/>
                </a:solidFill>
                <a:latin typeface="Fira Sans"/>
              </a:rPr>
              <a:t>We cannot simply concatenate inverse DFTs.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38325"/>
            <a:ext cx="5257800" cy="4410075"/>
          </a:xfrm>
          <a:prstGeom prst="roundRect">
            <a:avLst>
              <a:gd name="adj" fmla="val 2591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838325"/>
            <a:ext cx="5257800" cy="4410075"/>
          </a:xfrm>
          <a:prstGeom prst="roundRect">
            <a:avLst>
              <a:gd name="adj" fmla="val 2591"/>
            </a:avLst>
          </a:prstGeom>
          <a:solidFill>
            <a:srgbClr val="FAFA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228850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25" y="2228850"/>
            <a:ext cx="47625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A6702"/>
                </a:solidFill>
                <a:latin typeface="Fira Sans"/>
              </a:rPr>
              <a:t>THE BOUNDARY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33450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1219"/>
                </a:solidFill>
                <a:latin typeface="IBM Plex Serif"/>
              </a:rPr>
              <a:t>Windowing Destroys Edges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2838450"/>
            <a:ext cx="5875734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01219"/>
                </a:solidFill>
                <a:latin typeface="IBM Plex Serif"/>
              </a:rPr>
              <a:t>The Tapering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295650"/>
            <a:ext cx="457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44444"/>
                </a:solidFill>
                <a:latin typeface="Fira Sans"/>
              </a:rPr>
              <a:t>Analysis windows (Hann, Hamming) force the signal edges to zero to prevent spectral leakage.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2838450"/>
            <a:ext cx="54768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01219"/>
                </a:solidFill>
                <a:latin typeface="IBM Plex Serif"/>
              </a:rPr>
              <a:t>Amplitude Modulation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5125" y="3295650"/>
            <a:ext cx="45720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44444"/>
                </a:solidFill>
                <a:latin typeface="Fira Sans"/>
              </a:rPr>
              <a:t>Simply placing inverse-transformed frames side-by-side results in severe pulsing (tremolo) at frame boundaries.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F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7388" y="1862137"/>
            <a:ext cx="8157074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94D2BD"/>
                </a:solidFill>
                <a:latin typeface="IBM Plex Serif"/>
              </a:rPr>
              <a:t>The Constant Overlap-Add (COLA) Constraint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60502" y="2443162"/>
            <a:ext cx="4588557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0"/>
              </a:lnSpc>
            </a:pPr>
            <a:r>
              <a:rPr b="1" sz="12000" i="0" u="none">
                <a:solidFill>
                  <a:srgbClr val="FFFFFF"/>
                </a:solidFill>
                <a:latin typeface="Fira Sans"/>
              </a:rPr>
              <a:t>∑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4195762"/>
            <a:ext cx="71437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E9D8A6"/>
                </a:solidFill>
                <a:latin typeface="Fira Sans"/>
              </a:rPr>
              <a:t>The shifted windows must sum to exactly 1.0 everywhere to ensure perfect reconstruction without amplitude distortion.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86100"/>
            <a:ext cx="3155900" cy="1590675"/>
          </a:xfrm>
          <a:prstGeom prst="roundRect">
            <a:avLst>
              <a:gd name="adj" fmla="val 718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17975" y="3086100"/>
            <a:ext cx="3155900" cy="1590675"/>
          </a:xfrm>
          <a:prstGeom prst="roundRect">
            <a:avLst>
              <a:gd name="adj" fmla="val 718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26350" y="3086100"/>
            <a:ext cx="3155900" cy="1590675"/>
          </a:xfrm>
          <a:prstGeom prst="roundRect">
            <a:avLst>
              <a:gd name="adj" fmla="val 718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00" y="3767137"/>
            <a:ext cx="14287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675" y="3767137"/>
            <a:ext cx="14287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1219"/>
                </a:solidFill>
                <a:latin typeface="IBM Plex Serif"/>
              </a:rPr>
              <a:t>The Overlap-Add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042" y="3476625"/>
            <a:ext cx="33170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5F73"/>
                </a:solidFill>
                <a:latin typeface="IBM Plex Serif"/>
              </a:rPr>
              <a:t>1. Inverse DFT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18" y="3886200"/>
            <a:ext cx="31590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555555"/>
                </a:solidFill>
                <a:latin typeface="Fira Sans"/>
              </a:rPr>
              <a:t>Transform modified spectra back to time-domain frames.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7417" y="3476625"/>
            <a:ext cx="33170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5F73"/>
                </a:solidFill>
                <a:latin typeface="IBM Plex Serif"/>
              </a:rPr>
              <a:t>2.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6394" y="3886200"/>
            <a:ext cx="31590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555555"/>
                </a:solidFill>
                <a:latin typeface="Fira Sans"/>
              </a:rPr>
              <a:t>Align frames using original hop size.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5792" y="3476625"/>
            <a:ext cx="33170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A9396"/>
                </a:solidFill>
                <a:latin typeface="IBM Plex Serif"/>
              </a:rPr>
              <a:t>3. Add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4769" y="3886200"/>
            <a:ext cx="31590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555555"/>
                </a:solidFill>
                <a:latin typeface="Fira Sans"/>
              </a:rPr>
              <a:t>Sum overlapping samples to reconstruct continuous signal.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85875"/>
            <a:ext cx="10972800" cy="4962525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125" y="1295400"/>
            <a:ext cx="10953750" cy="59055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9125" y="1876425"/>
            <a:ext cx="1095375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" y="2190750"/>
            <a:ext cx="10344150" cy="3743325"/>
          </a:xfrm>
          <a:prstGeom prst="roundRect">
            <a:avLst>
              <a:gd name="adj" fmla="val 2035"/>
            </a:avLst>
          </a:prstGeom>
          <a:solidFill>
            <a:srgbClr val="FAFAFA"/>
          </a:solidFill>
          <a:ln w="190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1219"/>
                </a:solidFill>
                <a:latin typeface="IBM Plex Serif"/>
              </a:rPr>
              <a:t>Perfect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1485900"/>
            <a:ext cx="11382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55555"/>
                </a:solidFill>
                <a:latin typeface="Fira Sans"/>
              </a:rPr>
              <a:t>Hann windows overlapping at 50% hop size sum to a constant DC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4238" y="3952875"/>
            <a:ext cx="367921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1" u="none">
                <a:solidFill>
                  <a:srgbClr val="888888"/>
                </a:solidFill>
                <a:latin typeface="Fira Sans"/>
              </a:rPr>
              <a:t>[Insert Overlap-Add Diagram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F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3609975"/>
            <a:ext cx="762000" cy="38100"/>
          </a:xfrm>
          <a:prstGeom prst="rect">
            <a:avLst/>
          </a:prstGeom>
          <a:solidFill>
            <a:srgbClr val="E9D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36470" y="2600325"/>
            <a:ext cx="8719058" cy="704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IBM Plex Serif"/>
              </a:rPr>
              <a:t>Filterbank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41712" y="3952875"/>
            <a:ext cx="4308574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100" i="1" u="none">
                <a:solidFill>
                  <a:srgbClr val="94D2BD"/>
                </a:solidFill>
                <a:latin typeface="IBM Plex Serif"/>
              </a:rPr>
              <a:t>An alternative view of the STFT.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14475"/>
            <a:ext cx="5257800" cy="4733925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514475"/>
            <a:ext cx="5257800" cy="4733925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238875"/>
            <a:ext cx="5257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514475"/>
            <a:ext cx="5257800" cy="57150"/>
          </a:xfrm>
          <a:prstGeom prst="rect">
            <a:avLst/>
          </a:prstGeom>
          <a:solidFill>
            <a:srgbClr val="00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514475"/>
            <a:ext cx="9525" cy="47339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7875" y="1514475"/>
            <a:ext cx="9525" cy="47339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4600" y="6238875"/>
            <a:ext cx="52578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4600" y="1514475"/>
            <a:ext cx="5257800" cy="57150"/>
          </a:xfrm>
          <a:prstGeom prst="rect">
            <a:avLst/>
          </a:prstGeom>
          <a:solidFill>
            <a:srgbClr val="CA67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4600" y="1514475"/>
            <a:ext cx="9525" cy="47339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72875" y="1514475"/>
            <a:ext cx="9525" cy="47339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1219"/>
                </a:solidFill>
                <a:latin typeface="IBM Plex Serif"/>
              </a:rPr>
              <a:t>Two Views of the STFT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2028825"/>
            <a:ext cx="5675709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01219"/>
                </a:solidFill>
                <a:latin typeface="IBM Plex Serif"/>
              </a:rPr>
              <a:t>Transform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2028825"/>
            <a:ext cx="54006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01219"/>
                </a:solidFill>
                <a:latin typeface="IBM Plex Serif"/>
              </a:rPr>
              <a:t>Filterbank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2562225"/>
            <a:ext cx="441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5F73"/>
                </a:solidFill>
                <a:latin typeface="Fira Sans"/>
              </a:rPr>
              <a:t>Operation:</a:t>
            </a:r>
            <a:r>
              <a:rPr b="1" sz="1500" i="0" u="none">
                <a:solidFill>
                  <a:srgbClr val="005F73"/>
                </a:solidFill>
                <a:latin typeface="Fira Sans"/>
              </a:rPr>
              <a:t> </a:t>
            </a:r>
            <a:r>
              <a:rPr b="1" sz="1350" i="0" u="none">
                <a:solidFill>
                  <a:srgbClr val="444444"/>
                </a:solidFill>
                <a:latin typeface="Fira Sans"/>
              </a:rPr>
              <a:t>Block-by-block FFT.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3248025"/>
            <a:ext cx="441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5F73"/>
                </a:solidFill>
                <a:latin typeface="Fira Sans"/>
              </a:rPr>
              <a:t>Focus:</a:t>
            </a:r>
            <a:r>
              <a:rPr b="1" sz="1500" i="0" u="none">
                <a:solidFill>
                  <a:srgbClr val="005F73"/>
                </a:solidFill>
                <a:latin typeface="Fira Sans"/>
              </a:rPr>
              <a:t> </a:t>
            </a:r>
            <a:r>
              <a:rPr b="1" sz="1350" i="0" u="none">
                <a:solidFill>
                  <a:srgbClr val="444444"/>
                </a:solidFill>
                <a:latin typeface="Fira Sans"/>
              </a:rPr>
              <a:t>Frequency spectrum at a specific time index.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3933825"/>
            <a:ext cx="441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5F73"/>
                </a:solidFill>
                <a:latin typeface="Fira Sans"/>
              </a:rPr>
              <a:t>Implementation:</a:t>
            </a:r>
            <a:r>
              <a:rPr b="1" sz="1500" i="0" u="none">
                <a:solidFill>
                  <a:srgbClr val="005F73"/>
                </a:solidFill>
                <a:latin typeface="Fira Sans"/>
              </a:rPr>
              <a:t> </a:t>
            </a:r>
            <a:r>
              <a:rPr b="1" sz="1350" i="0" u="none">
                <a:solidFill>
                  <a:srgbClr val="444444"/>
                </a:solidFill>
                <a:latin typeface="Fira Sans"/>
              </a:rPr>
              <a:t>Highly efficient (FFT).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2562225"/>
            <a:ext cx="441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CA6702"/>
                </a:solidFill>
                <a:latin typeface="Fira Sans"/>
              </a:rPr>
              <a:t>Operation:</a:t>
            </a:r>
            <a:r>
              <a:rPr b="1" sz="1500" i="0" u="none">
                <a:solidFill>
                  <a:srgbClr val="CA6702"/>
                </a:solidFill>
                <a:latin typeface="Fira Sans"/>
              </a:rPr>
              <a:t> </a:t>
            </a:r>
            <a:r>
              <a:rPr b="1" sz="1350" i="0" u="none">
                <a:solidFill>
                  <a:srgbClr val="444444"/>
                </a:solidFill>
                <a:latin typeface="Fira Sans"/>
              </a:rPr>
              <a:t>Parallel bandpass filtering.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1325" y="3248025"/>
            <a:ext cx="441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CA6702"/>
                </a:solidFill>
                <a:latin typeface="Fira Sans"/>
              </a:rPr>
              <a:t>Focus:</a:t>
            </a:r>
            <a:r>
              <a:rPr b="1" sz="1500" i="0" u="none">
                <a:solidFill>
                  <a:srgbClr val="CA6702"/>
                </a:solidFill>
                <a:latin typeface="Fira Sans"/>
              </a:rPr>
              <a:t> </a:t>
            </a:r>
            <a:r>
              <a:rPr b="1" sz="1350" i="0" u="none">
                <a:solidFill>
                  <a:srgbClr val="444444"/>
                </a:solidFill>
                <a:latin typeface="Fira Sans"/>
              </a:rPr>
              <a:t>Time evolution of a specific frequency bin.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3933825"/>
            <a:ext cx="441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CA6702"/>
                </a:solidFill>
                <a:latin typeface="Fira Sans"/>
              </a:rPr>
              <a:t>Implementation:</a:t>
            </a:r>
            <a:r>
              <a:rPr b="1" sz="1500" i="0" u="none">
                <a:solidFill>
                  <a:srgbClr val="CA6702"/>
                </a:solidFill>
                <a:latin typeface="Fira Sans"/>
              </a:rPr>
              <a:t> </a:t>
            </a:r>
            <a:r>
              <a:rPr b="1" sz="1350" i="0" u="none">
                <a:solidFill>
                  <a:srgbClr val="444444"/>
                </a:solidFill>
                <a:latin typeface="Fira Sans"/>
              </a:rPr>
              <a:t>Conceptual framework for audio effects.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43250"/>
            <a:ext cx="5257800" cy="952500"/>
          </a:xfrm>
          <a:prstGeom prst="roundRect">
            <a:avLst>
              <a:gd name="adj" fmla="val 8000"/>
            </a:avLst>
          </a:prstGeom>
          <a:solidFill>
            <a:srgbClr val="F0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324350"/>
            <a:ext cx="5257800" cy="1152525"/>
          </a:xfrm>
          <a:prstGeom prst="roundRect">
            <a:avLst>
              <a:gd name="adj" fmla="val 6611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2452687"/>
            <a:ext cx="5257800" cy="28575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9050">
            <a:solidFill>
              <a:srgbClr val="005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65590" y="2730698"/>
            <a:ext cx="4175670" cy="381000"/>
          </a:xfrm>
          <a:prstGeom prst="rect">
            <a:avLst/>
          </a:prstGeom>
          <a:solidFill>
            <a:srgbClr val="94D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65590" y="3370659"/>
            <a:ext cx="4175670" cy="381000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65590" y="4010620"/>
            <a:ext cx="4175670" cy="381000"/>
          </a:xfrm>
          <a:prstGeom prst="rect">
            <a:avLst/>
          </a:prstGeom>
          <a:solidFill>
            <a:srgbClr val="00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65590" y="4650581"/>
            <a:ext cx="4175670" cy="381000"/>
          </a:xfrm>
          <a:prstGeom prst="rect">
            <a:avLst/>
          </a:prstGeom>
          <a:solidFill>
            <a:srgbClr val="00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1219"/>
                </a:solidFill>
                <a:latin typeface="IBM Plex Serif"/>
              </a:rPr>
              <a:t>The STFT is a Filterbank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286000"/>
            <a:ext cx="53530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333333"/>
                </a:solidFill>
                <a:latin typeface="Fira Sans"/>
              </a:rPr>
              <a:t>Each frequency bin </a:t>
            </a:r>
            <a:r>
              <a:rPr b="1" sz="1650" i="0" u="none">
                <a:solidFill>
                  <a:srgbClr val="333333"/>
                </a:solidFill>
                <a:latin typeface="Fira Sans"/>
              </a:rPr>
              <a:t>k</a:t>
            </a:r>
            <a:r>
              <a:rPr b="0" sz="1650" i="0" u="none">
                <a:solidFill>
                  <a:srgbClr val="333333"/>
                </a:solidFill>
                <a:latin typeface="Fira Sans"/>
              </a:rPr>
              <a:t> in the STFT can be viewed as the output of a discrete filter.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371850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5F73"/>
                </a:solidFill>
                <a:latin typeface="Fira Sans"/>
              </a:rPr>
              <a:t>The Base Filter: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667125"/>
            <a:ext cx="6000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44444"/>
                </a:solidFill>
                <a:latin typeface="Fira Sans"/>
              </a:rPr>
              <a:t>The chosen window function acts as a lowpass filter prototype.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552950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CA6702"/>
                </a:solidFill>
                <a:latin typeface="Fira Sans"/>
              </a:rPr>
              <a:t>The Modulation: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848225"/>
            <a:ext cx="4895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44444"/>
                </a:solidFill>
                <a:latin typeface="Fira Sans"/>
              </a:rPr>
              <a:t>Multiplying by complex exponentials shifts this lowpass filter to create N parallel bandpass filters.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3631" y="2730698"/>
            <a:ext cx="5219588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00000"/>
                </a:solidFill>
                <a:latin typeface="Fira Sans"/>
              </a:rPr>
              <a:t>Filter 0 (Lowpass)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3631" y="3370659"/>
            <a:ext cx="5219588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Fira Sans"/>
              </a:rPr>
              <a:t>Filter 1 (Bandpass)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3631" y="4010620"/>
            <a:ext cx="5219588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Fira Sans"/>
              </a:rPr>
              <a:t>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3631" y="4650581"/>
            <a:ext cx="5219588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Fira Sans"/>
              </a:rPr>
              <a:t>Filter N/2 (Nyquist)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38325"/>
            <a:ext cx="3505200" cy="4410075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838325"/>
            <a:ext cx="3505200" cy="4410075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838325"/>
            <a:ext cx="3505200" cy="4410075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A9396"/>
                </a:solidFill>
                <a:latin typeface="Fira Sans"/>
              </a:rPr>
              <a:t>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33450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1219"/>
                </a:solidFill>
                <a:latin typeface="IBM Plex Serif"/>
              </a:rPr>
              <a:t>Spectral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152650"/>
            <a:ext cx="377547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5F73"/>
                </a:solidFill>
                <a:latin typeface="IBM Plex Serif"/>
              </a:rPr>
              <a:t>Noise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562225"/>
            <a:ext cx="2971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55555"/>
                </a:solidFill>
                <a:latin typeface="Fira Sans"/>
              </a:rPr>
              <a:t>Zero out STFT bins containing stationary background noise before OLA reconstruction.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2152650"/>
            <a:ext cx="377547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5F73"/>
                </a:solidFill>
                <a:latin typeface="IBM Plex Serif"/>
              </a:rPr>
              <a:t>Compression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2562225"/>
            <a:ext cx="29718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55555"/>
                </a:solidFill>
                <a:latin typeface="Fira Sans"/>
              </a:rPr>
              <a:t>Discard low-energy bins (lossy compression like MP3 relies on psychoacoustic masking models applied to the STFT).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2152650"/>
            <a:ext cx="3775471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5F73"/>
                </a:solidFill>
                <a:latin typeface="IBM Plex Serif"/>
              </a:rPr>
              <a:t>Pitch Shifting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2562225"/>
            <a:ext cx="2971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55555"/>
                </a:solidFill>
                <a:latin typeface="Fira Sans"/>
              </a:rPr>
              <a:t>Shift frequency bins up or down while maintaining the time envelope (Phase Vocoder).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28825"/>
            <a:ext cx="6096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5375" y="2943225"/>
            <a:ext cx="1000125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01219"/>
                </a:solidFill>
                <a:latin typeface="IBM Plex Serif"/>
              </a:rPr>
              <a:t>The Phase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619500"/>
            <a:ext cx="9525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333333"/>
                </a:solidFill>
                <a:latin typeface="Fira Sans"/>
              </a:rPr>
              <a:t>Modifying STFT magnitudes is easy. Modifying phases without causing destructive interference during OLA reconstruction is hard.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610100"/>
            <a:ext cx="952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66666"/>
                </a:solidFill>
                <a:latin typeface="Fira Sans"/>
              </a:rPr>
              <a:t>*Advanced topic: Phase unwrapping and the Phase Vocoder algorithm.*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42668" y="2876550"/>
            <a:ext cx="3306663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IBM Plex Serif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79638" y="3714750"/>
            <a:ext cx="643272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D2BD"/>
                </a:solidFill>
                <a:latin typeface="Fira Sans"/>
              </a:rPr>
              <a:t>Next Assignment: Implement a spectral noise gate.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