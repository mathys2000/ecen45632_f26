
<file path=[Content_Types].xml><?xml version="1.0" encoding="utf-8"?>
<Types xmlns="http://schemas.openxmlformats.org/package/2006/content-types"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26"/>
  </p:notesMasterIdLst>
  <p:sldIdLst>
    <p:sldId id="256" r:id="rId2"/>
    <p:sldId id="257" r:id="rId3"/>
    <p:sldId id="258" r:id="rId4"/>
    <p:sldId id="259" r:id="rId5"/>
    <p:sldId id="260" r:id="rId6"/>
    <p:sldId id="261" r:id="rId7"/>
    <p:sldId id="278" r:id="rId8"/>
    <p:sldId id="262" r:id="rId9"/>
    <p:sldId id="263" r:id="rId10"/>
    <p:sldId id="264" r:id="rId11"/>
    <p:sldId id="265" r:id="rId12"/>
    <p:sldId id="266" r:id="rId13"/>
    <p:sldId id="267" r:id="rId14"/>
    <p:sldId id="268" r:id="rId15"/>
    <p:sldId id="269" r:id="rId16"/>
    <p:sldId id="270" r:id="rId17"/>
    <p:sldId id="271" r:id="rId18"/>
    <p:sldId id="272" r:id="rId19"/>
    <p:sldId id="273" r:id="rId20"/>
    <p:sldId id="274" r:id="rId21"/>
    <p:sldId id="275" r:id="rId22"/>
    <p:sldId id="279" r:id="rId23"/>
    <p:sldId id="276" r:id="rId24"/>
    <p:sldId id="277" r:id="rId25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9984" autoAdjust="0"/>
    <p:restoredTop sz="94610"/>
  </p:normalViewPr>
  <p:slideViewPr>
    <p:cSldViewPr snapToGrid="0" snapToObjects="1">
      <p:cViewPr>
        <p:scale>
          <a:sx n="77" d="100"/>
          <a:sy n="77" d="100"/>
        </p:scale>
        <p:origin x="72" y="-103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presProps" Target="presProps.xml"/><Relationship Id="rId3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99666602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Timing: 2 min.
Set the course promise: rigorous DSP, but always connect the math to algorithms students will implement.
Ask: “What does a CNN layer actually do to an audio signal?” Return to this on slide 22.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Timing: 3 min.
Emphasize combined senior/graduate expectations: seniors master core calculations; graduate students should also be able to justify conditions and generalize.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Timing: 5 min.
Ask students for examples of “systems” applied to audio: gain, echo, equalizer, compressor, noise gate.
Point out that not everything important is LTI—LTI is a tractable baseline.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Timing: 4 min.
Use this to prevent later confusion between ω (rad/sample) and f (Hz).
The 50 ms example is a short audible echo / slapback delay.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Timing: 6 min.
This identity is the foundation of the convolution derivation.
Make the vector-space analogy explicit; graduate students may recognize basis expansions.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Timing: 4 min.
Do a 30-second think-pair-share on the shift direction.
Common misconception: sign inside bracket feels backwards.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E87C95B-591A-EAFE-E657-8B03D680352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E1FC7AA2-AD2A-2151-C392-42BFC5BE8BD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F5745400-AFD4-51D3-20E3-AA8C5F6F5EE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Timing: 4 min.
Do a 30-second think-pair-share on the shift direction.
Common misconception: sign inside bracket feels backwards.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B6A8DB8-8A9B-35A9-64C3-3DF99D3A58CA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93937332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Timing: 5 min.
Use α=0.9 as a decaying envelope and α=1 as a pure sinusoid.
Avoid diving deeply into convergence yet; that belongs naturally with DTFT/z-transform.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Timing: 3 min.
Frame system properties as shortcuts for reasoning.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Timing: 5 min.
Ask: why does y=x+2 fail the zero-input test?
Then show superposition if needed.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Timing: 5 min.
Do the formal two-path test on y[n]=n x[n] if students need it.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Timing: 5 min.
This is a good place to distinguish “stable mathematically” from “sounds good.”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Timing: 5 min.
Answers: A LTI causal stable; B LTI causal stable; C nonlinear but time-invariant, causal, stable; D linear but time-varying, causal, not BIBO stable over all n.
Require students to justify one property rather than just label.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Timing: 4 min.
This is the conceptual hinge of the lecture. Slow down.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Timing: 6 min.
Do not present convolution as a magic formula. Tie each equality to a system property.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Timing: 4 min.
At the board, say aloud which variable is fixed (n) and which is summed over (k).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Timing: 7 min.
Work this graphically on the board, using the slide only to reveal the final answer.
Ask students to predict output length before calculating.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Timing: 4 min.
This is a useful preview of why nonlinear activations matter in neural networks.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Timing: 4 min.
Run the accompanying notebook.
Ask students to explain why mode="same" is not a mathematical definition of convolution, but an output-cropping convention.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Timing: 4 min.
This is a high-value misconception to prevent: most deep-learning libraries name cross-correlation “convolution.”
The distinction does not reduce the conceptual connection.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Timing: 2 min.
Correct answer B.
Use this to verify the impulse-response argument landed.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1224017-EBEA-8642-FDCF-827CD33D5DA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12A7CB7B-3390-5864-1F75-04370545B78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985AA254-A9E9-F5A8-8CBA-4A71BEF6FD3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Timing: 2 min.
Correct answer B.
Use this to verify the impulse-response argument landed.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6F552C8-D312-76BB-CA95-D26AAD1737A0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12406718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Timing: 3 min.
Exit ticket: “In one sentence, why does h[n] characterize an LTI system?”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Reserve slide; use only if time allows or save for office hours.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MASTER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F7A8C"/>
          </a:solidFill>
          <a:ln w="12700">
            <a:solidFill>
              <a:srgbClr val="1F7A8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502920" y="6510528"/>
            <a:ext cx="43891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C687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DSP + ML  •  Week 1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8321040" y="6510528"/>
            <a:ext cx="33375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C687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Oppenheim &amp; Schafer alignment</a:t>
            </a:r>
            <a:endParaRPr lang="en-US" sz="9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40896" y="6492240"/>
            <a:ext cx="228600" cy="16459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900">
                <a:solidFill>
                  <a:srgbClr val="5C6873"/>
                </a:solidFill>
                <a:latin typeface="Aptos"/>
                <a:ea typeface="Aptos"/>
                <a:cs typeface="Aptos"/>
              </a:defRPr>
            </a:lvl1pPr>
          </a:lstStyle>
          <a:p>
            <a:pPr algn="r"/>
            <a:fld id="{F7021451-1387-4CA6-816F-3879F97B5CBC}" type="slidenum">
              <a:rPr lang="en-US" b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40896" y="6492240"/>
            <a:ext cx="228600" cy="16459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900">
                <a:solidFill>
                  <a:srgbClr val="5C6873"/>
                </a:solidFill>
                <a:latin typeface="Aptos"/>
                <a:ea typeface="Aptos"/>
                <a:cs typeface="Aptos"/>
              </a:defRPr>
            </a:lvl1pPr>
          </a:lstStyle>
          <a:p>
            <a:pPr algn="r"/>
            <a:fld id="{F7021451-1387-4CA6-816F-3879F97B5CBC}" type="slidenum">
              <a:rPr lang="en-US" b="0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sv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sv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6.svg"/><Relationship Id="rId4" Type="http://schemas.openxmlformats.org/officeDocument/2006/relationships/image" Target="../media/image5.sv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6.svg"/><Relationship Id="rId4" Type="http://schemas.openxmlformats.org/officeDocument/2006/relationships/image" Target="../media/image5.sv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sv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8.sv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sv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sv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sv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sv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sv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sv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7.svg"/><Relationship Id="rId5" Type="http://schemas.openxmlformats.org/officeDocument/2006/relationships/image" Target="../media/image16.svg"/><Relationship Id="rId4" Type="http://schemas.openxmlformats.org/officeDocument/2006/relationships/image" Target="../media/image15.sv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sv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sv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sv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2.svg"/><Relationship Id="rId4" Type="http://schemas.openxmlformats.org/officeDocument/2006/relationships/image" Target="../media/image21.svg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sv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4.svg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svg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6.sv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7324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7324D"/>
          </a:solidFill>
          <a:ln w="12700">
            <a:solidFill>
              <a:srgbClr val="17324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1F7A8C"/>
          </a:solidFill>
          <a:ln w="12700">
            <a:solidFill>
              <a:srgbClr val="1F7A8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658368" y="658368"/>
            <a:ext cx="2011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kern="0" spc="100" dirty="0">
                <a:solidFill>
                  <a:srgbClr val="BFDBF7"/>
                </a:solidFill>
              </a:rPr>
              <a:t>DSP + ML</a:t>
            </a:r>
            <a:endParaRPr lang="en-US" sz="1700" dirty="0"/>
          </a:p>
        </p:txBody>
      </p:sp>
      <p:sp>
        <p:nvSpPr>
          <p:cNvPr id="5" name="Text 3"/>
          <p:cNvSpPr/>
          <p:nvPr/>
        </p:nvSpPr>
        <p:spPr>
          <a:xfrm>
            <a:off x="658368" y="1298448"/>
            <a:ext cx="722376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700" b="1" dirty="0">
                <a:solidFill>
                  <a:srgbClr val="FFFFFF"/>
                </a:solidFill>
              </a:rPr>
              <a:t>Signals, LTI Systems,</a:t>
            </a:r>
            <a:endParaRPr lang="en-US" sz="3700" dirty="0"/>
          </a:p>
          <a:p>
            <a:pPr marL="0" indent="0">
              <a:buNone/>
            </a:pPr>
            <a:r>
              <a:rPr lang="en-US" sz="3700" b="1" dirty="0">
                <a:solidFill>
                  <a:srgbClr val="FFFFFF"/>
                </a:solidFill>
              </a:rPr>
              <a:t>and Convolution</a:t>
            </a:r>
            <a:endParaRPr lang="en-US" sz="3700" dirty="0"/>
          </a:p>
        </p:txBody>
      </p:sp>
      <p:sp>
        <p:nvSpPr>
          <p:cNvPr id="6" name="Text 4"/>
          <p:cNvSpPr/>
          <p:nvPr/>
        </p:nvSpPr>
        <p:spPr>
          <a:xfrm>
            <a:off x="676656" y="2788920"/>
            <a:ext cx="4480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dirty="0">
                <a:solidFill>
                  <a:srgbClr val="D5E2EC"/>
                </a:solidFill>
              </a:rPr>
              <a:t>Week 1 • Lecture 1 • 75 minutes</a:t>
            </a:r>
            <a:endParaRPr lang="en-US" sz="1700" dirty="0"/>
          </a:p>
        </p:txBody>
      </p:sp>
      <p:sp>
        <p:nvSpPr>
          <p:cNvPr id="7" name="Text 5"/>
          <p:cNvSpPr/>
          <p:nvPr/>
        </p:nvSpPr>
        <p:spPr>
          <a:xfrm>
            <a:off x="676656" y="3401568"/>
            <a:ext cx="7909560" cy="594360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marL="0" indent="0">
              <a:buNone/>
            </a:pPr>
            <a:r>
              <a:rPr lang="en-US" sz="1900" dirty="0">
                <a:solidFill>
                  <a:srgbClr val="FFFFFF"/>
                </a:solidFill>
              </a:rPr>
              <a:t>Classical DSP foundations → modern signal representations → machine learning</a:t>
            </a:r>
            <a:endParaRPr lang="en-US" sz="1900" dirty="0"/>
          </a:p>
        </p:txBody>
      </p:sp>
      <p:sp>
        <p:nvSpPr>
          <p:cNvPr id="8" name="Shape 6"/>
          <p:cNvSpPr/>
          <p:nvPr/>
        </p:nvSpPr>
        <p:spPr>
          <a:xfrm>
            <a:off x="713232" y="4800600"/>
            <a:ext cx="2026310" cy="1005840"/>
          </a:xfrm>
          <a:prstGeom prst="roundRect">
            <a:avLst>
              <a:gd name="adj" fmla="val 5455"/>
            </a:avLst>
          </a:prstGeom>
          <a:solidFill>
            <a:srgbClr val="E9F5F7"/>
          </a:solidFill>
          <a:ln w="13970">
            <a:solidFill>
              <a:srgbClr val="1F7A8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804672" y="4965192"/>
            <a:ext cx="184343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17324D"/>
                </a:solidFill>
              </a:rPr>
              <a:t>Samples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822960" y="5276088"/>
            <a:ext cx="180685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150" dirty="0">
                <a:solidFill>
                  <a:srgbClr val="5C6873"/>
                </a:solidFill>
              </a:rPr>
              <a:t>x[n]</a:t>
            </a:r>
            <a:endParaRPr lang="en-US" sz="1150" dirty="0"/>
          </a:p>
        </p:txBody>
      </p:sp>
      <p:sp>
        <p:nvSpPr>
          <p:cNvPr id="11" name="Shape 9"/>
          <p:cNvSpPr/>
          <p:nvPr/>
        </p:nvSpPr>
        <p:spPr>
          <a:xfrm>
            <a:off x="2766974" y="5138928"/>
            <a:ext cx="109728" cy="292608"/>
          </a:xfrm>
          <a:prstGeom prst="chevron">
            <a:avLst/>
          </a:prstGeom>
          <a:solidFill>
            <a:srgbClr val="A9B8C5"/>
          </a:solidFill>
          <a:ln w="12700">
            <a:solidFill>
              <a:srgbClr val="A9B8C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Shape 10"/>
          <p:cNvSpPr/>
          <p:nvPr/>
        </p:nvSpPr>
        <p:spPr>
          <a:xfrm>
            <a:off x="2904134" y="4800600"/>
            <a:ext cx="2026310" cy="1005840"/>
          </a:xfrm>
          <a:prstGeom prst="roundRect">
            <a:avLst>
              <a:gd name="adj" fmla="val 5455"/>
            </a:avLst>
          </a:prstGeom>
          <a:solidFill>
            <a:srgbClr val="EEF4FB"/>
          </a:solidFill>
          <a:ln w="13970">
            <a:solidFill>
              <a:srgbClr val="4A6FA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2995574" y="4965192"/>
            <a:ext cx="184343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17324D"/>
                </a:solidFill>
              </a:rPr>
              <a:t>LTI system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3013862" y="5276088"/>
            <a:ext cx="180685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150" dirty="0">
                <a:solidFill>
                  <a:srgbClr val="5C6873"/>
                </a:solidFill>
              </a:rPr>
              <a:t>h[n]</a:t>
            </a:r>
            <a:endParaRPr lang="en-US" sz="1150" dirty="0"/>
          </a:p>
        </p:txBody>
      </p:sp>
      <p:sp>
        <p:nvSpPr>
          <p:cNvPr id="15" name="Shape 13"/>
          <p:cNvSpPr/>
          <p:nvPr/>
        </p:nvSpPr>
        <p:spPr>
          <a:xfrm>
            <a:off x="4957877" y="5138928"/>
            <a:ext cx="109728" cy="292608"/>
          </a:xfrm>
          <a:prstGeom prst="chevron">
            <a:avLst/>
          </a:prstGeom>
          <a:solidFill>
            <a:srgbClr val="A9B8C5"/>
          </a:solidFill>
          <a:ln w="12700">
            <a:solidFill>
              <a:srgbClr val="A9B8C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Shape 14"/>
          <p:cNvSpPr/>
          <p:nvPr/>
        </p:nvSpPr>
        <p:spPr>
          <a:xfrm>
            <a:off x="5095037" y="4800600"/>
            <a:ext cx="2026310" cy="1005840"/>
          </a:xfrm>
          <a:prstGeom prst="roundRect">
            <a:avLst>
              <a:gd name="adj" fmla="val 5455"/>
            </a:avLst>
          </a:prstGeom>
          <a:solidFill>
            <a:srgbClr val="E9F5F7"/>
          </a:solidFill>
          <a:ln w="13970">
            <a:solidFill>
              <a:srgbClr val="1F7A8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5186477" y="4965192"/>
            <a:ext cx="184343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17324D"/>
                </a:solidFill>
              </a:rPr>
              <a:t>Convolution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5204765" y="5276088"/>
            <a:ext cx="180685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150" dirty="0">
                <a:solidFill>
                  <a:srgbClr val="5C6873"/>
                </a:solidFill>
              </a:rPr>
              <a:t>x*h</a:t>
            </a:r>
            <a:endParaRPr lang="en-US" sz="1150" dirty="0"/>
          </a:p>
        </p:txBody>
      </p:sp>
      <p:sp>
        <p:nvSpPr>
          <p:cNvPr id="19" name="Shape 17"/>
          <p:cNvSpPr/>
          <p:nvPr/>
        </p:nvSpPr>
        <p:spPr>
          <a:xfrm>
            <a:off x="7148779" y="5138928"/>
            <a:ext cx="109728" cy="292608"/>
          </a:xfrm>
          <a:prstGeom prst="chevron">
            <a:avLst/>
          </a:prstGeom>
          <a:solidFill>
            <a:srgbClr val="A9B8C5"/>
          </a:solidFill>
          <a:ln w="12700">
            <a:solidFill>
              <a:srgbClr val="A9B8C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Shape 18"/>
          <p:cNvSpPr/>
          <p:nvPr/>
        </p:nvSpPr>
        <p:spPr>
          <a:xfrm>
            <a:off x="7285939" y="4800600"/>
            <a:ext cx="2026310" cy="1005840"/>
          </a:xfrm>
          <a:prstGeom prst="roundRect">
            <a:avLst>
              <a:gd name="adj" fmla="val 5455"/>
            </a:avLst>
          </a:prstGeom>
          <a:solidFill>
            <a:srgbClr val="EEF4FB"/>
          </a:solidFill>
          <a:ln w="13970">
            <a:solidFill>
              <a:srgbClr val="4A6FA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Text 19"/>
          <p:cNvSpPr/>
          <p:nvPr/>
        </p:nvSpPr>
        <p:spPr>
          <a:xfrm>
            <a:off x="7377379" y="4965192"/>
            <a:ext cx="184343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17324D"/>
                </a:solidFill>
              </a:rPr>
              <a:t>Features</a:t>
            </a:r>
            <a:endParaRPr lang="en-US" sz="1500" dirty="0"/>
          </a:p>
        </p:txBody>
      </p:sp>
      <p:sp>
        <p:nvSpPr>
          <p:cNvPr id="22" name="Text 20"/>
          <p:cNvSpPr/>
          <p:nvPr/>
        </p:nvSpPr>
        <p:spPr>
          <a:xfrm>
            <a:off x="7395667" y="5276088"/>
            <a:ext cx="180685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150" dirty="0">
                <a:solidFill>
                  <a:srgbClr val="5C6873"/>
                </a:solidFill>
              </a:rPr>
              <a:t>spectra / maps</a:t>
            </a:r>
            <a:endParaRPr lang="en-US" sz="1150" dirty="0"/>
          </a:p>
        </p:txBody>
      </p:sp>
      <p:sp>
        <p:nvSpPr>
          <p:cNvPr id="23" name="Shape 21"/>
          <p:cNvSpPr/>
          <p:nvPr/>
        </p:nvSpPr>
        <p:spPr>
          <a:xfrm>
            <a:off x="9339682" y="5138928"/>
            <a:ext cx="109728" cy="292608"/>
          </a:xfrm>
          <a:prstGeom prst="chevron">
            <a:avLst/>
          </a:prstGeom>
          <a:solidFill>
            <a:srgbClr val="A9B8C5"/>
          </a:solidFill>
          <a:ln w="12700">
            <a:solidFill>
              <a:srgbClr val="A9B8C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4" name="Shape 22"/>
          <p:cNvSpPr/>
          <p:nvPr/>
        </p:nvSpPr>
        <p:spPr>
          <a:xfrm>
            <a:off x="9476842" y="4800600"/>
            <a:ext cx="2026310" cy="1005840"/>
          </a:xfrm>
          <a:prstGeom prst="roundRect">
            <a:avLst>
              <a:gd name="adj" fmla="val 5455"/>
            </a:avLst>
          </a:prstGeom>
          <a:solidFill>
            <a:srgbClr val="E9F5F7"/>
          </a:solidFill>
          <a:ln w="13970">
            <a:solidFill>
              <a:srgbClr val="1F7A8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5" name="Text 23"/>
          <p:cNvSpPr/>
          <p:nvPr/>
        </p:nvSpPr>
        <p:spPr>
          <a:xfrm>
            <a:off x="9568282" y="4965192"/>
            <a:ext cx="184343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17324D"/>
                </a:solidFill>
              </a:rPr>
              <a:t>ML model</a:t>
            </a:r>
            <a:endParaRPr lang="en-US" sz="1500" dirty="0"/>
          </a:p>
        </p:txBody>
      </p:sp>
      <p:sp>
        <p:nvSpPr>
          <p:cNvPr id="26" name="Text 24"/>
          <p:cNvSpPr/>
          <p:nvPr/>
        </p:nvSpPr>
        <p:spPr>
          <a:xfrm>
            <a:off x="9586570" y="5276088"/>
            <a:ext cx="180685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150" dirty="0">
                <a:solidFill>
                  <a:srgbClr val="5C6873"/>
                </a:solidFill>
              </a:rPr>
              <a:t>CNN / classifier</a:t>
            </a:r>
            <a:endParaRPr lang="en-US" sz="1150" dirty="0"/>
          </a:p>
        </p:txBody>
      </p:sp>
      <p:sp>
        <p:nvSpPr>
          <p:cNvPr id="27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40896" y="6492240"/>
            <a:ext cx="228600" cy="16459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900">
                <a:solidFill>
                  <a:srgbClr val="5C6873"/>
                </a:solidFill>
                <a:latin typeface="Aptos"/>
                <a:ea typeface="Aptos"/>
                <a:cs typeface="Aptos"/>
              </a:defRPr>
            </a:lvl1pPr>
          </a:lstStyle>
          <a:p>
            <a:pPr algn="r"/>
            <a:fld id="{F7021451-1387-4CA6-816F-3879F97B5CBC}" type="slidenum">
              <a:rPr lang="en-US" b="0"/>
              <a:t>1</a:t>
            </a:fld>
            <a:endParaRPr lang="en-US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47472"/>
            <a:ext cx="110185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7324D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Today’s learning objectives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585216" y="822960"/>
            <a:ext cx="10789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5C6873"/>
                </a:solidFill>
              </a:rPr>
              <a:t>By the end, students should be able to reason—not just compute.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9966960" y="329184"/>
            <a:ext cx="1627632" cy="310896"/>
          </a:xfrm>
          <a:prstGeom prst="roundRect">
            <a:avLst>
              <a:gd name="adj" fmla="val 23529"/>
            </a:avLst>
          </a:prstGeom>
          <a:solidFill>
            <a:srgbClr val="1F7A8C"/>
          </a:solidFill>
          <a:ln w="12700">
            <a:solidFill>
              <a:srgbClr val="1F7A8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10012680" y="393192"/>
            <a:ext cx="1527048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kern="0" spc="60" dirty="0">
                <a:solidFill>
                  <a:srgbClr val="FFFFFF"/>
                </a:solidFill>
              </a:rPr>
              <a:t>00–15 MIN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786384" y="1371600"/>
            <a:ext cx="10515600" cy="429768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marL="228600" indent="-228600">
              <a:buSzPct val="100000"/>
              <a:buChar char="•"/>
            </a:pPr>
            <a:r>
              <a:rPr lang="en-US" sz="1900" b="1" dirty="0">
                <a:solidFill>
                  <a:srgbClr val="1D2733"/>
                </a:solidFill>
              </a:rPr>
              <a:t>Represent discrete-time signals using impulses, steps, and complex exponentials.</a:t>
            </a:r>
            <a:endParaRPr lang="en-US" sz="1900" dirty="0"/>
          </a:p>
          <a:p>
            <a:pPr marL="228600" indent="-228600">
              <a:buSzPct val="100000"/>
              <a:buChar char="•"/>
            </a:pPr>
            <a:r>
              <a:rPr lang="en-US" sz="1900" dirty="0">
                <a:solidFill>
                  <a:srgbClr val="1D2733"/>
                </a:solidFill>
              </a:rPr>
              <a:t>Test systems for linearity, time invariance, causality, and BIBO stability.</a:t>
            </a:r>
            <a:endParaRPr lang="en-US" sz="1900" dirty="0"/>
          </a:p>
          <a:p>
            <a:pPr marL="228600" indent="-228600">
              <a:buSzPct val="100000"/>
              <a:buChar char="•"/>
            </a:pPr>
            <a:r>
              <a:rPr lang="en-US" sz="1900" dirty="0">
                <a:solidFill>
                  <a:srgbClr val="1D2733"/>
                </a:solidFill>
              </a:rPr>
              <a:t>Explain why the impulse response completely characterizes an LTI system.</a:t>
            </a:r>
            <a:endParaRPr lang="en-US" sz="1900" dirty="0"/>
          </a:p>
          <a:p>
            <a:pPr marL="228600" indent="-228600">
              <a:buSzPct val="100000"/>
              <a:buChar char="•"/>
            </a:pPr>
            <a:r>
              <a:rPr lang="en-US" sz="1900" dirty="0">
                <a:solidFill>
                  <a:srgbClr val="1D2733"/>
                </a:solidFill>
              </a:rPr>
              <a:t>Compute finite-length convolutions graphically and numerically.</a:t>
            </a:r>
            <a:endParaRPr lang="en-US" sz="1900" dirty="0"/>
          </a:p>
          <a:p>
            <a:pPr marL="228600" indent="-228600">
              <a:buSzPct val="100000"/>
              <a:buChar char="•"/>
            </a:pPr>
            <a:r>
              <a:rPr lang="en-US" sz="1900" dirty="0">
                <a:solidFill>
                  <a:srgbClr val="1D2733"/>
                </a:solidFill>
              </a:rPr>
              <a:t>Connect convolution to filtering and to the operation used by neural networks.</a:t>
            </a:r>
            <a:endParaRPr lang="en-US" sz="1900" dirty="0"/>
          </a:p>
        </p:txBody>
      </p:sp>
      <p:sp>
        <p:nvSpPr>
          <p:cNvPr id="7" name="Shape 5"/>
          <p:cNvSpPr/>
          <p:nvPr/>
        </p:nvSpPr>
        <p:spPr>
          <a:xfrm>
            <a:off x="7726680" y="5074920"/>
            <a:ext cx="3657600" cy="914400"/>
          </a:xfrm>
          <a:prstGeom prst="roundRect">
            <a:avLst>
              <a:gd name="adj" fmla="val 8000"/>
            </a:avLst>
          </a:prstGeom>
          <a:solidFill>
            <a:srgbClr val="E9F5F7"/>
          </a:solidFill>
          <a:ln w="16510">
            <a:solidFill>
              <a:srgbClr val="1F7A8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7891272" y="5184648"/>
            <a:ext cx="332841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F7A8C"/>
                </a:solidFill>
              </a:rPr>
              <a:t>Course habit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7891272" y="5458968"/>
            <a:ext cx="3328416" cy="43891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350" dirty="0">
                <a:solidFill>
                  <a:srgbClr val="1D2733"/>
                </a:solidFill>
              </a:rPr>
              <a:t>For each new equation, ask: What does this let us predict about a real signal?</a:t>
            </a:r>
            <a:endParaRPr lang="en-US" sz="13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40896" y="6492240"/>
            <a:ext cx="228600" cy="16459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900">
                <a:solidFill>
                  <a:srgbClr val="5C6873"/>
                </a:solidFill>
                <a:latin typeface="Aptos"/>
                <a:ea typeface="Aptos"/>
                <a:cs typeface="Aptos"/>
              </a:defRPr>
            </a:lvl1pPr>
          </a:lstStyle>
          <a:p>
            <a:pPr algn="r"/>
            <a:fld id="{F7021451-1387-4CA6-816F-3879F97B5CBC}" type="slidenum">
              <a:rPr lang="en-US" b="0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47472"/>
            <a:ext cx="110185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7324D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Why start with LTI systems?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585216" y="822960"/>
            <a:ext cx="10789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5C6873"/>
                </a:solidFill>
              </a:rPr>
              <a:t>Because many useful DSP operations become simple, interpretable building blocks.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9966960" y="329184"/>
            <a:ext cx="1627632" cy="310896"/>
          </a:xfrm>
          <a:prstGeom prst="roundRect">
            <a:avLst>
              <a:gd name="adj" fmla="val 23529"/>
            </a:avLst>
          </a:prstGeom>
          <a:solidFill>
            <a:srgbClr val="1F7A8C"/>
          </a:solidFill>
          <a:ln w="12700">
            <a:solidFill>
              <a:srgbClr val="1F7A8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10012680" y="393192"/>
            <a:ext cx="1527048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kern="0" spc="60" dirty="0">
                <a:solidFill>
                  <a:srgbClr val="FFFFFF"/>
                </a:solidFill>
              </a:rPr>
              <a:t>00–15 MIN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713232" y="1554480"/>
            <a:ext cx="2026310" cy="1005840"/>
          </a:xfrm>
          <a:prstGeom prst="roundRect">
            <a:avLst>
              <a:gd name="adj" fmla="val 5455"/>
            </a:avLst>
          </a:prstGeom>
          <a:solidFill>
            <a:srgbClr val="E9F5F7"/>
          </a:solidFill>
          <a:ln w="13970">
            <a:solidFill>
              <a:srgbClr val="1F7A8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804672" y="1719072"/>
            <a:ext cx="184343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17324D"/>
                </a:solidFill>
              </a:rPr>
              <a:t>Physical world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822960" y="2029968"/>
            <a:ext cx="180685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150" dirty="0">
                <a:solidFill>
                  <a:srgbClr val="5C6873"/>
                </a:solidFill>
              </a:rPr>
              <a:t>speech / vibration / RF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2766974" y="1892808"/>
            <a:ext cx="109728" cy="292608"/>
          </a:xfrm>
          <a:prstGeom prst="chevron">
            <a:avLst/>
          </a:prstGeom>
          <a:solidFill>
            <a:srgbClr val="A9B8C5"/>
          </a:solidFill>
          <a:ln w="12700">
            <a:solidFill>
              <a:srgbClr val="A9B8C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Shape 8"/>
          <p:cNvSpPr/>
          <p:nvPr/>
        </p:nvSpPr>
        <p:spPr>
          <a:xfrm>
            <a:off x="2904134" y="1554480"/>
            <a:ext cx="2026310" cy="1005840"/>
          </a:xfrm>
          <a:prstGeom prst="roundRect">
            <a:avLst>
              <a:gd name="adj" fmla="val 5455"/>
            </a:avLst>
          </a:prstGeom>
          <a:solidFill>
            <a:srgbClr val="EEF4FB"/>
          </a:solidFill>
          <a:ln w="13970">
            <a:solidFill>
              <a:srgbClr val="4A6FA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2995574" y="1719072"/>
            <a:ext cx="184343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17324D"/>
                </a:solidFill>
              </a:rPr>
              <a:t>Sampling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3013862" y="2029968"/>
            <a:ext cx="180685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150" dirty="0">
                <a:solidFill>
                  <a:srgbClr val="5C6873"/>
                </a:solidFill>
              </a:rPr>
              <a:t>sequence x[n]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4957877" y="1892808"/>
            <a:ext cx="109728" cy="292608"/>
          </a:xfrm>
          <a:prstGeom prst="chevron">
            <a:avLst/>
          </a:prstGeom>
          <a:solidFill>
            <a:srgbClr val="A9B8C5"/>
          </a:solidFill>
          <a:ln w="12700">
            <a:solidFill>
              <a:srgbClr val="A9B8C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Shape 12"/>
          <p:cNvSpPr/>
          <p:nvPr/>
        </p:nvSpPr>
        <p:spPr>
          <a:xfrm>
            <a:off x="5095037" y="1554480"/>
            <a:ext cx="2026310" cy="1005840"/>
          </a:xfrm>
          <a:prstGeom prst="roundRect">
            <a:avLst>
              <a:gd name="adj" fmla="val 5455"/>
            </a:avLst>
          </a:prstGeom>
          <a:solidFill>
            <a:srgbClr val="E9F5F7"/>
          </a:solidFill>
          <a:ln w="13970">
            <a:solidFill>
              <a:srgbClr val="1F7A8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5186477" y="1719072"/>
            <a:ext cx="184343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17324D"/>
                </a:solidFill>
              </a:rPr>
              <a:t>DSP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5204765" y="2029968"/>
            <a:ext cx="180685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150" dirty="0">
                <a:solidFill>
                  <a:srgbClr val="5C6873"/>
                </a:solidFill>
              </a:rPr>
              <a:t>filter / transform</a:t>
            </a:r>
            <a:endParaRPr lang="en-US" sz="1150" dirty="0"/>
          </a:p>
        </p:txBody>
      </p:sp>
      <p:sp>
        <p:nvSpPr>
          <p:cNvPr id="17" name="Shape 15"/>
          <p:cNvSpPr/>
          <p:nvPr/>
        </p:nvSpPr>
        <p:spPr>
          <a:xfrm>
            <a:off x="7148779" y="1892808"/>
            <a:ext cx="109728" cy="292608"/>
          </a:xfrm>
          <a:prstGeom prst="chevron">
            <a:avLst/>
          </a:prstGeom>
          <a:solidFill>
            <a:srgbClr val="A9B8C5"/>
          </a:solidFill>
          <a:ln w="12700">
            <a:solidFill>
              <a:srgbClr val="A9B8C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Shape 16"/>
          <p:cNvSpPr/>
          <p:nvPr/>
        </p:nvSpPr>
        <p:spPr>
          <a:xfrm>
            <a:off x="7285939" y="1554480"/>
            <a:ext cx="2026310" cy="1005840"/>
          </a:xfrm>
          <a:prstGeom prst="roundRect">
            <a:avLst>
              <a:gd name="adj" fmla="val 5455"/>
            </a:avLst>
          </a:prstGeom>
          <a:solidFill>
            <a:srgbClr val="EEF4FB"/>
          </a:solidFill>
          <a:ln w="13970">
            <a:solidFill>
              <a:srgbClr val="4A6FA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Text 17"/>
          <p:cNvSpPr/>
          <p:nvPr/>
        </p:nvSpPr>
        <p:spPr>
          <a:xfrm>
            <a:off x="7377379" y="1719072"/>
            <a:ext cx="184343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17324D"/>
                </a:solidFill>
              </a:rPr>
              <a:t>Features</a:t>
            </a:r>
            <a:endParaRPr lang="en-US" sz="1500" dirty="0"/>
          </a:p>
        </p:txBody>
      </p:sp>
      <p:sp>
        <p:nvSpPr>
          <p:cNvPr id="20" name="Text 18"/>
          <p:cNvSpPr/>
          <p:nvPr/>
        </p:nvSpPr>
        <p:spPr>
          <a:xfrm>
            <a:off x="7395667" y="2029968"/>
            <a:ext cx="180685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150" dirty="0">
                <a:solidFill>
                  <a:srgbClr val="5C6873"/>
                </a:solidFill>
              </a:rPr>
              <a:t>spectrogram / embeddings</a:t>
            </a:r>
            <a:endParaRPr lang="en-US" sz="1150" dirty="0"/>
          </a:p>
        </p:txBody>
      </p:sp>
      <p:sp>
        <p:nvSpPr>
          <p:cNvPr id="21" name="Shape 19"/>
          <p:cNvSpPr/>
          <p:nvPr/>
        </p:nvSpPr>
        <p:spPr>
          <a:xfrm>
            <a:off x="9339682" y="1892808"/>
            <a:ext cx="109728" cy="292608"/>
          </a:xfrm>
          <a:prstGeom prst="chevron">
            <a:avLst/>
          </a:prstGeom>
          <a:solidFill>
            <a:srgbClr val="A9B8C5"/>
          </a:solidFill>
          <a:ln w="12700">
            <a:solidFill>
              <a:srgbClr val="A9B8C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Shape 20"/>
          <p:cNvSpPr/>
          <p:nvPr/>
        </p:nvSpPr>
        <p:spPr>
          <a:xfrm>
            <a:off x="9476842" y="1554480"/>
            <a:ext cx="2026310" cy="1005840"/>
          </a:xfrm>
          <a:prstGeom prst="roundRect">
            <a:avLst>
              <a:gd name="adj" fmla="val 5455"/>
            </a:avLst>
          </a:prstGeom>
          <a:solidFill>
            <a:srgbClr val="E9F5F7"/>
          </a:solidFill>
          <a:ln w="13970">
            <a:solidFill>
              <a:srgbClr val="1F7A8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" name="Text 21"/>
          <p:cNvSpPr/>
          <p:nvPr/>
        </p:nvSpPr>
        <p:spPr>
          <a:xfrm>
            <a:off x="9568282" y="1719072"/>
            <a:ext cx="184343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17324D"/>
                </a:solidFill>
              </a:rPr>
              <a:t>ML</a:t>
            </a:r>
            <a:endParaRPr lang="en-US" sz="1500" dirty="0"/>
          </a:p>
        </p:txBody>
      </p:sp>
      <p:sp>
        <p:nvSpPr>
          <p:cNvPr id="24" name="Text 22"/>
          <p:cNvSpPr/>
          <p:nvPr/>
        </p:nvSpPr>
        <p:spPr>
          <a:xfrm>
            <a:off x="9586570" y="2029968"/>
            <a:ext cx="180685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150" dirty="0">
                <a:solidFill>
                  <a:srgbClr val="5C6873"/>
                </a:solidFill>
              </a:rPr>
              <a:t>decision / regression</a:t>
            </a:r>
            <a:endParaRPr lang="en-US" sz="1150" dirty="0"/>
          </a:p>
        </p:txBody>
      </p:sp>
      <p:sp>
        <p:nvSpPr>
          <p:cNvPr id="25" name="Text 23"/>
          <p:cNvSpPr/>
          <p:nvPr/>
        </p:nvSpPr>
        <p:spPr>
          <a:xfrm>
            <a:off x="713232" y="3154680"/>
            <a:ext cx="5349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F7A8C"/>
                </a:solidFill>
              </a:rPr>
              <a:t>Classical DSP gives us…</a:t>
            </a:r>
            <a:endParaRPr lang="en-US" sz="1800" dirty="0"/>
          </a:p>
        </p:txBody>
      </p:sp>
      <p:sp>
        <p:nvSpPr>
          <p:cNvPr id="26" name="Text 24"/>
          <p:cNvSpPr/>
          <p:nvPr/>
        </p:nvSpPr>
        <p:spPr>
          <a:xfrm>
            <a:off x="6172200" y="3154680"/>
            <a:ext cx="5349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4A6FA5"/>
                </a:solidFill>
              </a:rPr>
              <a:t>ML later needs…</a:t>
            </a:r>
            <a:endParaRPr lang="en-US" sz="1800" dirty="0"/>
          </a:p>
        </p:txBody>
      </p:sp>
      <p:sp>
        <p:nvSpPr>
          <p:cNvPr id="27" name="Text 25"/>
          <p:cNvSpPr/>
          <p:nvPr/>
        </p:nvSpPr>
        <p:spPr>
          <a:xfrm>
            <a:off x="786384" y="3538728"/>
            <a:ext cx="5074920" cy="448056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marL="228600" indent="-228600">
              <a:buSzPct val="100000"/>
              <a:buChar char="•"/>
            </a:pPr>
            <a:r>
              <a:rPr lang="en-US" sz="1750" dirty="0">
                <a:solidFill>
                  <a:srgbClr val="1D2733"/>
                </a:solidFill>
              </a:rPr>
              <a:t>Structure: linearity and invariance</a:t>
            </a:r>
            <a:endParaRPr lang="en-US" sz="1750" dirty="0"/>
          </a:p>
          <a:p>
            <a:pPr marL="228600" indent="-228600">
              <a:buSzPct val="100000"/>
              <a:buChar char="•"/>
            </a:pPr>
            <a:r>
              <a:rPr lang="en-US" sz="1750" dirty="0">
                <a:solidFill>
                  <a:srgbClr val="1D2733"/>
                </a:solidFill>
              </a:rPr>
              <a:t>Closed-form analysis</a:t>
            </a:r>
            <a:endParaRPr lang="en-US" sz="1750" dirty="0"/>
          </a:p>
          <a:p>
            <a:pPr marL="228600" indent="-228600">
              <a:buSzPct val="100000"/>
              <a:buChar char="•"/>
            </a:pPr>
            <a:r>
              <a:rPr lang="en-US" sz="1750" dirty="0">
                <a:solidFill>
                  <a:srgbClr val="1D2733"/>
                </a:solidFill>
              </a:rPr>
              <a:t>Stability and causality tests</a:t>
            </a:r>
            <a:endParaRPr lang="en-US" sz="1750" dirty="0"/>
          </a:p>
          <a:p>
            <a:pPr marL="228600" indent="-228600">
              <a:buSzPct val="100000"/>
              <a:buChar char="•"/>
            </a:pPr>
            <a:r>
              <a:rPr lang="en-US" sz="1750" dirty="0">
                <a:solidFill>
                  <a:srgbClr val="1D2733"/>
                </a:solidFill>
              </a:rPr>
              <a:t>Frequency-selective filtering</a:t>
            </a:r>
            <a:endParaRPr lang="en-US" sz="1750" dirty="0"/>
          </a:p>
        </p:txBody>
      </p:sp>
      <p:sp>
        <p:nvSpPr>
          <p:cNvPr id="28" name="Text 26"/>
          <p:cNvSpPr/>
          <p:nvPr/>
        </p:nvSpPr>
        <p:spPr>
          <a:xfrm>
            <a:off x="6245352" y="3538728"/>
            <a:ext cx="5074920" cy="448056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marL="228600" indent="-228600">
              <a:buSzPct val="100000"/>
              <a:buChar char="•"/>
            </a:pPr>
            <a:r>
              <a:rPr lang="en-US" sz="1750" dirty="0">
                <a:solidFill>
                  <a:srgbClr val="1D2733"/>
                </a:solidFill>
              </a:rPr>
              <a:t>Well-conditioned inputs</a:t>
            </a:r>
            <a:endParaRPr lang="en-US" sz="1750" dirty="0"/>
          </a:p>
          <a:p>
            <a:pPr marL="228600" indent="-228600">
              <a:buSzPct val="100000"/>
              <a:buChar char="•"/>
            </a:pPr>
            <a:r>
              <a:rPr lang="en-US" sz="1750" dirty="0">
                <a:solidFill>
                  <a:srgbClr val="1D2733"/>
                </a:solidFill>
              </a:rPr>
              <a:t>Meaningful local structure</a:t>
            </a:r>
            <a:endParaRPr lang="en-US" sz="1750" dirty="0"/>
          </a:p>
          <a:p>
            <a:pPr marL="228600" indent="-228600">
              <a:buSzPct val="100000"/>
              <a:buChar char="•"/>
            </a:pPr>
            <a:r>
              <a:rPr lang="en-US" sz="1750" dirty="0">
                <a:solidFill>
                  <a:srgbClr val="1D2733"/>
                </a:solidFill>
              </a:rPr>
              <a:t>Efficient operators</a:t>
            </a:r>
            <a:endParaRPr lang="en-US" sz="1750" dirty="0"/>
          </a:p>
          <a:p>
            <a:pPr marL="228600" indent="-228600">
              <a:buSzPct val="100000"/>
              <a:buChar char="•"/>
            </a:pPr>
            <a:r>
              <a:rPr lang="en-US" sz="1750" dirty="0">
                <a:solidFill>
                  <a:srgbClr val="1D2733"/>
                </a:solidFill>
              </a:rPr>
              <a:t>Interpretability and diagnostics</a:t>
            </a:r>
            <a:endParaRPr lang="en-US" sz="1750" dirty="0"/>
          </a:p>
        </p:txBody>
      </p:sp>
      <p:sp>
        <p:nvSpPr>
          <p:cNvPr id="29" name="Shape 27"/>
          <p:cNvSpPr/>
          <p:nvPr/>
        </p:nvSpPr>
        <p:spPr>
          <a:xfrm>
            <a:off x="5989320" y="3200400"/>
            <a:ext cx="0" cy="4800600"/>
          </a:xfrm>
          <a:prstGeom prst="line">
            <a:avLst/>
          </a:prstGeom>
          <a:noFill/>
          <a:ln w="12700">
            <a:solidFill>
              <a:srgbClr val="D9E1E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0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40896" y="6492240"/>
            <a:ext cx="228600" cy="16459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900">
                <a:solidFill>
                  <a:srgbClr val="5C6873"/>
                </a:solidFill>
                <a:latin typeface="Aptos"/>
                <a:ea typeface="Aptos"/>
                <a:cs typeface="Aptos"/>
              </a:defRPr>
            </a:lvl1pPr>
          </a:lstStyle>
          <a:p>
            <a:pPr algn="r"/>
            <a:fld id="{F7021451-1387-4CA6-816F-3879F97B5CBC}" type="slidenum">
              <a:rPr lang="en-US" b="0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47472"/>
            <a:ext cx="110185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7324D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Discrete time: index n is not “time in seconds”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585216" y="822960"/>
            <a:ext cx="10789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5C6873"/>
                </a:solidFill>
              </a:rPr>
              <a:t>n labels samples; physical time appears only after a sampling rate is specified.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9966960" y="329184"/>
            <a:ext cx="1627632" cy="310896"/>
          </a:xfrm>
          <a:prstGeom prst="roundRect">
            <a:avLst>
              <a:gd name="adj" fmla="val 23529"/>
            </a:avLst>
          </a:prstGeom>
          <a:solidFill>
            <a:srgbClr val="1F7A8C"/>
          </a:solidFill>
          <a:ln w="12700">
            <a:solidFill>
              <a:srgbClr val="1F7A8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10012680" y="393192"/>
            <a:ext cx="1527048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kern="0" spc="60" dirty="0">
                <a:solidFill>
                  <a:srgbClr val="FFFFFF"/>
                </a:solidFill>
              </a:rPr>
              <a:t>15–35 MIN</a:t>
            </a:r>
            <a:endParaRPr lang="en-US" sz="900" dirty="0"/>
          </a:p>
        </p:txBody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777240" y="1371600"/>
            <a:ext cx="3840480" cy="731520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5852160" y="3611880"/>
            <a:ext cx="4773168" cy="0"/>
          </a:xfrm>
          <a:prstGeom prst="line">
            <a:avLst/>
          </a:prstGeom>
          <a:noFill/>
          <a:ln w="15240">
            <a:solidFill>
              <a:srgbClr val="1D2733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8" name="Shape 5"/>
          <p:cNvSpPr/>
          <p:nvPr/>
        </p:nvSpPr>
        <p:spPr>
          <a:xfrm>
            <a:off x="5852160" y="3611880"/>
            <a:ext cx="0" cy="0"/>
          </a:xfrm>
          <a:prstGeom prst="line">
            <a:avLst/>
          </a:prstGeom>
          <a:noFill/>
          <a:ln w="15240">
            <a:solidFill>
              <a:srgbClr val="1D2733"/>
            </a:solidFill>
            <a:prstDash val="solid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6"/>
          <p:cNvSpPr/>
          <p:nvPr/>
        </p:nvSpPr>
        <p:spPr>
          <a:xfrm>
            <a:off x="5486400" y="1225296"/>
            <a:ext cx="5303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5C6873"/>
                </a:solidFill>
              </a:rPr>
              <a:t>Example sequence x[n]</a:t>
            </a:r>
            <a:endParaRPr lang="en-US" sz="1300" dirty="0"/>
          </a:p>
        </p:txBody>
      </p:sp>
      <p:sp>
        <p:nvSpPr>
          <p:cNvPr id="10" name="Shape 7"/>
          <p:cNvSpPr/>
          <p:nvPr/>
        </p:nvSpPr>
        <p:spPr>
          <a:xfrm>
            <a:off x="6193101" y="3611880"/>
            <a:ext cx="0" cy="0"/>
          </a:xfrm>
          <a:prstGeom prst="line">
            <a:avLst/>
          </a:prstGeom>
          <a:noFill/>
          <a:ln w="25400">
            <a:solidFill>
              <a:srgbClr val="1F7A8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Shape 8"/>
          <p:cNvSpPr/>
          <p:nvPr/>
        </p:nvSpPr>
        <p:spPr>
          <a:xfrm>
            <a:off x="6142809" y="3561588"/>
            <a:ext cx="100584" cy="100584"/>
          </a:xfrm>
          <a:prstGeom prst="ellipse">
            <a:avLst/>
          </a:prstGeom>
          <a:solidFill>
            <a:srgbClr val="1F7A8C"/>
          </a:solidFill>
          <a:ln w="12700">
            <a:solidFill>
              <a:srgbClr val="1F7A8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9"/>
          <p:cNvSpPr/>
          <p:nvPr/>
        </p:nvSpPr>
        <p:spPr>
          <a:xfrm>
            <a:off x="6028509" y="3666744"/>
            <a:ext cx="32918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5C6873"/>
                </a:solidFill>
              </a:rPr>
              <a:t>0</a:t>
            </a:r>
            <a:endParaRPr lang="en-US" sz="900" dirty="0"/>
          </a:p>
        </p:txBody>
      </p:sp>
      <p:sp>
        <p:nvSpPr>
          <p:cNvPr id="13" name="Shape 10"/>
          <p:cNvSpPr/>
          <p:nvPr/>
        </p:nvSpPr>
        <p:spPr>
          <a:xfrm>
            <a:off x="6874982" y="3611880"/>
            <a:ext cx="0" cy="0"/>
          </a:xfrm>
          <a:prstGeom prst="line">
            <a:avLst/>
          </a:prstGeom>
          <a:noFill/>
          <a:ln w="25400">
            <a:solidFill>
              <a:srgbClr val="1F7A8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Shape 11"/>
          <p:cNvSpPr/>
          <p:nvPr/>
        </p:nvSpPr>
        <p:spPr>
          <a:xfrm>
            <a:off x="6824690" y="2230222"/>
            <a:ext cx="100584" cy="100584"/>
          </a:xfrm>
          <a:prstGeom prst="ellipse">
            <a:avLst/>
          </a:prstGeom>
          <a:solidFill>
            <a:srgbClr val="1F7A8C"/>
          </a:solidFill>
          <a:ln w="12700">
            <a:solidFill>
              <a:srgbClr val="1F7A8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Text 12"/>
          <p:cNvSpPr/>
          <p:nvPr/>
        </p:nvSpPr>
        <p:spPr>
          <a:xfrm>
            <a:off x="6710390" y="3666744"/>
            <a:ext cx="32918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5C6873"/>
                </a:solidFill>
              </a:rPr>
              <a:t>1</a:t>
            </a:r>
            <a:endParaRPr lang="en-US" sz="900" dirty="0"/>
          </a:p>
        </p:txBody>
      </p:sp>
      <p:sp>
        <p:nvSpPr>
          <p:cNvPr id="16" name="Shape 13"/>
          <p:cNvSpPr/>
          <p:nvPr/>
        </p:nvSpPr>
        <p:spPr>
          <a:xfrm>
            <a:off x="7556863" y="3611880"/>
            <a:ext cx="0" cy="0"/>
          </a:xfrm>
          <a:prstGeom prst="line">
            <a:avLst/>
          </a:prstGeom>
          <a:noFill/>
          <a:ln w="25400">
            <a:solidFill>
              <a:srgbClr val="1F7A8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Shape 14"/>
          <p:cNvSpPr/>
          <p:nvPr/>
        </p:nvSpPr>
        <p:spPr>
          <a:xfrm>
            <a:off x="7506571" y="1659636"/>
            <a:ext cx="100584" cy="100584"/>
          </a:xfrm>
          <a:prstGeom prst="ellipse">
            <a:avLst/>
          </a:prstGeom>
          <a:solidFill>
            <a:srgbClr val="1F7A8C"/>
          </a:solidFill>
          <a:ln w="12700">
            <a:solidFill>
              <a:srgbClr val="1F7A8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Text 15"/>
          <p:cNvSpPr/>
          <p:nvPr/>
        </p:nvSpPr>
        <p:spPr>
          <a:xfrm>
            <a:off x="7392271" y="3666744"/>
            <a:ext cx="32918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5C6873"/>
                </a:solidFill>
              </a:rPr>
              <a:t>2</a:t>
            </a:r>
            <a:endParaRPr lang="en-US" sz="900" dirty="0"/>
          </a:p>
        </p:txBody>
      </p:sp>
      <p:sp>
        <p:nvSpPr>
          <p:cNvPr id="19" name="Shape 16"/>
          <p:cNvSpPr/>
          <p:nvPr/>
        </p:nvSpPr>
        <p:spPr>
          <a:xfrm>
            <a:off x="8238744" y="3611880"/>
            <a:ext cx="0" cy="0"/>
          </a:xfrm>
          <a:prstGeom prst="line">
            <a:avLst/>
          </a:prstGeom>
          <a:noFill/>
          <a:ln w="25400">
            <a:solidFill>
              <a:srgbClr val="1F7A8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Shape 17"/>
          <p:cNvSpPr/>
          <p:nvPr/>
        </p:nvSpPr>
        <p:spPr>
          <a:xfrm>
            <a:off x="8188452" y="2705710"/>
            <a:ext cx="100584" cy="100584"/>
          </a:xfrm>
          <a:prstGeom prst="ellipse">
            <a:avLst/>
          </a:prstGeom>
          <a:solidFill>
            <a:srgbClr val="1F7A8C"/>
          </a:solidFill>
          <a:ln w="12700">
            <a:solidFill>
              <a:srgbClr val="1F7A8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Text 18"/>
          <p:cNvSpPr/>
          <p:nvPr/>
        </p:nvSpPr>
        <p:spPr>
          <a:xfrm>
            <a:off x="8074152" y="3666744"/>
            <a:ext cx="32918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5C6873"/>
                </a:solidFill>
              </a:rPr>
              <a:t>3</a:t>
            </a:r>
            <a:endParaRPr lang="en-US" sz="900" dirty="0"/>
          </a:p>
        </p:txBody>
      </p:sp>
      <p:sp>
        <p:nvSpPr>
          <p:cNvPr id="22" name="Shape 19"/>
          <p:cNvSpPr/>
          <p:nvPr/>
        </p:nvSpPr>
        <p:spPr>
          <a:xfrm>
            <a:off x="8920625" y="3611880"/>
            <a:ext cx="0" cy="570586"/>
          </a:xfrm>
          <a:prstGeom prst="line">
            <a:avLst/>
          </a:prstGeom>
          <a:noFill/>
          <a:ln w="25400">
            <a:solidFill>
              <a:srgbClr val="1F7A8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" name="Shape 20"/>
          <p:cNvSpPr/>
          <p:nvPr/>
        </p:nvSpPr>
        <p:spPr>
          <a:xfrm>
            <a:off x="8870333" y="4132174"/>
            <a:ext cx="100584" cy="100584"/>
          </a:xfrm>
          <a:prstGeom prst="ellipse">
            <a:avLst/>
          </a:prstGeom>
          <a:solidFill>
            <a:srgbClr val="1F7A8C"/>
          </a:solidFill>
          <a:ln w="12700">
            <a:solidFill>
              <a:srgbClr val="1F7A8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4" name="Text 21"/>
          <p:cNvSpPr/>
          <p:nvPr/>
        </p:nvSpPr>
        <p:spPr>
          <a:xfrm>
            <a:off x="8756033" y="3666744"/>
            <a:ext cx="32918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5C6873"/>
                </a:solidFill>
              </a:rPr>
              <a:t>4</a:t>
            </a:r>
            <a:endParaRPr lang="en-US" sz="900" dirty="0"/>
          </a:p>
        </p:txBody>
      </p:sp>
      <p:sp>
        <p:nvSpPr>
          <p:cNvPr id="25" name="Shape 22"/>
          <p:cNvSpPr/>
          <p:nvPr/>
        </p:nvSpPr>
        <p:spPr>
          <a:xfrm>
            <a:off x="9602506" y="3611880"/>
            <a:ext cx="0" cy="1236269"/>
          </a:xfrm>
          <a:prstGeom prst="line">
            <a:avLst/>
          </a:prstGeom>
          <a:noFill/>
          <a:ln w="25400">
            <a:solidFill>
              <a:srgbClr val="1F7A8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6" name="Shape 23"/>
          <p:cNvSpPr/>
          <p:nvPr/>
        </p:nvSpPr>
        <p:spPr>
          <a:xfrm>
            <a:off x="9552214" y="4797857"/>
            <a:ext cx="100584" cy="100584"/>
          </a:xfrm>
          <a:prstGeom prst="ellipse">
            <a:avLst/>
          </a:prstGeom>
          <a:solidFill>
            <a:srgbClr val="1F7A8C"/>
          </a:solidFill>
          <a:ln w="12700">
            <a:solidFill>
              <a:srgbClr val="1F7A8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7" name="Text 24"/>
          <p:cNvSpPr/>
          <p:nvPr/>
        </p:nvSpPr>
        <p:spPr>
          <a:xfrm>
            <a:off x="9437914" y="3666744"/>
            <a:ext cx="32918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5C6873"/>
                </a:solidFill>
              </a:rPr>
              <a:t>5</a:t>
            </a:r>
            <a:endParaRPr lang="en-US" sz="900" dirty="0"/>
          </a:p>
        </p:txBody>
      </p:sp>
      <p:sp>
        <p:nvSpPr>
          <p:cNvPr id="28" name="Shape 25"/>
          <p:cNvSpPr/>
          <p:nvPr/>
        </p:nvSpPr>
        <p:spPr>
          <a:xfrm>
            <a:off x="10284387" y="3611880"/>
            <a:ext cx="0" cy="380390"/>
          </a:xfrm>
          <a:prstGeom prst="line">
            <a:avLst/>
          </a:prstGeom>
          <a:noFill/>
          <a:ln w="25400">
            <a:solidFill>
              <a:srgbClr val="1F7A8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9" name="Shape 26"/>
          <p:cNvSpPr/>
          <p:nvPr/>
        </p:nvSpPr>
        <p:spPr>
          <a:xfrm>
            <a:off x="10234095" y="3941978"/>
            <a:ext cx="100584" cy="100584"/>
          </a:xfrm>
          <a:prstGeom prst="ellipse">
            <a:avLst/>
          </a:prstGeom>
          <a:solidFill>
            <a:srgbClr val="1F7A8C"/>
          </a:solidFill>
          <a:ln w="12700">
            <a:solidFill>
              <a:srgbClr val="1F7A8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0" name="Text 27"/>
          <p:cNvSpPr/>
          <p:nvPr/>
        </p:nvSpPr>
        <p:spPr>
          <a:xfrm>
            <a:off x="10119795" y="3666744"/>
            <a:ext cx="32918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5C6873"/>
                </a:solidFill>
              </a:rPr>
              <a:t>6</a:t>
            </a:r>
            <a:endParaRPr lang="en-US" sz="900" dirty="0"/>
          </a:p>
        </p:txBody>
      </p:sp>
      <p:sp>
        <p:nvSpPr>
          <p:cNvPr id="31" name="Text 28"/>
          <p:cNvSpPr/>
          <p:nvPr/>
        </p:nvSpPr>
        <p:spPr>
          <a:xfrm>
            <a:off x="777240" y="2514600"/>
            <a:ext cx="4389120" cy="192024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marL="228600" indent="-228600">
              <a:buSzPct val="100000"/>
              <a:buChar char="•"/>
            </a:pPr>
            <a:r>
              <a:rPr lang="en-US" sz="1800" dirty="0">
                <a:solidFill>
                  <a:srgbClr val="1D2733"/>
                </a:solidFill>
              </a:rPr>
              <a:t>x[n] is defined only at integer n.</a:t>
            </a:r>
            <a:endParaRPr lang="en-US" sz="1800" dirty="0"/>
          </a:p>
          <a:p>
            <a:pPr marL="228600" indent="-228600">
              <a:buSzPct val="100000"/>
              <a:buChar char="•"/>
            </a:pPr>
            <a:r>
              <a:rPr lang="en-US" sz="1800" dirty="0">
                <a:solidFill>
                  <a:srgbClr val="1D2733"/>
                </a:solidFill>
              </a:rPr>
              <a:t>A shift x[n−n₀] changes the sample index, not the amplitude.</a:t>
            </a:r>
            <a:endParaRPr lang="en-US" sz="1800" dirty="0"/>
          </a:p>
          <a:p>
            <a:pPr marL="228600" indent="-228600">
              <a:buSzPct val="100000"/>
              <a:buChar char="•"/>
            </a:pPr>
            <a:r>
              <a:rPr lang="en-US" sz="1800" dirty="0">
                <a:solidFill>
                  <a:srgbClr val="1D2733"/>
                </a:solidFill>
              </a:rPr>
              <a:t>Normalized angular frequency ω has units rad/sample.</a:t>
            </a:r>
            <a:endParaRPr lang="en-US" sz="1800" dirty="0"/>
          </a:p>
        </p:txBody>
      </p:sp>
      <p:sp>
        <p:nvSpPr>
          <p:cNvPr id="32" name="Shape 29"/>
          <p:cNvSpPr/>
          <p:nvPr/>
        </p:nvSpPr>
        <p:spPr>
          <a:xfrm>
            <a:off x="5852160" y="4572000"/>
            <a:ext cx="4754880" cy="1051560"/>
          </a:xfrm>
          <a:prstGeom prst="roundRect">
            <a:avLst>
              <a:gd name="adj" fmla="val 6957"/>
            </a:avLst>
          </a:prstGeom>
          <a:solidFill>
            <a:srgbClr val="FFF6DF"/>
          </a:solidFill>
          <a:ln w="16510">
            <a:solidFill>
              <a:srgbClr val="D9A44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3" name="Text 30"/>
          <p:cNvSpPr/>
          <p:nvPr/>
        </p:nvSpPr>
        <p:spPr>
          <a:xfrm>
            <a:off x="6016752" y="4681728"/>
            <a:ext cx="442569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D9A441"/>
                </a:solidFill>
              </a:rPr>
              <a:t>Audio connection</a:t>
            </a:r>
            <a:endParaRPr lang="en-US" sz="1200" dirty="0"/>
          </a:p>
        </p:txBody>
      </p:sp>
      <p:sp>
        <p:nvSpPr>
          <p:cNvPr id="34" name="Text 31"/>
          <p:cNvSpPr/>
          <p:nvPr/>
        </p:nvSpPr>
        <p:spPr>
          <a:xfrm>
            <a:off x="6016752" y="4956048"/>
            <a:ext cx="4425696" cy="57607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350" dirty="0">
                <a:solidFill>
                  <a:srgbClr val="1D2733"/>
                </a:solidFill>
              </a:rPr>
              <a:t>At 48 kHz, one sample is 20.83 μs. A 2400-sample delay is 50 ms.</a:t>
            </a:r>
            <a:endParaRPr lang="en-US" sz="1350" dirty="0"/>
          </a:p>
        </p:txBody>
      </p:sp>
      <p:sp>
        <p:nvSpPr>
          <p:cNvPr id="3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40896" y="6492240"/>
            <a:ext cx="228600" cy="16459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900">
                <a:solidFill>
                  <a:srgbClr val="5C6873"/>
                </a:solidFill>
                <a:latin typeface="Aptos"/>
                <a:ea typeface="Aptos"/>
                <a:cs typeface="Aptos"/>
              </a:defRPr>
            </a:lvl1pPr>
          </a:lstStyle>
          <a:p>
            <a:pPr algn="r"/>
            <a:fld id="{F7021451-1387-4CA6-816F-3879F97B5CBC}" type="slidenum">
              <a:rPr lang="en-US" b="0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47472"/>
            <a:ext cx="110185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7324D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The unit sample δ[n] is a coordinate basis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585216" y="822960"/>
            <a:ext cx="10789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5C6873"/>
                </a:solidFill>
              </a:rPr>
              <a:t>It isolates one sample at one index.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9966960" y="329184"/>
            <a:ext cx="1627632" cy="310896"/>
          </a:xfrm>
          <a:prstGeom prst="roundRect">
            <a:avLst>
              <a:gd name="adj" fmla="val 23529"/>
            </a:avLst>
          </a:prstGeom>
          <a:solidFill>
            <a:srgbClr val="1F7A8C"/>
          </a:solidFill>
          <a:ln w="12700">
            <a:solidFill>
              <a:srgbClr val="1F7A8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10012680" y="393192"/>
            <a:ext cx="1527048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kern="0" spc="60" dirty="0">
                <a:solidFill>
                  <a:srgbClr val="FFFFFF"/>
                </a:solidFill>
              </a:rPr>
              <a:t>15–35 MIN</a:t>
            </a:r>
            <a:endParaRPr lang="en-US" sz="900" dirty="0"/>
          </a:p>
        </p:txBody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822960" y="1280160"/>
            <a:ext cx="3291840" cy="1188720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5074920" y="3063240"/>
            <a:ext cx="2212848" cy="0"/>
          </a:xfrm>
          <a:prstGeom prst="line">
            <a:avLst/>
          </a:prstGeom>
          <a:noFill/>
          <a:ln w="15240">
            <a:solidFill>
              <a:srgbClr val="1D2733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8" name="Shape 5"/>
          <p:cNvSpPr/>
          <p:nvPr/>
        </p:nvSpPr>
        <p:spPr>
          <a:xfrm>
            <a:off x="5074920" y="3063240"/>
            <a:ext cx="0" cy="0"/>
          </a:xfrm>
          <a:prstGeom prst="line">
            <a:avLst/>
          </a:prstGeom>
          <a:noFill/>
          <a:ln w="15240">
            <a:solidFill>
              <a:srgbClr val="1D2733"/>
            </a:solidFill>
            <a:prstDash val="solid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6"/>
          <p:cNvSpPr/>
          <p:nvPr/>
        </p:nvSpPr>
        <p:spPr>
          <a:xfrm>
            <a:off x="4709160" y="1225296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5C6873"/>
                </a:solidFill>
              </a:rPr>
              <a:t>δ[n]</a:t>
            </a:r>
            <a:endParaRPr lang="en-US" sz="1300" dirty="0"/>
          </a:p>
        </p:txBody>
      </p:sp>
      <p:sp>
        <p:nvSpPr>
          <p:cNvPr id="10" name="Shape 7"/>
          <p:cNvSpPr/>
          <p:nvPr/>
        </p:nvSpPr>
        <p:spPr>
          <a:xfrm>
            <a:off x="5296205" y="3063240"/>
            <a:ext cx="0" cy="0"/>
          </a:xfrm>
          <a:prstGeom prst="line">
            <a:avLst/>
          </a:prstGeom>
          <a:noFill/>
          <a:ln w="25400">
            <a:solidFill>
              <a:srgbClr val="1F7A8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Shape 8"/>
          <p:cNvSpPr/>
          <p:nvPr/>
        </p:nvSpPr>
        <p:spPr>
          <a:xfrm>
            <a:off x="5245913" y="3012948"/>
            <a:ext cx="100584" cy="100584"/>
          </a:xfrm>
          <a:prstGeom prst="ellipse">
            <a:avLst/>
          </a:prstGeom>
          <a:solidFill>
            <a:srgbClr val="1F7A8C"/>
          </a:solidFill>
          <a:ln w="12700">
            <a:solidFill>
              <a:srgbClr val="1F7A8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9"/>
          <p:cNvSpPr/>
          <p:nvPr/>
        </p:nvSpPr>
        <p:spPr>
          <a:xfrm>
            <a:off x="5131613" y="3118104"/>
            <a:ext cx="32918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5C6873"/>
                </a:solidFill>
              </a:rPr>
              <a:t>-2</a:t>
            </a:r>
            <a:endParaRPr lang="en-US" sz="900" dirty="0"/>
          </a:p>
        </p:txBody>
      </p:sp>
      <p:sp>
        <p:nvSpPr>
          <p:cNvPr id="13" name="Shape 10"/>
          <p:cNvSpPr/>
          <p:nvPr/>
        </p:nvSpPr>
        <p:spPr>
          <a:xfrm>
            <a:off x="5738774" y="3063240"/>
            <a:ext cx="0" cy="0"/>
          </a:xfrm>
          <a:prstGeom prst="line">
            <a:avLst/>
          </a:prstGeom>
          <a:noFill/>
          <a:ln w="25400">
            <a:solidFill>
              <a:srgbClr val="1F7A8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Shape 11"/>
          <p:cNvSpPr/>
          <p:nvPr/>
        </p:nvSpPr>
        <p:spPr>
          <a:xfrm>
            <a:off x="5688482" y="3012948"/>
            <a:ext cx="100584" cy="100584"/>
          </a:xfrm>
          <a:prstGeom prst="ellipse">
            <a:avLst/>
          </a:prstGeom>
          <a:solidFill>
            <a:srgbClr val="1F7A8C"/>
          </a:solidFill>
          <a:ln w="12700">
            <a:solidFill>
              <a:srgbClr val="1F7A8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Text 12"/>
          <p:cNvSpPr/>
          <p:nvPr/>
        </p:nvSpPr>
        <p:spPr>
          <a:xfrm>
            <a:off x="5574182" y="3118104"/>
            <a:ext cx="32918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5C6873"/>
                </a:solidFill>
              </a:rPr>
              <a:t>-1</a:t>
            </a:r>
            <a:endParaRPr lang="en-US" sz="900" dirty="0"/>
          </a:p>
        </p:txBody>
      </p:sp>
      <p:sp>
        <p:nvSpPr>
          <p:cNvPr id="16" name="Shape 13"/>
          <p:cNvSpPr/>
          <p:nvPr/>
        </p:nvSpPr>
        <p:spPr>
          <a:xfrm>
            <a:off x="6181344" y="3063240"/>
            <a:ext cx="0" cy="0"/>
          </a:xfrm>
          <a:prstGeom prst="line">
            <a:avLst/>
          </a:prstGeom>
          <a:noFill/>
          <a:ln w="25400">
            <a:solidFill>
              <a:srgbClr val="1F7A8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Shape 14"/>
          <p:cNvSpPr/>
          <p:nvPr/>
        </p:nvSpPr>
        <p:spPr>
          <a:xfrm>
            <a:off x="6131052" y="1659636"/>
            <a:ext cx="100584" cy="100584"/>
          </a:xfrm>
          <a:prstGeom prst="ellipse">
            <a:avLst/>
          </a:prstGeom>
          <a:solidFill>
            <a:srgbClr val="1F7A8C"/>
          </a:solidFill>
          <a:ln w="12700">
            <a:solidFill>
              <a:srgbClr val="1F7A8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Text 15"/>
          <p:cNvSpPr/>
          <p:nvPr/>
        </p:nvSpPr>
        <p:spPr>
          <a:xfrm>
            <a:off x="6016752" y="3118104"/>
            <a:ext cx="32918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5C6873"/>
                </a:solidFill>
              </a:rPr>
              <a:t>0</a:t>
            </a:r>
            <a:endParaRPr lang="en-US" sz="900" dirty="0"/>
          </a:p>
        </p:txBody>
      </p:sp>
      <p:sp>
        <p:nvSpPr>
          <p:cNvPr id="19" name="Shape 16"/>
          <p:cNvSpPr/>
          <p:nvPr/>
        </p:nvSpPr>
        <p:spPr>
          <a:xfrm>
            <a:off x="6623914" y="3063240"/>
            <a:ext cx="0" cy="0"/>
          </a:xfrm>
          <a:prstGeom prst="line">
            <a:avLst/>
          </a:prstGeom>
          <a:noFill/>
          <a:ln w="25400">
            <a:solidFill>
              <a:srgbClr val="1F7A8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Shape 17"/>
          <p:cNvSpPr/>
          <p:nvPr/>
        </p:nvSpPr>
        <p:spPr>
          <a:xfrm>
            <a:off x="6573622" y="3012948"/>
            <a:ext cx="100584" cy="100584"/>
          </a:xfrm>
          <a:prstGeom prst="ellipse">
            <a:avLst/>
          </a:prstGeom>
          <a:solidFill>
            <a:srgbClr val="1F7A8C"/>
          </a:solidFill>
          <a:ln w="12700">
            <a:solidFill>
              <a:srgbClr val="1F7A8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Text 18"/>
          <p:cNvSpPr/>
          <p:nvPr/>
        </p:nvSpPr>
        <p:spPr>
          <a:xfrm>
            <a:off x="6459322" y="3118104"/>
            <a:ext cx="32918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5C6873"/>
                </a:solidFill>
              </a:rPr>
              <a:t>1</a:t>
            </a:r>
            <a:endParaRPr lang="en-US" sz="900" dirty="0"/>
          </a:p>
        </p:txBody>
      </p:sp>
      <p:sp>
        <p:nvSpPr>
          <p:cNvPr id="22" name="Shape 19"/>
          <p:cNvSpPr/>
          <p:nvPr/>
        </p:nvSpPr>
        <p:spPr>
          <a:xfrm>
            <a:off x="7066483" y="3063240"/>
            <a:ext cx="0" cy="0"/>
          </a:xfrm>
          <a:prstGeom prst="line">
            <a:avLst/>
          </a:prstGeom>
          <a:noFill/>
          <a:ln w="25400">
            <a:solidFill>
              <a:srgbClr val="1F7A8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" name="Shape 20"/>
          <p:cNvSpPr/>
          <p:nvPr/>
        </p:nvSpPr>
        <p:spPr>
          <a:xfrm>
            <a:off x="7016191" y="3012948"/>
            <a:ext cx="100584" cy="100584"/>
          </a:xfrm>
          <a:prstGeom prst="ellipse">
            <a:avLst/>
          </a:prstGeom>
          <a:solidFill>
            <a:srgbClr val="1F7A8C"/>
          </a:solidFill>
          <a:ln w="12700">
            <a:solidFill>
              <a:srgbClr val="1F7A8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4" name="Text 21"/>
          <p:cNvSpPr/>
          <p:nvPr/>
        </p:nvSpPr>
        <p:spPr>
          <a:xfrm>
            <a:off x="6901891" y="3118104"/>
            <a:ext cx="32918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5C6873"/>
                </a:solidFill>
              </a:rPr>
              <a:t>2</a:t>
            </a:r>
            <a:endParaRPr lang="en-US" sz="900" dirty="0"/>
          </a:p>
        </p:txBody>
      </p:sp>
      <p:sp>
        <p:nvSpPr>
          <p:cNvPr id="25" name="Shape 22"/>
          <p:cNvSpPr/>
          <p:nvPr/>
        </p:nvSpPr>
        <p:spPr>
          <a:xfrm>
            <a:off x="8595360" y="3063240"/>
            <a:ext cx="2212848" cy="0"/>
          </a:xfrm>
          <a:prstGeom prst="line">
            <a:avLst/>
          </a:prstGeom>
          <a:noFill/>
          <a:ln w="15240">
            <a:solidFill>
              <a:srgbClr val="1D2733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26" name="Shape 23"/>
          <p:cNvSpPr/>
          <p:nvPr/>
        </p:nvSpPr>
        <p:spPr>
          <a:xfrm>
            <a:off x="8595360" y="3063240"/>
            <a:ext cx="0" cy="0"/>
          </a:xfrm>
          <a:prstGeom prst="line">
            <a:avLst/>
          </a:prstGeom>
          <a:noFill/>
          <a:ln w="15240">
            <a:solidFill>
              <a:srgbClr val="1D2733"/>
            </a:solidFill>
            <a:prstDash val="solid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27" name="Text 24"/>
          <p:cNvSpPr/>
          <p:nvPr/>
        </p:nvSpPr>
        <p:spPr>
          <a:xfrm>
            <a:off x="8229600" y="1225296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5C6873"/>
                </a:solidFill>
              </a:rPr>
              <a:t>δ[n−1]</a:t>
            </a:r>
            <a:endParaRPr lang="en-US" sz="1300" dirty="0"/>
          </a:p>
        </p:txBody>
      </p:sp>
      <p:sp>
        <p:nvSpPr>
          <p:cNvPr id="28" name="Shape 25"/>
          <p:cNvSpPr/>
          <p:nvPr/>
        </p:nvSpPr>
        <p:spPr>
          <a:xfrm>
            <a:off x="8816645" y="3063240"/>
            <a:ext cx="0" cy="0"/>
          </a:xfrm>
          <a:prstGeom prst="line">
            <a:avLst/>
          </a:prstGeom>
          <a:noFill/>
          <a:ln w="25400">
            <a:solidFill>
              <a:srgbClr val="1F7A8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9" name="Shape 26"/>
          <p:cNvSpPr/>
          <p:nvPr/>
        </p:nvSpPr>
        <p:spPr>
          <a:xfrm>
            <a:off x="8766353" y="3012948"/>
            <a:ext cx="100584" cy="100584"/>
          </a:xfrm>
          <a:prstGeom prst="ellipse">
            <a:avLst/>
          </a:prstGeom>
          <a:solidFill>
            <a:srgbClr val="1F7A8C"/>
          </a:solidFill>
          <a:ln w="12700">
            <a:solidFill>
              <a:srgbClr val="1F7A8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0" name="Text 27"/>
          <p:cNvSpPr/>
          <p:nvPr/>
        </p:nvSpPr>
        <p:spPr>
          <a:xfrm>
            <a:off x="8652053" y="3118104"/>
            <a:ext cx="32918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5C6873"/>
                </a:solidFill>
              </a:rPr>
              <a:t>-2</a:t>
            </a:r>
            <a:endParaRPr lang="en-US" sz="900" dirty="0"/>
          </a:p>
        </p:txBody>
      </p:sp>
      <p:sp>
        <p:nvSpPr>
          <p:cNvPr id="31" name="Shape 28"/>
          <p:cNvSpPr/>
          <p:nvPr/>
        </p:nvSpPr>
        <p:spPr>
          <a:xfrm>
            <a:off x="9259214" y="3063240"/>
            <a:ext cx="0" cy="0"/>
          </a:xfrm>
          <a:prstGeom prst="line">
            <a:avLst/>
          </a:prstGeom>
          <a:noFill/>
          <a:ln w="25400">
            <a:solidFill>
              <a:srgbClr val="1F7A8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2" name="Shape 29"/>
          <p:cNvSpPr/>
          <p:nvPr/>
        </p:nvSpPr>
        <p:spPr>
          <a:xfrm>
            <a:off x="9208922" y="3012948"/>
            <a:ext cx="100584" cy="100584"/>
          </a:xfrm>
          <a:prstGeom prst="ellipse">
            <a:avLst/>
          </a:prstGeom>
          <a:solidFill>
            <a:srgbClr val="1F7A8C"/>
          </a:solidFill>
          <a:ln w="12700">
            <a:solidFill>
              <a:srgbClr val="1F7A8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3" name="Text 30"/>
          <p:cNvSpPr/>
          <p:nvPr/>
        </p:nvSpPr>
        <p:spPr>
          <a:xfrm>
            <a:off x="9094622" y="3118104"/>
            <a:ext cx="32918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5C6873"/>
                </a:solidFill>
              </a:rPr>
              <a:t>-1</a:t>
            </a:r>
            <a:endParaRPr lang="en-US" sz="900" dirty="0"/>
          </a:p>
        </p:txBody>
      </p:sp>
      <p:sp>
        <p:nvSpPr>
          <p:cNvPr id="34" name="Shape 31"/>
          <p:cNvSpPr/>
          <p:nvPr/>
        </p:nvSpPr>
        <p:spPr>
          <a:xfrm>
            <a:off x="9701784" y="3063240"/>
            <a:ext cx="0" cy="0"/>
          </a:xfrm>
          <a:prstGeom prst="line">
            <a:avLst/>
          </a:prstGeom>
          <a:noFill/>
          <a:ln w="25400">
            <a:solidFill>
              <a:srgbClr val="1F7A8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5" name="Shape 32"/>
          <p:cNvSpPr/>
          <p:nvPr/>
        </p:nvSpPr>
        <p:spPr>
          <a:xfrm>
            <a:off x="9651492" y="3012948"/>
            <a:ext cx="100584" cy="100584"/>
          </a:xfrm>
          <a:prstGeom prst="ellipse">
            <a:avLst/>
          </a:prstGeom>
          <a:solidFill>
            <a:srgbClr val="1F7A8C"/>
          </a:solidFill>
          <a:ln w="12700">
            <a:solidFill>
              <a:srgbClr val="1F7A8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6" name="Text 33"/>
          <p:cNvSpPr/>
          <p:nvPr/>
        </p:nvSpPr>
        <p:spPr>
          <a:xfrm>
            <a:off x="9537192" y="3118104"/>
            <a:ext cx="32918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5C6873"/>
                </a:solidFill>
              </a:rPr>
              <a:t>0</a:t>
            </a:r>
            <a:endParaRPr lang="en-US" sz="900" dirty="0"/>
          </a:p>
        </p:txBody>
      </p:sp>
      <p:sp>
        <p:nvSpPr>
          <p:cNvPr id="37" name="Shape 34"/>
          <p:cNvSpPr/>
          <p:nvPr/>
        </p:nvSpPr>
        <p:spPr>
          <a:xfrm>
            <a:off x="10144354" y="3063240"/>
            <a:ext cx="0" cy="0"/>
          </a:xfrm>
          <a:prstGeom prst="line">
            <a:avLst/>
          </a:prstGeom>
          <a:noFill/>
          <a:ln w="25400">
            <a:solidFill>
              <a:srgbClr val="1F7A8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8" name="Shape 35"/>
          <p:cNvSpPr/>
          <p:nvPr/>
        </p:nvSpPr>
        <p:spPr>
          <a:xfrm>
            <a:off x="10094062" y="1659636"/>
            <a:ext cx="100584" cy="100584"/>
          </a:xfrm>
          <a:prstGeom prst="ellipse">
            <a:avLst/>
          </a:prstGeom>
          <a:solidFill>
            <a:srgbClr val="1F7A8C"/>
          </a:solidFill>
          <a:ln w="12700">
            <a:solidFill>
              <a:srgbClr val="1F7A8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9" name="Text 36"/>
          <p:cNvSpPr/>
          <p:nvPr/>
        </p:nvSpPr>
        <p:spPr>
          <a:xfrm>
            <a:off x="9979762" y="3118104"/>
            <a:ext cx="32918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5C6873"/>
                </a:solidFill>
              </a:rPr>
              <a:t>1</a:t>
            </a:r>
            <a:endParaRPr lang="en-US" sz="900" dirty="0"/>
          </a:p>
        </p:txBody>
      </p:sp>
      <p:sp>
        <p:nvSpPr>
          <p:cNvPr id="40" name="Shape 37"/>
          <p:cNvSpPr/>
          <p:nvPr/>
        </p:nvSpPr>
        <p:spPr>
          <a:xfrm>
            <a:off x="10586923" y="3063240"/>
            <a:ext cx="0" cy="0"/>
          </a:xfrm>
          <a:prstGeom prst="line">
            <a:avLst/>
          </a:prstGeom>
          <a:noFill/>
          <a:ln w="25400">
            <a:solidFill>
              <a:srgbClr val="1F7A8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1" name="Shape 38"/>
          <p:cNvSpPr/>
          <p:nvPr/>
        </p:nvSpPr>
        <p:spPr>
          <a:xfrm>
            <a:off x="10536631" y="3012948"/>
            <a:ext cx="100584" cy="100584"/>
          </a:xfrm>
          <a:prstGeom prst="ellipse">
            <a:avLst/>
          </a:prstGeom>
          <a:solidFill>
            <a:srgbClr val="1F7A8C"/>
          </a:solidFill>
          <a:ln w="12700">
            <a:solidFill>
              <a:srgbClr val="1F7A8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2" name="Text 39"/>
          <p:cNvSpPr/>
          <p:nvPr/>
        </p:nvSpPr>
        <p:spPr>
          <a:xfrm>
            <a:off x="10422331" y="3118104"/>
            <a:ext cx="32918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5C6873"/>
                </a:solidFill>
              </a:rPr>
              <a:t>2</a:t>
            </a:r>
            <a:endParaRPr lang="en-US" sz="900" dirty="0"/>
          </a:p>
        </p:txBody>
      </p:sp>
      <p:pic>
        <p:nvPicPr>
          <p:cNvPr id="43" name="Image 1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051560" y="4069080"/>
            <a:ext cx="5760720" cy="777240"/>
          </a:xfrm>
          <a:prstGeom prst="rect">
            <a:avLst/>
          </a:prstGeom>
        </p:spPr>
      </p:pic>
      <p:sp>
        <p:nvSpPr>
          <p:cNvPr id="44" name="Shape 40"/>
          <p:cNvSpPr/>
          <p:nvPr/>
        </p:nvSpPr>
        <p:spPr>
          <a:xfrm>
            <a:off x="7132320" y="3977640"/>
            <a:ext cx="4160520" cy="1325880"/>
          </a:xfrm>
          <a:prstGeom prst="roundRect">
            <a:avLst>
              <a:gd name="adj" fmla="val 5517"/>
            </a:avLst>
          </a:prstGeom>
          <a:solidFill>
            <a:srgbClr val="E9F5F7"/>
          </a:solidFill>
          <a:ln w="16510">
            <a:solidFill>
              <a:srgbClr val="1F7A8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5" name="Text 41"/>
          <p:cNvSpPr/>
          <p:nvPr/>
        </p:nvSpPr>
        <p:spPr>
          <a:xfrm>
            <a:off x="7296912" y="4087368"/>
            <a:ext cx="383133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F7A8C"/>
                </a:solidFill>
              </a:rPr>
              <a:t>Interpretation</a:t>
            </a:r>
            <a:endParaRPr lang="en-US" sz="1200" dirty="0"/>
          </a:p>
        </p:txBody>
      </p:sp>
      <p:sp>
        <p:nvSpPr>
          <p:cNvPr id="46" name="Text 42"/>
          <p:cNvSpPr/>
          <p:nvPr/>
        </p:nvSpPr>
        <p:spPr>
          <a:xfrm>
            <a:off x="7296912" y="4361688"/>
            <a:ext cx="3831336" cy="85039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350" dirty="0">
                <a:solidFill>
                  <a:srgbClr val="1D2733"/>
                </a:solidFill>
              </a:rPr>
              <a:t>A sequence is a weighted sum of shifted impulses—the discrete-time analog of expanding a vector in basis vectors.</a:t>
            </a:r>
            <a:endParaRPr lang="en-US" sz="1350" dirty="0"/>
          </a:p>
        </p:txBody>
      </p:sp>
      <p:sp>
        <p:nvSpPr>
          <p:cNvPr id="47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40896" y="6492240"/>
            <a:ext cx="228600" cy="16459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900">
                <a:solidFill>
                  <a:srgbClr val="5C6873"/>
                </a:solidFill>
                <a:latin typeface="Aptos"/>
                <a:ea typeface="Aptos"/>
                <a:cs typeface="Aptos"/>
              </a:defRPr>
            </a:lvl1pPr>
          </a:lstStyle>
          <a:p>
            <a:pPr algn="r"/>
            <a:fld id="{F7021451-1387-4CA6-816F-3879F97B5CBC}" type="slidenum">
              <a:rPr lang="en-US" b="0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47472"/>
            <a:ext cx="110185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7324D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The unit step u[n] and useful identities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585216" y="822960"/>
            <a:ext cx="10789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5C6873"/>
                </a:solidFill>
              </a:rPr>
              <a:t>Steps describe turn-on behavior; impulses describe changes.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9966960" y="329184"/>
            <a:ext cx="1627632" cy="310896"/>
          </a:xfrm>
          <a:prstGeom prst="roundRect">
            <a:avLst>
              <a:gd name="adj" fmla="val 23529"/>
            </a:avLst>
          </a:prstGeom>
          <a:solidFill>
            <a:srgbClr val="1F7A8C"/>
          </a:solidFill>
          <a:ln w="12700">
            <a:solidFill>
              <a:srgbClr val="1F7A8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10012680" y="393192"/>
            <a:ext cx="1527048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kern="0" spc="60" dirty="0">
                <a:solidFill>
                  <a:srgbClr val="FFFFFF"/>
                </a:solidFill>
              </a:rPr>
              <a:t>15–35 MIN</a:t>
            </a:r>
            <a:endParaRPr lang="en-US" sz="900" dirty="0"/>
          </a:p>
        </p:txBody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777240" y="1234440"/>
            <a:ext cx="3200400" cy="1143000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4754880" y="3136392"/>
            <a:ext cx="2441448" cy="0"/>
          </a:xfrm>
          <a:prstGeom prst="line">
            <a:avLst/>
          </a:prstGeom>
          <a:noFill/>
          <a:ln w="15240">
            <a:solidFill>
              <a:srgbClr val="1D2733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8" name="Shape 5"/>
          <p:cNvSpPr/>
          <p:nvPr/>
        </p:nvSpPr>
        <p:spPr>
          <a:xfrm>
            <a:off x="4754880" y="3136392"/>
            <a:ext cx="0" cy="0"/>
          </a:xfrm>
          <a:prstGeom prst="line">
            <a:avLst/>
          </a:prstGeom>
          <a:noFill/>
          <a:ln w="15240">
            <a:solidFill>
              <a:srgbClr val="1D2733"/>
            </a:solidFill>
            <a:prstDash val="solid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6"/>
          <p:cNvSpPr/>
          <p:nvPr/>
        </p:nvSpPr>
        <p:spPr>
          <a:xfrm>
            <a:off x="4389120" y="1207008"/>
            <a:ext cx="2971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5C6873"/>
                </a:solidFill>
              </a:rPr>
              <a:t>u[n]</a:t>
            </a:r>
            <a:endParaRPr lang="en-US" sz="1300" dirty="0"/>
          </a:p>
        </p:txBody>
      </p:sp>
      <p:sp>
        <p:nvSpPr>
          <p:cNvPr id="10" name="Shape 7"/>
          <p:cNvSpPr/>
          <p:nvPr/>
        </p:nvSpPr>
        <p:spPr>
          <a:xfrm>
            <a:off x="4958334" y="3136392"/>
            <a:ext cx="0" cy="0"/>
          </a:xfrm>
          <a:prstGeom prst="line">
            <a:avLst/>
          </a:prstGeom>
          <a:noFill/>
          <a:ln w="25400">
            <a:solidFill>
              <a:srgbClr val="1F7A8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Shape 8"/>
          <p:cNvSpPr/>
          <p:nvPr/>
        </p:nvSpPr>
        <p:spPr>
          <a:xfrm>
            <a:off x="4908042" y="3086100"/>
            <a:ext cx="100584" cy="100584"/>
          </a:xfrm>
          <a:prstGeom prst="ellipse">
            <a:avLst/>
          </a:prstGeom>
          <a:solidFill>
            <a:srgbClr val="1F7A8C"/>
          </a:solidFill>
          <a:ln w="12700">
            <a:solidFill>
              <a:srgbClr val="1F7A8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9"/>
          <p:cNvSpPr/>
          <p:nvPr/>
        </p:nvSpPr>
        <p:spPr>
          <a:xfrm>
            <a:off x="4793742" y="3191256"/>
            <a:ext cx="32918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5C6873"/>
                </a:solidFill>
              </a:rPr>
              <a:t>-2</a:t>
            </a:r>
            <a:endParaRPr lang="en-US" sz="900" dirty="0"/>
          </a:p>
        </p:txBody>
      </p:sp>
      <p:sp>
        <p:nvSpPr>
          <p:cNvPr id="13" name="Shape 10"/>
          <p:cNvSpPr/>
          <p:nvPr/>
        </p:nvSpPr>
        <p:spPr>
          <a:xfrm>
            <a:off x="5365242" y="3136392"/>
            <a:ext cx="0" cy="0"/>
          </a:xfrm>
          <a:prstGeom prst="line">
            <a:avLst/>
          </a:prstGeom>
          <a:noFill/>
          <a:ln w="25400">
            <a:solidFill>
              <a:srgbClr val="1F7A8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Shape 11"/>
          <p:cNvSpPr/>
          <p:nvPr/>
        </p:nvSpPr>
        <p:spPr>
          <a:xfrm>
            <a:off x="5314950" y="3086100"/>
            <a:ext cx="100584" cy="100584"/>
          </a:xfrm>
          <a:prstGeom prst="ellipse">
            <a:avLst/>
          </a:prstGeom>
          <a:solidFill>
            <a:srgbClr val="1F7A8C"/>
          </a:solidFill>
          <a:ln w="12700">
            <a:solidFill>
              <a:srgbClr val="1F7A8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Text 12"/>
          <p:cNvSpPr/>
          <p:nvPr/>
        </p:nvSpPr>
        <p:spPr>
          <a:xfrm>
            <a:off x="5200650" y="3191256"/>
            <a:ext cx="32918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5C6873"/>
                </a:solidFill>
              </a:rPr>
              <a:t>-1</a:t>
            </a:r>
            <a:endParaRPr lang="en-US" sz="900" dirty="0"/>
          </a:p>
        </p:txBody>
      </p:sp>
      <p:sp>
        <p:nvSpPr>
          <p:cNvPr id="16" name="Shape 13"/>
          <p:cNvSpPr/>
          <p:nvPr/>
        </p:nvSpPr>
        <p:spPr>
          <a:xfrm>
            <a:off x="5772150" y="3136392"/>
            <a:ext cx="0" cy="0"/>
          </a:xfrm>
          <a:prstGeom prst="line">
            <a:avLst/>
          </a:prstGeom>
          <a:noFill/>
          <a:ln w="25400">
            <a:solidFill>
              <a:srgbClr val="1F7A8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Shape 14"/>
          <p:cNvSpPr/>
          <p:nvPr/>
        </p:nvSpPr>
        <p:spPr>
          <a:xfrm>
            <a:off x="5721858" y="1641348"/>
            <a:ext cx="100584" cy="100584"/>
          </a:xfrm>
          <a:prstGeom prst="ellipse">
            <a:avLst/>
          </a:prstGeom>
          <a:solidFill>
            <a:srgbClr val="1F7A8C"/>
          </a:solidFill>
          <a:ln w="12700">
            <a:solidFill>
              <a:srgbClr val="1F7A8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Text 15"/>
          <p:cNvSpPr/>
          <p:nvPr/>
        </p:nvSpPr>
        <p:spPr>
          <a:xfrm>
            <a:off x="5607558" y="3191256"/>
            <a:ext cx="32918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5C6873"/>
                </a:solidFill>
              </a:rPr>
              <a:t>0</a:t>
            </a:r>
            <a:endParaRPr lang="en-US" sz="900" dirty="0"/>
          </a:p>
        </p:txBody>
      </p:sp>
      <p:sp>
        <p:nvSpPr>
          <p:cNvPr id="19" name="Shape 16"/>
          <p:cNvSpPr/>
          <p:nvPr/>
        </p:nvSpPr>
        <p:spPr>
          <a:xfrm>
            <a:off x="6179058" y="3136392"/>
            <a:ext cx="0" cy="0"/>
          </a:xfrm>
          <a:prstGeom prst="line">
            <a:avLst/>
          </a:prstGeom>
          <a:noFill/>
          <a:ln w="25400">
            <a:solidFill>
              <a:srgbClr val="1F7A8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Shape 17"/>
          <p:cNvSpPr/>
          <p:nvPr/>
        </p:nvSpPr>
        <p:spPr>
          <a:xfrm>
            <a:off x="6128766" y="1641348"/>
            <a:ext cx="100584" cy="100584"/>
          </a:xfrm>
          <a:prstGeom prst="ellipse">
            <a:avLst/>
          </a:prstGeom>
          <a:solidFill>
            <a:srgbClr val="1F7A8C"/>
          </a:solidFill>
          <a:ln w="12700">
            <a:solidFill>
              <a:srgbClr val="1F7A8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Text 18"/>
          <p:cNvSpPr/>
          <p:nvPr/>
        </p:nvSpPr>
        <p:spPr>
          <a:xfrm>
            <a:off x="6014466" y="3191256"/>
            <a:ext cx="32918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5C6873"/>
                </a:solidFill>
              </a:rPr>
              <a:t>1</a:t>
            </a:r>
            <a:endParaRPr lang="en-US" sz="900" dirty="0"/>
          </a:p>
        </p:txBody>
      </p:sp>
      <p:sp>
        <p:nvSpPr>
          <p:cNvPr id="22" name="Shape 19"/>
          <p:cNvSpPr/>
          <p:nvPr/>
        </p:nvSpPr>
        <p:spPr>
          <a:xfrm>
            <a:off x="6585966" y="3136392"/>
            <a:ext cx="0" cy="0"/>
          </a:xfrm>
          <a:prstGeom prst="line">
            <a:avLst/>
          </a:prstGeom>
          <a:noFill/>
          <a:ln w="25400">
            <a:solidFill>
              <a:srgbClr val="1F7A8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" name="Shape 20"/>
          <p:cNvSpPr/>
          <p:nvPr/>
        </p:nvSpPr>
        <p:spPr>
          <a:xfrm>
            <a:off x="6535674" y="1641348"/>
            <a:ext cx="100584" cy="100584"/>
          </a:xfrm>
          <a:prstGeom prst="ellipse">
            <a:avLst/>
          </a:prstGeom>
          <a:solidFill>
            <a:srgbClr val="1F7A8C"/>
          </a:solidFill>
          <a:ln w="12700">
            <a:solidFill>
              <a:srgbClr val="1F7A8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4" name="Text 21"/>
          <p:cNvSpPr/>
          <p:nvPr/>
        </p:nvSpPr>
        <p:spPr>
          <a:xfrm>
            <a:off x="6421374" y="3191256"/>
            <a:ext cx="32918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5C6873"/>
                </a:solidFill>
              </a:rPr>
              <a:t>2</a:t>
            </a:r>
            <a:endParaRPr lang="en-US" sz="900" dirty="0"/>
          </a:p>
        </p:txBody>
      </p:sp>
      <p:sp>
        <p:nvSpPr>
          <p:cNvPr id="25" name="Shape 22"/>
          <p:cNvSpPr/>
          <p:nvPr/>
        </p:nvSpPr>
        <p:spPr>
          <a:xfrm>
            <a:off x="6992874" y="3136392"/>
            <a:ext cx="0" cy="0"/>
          </a:xfrm>
          <a:prstGeom prst="line">
            <a:avLst/>
          </a:prstGeom>
          <a:noFill/>
          <a:ln w="25400">
            <a:solidFill>
              <a:srgbClr val="1F7A8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6" name="Shape 23"/>
          <p:cNvSpPr/>
          <p:nvPr/>
        </p:nvSpPr>
        <p:spPr>
          <a:xfrm>
            <a:off x="6942582" y="1641348"/>
            <a:ext cx="100584" cy="100584"/>
          </a:xfrm>
          <a:prstGeom prst="ellipse">
            <a:avLst/>
          </a:prstGeom>
          <a:solidFill>
            <a:srgbClr val="1F7A8C"/>
          </a:solidFill>
          <a:ln w="12700">
            <a:solidFill>
              <a:srgbClr val="1F7A8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7" name="Text 24"/>
          <p:cNvSpPr/>
          <p:nvPr/>
        </p:nvSpPr>
        <p:spPr>
          <a:xfrm>
            <a:off x="6828282" y="3191256"/>
            <a:ext cx="32918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5C6873"/>
                </a:solidFill>
              </a:rPr>
              <a:t>3</a:t>
            </a:r>
            <a:endParaRPr lang="en-US" sz="900" dirty="0"/>
          </a:p>
        </p:txBody>
      </p:sp>
      <p:pic>
        <p:nvPicPr>
          <p:cNvPr id="28" name="Image 1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7818120" y="1508760"/>
            <a:ext cx="3246120" cy="640080"/>
          </a:xfrm>
          <a:prstGeom prst="rect">
            <a:avLst/>
          </a:prstGeom>
        </p:spPr>
      </p:pic>
      <p:pic>
        <p:nvPicPr>
          <p:cNvPr id="29" name="Image 2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7818120" y="2606040"/>
            <a:ext cx="3246120" cy="640080"/>
          </a:xfrm>
          <a:prstGeom prst="rect">
            <a:avLst/>
          </a:prstGeom>
        </p:spPr>
      </p:pic>
      <p:sp>
        <p:nvSpPr>
          <p:cNvPr id="30" name="Shape 25"/>
          <p:cNvSpPr/>
          <p:nvPr/>
        </p:nvSpPr>
        <p:spPr>
          <a:xfrm>
            <a:off x="960120" y="4251960"/>
            <a:ext cx="3840480" cy="1005840"/>
          </a:xfrm>
          <a:prstGeom prst="roundRect">
            <a:avLst>
              <a:gd name="adj" fmla="val 7273"/>
            </a:avLst>
          </a:prstGeom>
          <a:solidFill>
            <a:srgbClr val="FFF6DF"/>
          </a:solidFill>
          <a:ln w="16510">
            <a:solidFill>
              <a:srgbClr val="D9A44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1" name="Text 26"/>
          <p:cNvSpPr/>
          <p:nvPr/>
        </p:nvSpPr>
        <p:spPr>
          <a:xfrm>
            <a:off x="1124712" y="4361688"/>
            <a:ext cx="351129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D9A441"/>
                </a:solidFill>
              </a:rPr>
              <a:t>Quick check</a:t>
            </a:r>
            <a:endParaRPr lang="en-US" sz="1200" dirty="0"/>
          </a:p>
        </p:txBody>
      </p:sp>
      <p:sp>
        <p:nvSpPr>
          <p:cNvPr id="32" name="Text 27"/>
          <p:cNvSpPr/>
          <p:nvPr/>
        </p:nvSpPr>
        <p:spPr>
          <a:xfrm>
            <a:off x="1124712" y="4636008"/>
            <a:ext cx="3511296" cy="53035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350" dirty="0">
                <a:solidFill>
                  <a:srgbClr val="1D2733"/>
                </a:solidFill>
              </a:rPr>
              <a:t>What is u[n+2]? Where does it turn on?</a:t>
            </a:r>
            <a:endParaRPr lang="en-US" sz="1350" dirty="0"/>
          </a:p>
        </p:txBody>
      </p:sp>
      <p:sp>
        <p:nvSpPr>
          <p:cNvPr id="36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40896" y="6492240"/>
            <a:ext cx="228600" cy="16459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900">
                <a:solidFill>
                  <a:srgbClr val="5C6873"/>
                </a:solidFill>
                <a:latin typeface="Aptos"/>
                <a:ea typeface="Aptos"/>
                <a:cs typeface="Aptos"/>
              </a:defRPr>
            </a:lvl1pPr>
          </a:lstStyle>
          <a:p>
            <a:pPr algn="r"/>
            <a:fld id="{F7021451-1387-4CA6-816F-3879F97B5CBC}" type="slidenum">
              <a:rPr lang="en-US" b="0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FDC0B4C-DE65-E942-C9E6-7D729DB5036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32D655CC-7C7C-0447-E12C-C7EA2B4903B5}"/>
              </a:ext>
            </a:extLst>
          </p:cNvPr>
          <p:cNvSpPr/>
          <p:nvPr/>
        </p:nvSpPr>
        <p:spPr>
          <a:xfrm>
            <a:off x="566928" y="347472"/>
            <a:ext cx="110185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7324D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The unit step u[n] and useful identities</a:t>
            </a:r>
            <a:endParaRPr lang="en-US" sz="2800" dirty="0"/>
          </a:p>
        </p:txBody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E26735B0-6909-12D6-E7A0-61236437F6DF}"/>
              </a:ext>
            </a:extLst>
          </p:cNvPr>
          <p:cNvSpPr/>
          <p:nvPr/>
        </p:nvSpPr>
        <p:spPr>
          <a:xfrm>
            <a:off x="585216" y="822960"/>
            <a:ext cx="10789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5C6873"/>
                </a:solidFill>
              </a:rPr>
              <a:t>Steps describe turn-on behavior; impulses describe changes.</a:t>
            </a:r>
            <a:endParaRPr lang="en-US" sz="1400" dirty="0"/>
          </a:p>
        </p:txBody>
      </p:sp>
      <p:sp>
        <p:nvSpPr>
          <p:cNvPr id="4" name="Shape 2">
            <a:extLst>
              <a:ext uri="{FF2B5EF4-FFF2-40B4-BE49-F238E27FC236}">
                <a16:creationId xmlns:a16="http://schemas.microsoft.com/office/drawing/2014/main" id="{83E1A9F3-2F59-B38A-028F-6685B55EB14D}"/>
              </a:ext>
            </a:extLst>
          </p:cNvPr>
          <p:cNvSpPr/>
          <p:nvPr/>
        </p:nvSpPr>
        <p:spPr>
          <a:xfrm>
            <a:off x="9966960" y="329184"/>
            <a:ext cx="1627632" cy="310896"/>
          </a:xfrm>
          <a:prstGeom prst="roundRect">
            <a:avLst>
              <a:gd name="adj" fmla="val 23529"/>
            </a:avLst>
          </a:prstGeom>
          <a:solidFill>
            <a:srgbClr val="1F7A8C"/>
          </a:solidFill>
          <a:ln w="12700">
            <a:solidFill>
              <a:srgbClr val="1F7A8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>
            <a:extLst>
              <a:ext uri="{FF2B5EF4-FFF2-40B4-BE49-F238E27FC236}">
                <a16:creationId xmlns:a16="http://schemas.microsoft.com/office/drawing/2014/main" id="{E1A8FECC-5B91-D31C-1C08-2967C0102506}"/>
              </a:ext>
            </a:extLst>
          </p:cNvPr>
          <p:cNvSpPr/>
          <p:nvPr/>
        </p:nvSpPr>
        <p:spPr>
          <a:xfrm>
            <a:off x="10012680" y="393192"/>
            <a:ext cx="1527048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kern="0" spc="60" dirty="0">
                <a:solidFill>
                  <a:srgbClr val="FFFFFF"/>
                </a:solidFill>
              </a:rPr>
              <a:t>15–35 MIN</a:t>
            </a:r>
            <a:endParaRPr lang="en-US" sz="900" dirty="0"/>
          </a:p>
        </p:txBody>
      </p:sp>
      <p:pic>
        <p:nvPicPr>
          <p:cNvPr id="6" name="Image 0" descr="preencoded.png">
            <a:extLst>
              <a:ext uri="{FF2B5EF4-FFF2-40B4-BE49-F238E27FC236}">
                <a16:creationId xmlns:a16="http://schemas.microsoft.com/office/drawing/2014/main" id="{7D10041D-636D-B2BB-7626-F16E4B0CBE43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777240" y="1234440"/>
            <a:ext cx="3200400" cy="1143000"/>
          </a:xfrm>
          <a:prstGeom prst="rect">
            <a:avLst/>
          </a:prstGeom>
        </p:spPr>
      </p:pic>
      <p:sp>
        <p:nvSpPr>
          <p:cNvPr id="7" name="Shape 4">
            <a:extLst>
              <a:ext uri="{FF2B5EF4-FFF2-40B4-BE49-F238E27FC236}">
                <a16:creationId xmlns:a16="http://schemas.microsoft.com/office/drawing/2014/main" id="{C72A3A55-5B64-2802-4AEC-027B3AD760AD}"/>
              </a:ext>
            </a:extLst>
          </p:cNvPr>
          <p:cNvSpPr/>
          <p:nvPr/>
        </p:nvSpPr>
        <p:spPr>
          <a:xfrm>
            <a:off x="4754880" y="3136392"/>
            <a:ext cx="2441448" cy="0"/>
          </a:xfrm>
          <a:prstGeom prst="line">
            <a:avLst/>
          </a:prstGeom>
          <a:noFill/>
          <a:ln w="15240">
            <a:solidFill>
              <a:srgbClr val="1D2733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8" name="Shape 5">
            <a:extLst>
              <a:ext uri="{FF2B5EF4-FFF2-40B4-BE49-F238E27FC236}">
                <a16:creationId xmlns:a16="http://schemas.microsoft.com/office/drawing/2014/main" id="{8C4B7CB0-71A1-B099-C64A-22E9514AD419}"/>
              </a:ext>
            </a:extLst>
          </p:cNvPr>
          <p:cNvSpPr/>
          <p:nvPr/>
        </p:nvSpPr>
        <p:spPr>
          <a:xfrm>
            <a:off x="4754880" y="3136392"/>
            <a:ext cx="0" cy="0"/>
          </a:xfrm>
          <a:prstGeom prst="line">
            <a:avLst/>
          </a:prstGeom>
          <a:noFill/>
          <a:ln w="15240">
            <a:solidFill>
              <a:srgbClr val="1D2733"/>
            </a:solidFill>
            <a:prstDash val="solid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6">
            <a:extLst>
              <a:ext uri="{FF2B5EF4-FFF2-40B4-BE49-F238E27FC236}">
                <a16:creationId xmlns:a16="http://schemas.microsoft.com/office/drawing/2014/main" id="{118E290C-80E1-5C3B-2FFC-4B71969DE181}"/>
              </a:ext>
            </a:extLst>
          </p:cNvPr>
          <p:cNvSpPr/>
          <p:nvPr/>
        </p:nvSpPr>
        <p:spPr>
          <a:xfrm>
            <a:off x="4389120" y="1207008"/>
            <a:ext cx="2971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5C6873"/>
                </a:solidFill>
              </a:rPr>
              <a:t>u[n]</a:t>
            </a:r>
            <a:endParaRPr lang="en-US" sz="1300" dirty="0"/>
          </a:p>
        </p:txBody>
      </p:sp>
      <p:sp>
        <p:nvSpPr>
          <p:cNvPr id="10" name="Shape 7">
            <a:extLst>
              <a:ext uri="{FF2B5EF4-FFF2-40B4-BE49-F238E27FC236}">
                <a16:creationId xmlns:a16="http://schemas.microsoft.com/office/drawing/2014/main" id="{602E15C0-6B2C-C2EF-31ED-154D97010AED}"/>
              </a:ext>
            </a:extLst>
          </p:cNvPr>
          <p:cNvSpPr/>
          <p:nvPr/>
        </p:nvSpPr>
        <p:spPr>
          <a:xfrm>
            <a:off x="4958334" y="3136392"/>
            <a:ext cx="0" cy="0"/>
          </a:xfrm>
          <a:prstGeom prst="line">
            <a:avLst/>
          </a:prstGeom>
          <a:noFill/>
          <a:ln w="25400">
            <a:solidFill>
              <a:srgbClr val="1F7A8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Shape 8">
            <a:extLst>
              <a:ext uri="{FF2B5EF4-FFF2-40B4-BE49-F238E27FC236}">
                <a16:creationId xmlns:a16="http://schemas.microsoft.com/office/drawing/2014/main" id="{4EEA0E93-EDE3-9C14-A7CA-519EFFC9737E}"/>
              </a:ext>
            </a:extLst>
          </p:cNvPr>
          <p:cNvSpPr/>
          <p:nvPr/>
        </p:nvSpPr>
        <p:spPr>
          <a:xfrm>
            <a:off x="4908042" y="3086100"/>
            <a:ext cx="100584" cy="100584"/>
          </a:xfrm>
          <a:prstGeom prst="ellipse">
            <a:avLst/>
          </a:prstGeom>
          <a:solidFill>
            <a:srgbClr val="1F7A8C"/>
          </a:solidFill>
          <a:ln w="12700">
            <a:solidFill>
              <a:srgbClr val="1F7A8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9">
            <a:extLst>
              <a:ext uri="{FF2B5EF4-FFF2-40B4-BE49-F238E27FC236}">
                <a16:creationId xmlns:a16="http://schemas.microsoft.com/office/drawing/2014/main" id="{1A1641C8-7579-2F38-DEF2-DB2EA3C83708}"/>
              </a:ext>
            </a:extLst>
          </p:cNvPr>
          <p:cNvSpPr/>
          <p:nvPr/>
        </p:nvSpPr>
        <p:spPr>
          <a:xfrm>
            <a:off x="4793742" y="3191256"/>
            <a:ext cx="32918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5C6873"/>
                </a:solidFill>
              </a:rPr>
              <a:t>-2</a:t>
            </a:r>
            <a:endParaRPr lang="en-US" sz="900" dirty="0"/>
          </a:p>
        </p:txBody>
      </p:sp>
      <p:sp>
        <p:nvSpPr>
          <p:cNvPr id="13" name="Shape 10">
            <a:extLst>
              <a:ext uri="{FF2B5EF4-FFF2-40B4-BE49-F238E27FC236}">
                <a16:creationId xmlns:a16="http://schemas.microsoft.com/office/drawing/2014/main" id="{2512A565-06C3-C6D2-2003-90BDACC8AE51}"/>
              </a:ext>
            </a:extLst>
          </p:cNvPr>
          <p:cNvSpPr/>
          <p:nvPr/>
        </p:nvSpPr>
        <p:spPr>
          <a:xfrm>
            <a:off x="5365242" y="3136392"/>
            <a:ext cx="0" cy="0"/>
          </a:xfrm>
          <a:prstGeom prst="line">
            <a:avLst/>
          </a:prstGeom>
          <a:noFill/>
          <a:ln w="25400">
            <a:solidFill>
              <a:srgbClr val="1F7A8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Shape 11">
            <a:extLst>
              <a:ext uri="{FF2B5EF4-FFF2-40B4-BE49-F238E27FC236}">
                <a16:creationId xmlns:a16="http://schemas.microsoft.com/office/drawing/2014/main" id="{87524A76-9F6D-3A54-BC95-3905A1972AD1}"/>
              </a:ext>
            </a:extLst>
          </p:cNvPr>
          <p:cNvSpPr/>
          <p:nvPr/>
        </p:nvSpPr>
        <p:spPr>
          <a:xfrm>
            <a:off x="5314950" y="3086100"/>
            <a:ext cx="100584" cy="100584"/>
          </a:xfrm>
          <a:prstGeom prst="ellipse">
            <a:avLst/>
          </a:prstGeom>
          <a:solidFill>
            <a:srgbClr val="1F7A8C"/>
          </a:solidFill>
          <a:ln w="12700">
            <a:solidFill>
              <a:srgbClr val="1F7A8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Text 12">
            <a:extLst>
              <a:ext uri="{FF2B5EF4-FFF2-40B4-BE49-F238E27FC236}">
                <a16:creationId xmlns:a16="http://schemas.microsoft.com/office/drawing/2014/main" id="{668AEA9C-BAAB-6C16-8E1C-CBECF72118B2}"/>
              </a:ext>
            </a:extLst>
          </p:cNvPr>
          <p:cNvSpPr/>
          <p:nvPr/>
        </p:nvSpPr>
        <p:spPr>
          <a:xfrm>
            <a:off x="5200650" y="3191256"/>
            <a:ext cx="32918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5C6873"/>
                </a:solidFill>
              </a:rPr>
              <a:t>-1</a:t>
            </a:r>
            <a:endParaRPr lang="en-US" sz="900" dirty="0"/>
          </a:p>
        </p:txBody>
      </p:sp>
      <p:sp>
        <p:nvSpPr>
          <p:cNvPr id="16" name="Shape 13">
            <a:extLst>
              <a:ext uri="{FF2B5EF4-FFF2-40B4-BE49-F238E27FC236}">
                <a16:creationId xmlns:a16="http://schemas.microsoft.com/office/drawing/2014/main" id="{33905BBB-7C80-4DFA-6E0B-C5997F23F264}"/>
              </a:ext>
            </a:extLst>
          </p:cNvPr>
          <p:cNvSpPr/>
          <p:nvPr/>
        </p:nvSpPr>
        <p:spPr>
          <a:xfrm>
            <a:off x="5772150" y="3136392"/>
            <a:ext cx="0" cy="0"/>
          </a:xfrm>
          <a:prstGeom prst="line">
            <a:avLst/>
          </a:prstGeom>
          <a:noFill/>
          <a:ln w="25400">
            <a:solidFill>
              <a:srgbClr val="1F7A8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Shape 14">
            <a:extLst>
              <a:ext uri="{FF2B5EF4-FFF2-40B4-BE49-F238E27FC236}">
                <a16:creationId xmlns:a16="http://schemas.microsoft.com/office/drawing/2014/main" id="{3B7949AA-7AE4-FAF9-F1E0-BC62FD37AC5C}"/>
              </a:ext>
            </a:extLst>
          </p:cNvPr>
          <p:cNvSpPr/>
          <p:nvPr/>
        </p:nvSpPr>
        <p:spPr>
          <a:xfrm>
            <a:off x="5721858" y="1641348"/>
            <a:ext cx="100584" cy="100584"/>
          </a:xfrm>
          <a:prstGeom prst="ellipse">
            <a:avLst/>
          </a:prstGeom>
          <a:solidFill>
            <a:srgbClr val="1F7A8C"/>
          </a:solidFill>
          <a:ln w="12700">
            <a:solidFill>
              <a:srgbClr val="1F7A8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Text 15">
            <a:extLst>
              <a:ext uri="{FF2B5EF4-FFF2-40B4-BE49-F238E27FC236}">
                <a16:creationId xmlns:a16="http://schemas.microsoft.com/office/drawing/2014/main" id="{C0492BC1-CE70-AA12-CCE0-4498C29FC436}"/>
              </a:ext>
            </a:extLst>
          </p:cNvPr>
          <p:cNvSpPr/>
          <p:nvPr/>
        </p:nvSpPr>
        <p:spPr>
          <a:xfrm>
            <a:off x="5607558" y="3191256"/>
            <a:ext cx="32918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5C6873"/>
                </a:solidFill>
              </a:rPr>
              <a:t>0</a:t>
            </a:r>
            <a:endParaRPr lang="en-US" sz="900" dirty="0"/>
          </a:p>
        </p:txBody>
      </p:sp>
      <p:sp>
        <p:nvSpPr>
          <p:cNvPr id="19" name="Shape 16">
            <a:extLst>
              <a:ext uri="{FF2B5EF4-FFF2-40B4-BE49-F238E27FC236}">
                <a16:creationId xmlns:a16="http://schemas.microsoft.com/office/drawing/2014/main" id="{3591962A-59E5-A609-0E3F-A59DD248120B}"/>
              </a:ext>
            </a:extLst>
          </p:cNvPr>
          <p:cNvSpPr/>
          <p:nvPr/>
        </p:nvSpPr>
        <p:spPr>
          <a:xfrm>
            <a:off x="6179058" y="3136392"/>
            <a:ext cx="0" cy="0"/>
          </a:xfrm>
          <a:prstGeom prst="line">
            <a:avLst/>
          </a:prstGeom>
          <a:noFill/>
          <a:ln w="25400">
            <a:solidFill>
              <a:srgbClr val="1F7A8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Shape 17">
            <a:extLst>
              <a:ext uri="{FF2B5EF4-FFF2-40B4-BE49-F238E27FC236}">
                <a16:creationId xmlns:a16="http://schemas.microsoft.com/office/drawing/2014/main" id="{9E250C04-4787-F689-5B96-1C928D5EF203}"/>
              </a:ext>
            </a:extLst>
          </p:cNvPr>
          <p:cNvSpPr/>
          <p:nvPr/>
        </p:nvSpPr>
        <p:spPr>
          <a:xfrm>
            <a:off x="6128766" y="1641348"/>
            <a:ext cx="100584" cy="100584"/>
          </a:xfrm>
          <a:prstGeom prst="ellipse">
            <a:avLst/>
          </a:prstGeom>
          <a:solidFill>
            <a:srgbClr val="1F7A8C"/>
          </a:solidFill>
          <a:ln w="12700">
            <a:solidFill>
              <a:srgbClr val="1F7A8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Text 18">
            <a:extLst>
              <a:ext uri="{FF2B5EF4-FFF2-40B4-BE49-F238E27FC236}">
                <a16:creationId xmlns:a16="http://schemas.microsoft.com/office/drawing/2014/main" id="{E79934DD-07F8-66E5-3DB2-C51A7F51B489}"/>
              </a:ext>
            </a:extLst>
          </p:cNvPr>
          <p:cNvSpPr/>
          <p:nvPr/>
        </p:nvSpPr>
        <p:spPr>
          <a:xfrm>
            <a:off x="6014466" y="3191256"/>
            <a:ext cx="32918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5C6873"/>
                </a:solidFill>
              </a:rPr>
              <a:t>1</a:t>
            </a:r>
            <a:endParaRPr lang="en-US" sz="900" dirty="0"/>
          </a:p>
        </p:txBody>
      </p:sp>
      <p:sp>
        <p:nvSpPr>
          <p:cNvPr id="22" name="Shape 19">
            <a:extLst>
              <a:ext uri="{FF2B5EF4-FFF2-40B4-BE49-F238E27FC236}">
                <a16:creationId xmlns:a16="http://schemas.microsoft.com/office/drawing/2014/main" id="{608B3A65-8369-3D07-21BC-D0E405443699}"/>
              </a:ext>
            </a:extLst>
          </p:cNvPr>
          <p:cNvSpPr/>
          <p:nvPr/>
        </p:nvSpPr>
        <p:spPr>
          <a:xfrm>
            <a:off x="6585966" y="3136392"/>
            <a:ext cx="0" cy="0"/>
          </a:xfrm>
          <a:prstGeom prst="line">
            <a:avLst/>
          </a:prstGeom>
          <a:noFill/>
          <a:ln w="25400">
            <a:solidFill>
              <a:srgbClr val="1F7A8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" name="Shape 20">
            <a:extLst>
              <a:ext uri="{FF2B5EF4-FFF2-40B4-BE49-F238E27FC236}">
                <a16:creationId xmlns:a16="http://schemas.microsoft.com/office/drawing/2014/main" id="{665FF4E5-BD96-052F-9975-C3D8BD698C47}"/>
              </a:ext>
            </a:extLst>
          </p:cNvPr>
          <p:cNvSpPr/>
          <p:nvPr/>
        </p:nvSpPr>
        <p:spPr>
          <a:xfrm>
            <a:off x="6535674" y="1641348"/>
            <a:ext cx="100584" cy="100584"/>
          </a:xfrm>
          <a:prstGeom prst="ellipse">
            <a:avLst/>
          </a:prstGeom>
          <a:solidFill>
            <a:srgbClr val="1F7A8C"/>
          </a:solidFill>
          <a:ln w="12700">
            <a:solidFill>
              <a:srgbClr val="1F7A8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4" name="Text 21">
            <a:extLst>
              <a:ext uri="{FF2B5EF4-FFF2-40B4-BE49-F238E27FC236}">
                <a16:creationId xmlns:a16="http://schemas.microsoft.com/office/drawing/2014/main" id="{BA4CB41D-3618-EA08-F33E-3F4D761F481F}"/>
              </a:ext>
            </a:extLst>
          </p:cNvPr>
          <p:cNvSpPr/>
          <p:nvPr/>
        </p:nvSpPr>
        <p:spPr>
          <a:xfrm>
            <a:off x="6421374" y="3191256"/>
            <a:ext cx="32918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5C6873"/>
                </a:solidFill>
              </a:rPr>
              <a:t>2</a:t>
            </a:r>
            <a:endParaRPr lang="en-US" sz="900" dirty="0"/>
          </a:p>
        </p:txBody>
      </p:sp>
      <p:sp>
        <p:nvSpPr>
          <p:cNvPr id="25" name="Shape 22">
            <a:extLst>
              <a:ext uri="{FF2B5EF4-FFF2-40B4-BE49-F238E27FC236}">
                <a16:creationId xmlns:a16="http://schemas.microsoft.com/office/drawing/2014/main" id="{2D0AD34E-698A-7C14-A34F-2FACA21E1723}"/>
              </a:ext>
            </a:extLst>
          </p:cNvPr>
          <p:cNvSpPr/>
          <p:nvPr/>
        </p:nvSpPr>
        <p:spPr>
          <a:xfrm>
            <a:off x="6992874" y="3136392"/>
            <a:ext cx="0" cy="0"/>
          </a:xfrm>
          <a:prstGeom prst="line">
            <a:avLst/>
          </a:prstGeom>
          <a:noFill/>
          <a:ln w="25400">
            <a:solidFill>
              <a:srgbClr val="1F7A8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6" name="Shape 23">
            <a:extLst>
              <a:ext uri="{FF2B5EF4-FFF2-40B4-BE49-F238E27FC236}">
                <a16:creationId xmlns:a16="http://schemas.microsoft.com/office/drawing/2014/main" id="{EA434F33-D9D4-B141-F65B-13661A668F84}"/>
              </a:ext>
            </a:extLst>
          </p:cNvPr>
          <p:cNvSpPr/>
          <p:nvPr/>
        </p:nvSpPr>
        <p:spPr>
          <a:xfrm>
            <a:off x="6942582" y="1641348"/>
            <a:ext cx="100584" cy="100584"/>
          </a:xfrm>
          <a:prstGeom prst="ellipse">
            <a:avLst/>
          </a:prstGeom>
          <a:solidFill>
            <a:srgbClr val="1F7A8C"/>
          </a:solidFill>
          <a:ln w="12700">
            <a:solidFill>
              <a:srgbClr val="1F7A8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7" name="Text 24">
            <a:extLst>
              <a:ext uri="{FF2B5EF4-FFF2-40B4-BE49-F238E27FC236}">
                <a16:creationId xmlns:a16="http://schemas.microsoft.com/office/drawing/2014/main" id="{48845616-CF3A-D801-864C-75DCD823E83F}"/>
              </a:ext>
            </a:extLst>
          </p:cNvPr>
          <p:cNvSpPr/>
          <p:nvPr/>
        </p:nvSpPr>
        <p:spPr>
          <a:xfrm>
            <a:off x="6828282" y="3191256"/>
            <a:ext cx="32918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5C6873"/>
                </a:solidFill>
              </a:rPr>
              <a:t>3</a:t>
            </a:r>
            <a:endParaRPr lang="en-US" sz="900" dirty="0"/>
          </a:p>
        </p:txBody>
      </p:sp>
      <p:pic>
        <p:nvPicPr>
          <p:cNvPr id="28" name="Image 1" descr="preencoded.png">
            <a:extLst>
              <a:ext uri="{FF2B5EF4-FFF2-40B4-BE49-F238E27FC236}">
                <a16:creationId xmlns:a16="http://schemas.microsoft.com/office/drawing/2014/main" id="{8DF45F39-3CB4-0A22-7FD2-A04FFF237292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7818120" y="1508760"/>
            <a:ext cx="3246120" cy="640080"/>
          </a:xfrm>
          <a:prstGeom prst="rect">
            <a:avLst/>
          </a:prstGeom>
        </p:spPr>
      </p:pic>
      <p:pic>
        <p:nvPicPr>
          <p:cNvPr id="29" name="Image 2" descr="preencoded.png">
            <a:extLst>
              <a:ext uri="{FF2B5EF4-FFF2-40B4-BE49-F238E27FC236}">
                <a16:creationId xmlns:a16="http://schemas.microsoft.com/office/drawing/2014/main" id="{727A8A1C-18EB-C223-BEB9-4A8F583167FF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7818120" y="2606040"/>
            <a:ext cx="3246120" cy="640080"/>
          </a:xfrm>
          <a:prstGeom prst="rect">
            <a:avLst/>
          </a:prstGeom>
        </p:spPr>
      </p:pic>
      <p:sp>
        <p:nvSpPr>
          <p:cNvPr id="30" name="Shape 25">
            <a:extLst>
              <a:ext uri="{FF2B5EF4-FFF2-40B4-BE49-F238E27FC236}">
                <a16:creationId xmlns:a16="http://schemas.microsoft.com/office/drawing/2014/main" id="{02DEF725-BA0E-C34D-D469-9FD6E726FE40}"/>
              </a:ext>
            </a:extLst>
          </p:cNvPr>
          <p:cNvSpPr/>
          <p:nvPr/>
        </p:nvSpPr>
        <p:spPr>
          <a:xfrm>
            <a:off x="960120" y="4251960"/>
            <a:ext cx="3840480" cy="1005840"/>
          </a:xfrm>
          <a:prstGeom prst="roundRect">
            <a:avLst>
              <a:gd name="adj" fmla="val 7273"/>
            </a:avLst>
          </a:prstGeom>
          <a:solidFill>
            <a:srgbClr val="FFF6DF"/>
          </a:solidFill>
          <a:ln w="16510">
            <a:solidFill>
              <a:srgbClr val="D9A44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1" name="Text 26">
            <a:extLst>
              <a:ext uri="{FF2B5EF4-FFF2-40B4-BE49-F238E27FC236}">
                <a16:creationId xmlns:a16="http://schemas.microsoft.com/office/drawing/2014/main" id="{C9CFBCCB-1405-72D1-5804-4EB00AEDBFFE}"/>
              </a:ext>
            </a:extLst>
          </p:cNvPr>
          <p:cNvSpPr/>
          <p:nvPr/>
        </p:nvSpPr>
        <p:spPr>
          <a:xfrm>
            <a:off x="1124712" y="4361688"/>
            <a:ext cx="351129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D9A441"/>
                </a:solidFill>
              </a:rPr>
              <a:t>Quick check</a:t>
            </a:r>
            <a:endParaRPr lang="en-US" sz="1200" dirty="0"/>
          </a:p>
        </p:txBody>
      </p:sp>
      <p:sp>
        <p:nvSpPr>
          <p:cNvPr id="32" name="Text 27">
            <a:extLst>
              <a:ext uri="{FF2B5EF4-FFF2-40B4-BE49-F238E27FC236}">
                <a16:creationId xmlns:a16="http://schemas.microsoft.com/office/drawing/2014/main" id="{1AD983A0-6381-977A-9081-C12048C5EBDF}"/>
              </a:ext>
            </a:extLst>
          </p:cNvPr>
          <p:cNvSpPr/>
          <p:nvPr/>
        </p:nvSpPr>
        <p:spPr>
          <a:xfrm>
            <a:off x="1124712" y="4636008"/>
            <a:ext cx="3511296" cy="53035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350" dirty="0">
                <a:solidFill>
                  <a:srgbClr val="1D2733"/>
                </a:solidFill>
              </a:rPr>
              <a:t>What is u[n+2]? Where does it turn on?</a:t>
            </a:r>
            <a:endParaRPr lang="en-US" sz="1350" dirty="0"/>
          </a:p>
        </p:txBody>
      </p:sp>
      <p:sp>
        <p:nvSpPr>
          <p:cNvPr id="33" name="Shape 28">
            <a:extLst>
              <a:ext uri="{FF2B5EF4-FFF2-40B4-BE49-F238E27FC236}">
                <a16:creationId xmlns:a16="http://schemas.microsoft.com/office/drawing/2014/main" id="{59DC082B-7291-3483-7687-CA72538BEADD}"/>
              </a:ext>
            </a:extLst>
          </p:cNvPr>
          <p:cNvSpPr/>
          <p:nvPr/>
        </p:nvSpPr>
        <p:spPr>
          <a:xfrm>
            <a:off x="5943600" y="4251960"/>
            <a:ext cx="4663440" cy="1005840"/>
          </a:xfrm>
          <a:prstGeom prst="roundRect">
            <a:avLst>
              <a:gd name="adj" fmla="val 7273"/>
            </a:avLst>
          </a:prstGeom>
          <a:solidFill>
            <a:srgbClr val="E9F5F7"/>
          </a:solidFill>
          <a:ln w="16510">
            <a:solidFill>
              <a:srgbClr val="1F7A8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4" name="Text 29">
            <a:extLst>
              <a:ext uri="{FF2B5EF4-FFF2-40B4-BE49-F238E27FC236}">
                <a16:creationId xmlns:a16="http://schemas.microsoft.com/office/drawing/2014/main" id="{DE9A74B5-5680-0A81-7ECA-0B6ED4368890}"/>
              </a:ext>
            </a:extLst>
          </p:cNvPr>
          <p:cNvSpPr/>
          <p:nvPr/>
        </p:nvSpPr>
        <p:spPr>
          <a:xfrm>
            <a:off x="6108192" y="4361688"/>
            <a:ext cx="433425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F7A8C"/>
                </a:solidFill>
              </a:rPr>
              <a:t>Answer</a:t>
            </a:r>
            <a:endParaRPr lang="en-US" sz="1200" dirty="0"/>
          </a:p>
        </p:txBody>
      </p:sp>
      <p:sp>
        <p:nvSpPr>
          <p:cNvPr id="35" name="Text 30">
            <a:extLst>
              <a:ext uri="{FF2B5EF4-FFF2-40B4-BE49-F238E27FC236}">
                <a16:creationId xmlns:a16="http://schemas.microsoft.com/office/drawing/2014/main" id="{38DF2AAB-8B54-250B-E0DE-732530A02694}"/>
              </a:ext>
            </a:extLst>
          </p:cNvPr>
          <p:cNvSpPr/>
          <p:nvPr/>
        </p:nvSpPr>
        <p:spPr>
          <a:xfrm>
            <a:off x="6108192" y="4636008"/>
            <a:ext cx="4334256" cy="53035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350" dirty="0">
                <a:solidFill>
                  <a:srgbClr val="1D2733"/>
                </a:solidFill>
              </a:rPr>
              <a:t>At n = −2. A “+2” inside the brackets shifts the sequence left by 2.</a:t>
            </a:r>
            <a:endParaRPr lang="en-US" sz="1350" dirty="0"/>
          </a:p>
        </p:txBody>
      </p:sp>
      <p:sp>
        <p:nvSpPr>
          <p:cNvPr id="36" name="Slide Number Placeholder 0">
            <a:extLst>
              <a:ext uri="{FF2B5EF4-FFF2-40B4-BE49-F238E27FC236}">
                <a16:creationId xmlns:a16="http://schemas.microsoft.com/office/drawing/2014/main" id="{DCCD5646-FE3A-840B-3CDD-DC9C6D01AF7E}"/>
              </a:ext>
            </a:extLst>
          </p:cNvPr>
          <p:cNvSpPr>
            <a:spLocks noGrp="1"/>
          </p:cNvSpPr>
          <p:nvPr>
            <p:ph type="sldNum" sz="quarter" idx="4294967295"/>
          </p:nvPr>
        </p:nvSpPr>
        <p:spPr>
          <a:xfrm>
            <a:off x="11740896" y="6492240"/>
            <a:ext cx="228600" cy="164592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5C6873"/>
                </a:solidFill>
                <a:latin typeface="Aptos"/>
                <a:ea typeface="Aptos"/>
                <a:cs typeface="Aptos"/>
              </a:defRPr>
            </a:lvl1pPr>
          </a:lstStyle>
          <a:p>
            <a:pPr algn="r"/>
            <a:fld id="{F7021451-1387-4CA6-816F-3879F97B5CBC}" type="slidenum">
              <a:rPr lang="en-US" b="0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6081488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47472"/>
            <a:ext cx="110185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7324D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Complex exponentials are the “natural modes” of LTI systems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585216" y="822960"/>
            <a:ext cx="10789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5C6873"/>
                </a:solidFill>
              </a:rPr>
              <a:t>Today: recognize them. Lecture 2: prove the eigenfunction property.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9966960" y="329184"/>
            <a:ext cx="1627632" cy="310896"/>
          </a:xfrm>
          <a:prstGeom prst="roundRect">
            <a:avLst>
              <a:gd name="adj" fmla="val 23529"/>
            </a:avLst>
          </a:prstGeom>
          <a:solidFill>
            <a:srgbClr val="1F7A8C"/>
          </a:solidFill>
          <a:ln w="12700">
            <a:solidFill>
              <a:srgbClr val="1F7A8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10012680" y="393192"/>
            <a:ext cx="1527048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kern="0" spc="60" dirty="0">
                <a:solidFill>
                  <a:srgbClr val="FFFFFF"/>
                </a:solidFill>
              </a:rPr>
              <a:t>15–35 MIN</a:t>
            </a:r>
            <a:endParaRPr lang="en-US" sz="900" dirty="0"/>
          </a:p>
        </p:txBody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777240" y="1325880"/>
            <a:ext cx="4572000" cy="731520"/>
          </a:xfrm>
          <a:prstGeom prst="rect">
            <a:avLst/>
          </a:prstGeom>
        </p:spPr>
      </p:pic>
      <p:pic>
        <p:nvPicPr>
          <p:cNvPr id="7" name="Image 1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777240" y="2331720"/>
            <a:ext cx="4937760" cy="731520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713232" y="3246120"/>
            <a:ext cx="5349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F7A8C"/>
                </a:solidFill>
              </a:rPr>
              <a:t>What each factor does</a:t>
            </a:r>
            <a:endParaRPr lang="en-US" sz="1800" dirty="0"/>
          </a:p>
        </p:txBody>
      </p:sp>
      <p:sp>
        <p:nvSpPr>
          <p:cNvPr id="9" name="Text 5"/>
          <p:cNvSpPr/>
          <p:nvPr/>
        </p:nvSpPr>
        <p:spPr>
          <a:xfrm>
            <a:off x="6172200" y="3246120"/>
            <a:ext cx="5349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4A6FA5"/>
                </a:solidFill>
              </a:rPr>
              <a:t>Why DSP cares</a:t>
            </a:r>
            <a:endParaRPr lang="en-US" sz="1800" dirty="0"/>
          </a:p>
        </p:txBody>
      </p:sp>
      <p:sp>
        <p:nvSpPr>
          <p:cNvPr id="10" name="Text 6"/>
          <p:cNvSpPr/>
          <p:nvPr/>
        </p:nvSpPr>
        <p:spPr>
          <a:xfrm>
            <a:off x="786384" y="3630168"/>
            <a:ext cx="5074920" cy="448056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marL="228600" indent="-228600">
              <a:buSzPct val="100000"/>
              <a:buChar char="•"/>
            </a:pPr>
            <a:r>
              <a:rPr lang="en-US" sz="1750" dirty="0">
                <a:solidFill>
                  <a:srgbClr val="1D2733"/>
                </a:solidFill>
              </a:rPr>
              <a:t>A sets scale / phase</a:t>
            </a:r>
            <a:endParaRPr lang="en-US" sz="1750" dirty="0"/>
          </a:p>
          <a:p>
            <a:pPr marL="228600" indent="-228600">
              <a:buSzPct val="100000"/>
              <a:buChar char="•"/>
            </a:pPr>
            <a:r>
              <a:rPr lang="en-US" sz="1750" dirty="0">
                <a:solidFill>
                  <a:srgbClr val="1D2733"/>
                </a:solidFill>
              </a:rPr>
              <a:t>αⁿ gives growth or decay</a:t>
            </a:r>
            <a:endParaRPr lang="en-US" sz="1750" dirty="0"/>
          </a:p>
          <a:p>
            <a:pPr marL="228600" indent="-228600">
              <a:buSzPct val="100000"/>
              <a:buChar char="•"/>
            </a:pPr>
            <a:r>
              <a:rPr lang="en-US" sz="1750" dirty="0">
                <a:solidFill>
                  <a:srgbClr val="1D2733"/>
                </a:solidFill>
              </a:rPr>
              <a:t>e^{jω₀n} gives rotation / oscillation</a:t>
            </a:r>
            <a:endParaRPr lang="en-US" sz="1750" dirty="0"/>
          </a:p>
        </p:txBody>
      </p:sp>
      <p:sp>
        <p:nvSpPr>
          <p:cNvPr id="11" name="Text 7"/>
          <p:cNvSpPr/>
          <p:nvPr/>
        </p:nvSpPr>
        <p:spPr>
          <a:xfrm>
            <a:off x="6245352" y="3630168"/>
            <a:ext cx="5074920" cy="448056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marL="228600" indent="-228600">
              <a:buSzPct val="100000"/>
              <a:buChar char="•"/>
            </a:pPr>
            <a:r>
              <a:rPr lang="en-US" sz="1750" dirty="0">
                <a:solidFill>
                  <a:srgbClr val="1D2733"/>
                </a:solidFill>
              </a:rPr>
              <a:t>Sinusoids probe frequency response</a:t>
            </a:r>
            <a:endParaRPr lang="en-US" sz="1750" dirty="0"/>
          </a:p>
          <a:p>
            <a:pPr marL="228600" indent="-228600">
              <a:buSzPct val="100000"/>
              <a:buChar char="•"/>
            </a:pPr>
            <a:r>
              <a:rPr lang="en-US" sz="1750" dirty="0">
                <a:solidFill>
                  <a:srgbClr val="1D2733"/>
                </a:solidFill>
              </a:rPr>
              <a:t>Exponentials diagonalize convolution</a:t>
            </a:r>
            <a:endParaRPr lang="en-US" sz="1750" dirty="0"/>
          </a:p>
          <a:p>
            <a:pPr marL="228600" indent="-228600">
              <a:buSzPct val="100000"/>
              <a:buChar char="•"/>
            </a:pPr>
            <a:r>
              <a:rPr lang="en-US" sz="1750" dirty="0">
                <a:solidFill>
                  <a:srgbClr val="1D2733"/>
                </a:solidFill>
              </a:rPr>
              <a:t>Spectra decompose signals into modes</a:t>
            </a:r>
            <a:endParaRPr lang="en-US" sz="1750" dirty="0"/>
          </a:p>
        </p:txBody>
      </p:sp>
      <p:sp>
        <p:nvSpPr>
          <p:cNvPr id="12" name="Shape 8"/>
          <p:cNvSpPr/>
          <p:nvPr/>
        </p:nvSpPr>
        <p:spPr>
          <a:xfrm>
            <a:off x="5989320" y="3291840"/>
            <a:ext cx="0" cy="4800600"/>
          </a:xfrm>
          <a:prstGeom prst="line">
            <a:avLst/>
          </a:prstGeom>
          <a:noFill/>
          <a:ln w="12700">
            <a:solidFill>
              <a:srgbClr val="D9E1E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40896" y="6492240"/>
            <a:ext cx="228600" cy="16459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900">
                <a:solidFill>
                  <a:srgbClr val="5C6873"/>
                </a:solidFill>
                <a:latin typeface="Aptos"/>
                <a:ea typeface="Aptos"/>
                <a:cs typeface="Aptos"/>
              </a:defRPr>
            </a:lvl1pPr>
          </a:lstStyle>
          <a:p>
            <a:pPr algn="r"/>
            <a:fld id="{F7021451-1387-4CA6-816F-3879F97B5CBC}" type="slidenum">
              <a:rPr lang="en-US" b="0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47472"/>
            <a:ext cx="110185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7324D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What is a discrete-time system?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585216" y="822960"/>
            <a:ext cx="10789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5C6873"/>
                </a:solidFill>
              </a:rPr>
              <a:t>A rule that maps an input sequence to an output sequence.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9966960" y="329184"/>
            <a:ext cx="1627632" cy="310896"/>
          </a:xfrm>
          <a:prstGeom prst="roundRect">
            <a:avLst>
              <a:gd name="adj" fmla="val 23529"/>
            </a:avLst>
          </a:prstGeom>
          <a:solidFill>
            <a:srgbClr val="1F7A8C"/>
          </a:solidFill>
          <a:ln w="12700">
            <a:solidFill>
              <a:srgbClr val="1F7A8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10012680" y="393192"/>
            <a:ext cx="1527048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kern="0" spc="60" dirty="0">
                <a:solidFill>
                  <a:srgbClr val="FFFFFF"/>
                </a:solidFill>
              </a:rPr>
              <a:t>35–55 MIN</a:t>
            </a:r>
            <a:endParaRPr lang="en-US" sz="900" dirty="0"/>
          </a:p>
        </p:txBody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914400" y="1325880"/>
            <a:ext cx="2971800" cy="64008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713232" y="2240280"/>
            <a:ext cx="5349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F7A8C"/>
                </a:solidFill>
              </a:rPr>
              <a:t>Examples</a:t>
            </a:r>
            <a:endParaRPr lang="en-US" sz="1800" dirty="0"/>
          </a:p>
        </p:txBody>
      </p:sp>
      <p:sp>
        <p:nvSpPr>
          <p:cNvPr id="8" name="Text 5"/>
          <p:cNvSpPr/>
          <p:nvPr/>
        </p:nvSpPr>
        <p:spPr>
          <a:xfrm>
            <a:off x="6172200" y="2240280"/>
            <a:ext cx="5349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4A6FA5"/>
                </a:solidFill>
              </a:rPr>
              <a:t>Nonlinear / time-varying examples</a:t>
            </a:r>
            <a:endParaRPr lang="en-US" sz="1800" dirty="0"/>
          </a:p>
        </p:txBody>
      </p:sp>
      <p:sp>
        <p:nvSpPr>
          <p:cNvPr id="9" name="Text 6"/>
          <p:cNvSpPr/>
          <p:nvPr/>
        </p:nvSpPr>
        <p:spPr>
          <a:xfrm>
            <a:off x="786384" y="2624328"/>
            <a:ext cx="5074920" cy="448056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marL="228600" indent="-228600">
              <a:buSzPct val="100000"/>
              <a:buChar char="•"/>
            </a:pPr>
            <a:r>
              <a:rPr lang="en-US" sz="1750" dirty="0">
                <a:solidFill>
                  <a:srgbClr val="1D2733"/>
                </a:solidFill>
              </a:rPr>
              <a:t>Gain: y[n]=2x[n]</a:t>
            </a:r>
            <a:endParaRPr lang="en-US" sz="1750" dirty="0"/>
          </a:p>
          <a:p>
            <a:pPr marL="228600" indent="-228600">
              <a:buSzPct val="100000"/>
              <a:buChar char="•"/>
            </a:pPr>
            <a:r>
              <a:rPr lang="en-US" sz="1750" dirty="0">
                <a:solidFill>
                  <a:srgbClr val="1D2733"/>
                </a:solidFill>
              </a:rPr>
              <a:t>Delay: y[n]=x[n−3]</a:t>
            </a:r>
            <a:endParaRPr lang="en-US" sz="1750" dirty="0"/>
          </a:p>
          <a:p>
            <a:pPr marL="228600" indent="-228600">
              <a:buSzPct val="100000"/>
              <a:buChar char="•"/>
            </a:pPr>
            <a:r>
              <a:rPr lang="en-US" sz="1750" dirty="0">
                <a:solidFill>
                  <a:srgbClr val="1D2733"/>
                </a:solidFill>
              </a:rPr>
              <a:t>Moving average: y[n]=(x[n]+x[n−1])/2</a:t>
            </a:r>
            <a:endParaRPr lang="en-US" sz="1750" dirty="0"/>
          </a:p>
        </p:txBody>
      </p:sp>
      <p:sp>
        <p:nvSpPr>
          <p:cNvPr id="10" name="Text 7"/>
          <p:cNvSpPr/>
          <p:nvPr/>
        </p:nvSpPr>
        <p:spPr>
          <a:xfrm>
            <a:off x="6245352" y="2624328"/>
            <a:ext cx="5074920" cy="448056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marL="228600" indent="-228600">
              <a:buSzPct val="100000"/>
              <a:buChar char="•"/>
            </a:pPr>
            <a:r>
              <a:rPr lang="en-US" sz="1750" dirty="0">
                <a:solidFill>
                  <a:srgbClr val="1D2733"/>
                </a:solidFill>
              </a:rPr>
              <a:t>Squaring: y[n]=x²[n]</a:t>
            </a:r>
            <a:endParaRPr lang="en-US" sz="1750" dirty="0"/>
          </a:p>
          <a:p>
            <a:pPr marL="228600" indent="-228600">
              <a:buSzPct val="100000"/>
              <a:buChar char="•"/>
            </a:pPr>
            <a:r>
              <a:rPr lang="en-US" sz="1750" dirty="0">
                <a:solidFill>
                  <a:srgbClr val="1D2733"/>
                </a:solidFill>
              </a:rPr>
              <a:t>Compressor / limiter</a:t>
            </a:r>
            <a:endParaRPr lang="en-US" sz="1750" dirty="0"/>
          </a:p>
          <a:p>
            <a:pPr marL="228600" indent="-228600">
              <a:buSzPct val="100000"/>
              <a:buChar char="•"/>
            </a:pPr>
            <a:r>
              <a:rPr lang="en-US" sz="1750" dirty="0">
                <a:solidFill>
                  <a:srgbClr val="1D2733"/>
                </a:solidFill>
              </a:rPr>
              <a:t>Gain that changes with n</a:t>
            </a:r>
            <a:endParaRPr lang="en-US" sz="1750" dirty="0"/>
          </a:p>
        </p:txBody>
      </p:sp>
      <p:sp>
        <p:nvSpPr>
          <p:cNvPr id="11" name="Shape 8"/>
          <p:cNvSpPr/>
          <p:nvPr/>
        </p:nvSpPr>
        <p:spPr>
          <a:xfrm>
            <a:off x="5989320" y="2286000"/>
            <a:ext cx="0" cy="4800600"/>
          </a:xfrm>
          <a:prstGeom prst="line">
            <a:avLst/>
          </a:prstGeom>
          <a:noFill/>
          <a:ln w="12700">
            <a:solidFill>
              <a:srgbClr val="D9E1E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Shape 9"/>
          <p:cNvSpPr/>
          <p:nvPr/>
        </p:nvSpPr>
        <p:spPr>
          <a:xfrm>
            <a:off x="2834640" y="5303520"/>
            <a:ext cx="6492240" cy="777240"/>
          </a:xfrm>
          <a:prstGeom prst="roundRect">
            <a:avLst>
              <a:gd name="adj" fmla="val 9412"/>
            </a:avLst>
          </a:prstGeom>
          <a:solidFill>
            <a:srgbClr val="E9F5F7"/>
          </a:solidFill>
          <a:ln w="16510">
            <a:solidFill>
              <a:srgbClr val="1F7A8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10"/>
          <p:cNvSpPr/>
          <p:nvPr/>
        </p:nvSpPr>
        <p:spPr>
          <a:xfrm>
            <a:off x="2999232" y="5413248"/>
            <a:ext cx="616305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F7A8C"/>
                </a:solidFill>
              </a:rPr>
              <a:t>Question to ask</a:t>
            </a:r>
            <a:endParaRPr lang="en-US" sz="1200" dirty="0"/>
          </a:p>
        </p:txBody>
      </p:sp>
      <p:sp>
        <p:nvSpPr>
          <p:cNvPr id="14" name="Text 11"/>
          <p:cNvSpPr/>
          <p:nvPr/>
        </p:nvSpPr>
        <p:spPr>
          <a:xfrm>
            <a:off x="2999232" y="5687568"/>
            <a:ext cx="6163056" cy="30175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350" dirty="0">
                <a:solidFill>
                  <a:srgbClr val="1D2733"/>
                </a:solidFill>
              </a:rPr>
              <a:t>Which properties let us predict behavior without simulating every possible input?</a:t>
            </a:r>
            <a:endParaRPr lang="en-US" sz="13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40896" y="6492240"/>
            <a:ext cx="228600" cy="16459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900">
                <a:solidFill>
                  <a:srgbClr val="5C6873"/>
                </a:solidFill>
                <a:latin typeface="Aptos"/>
                <a:ea typeface="Aptos"/>
                <a:cs typeface="Aptos"/>
              </a:defRPr>
            </a:lvl1pPr>
          </a:lstStyle>
          <a:p>
            <a:pPr algn="r"/>
            <a:fld id="{F7021451-1387-4CA6-816F-3879F97B5CBC}" type="slidenum">
              <a:rPr lang="en-US" b="0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47472"/>
            <a:ext cx="110185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7324D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Linearity = superposition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585216" y="822960"/>
            <a:ext cx="10789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5C6873"/>
                </a:solidFill>
              </a:rPr>
              <a:t>Scale inputs → scale outputs. Add inputs → add outputs.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9966960" y="329184"/>
            <a:ext cx="1627632" cy="310896"/>
          </a:xfrm>
          <a:prstGeom prst="roundRect">
            <a:avLst>
              <a:gd name="adj" fmla="val 23529"/>
            </a:avLst>
          </a:prstGeom>
          <a:solidFill>
            <a:srgbClr val="1F7A8C"/>
          </a:solidFill>
          <a:ln w="12700">
            <a:solidFill>
              <a:srgbClr val="1F7A8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10012680" y="393192"/>
            <a:ext cx="1527048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kern="0" spc="60" dirty="0">
                <a:solidFill>
                  <a:srgbClr val="FFFFFF"/>
                </a:solidFill>
              </a:rPr>
              <a:t>35–55 MIN</a:t>
            </a:r>
            <a:endParaRPr lang="en-US" sz="900" dirty="0"/>
          </a:p>
        </p:txBody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822960" y="1280160"/>
            <a:ext cx="6583680" cy="77724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713232" y="2468880"/>
            <a:ext cx="5349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F7A8C"/>
                </a:solidFill>
              </a:rPr>
              <a:t>Linear</a:t>
            </a:r>
            <a:endParaRPr lang="en-US" sz="1800" dirty="0"/>
          </a:p>
        </p:txBody>
      </p:sp>
      <p:sp>
        <p:nvSpPr>
          <p:cNvPr id="8" name="Text 5"/>
          <p:cNvSpPr/>
          <p:nvPr/>
        </p:nvSpPr>
        <p:spPr>
          <a:xfrm>
            <a:off x="6172200" y="2468880"/>
            <a:ext cx="5349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4A6FA5"/>
                </a:solidFill>
              </a:rPr>
              <a:t>Not linear</a:t>
            </a:r>
            <a:endParaRPr lang="en-US" sz="1800" dirty="0"/>
          </a:p>
        </p:txBody>
      </p:sp>
      <p:sp>
        <p:nvSpPr>
          <p:cNvPr id="9" name="Text 6"/>
          <p:cNvSpPr/>
          <p:nvPr/>
        </p:nvSpPr>
        <p:spPr>
          <a:xfrm>
            <a:off x="786384" y="2852928"/>
            <a:ext cx="5074920" cy="448056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marL="228600" indent="-228600">
              <a:buSzPct val="100000"/>
              <a:buChar char="•"/>
            </a:pPr>
            <a:r>
              <a:rPr lang="en-US" sz="1750" dirty="0">
                <a:solidFill>
                  <a:srgbClr val="1D2733"/>
                </a:solidFill>
              </a:rPr>
              <a:t>y[n]=3x[n]</a:t>
            </a:r>
            <a:endParaRPr lang="en-US" sz="1750" dirty="0"/>
          </a:p>
          <a:p>
            <a:pPr marL="228600" indent="-228600">
              <a:buSzPct val="100000"/>
              <a:buChar char="•"/>
            </a:pPr>
            <a:r>
              <a:rPr lang="en-US" sz="1750" dirty="0">
                <a:solidFill>
                  <a:srgbClr val="1D2733"/>
                </a:solidFill>
              </a:rPr>
              <a:t>y[n]=x[n]+0.5x[n−1]</a:t>
            </a:r>
            <a:endParaRPr lang="en-US" sz="1750" dirty="0"/>
          </a:p>
          <a:p>
            <a:pPr marL="228600" indent="-228600">
              <a:buSzPct val="100000"/>
              <a:buChar char="•"/>
            </a:pPr>
            <a:r>
              <a:rPr lang="en-US" sz="1750" dirty="0">
                <a:solidFill>
                  <a:srgbClr val="1D2733"/>
                </a:solidFill>
              </a:rPr>
              <a:t>Any convolution with fixed h[n]</a:t>
            </a:r>
            <a:endParaRPr lang="en-US" sz="1750" dirty="0"/>
          </a:p>
        </p:txBody>
      </p:sp>
      <p:sp>
        <p:nvSpPr>
          <p:cNvPr id="10" name="Text 7"/>
          <p:cNvSpPr/>
          <p:nvPr/>
        </p:nvSpPr>
        <p:spPr>
          <a:xfrm>
            <a:off x="6245352" y="2852928"/>
            <a:ext cx="5074920" cy="448056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marL="228600" indent="-228600">
              <a:buSzPct val="100000"/>
              <a:buChar char="•"/>
            </a:pPr>
            <a:r>
              <a:rPr lang="en-US" sz="1750" dirty="0">
                <a:solidFill>
                  <a:srgbClr val="1D2733"/>
                </a:solidFill>
              </a:rPr>
              <a:t>y[n]=x[n]+2</a:t>
            </a:r>
            <a:endParaRPr lang="en-US" sz="1750" dirty="0"/>
          </a:p>
          <a:p>
            <a:pPr marL="228600" indent="-228600">
              <a:buSzPct val="100000"/>
              <a:buChar char="•"/>
            </a:pPr>
            <a:r>
              <a:rPr lang="en-US" sz="1750" dirty="0">
                <a:solidFill>
                  <a:srgbClr val="1D2733"/>
                </a:solidFill>
              </a:rPr>
              <a:t>y[n]=|x[n]|</a:t>
            </a:r>
            <a:endParaRPr lang="en-US" sz="1750" dirty="0"/>
          </a:p>
          <a:p>
            <a:pPr marL="228600" indent="-228600">
              <a:buSzPct val="100000"/>
              <a:buChar char="•"/>
            </a:pPr>
            <a:r>
              <a:rPr lang="en-US" sz="1750" dirty="0">
                <a:solidFill>
                  <a:srgbClr val="1D2733"/>
                </a:solidFill>
              </a:rPr>
              <a:t>Dynamic-range compressor</a:t>
            </a:r>
            <a:endParaRPr lang="en-US" sz="1750" dirty="0"/>
          </a:p>
        </p:txBody>
      </p:sp>
      <p:sp>
        <p:nvSpPr>
          <p:cNvPr id="11" name="Shape 8"/>
          <p:cNvSpPr/>
          <p:nvPr/>
        </p:nvSpPr>
        <p:spPr>
          <a:xfrm>
            <a:off x="5989320" y="2514600"/>
            <a:ext cx="0" cy="4800600"/>
          </a:xfrm>
          <a:prstGeom prst="line">
            <a:avLst/>
          </a:prstGeom>
          <a:noFill/>
          <a:ln w="12700">
            <a:solidFill>
              <a:srgbClr val="D9E1E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Shape 9"/>
          <p:cNvSpPr/>
          <p:nvPr/>
        </p:nvSpPr>
        <p:spPr>
          <a:xfrm>
            <a:off x="7726680" y="5166360"/>
            <a:ext cx="3383280" cy="822960"/>
          </a:xfrm>
          <a:prstGeom prst="roundRect">
            <a:avLst>
              <a:gd name="adj" fmla="val 8889"/>
            </a:avLst>
          </a:prstGeom>
          <a:solidFill>
            <a:srgbClr val="FFF6DF"/>
          </a:solidFill>
          <a:ln w="16510">
            <a:solidFill>
              <a:srgbClr val="D9A44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10"/>
          <p:cNvSpPr/>
          <p:nvPr/>
        </p:nvSpPr>
        <p:spPr>
          <a:xfrm>
            <a:off x="7891272" y="5276088"/>
            <a:ext cx="305409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D9A441"/>
                </a:solidFill>
              </a:rPr>
              <a:t>Fast test</a:t>
            </a:r>
            <a:endParaRPr lang="en-US" sz="1200" dirty="0"/>
          </a:p>
        </p:txBody>
      </p:sp>
      <p:sp>
        <p:nvSpPr>
          <p:cNvPr id="14" name="Text 11"/>
          <p:cNvSpPr/>
          <p:nvPr/>
        </p:nvSpPr>
        <p:spPr>
          <a:xfrm>
            <a:off x="7891272" y="5550408"/>
            <a:ext cx="3054096" cy="34747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350" dirty="0">
                <a:solidFill>
                  <a:srgbClr val="1D2733"/>
                </a:solidFill>
              </a:rPr>
              <a:t>A linear system must map zero input to zero output.</a:t>
            </a:r>
            <a:endParaRPr lang="en-US" sz="13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40896" y="6492240"/>
            <a:ext cx="228600" cy="16459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900">
                <a:solidFill>
                  <a:srgbClr val="5C6873"/>
                </a:solidFill>
                <a:latin typeface="Aptos"/>
                <a:ea typeface="Aptos"/>
                <a:cs typeface="Aptos"/>
              </a:defRPr>
            </a:lvl1pPr>
          </a:lstStyle>
          <a:p>
            <a:pPr algn="r"/>
            <a:fld id="{F7021451-1387-4CA6-816F-3879F97B5CBC}" type="slidenum">
              <a:rPr lang="en-US" b="0"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47472"/>
            <a:ext cx="110185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7324D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Time invariance = “the clock does not matter”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585216" y="822960"/>
            <a:ext cx="10789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5C6873"/>
                </a:solidFill>
              </a:rPr>
              <a:t>Shift the input; the output shifts by exactly the same amount.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9966960" y="329184"/>
            <a:ext cx="1627632" cy="310896"/>
          </a:xfrm>
          <a:prstGeom prst="roundRect">
            <a:avLst>
              <a:gd name="adj" fmla="val 23529"/>
            </a:avLst>
          </a:prstGeom>
          <a:solidFill>
            <a:srgbClr val="1F7A8C"/>
          </a:solidFill>
          <a:ln w="12700">
            <a:solidFill>
              <a:srgbClr val="1F7A8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10012680" y="393192"/>
            <a:ext cx="1527048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kern="0" spc="60" dirty="0">
                <a:solidFill>
                  <a:srgbClr val="FFFFFF"/>
                </a:solidFill>
              </a:rPr>
              <a:t>35–55 MIN</a:t>
            </a:r>
            <a:endParaRPr lang="en-US" sz="900" dirty="0"/>
          </a:p>
        </p:txBody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777240" y="1280160"/>
            <a:ext cx="7132320" cy="77724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713232" y="2468880"/>
            <a:ext cx="5349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F7A8C"/>
                </a:solidFill>
              </a:rPr>
              <a:t>Time invariant</a:t>
            </a:r>
            <a:endParaRPr lang="en-US" sz="1800" dirty="0"/>
          </a:p>
        </p:txBody>
      </p:sp>
      <p:sp>
        <p:nvSpPr>
          <p:cNvPr id="8" name="Text 5"/>
          <p:cNvSpPr/>
          <p:nvPr/>
        </p:nvSpPr>
        <p:spPr>
          <a:xfrm>
            <a:off x="6172200" y="2468880"/>
            <a:ext cx="5349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4A6FA5"/>
                </a:solidFill>
              </a:rPr>
              <a:t>Time varying</a:t>
            </a:r>
            <a:endParaRPr lang="en-US" sz="1800" dirty="0"/>
          </a:p>
        </p:txBody>
      </p:sp>
      <p:sp>
        <p:nvSpPr>
          <p:cNvPr id="9" name="Text 6"/>
          <p:cNvSpPr/>
          <p:nvPr/>
        </p:nvSpPr>
        <p:spPr>
          <a:xfrm>
            <a:off x="786384" y="2852928"/>
            <a:ext cx="5074920" cy="448056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marL="228600" indent="-228600">
              <a:buSzPct val="100000"/>
              <a:buChar char="•"/>
            </a:pPr>
            <a:r>
              <a:rPr lang="en-US" sz="1750" dirty="0">
                <a:solidFill>
                  <a:srgbClr val="1D2733"/>
                </a:solidFill>
              </a:rPr>
              <a:t>Fixed delay</a:t>
            </a:r>
            <a:endParaRPr lang="en-US" sz="1750" dirty="0"/>
          </a:p>
          <a:p>
            <a:pPr marL="228600" indent="-228600">
              <a:buSzPct val="100000"/>
              <a:buChar char="•"/>
            </a:pPr>
            <a:r>
              <a:rPr lang="en-US" sz="1750" dirty="0">
                <a:solidFill>
                  <a:srgbClr val="1D2733"/>
                </a:solidFill>
              </a:rPr>
              <a:t>Fixed FIR / IIR filter</a:t>
            </a:r>
            <a:endParaRPr lang="en-US" sz="1750" dirty="0"/>
          </a:p>
          <a:p>
            <a:pPr marL="228600" indent="-228600">
              <a:buSzPct val="100000"/>
              <a:buChar char="•"/>
            </a:pPr>
            <a:r>
              <a:rPr lang="en-US" sz="1750" dirty="0">
                <a:solidFill>
                  <a:srgbClr val="1D2733"/>
                </a:solidFill>
              </a:rPr>
              <a:t>Static gain</a:t>
            </a:r>
            <a:endParaRPr lang="en-US" sz="1750" dirty="0"/>
          </a:p>
        </p:txBody>
      </p:sp>
      <p:sp>
        <p:nvSpPr>
          <p:cNvPr id="10" name="Text 7"/>
          <p:cNvSpPr/>
          <p:nvPr/>
        </p:nvSpPr>
        <p:spPr>
          <a:xfrm>
            <a:off x="6245352" y="2852928"/>
            <a:ext cx="5074920" cy="448056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marL="228600" indent="-228600">
              <a:buSzPct val="100000"/>
              <a:buChar char="•"/>
            </a:pPr>
            <a:r>
              <a:rPr lang="en-US" sz="1750" dirty="0">
                <a:solidFill>
                  <a:srgbClr val="1D2733"/>
                </a:solidFill>
              </a:rPr>
              <a:t>y[n]=n x[n]</a:t>
            </a:r>
            <a:endParaRPr lang="en-US" sz="1750" dirty="0"/>
          </a:p>
          <a:p>
            <a:pPr marL="228600" indent="-228600">
              <a:buSzPct val="100000"/>
              <a:buChar char="•"/>
            </a:pPr>
            <a:r>
              <a:rPr lang="en-US" sz="1750" dirty="0">
                <a:solidFill>
                  <a:srgbClr val="1D2733"/>
                </a:solidFill>
              </a:rPr>
              <a:t>Daily adaptive equalizer</a:t>
            </a:r>
            <a:endParaRPr lang="en-US" sz="1750" dirty="0"/>
          </a:p>
          <a:p>
            <a:pPr marL="228600" indent="-228600">
              <a:buSzPct val="100000"/>
              <a:buChar char="•"/>
            </a:pPr>
            <a:r>
              <a:rPr lang="en-US" sz="1750" dirty="0">
                <a:solidFill>
                  <a:srgbClr val="1D2733"/>
                </a:solidFill>
              </a:rPr>
              <a:t>Any rule using absolute sample index n</a:t>
            </a:r>
            <a:endParaRPr lang="en-US" sz="1750" dirty="0"/>
          </a:p>
        </p:txBody>
      </p:sp>
      <p:sp>
        <p:nvSpPr>
          <p:cNvPr id="11" name="Shape 8"/>
          <p:cNvSpPr/>
          <p:nvPr/>
        </p:nvSpPr>
        <p:spPr>
          <a:xfrm>
            <a:off x="5989320" y="2514600"/>
            <a:ext cx="0" cy="4800600"/>
          </a:xfrm>
          <a:prstGeom prst="line">
            <a:avLst/>
          </a:prstGeom>
          <a:noFill/>
          <a:ln w="12700">
            <a:solidFill>
              <a:srgbClr val="D9E1E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Shape 9"/>
          <p:cNvSpPr/>
          <p:nvPr/>
        </p:nvSpPr>
        <p:spPr>
          <a:xfrm>
            <a:off x="2011680" y="5212080"/>
            <a:ext cx="8138160" cy="868680"/>
          </a:xfrm>
          <a:prstGeom prst="roundRect">
            <a:avLst>
              <a:gd name="adj" fmla="val 8421"/>
            </a:avLst>
          </a:prstGeom>
          <a:solidFill>
            <a:srgbClr val="E9F5F7"/>
          </a:solidFill>
          <a:ln w="16510">
            <a:solidFill>
              <a:srgbClr val="1F7A8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10"/>
          <p:cNvSpPr/>
          <p:nvPr/>
        </p:nvSpPr>
        <p:spPr>
          <a:xfrm>
            <a:off x="2176272" y="5321808"/>
            <a:ext cx="780897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F7A8C"/>
                </a:solidFill>
              </a:rPr>
              <a:t>Audio analogy</a:t>
            </a:r>
            <a:endParaRPr lang="en-US" sz="1200" dirty="0"/>
          </a:p>
        </p:txBody>
      </p:sp>
      <p:sp>
        <p:nvSpPr>
          <p:cNvPr id="14" name="Text 11"/>
          <p:cNvSpPr/>
          <p:nvPr/>
        </p:nvSpPr>
        <p:spPr>
          <a:xfrm>
            <a:off x="2176272" y="5596128"/>
            <a:ext cx="7808976" cy="39319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350" dirty="0">
                <a:solidFill>
                  <a:srgbClr val="1D2733"/>
                </a:solidFill>
              </a:rPr>
              <a:t>An echo with a fixed 100 ms delay is time invariant. An echo whose delay sweeps over time is not.</a:t>
            </a:r>
            <a:endParaRPr lang="en-US" sz="13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40896" y="6492240"/>
            <a:ext cx="228600" cy="16459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900">
                <a:solidFill>
                  <a:srgbClr val="5C6873"/>
                </a:solidFill>
                <a:latin typeface="Aptos"/>
                <a:ea typeface="Aptos"/>
                <a:cs typeface="Aptos"/>
              </a:defRPr>
            </a:lvl1pPr>
          </a:lstStyle>
          <a:p>
            <a:pPr algn="r"/>
            <a:fld id="{F7021451-1387-4CA6-816F-3879F97B5CBC}" type="slidenum">
              <a:rPr lang="en-US" b="0"/>
              <a:t>11</a:t>
            </a:fld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47472"/>
            <a:ext cx="110185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7324D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Causality and BIBO stability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585216" y="822960"/>
            <a:ext cx="10789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5C6873"/>
                </a:solidFill>
              </a:rPr>
              <a:t>Two properties with direct implementation consequences.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9966960" y="329184"/>
            <a:ext cx="1627632" cy="310896"/>
          </a:xfrm>
          <a:prstGeom prst="roundRect">
            <a:avLst>
              <a:gd name="adj" fmla="val 23529"/>
            </a:avLst>
          </a:prstGeom>
          <a:solidFill>
            <a:srgbClr val="1F7A8C"/>
          </a:solidFill>
          <a:ln w="12700">
            <a:solidFill>
              <a:srgbClr val="1F7A8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10012680" y="393192"/>
            <a:ext cx="1527048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kern="0" spc="60" dirty="0">
                <a:solidFill>
                  <a:srgbClr val="FFFFFF"/>
                </a:solidFill>
              </a:rPr>
              <a:t>35–55 MIN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713232" y="1417320"/>
            <a:ext cx="5349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F7A8C"/>
                </a:solidFill>
              </a:rPr>
              <a:t>Causal system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6172200" y="1417320"/>
            <a:ext cx="5349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4A6FA5"/>
                </a:solidFill>
              </a:rPr>
              <a:t>BIBO stable system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786384" y="1801368"/>
            <a:ext cx="5074920" cy="448056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marL="228600" indent="-228600">
              <a:buSzPct val="100000"/>
              <a:buChar char="•"/>
            </a:pPr>
            <a:r>
              <a:rPr lang="en-US" sz="1750" dirty="0">
                <a:solidFill>
                  <a:srgbClr val="1D2733"/>
                </a:solidFill>
              </a:rPr>
              <a:t>y[n₀] depends only on x[n] for n≤n₀</a:t>
            </a:r>
            <a:endParaRPr lang="en-US" sz="1750" dirty="0"/>
          </a:p>
          <a:p>
            <a:pPr marL="228600" indent="-228600">
              <a:buSzPct val="100000"/>
              <a:buChar char="•"/>
            </a:pPr>
            <a:r>
              <a:rPr lang="en-US" sz="1750" dirty="0">
                <a:solidFill>
                  <a:srgbClr val="1D2733"/>
                </a:solidFill>
              </a:rPr>
              <a:t>Can operate in real time</a:t>
            </a:r>
            <a:endParaRPr lang="en-US" sz="1750" dirty="0"/>
          </a:p>
          <a:p>
            <a:pPr marL="228600" indent="-228600">
              <a:buSzPct val="100000"/>
              <a:buChar char="•"/>
            </a:pPr>
            <a:r>
              <a:rPr lang="en-US" sz="1750" dirty="0">
                <a:solidFill>
                  <a:srgbClr val="1D2733"/>
                </a:solidFill>
              </a:rPr>
              <a:t>For LTI: h[n]=0 for n&lt;0</a:t>
            </a:r>
            <a:endParaRPr lang="en-US" sz="1750" dirty="0"/>
          </a:p>
        </p:txBody>
      </p:sp>
      <p:sp>
        <p:nvSpPr>
          <p:cNvPr id="9" name="Text 7"/>
          <p:cNvSpPr/>
          <p:nvPr/>
        </p:nvSpPr>
        <p:spPr>
          <a:xfrm>
            <a:off x="6245352" y="1801368"/>
            <a:ext cx="5074920" cy="448056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marL="228600" indent="-228600">
              <a:buSzPct val="100000"/>
              <a:buChar char="•"/>
            </a:pPr>
            <a:r>
              <a:rPr lang="en-US" sz="1750" dirty="0">
                <a:solidFill>
                  <a:srgbClr val="1D2733"/>
                </a:solidFill>
              </a:rPr>
              <a:t>Every bounded input gives bounded output</a:t>
            </a:r>
            <a:endParaRPr lang="en-US" sz="1750" dirty="0"/>
          </a:p>
          <a:p>
            <a:pPr marL="228600" indent="-228600">
              <a:buSzPct val="100000"/>
              <a:buChar char="•"/>
            </a:pPr>
            <a:r>
              <a:rPr lang="en-US" sz="1750" dirty="0">
                <a:solidFill>
                  <a:srgbClr val="1D2733"/>
                </a:solidFill>
              </a:rPr>
              <a:t>For LTI: Σ |h[n]| &lt; ∞</a:t>
            </a:r>
            <a:endParaRPr lang="en-US" sz="1750" dirty="0"/>
          </a:p>
          <a:p>
            <a:pPr marL="228600" indent="-228600">
              <a:buSzPct val="100000"/>
              <a:buChar char="•"/>
            </a:pPr>
            <a:r>
              <a:rPr lang="en-US" sz="1750" dirty="0">
                <a:solidFill>
                  <a:srgbClr val="1D2733"/>
                </a:solidFill>
              </a:rPr>
              <a:t>Rules out runaway responses</a:t>
            </a:r>
            <a:endParaRPr lang="en-US" sz="1750" dirty="0"/>
          </a:p>
        </p:txBody>
      </p:sp>
      <p:sp>
        <p:nvSpPr>
          <p:cNvPr id="10" name="Shape 8"/>
          <p:cNvSpPr/>
          <p:nvPr/>
        </p:nvSpPr>
        <p:spPr>
          <a:xfrm>
            <a:off x="5989320" y="1463040"/>
            <a:ext cx="0" cy="4800600"/>
          </a:xfrm>
          <a:prstGeom prst="line">
            <a:avLst/>
          </a:prstGeom>
          <a:noFill/>
          <a:ln w="12700">
            <a:solidFill>
              <a:srgbClr val="D9E1E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11" name="Image 0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914400" y="4754880"/>
            <a:ext cx="4754880" cy="658368"/>
          </a:xfrm>
          <a:prstGeom prst="rect">
            <a:avLst/>
          </a:prstGeom>
        </p:spPr>
      </p:pic>
      <p:sp>
        <p:nvSpPr>
          <p:cNvPr id="12" name="Shape 9"/>
          <p:cNvSpPr/>
          <p:nvPr/>
        </p:nvSpPr>
        <p:spPr>
          <a:xfrm>
            <a:off x="6080760" y="4617720"/>
            <a:ext cx="4800600" cy="914400"/>
          </a:xfrm>
          <a:prstGeom prst="roundRect">
            <a:avLst>
              <a:gd name="adj" fmla="val 8000"/>
            </a:avLst>
          </a:prstGeom>
          <a:solidFill>
            <a:srgbClr val="EEF4FB"/>
          </a:solidFill>
          <a:ln w="16510">
            <a:solidFill>
              <a:srgbClr val="4A6FA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10"/>
          <p:cNvSpPr/>
          <p:nvPr/>
        </p:nvSpPr>
        <p:spPr>
          <a:xfrm>
            <a:off x="6245352" y="4727448"/>
            <a:ext cx="447141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4A6FA5"/>
                </a:solidFill>
              </a:rPr>
              <a:t>Graduate stretch</a:t>
            </a:r>
            <a:endParaRPr lang="en-US" sz="1200" dirty="0"/>
          </a:p>
        </p:txBody>
      </p:sp>
      <p:sp>
        <p:nvSpPr>
          <p:cNvPr id="14" name="Text 11"/>
          <p:cNvSpPr/>
          <p:nvPr/>
        </p:nvSpPr>
        <p:spPr>
          <a:xfrm>
            <a:off x="6245352" y="5001768"/>
            <a:ext cx="4471416" cy="43891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350" dirty="0">
                <a:solidFill>
                  <a:srgbClr val="1D2733"/>
                </a:solidFill>
              </a:rPr>
              <a:t>Be able to prove the LTI stability condition using |x*h| ≤ Bx Σ|h|.</a:t>
            </a:r>
            <a:endParaRPr lang="en-US" sz="13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40896" y="6492240"/>
            <a:ext cx="228600" cy="16459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900">
                <a:solidFill>
                  <a:srgbClr val="5C6873"/>
                </a:solidFill>
                <a:latin typeface="Aptos"/>
                <a:ea typeface="Aptos"/>
                <a:cs typeface="Aptos"/>
              </a:defRPr>
            </a:lvl1pPr>
          </a:lstStyle>
          <a:p>
            <a:pPr algn="r"/>
            <a:fld id="{F7021451-1387-4CA6-816F-3879F97B5CBC}" type="slidenum">
              <a:rPr lang="en-US" b="0"/>
              <a:t>12</a:t>
            </a:fld>
            <a:endParaRPr lang="en-US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47472"/>
            <a:ext cx="110185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7324D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Property check: classify these audio systems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585216" y="822960"/>
            <a:ext cx="10789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5C6873"/>
                </a:solidFill>
              </a:rPr>
              <a:t>Think → vote → justify.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9966960" y="329184"/>
            <a:ext cx="1627632" cy="310896"/>
          </a:xfrm>
          <a:prstGeom prst="roundRect">
            <a:avLst>
              <a:gd name="adj" fmla="val 23529"/>
            </a:avLst>
          </a:prstGeom>
          <a:solidFill>
            <a:srgbClr val="1F7A8C"/>
          </a:solidFill>
          <a:ln w="12700">
            <a:solidFill>
              <a:srgbClr val="1F7A8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10012680" y="393192"/>
            <a:ext cx="1527048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kern="0" spc="60" dirty="0">
                <a:solidFill>
                  <a:srgbClr val="FFFFFF"/>
                </a:solidFill>
              </a:rPr>
              <a:t>35–55 MIN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822960" y="1234440"/>
            <a:ext cx="10332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1D2733"/>
                </a:solidFill>
              </a:rPr>
              <a:t>For each system: linear? time invariant? causal? BIBO stable?</a:t>
            </a:r>
            <a:endParaRPr lang="en-US" sz="1900" dirty="0"/>
          </a:p>
        </p:txBody>
      </p:sp>
      <p:sp>
        <p:nvSpPr>
          <p:cNvPr id="7" name="Shape 5"/>
          <p:cNvSpPr/>
          <p:nvPr/>
        </p:nvSpPr>
        <p:spPr>
          <a:xfrm>
            <a:off x="914400" y="1828800"/>
            <a:ext cx="10287000" cy="603504"/>
          </a:xfrm>
          <a:prstGeom prst="roundRect">
            <a:avLst>
              <a:gd name="adj" fmla="val 4545"/>
            </a:avLst>
          </a:prstGeom>
          <a:solidFill>
            <a:srgbClr val="FFFFFF"/>
          </a:solidFill>
          <a:ln w="12700">
            <a:solidFill>
              <a:srgbClr val="D7E0E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1078992" y="1975104"/>
            <a:ext cx="320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F7A8C"/>
                </a:solidFill>
              </a:rPr>
              <a:t>A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1508760" y="1947672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1D27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y[n]=x[n−4800]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5486400" y="1956816"/>
            <a:ext cx="5303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5C6873"/>
                </a:solidFill>
              </a:rPr>
              <a:t>Fixed 100 ms delay at 48 kHz</a:t>
            </a:r>
            <a:endParaRPr lang="en-US" sz="1500" dirty="0"/>
          </a:p>
        </p:txBody>
      </p:sp>
      <p:sp>
        <p:nvSpPr>
          <p:cNvPr id="11" name="Shape 9"/>
          <p:cNvSpPr/>
          <p:nvPr/>
        </p:nvSpPr>
        <p:spPr>
          <a:xfrm>
            <a:off x="914400" y="2651760"/>
            <a:ext cx="10287000" cy="603504"/>
          </a:xfrm>
          <a:prstGeom prst="roundRect">
            <a:avLst>
              <a:gd name="adj" fmla="val 4545"/>
            </a:avLst>
          </a:prstGeom>
          <a:solidFill>
            <a:srgbClr val="F4F7FA"/>
          </a:solidFill>
          <a:ln w="12700">
            <a:solidFill>
              <a:srgbClr val="D7E0E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1078992" y="2798064"/>
            <a:ext cx="320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F7A8C"/>
                </a:solidFill>
              </a:rPr>
              <a:t>B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1508760" y="2770632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1D27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y[n]=0.8x[n]+0.2x[n−1]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5486400" y="2779776"/>
            <a:ext cx="5303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5C6873"/>
                </a:solidFill>
              </a:rPr>
              <a:t>Two-tap smoother</a:t>
            </a:r>
            <a:endParaRPr lang="en-US" sz="1500" dirty="0"/>
          </a:p>
        </p:txBody>
      </p:sp>
      <p:sp>
        <p:nvSpPr>
          <p:cNvPr id="15" name="Shape 13"/>
          <p:cNvSpPr/>
          <p:nvPr/>
        </p:nvSpPr>
        <p:spPr>
          <a:xfrm>
            <a:off x="914400" y="3474720"/>
            <a:ext cx="10287000" cy="603504"/>
          </a:xfrm>
          <a:prstGeom prst="roundRect">
            <a:avLst>
              <a:gd name="adj" fmla="val 4545"/>
            </a:avLst>
          </a:prstGeom>
          <a:solidFill>
            <a:srgbClr val="FFFFFF"/>
          </a:solidFill>
          <a:ln w="12700">
            <a:solidFill>
              <a:srgbClr val="D7E0E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1078992" y="3621024"/>
            <a:ext cx="320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F7A8C"/>
                </a:solidFill>
              </a:rPr>
              <a:t>C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1508760" y="3593592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1D27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y[n]=|x[n]|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5486400" y="3602736"/>
            <a:ext cx="5303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5C6873"/>
                </a:solidFill>
              </a:rPr>
              <a:t>Full-wave rectifier</a:t>
            </a:r>
            <a:endParaRPr lang="en-US" sz="1500" dirty="0"/>
          </a:p>
        </p:txBody>
      </p:sp>
      <p:sp>
        <p:nvSpPr>
          <p:cNvPr id="19" name="Shape 17"/>
          <p:cNvSpPr/>
          <p:nvPr/>
        </p:nvSpPr>
        <p:spPr>
          <a:xfrm>
            <a:off x="914400" y="4297680"/>
            <a:ext cx="10287000" cy="603504"/>
          </a:xfrm>
          <a:prstGeom prst="roundRect">
            <a:avLst>
              <a:gd name="adj" fmla="val 4545"/>
            </a:avLst>
          </a:prstGeom>
          <a:solidFill>
            <a:srgbClr val="F4F7FA"/>
          </a:solidFill>
          <a:ln w="12700">
            <a:solidFill>
              <a:srgbClr val="D7E0E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Text 18"/>
          <p:cNvSpPr/>
          <p:nvPr/>
        </p:nvSpPr>
        <p:spPr>
          <a:xfrm>
            <a:off x="1078992" y="4443984"/>
            <a:ext cx="320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F7A8C"/>
                </a:solidFill>
              </a:rPr>
              <a:t>D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1508760" y="4416552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1D27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y[n]=n x[n]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5486400" y="4425696"/>
            <a:ext cx="5303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5C6873"/>
                </a:solidFill>
              </a:rPr>
              <a:t>Index-dependent gain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40896" y="6492240"/>
            <a:ext cx="228600" cy="16459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900">
                <a:solidFill>
                  <a:srgbClr val="5C6873"/>
                </a:solidFill>
                <a:latin typeface="Aptos"/>
                <a:ea typeface="Aptos"/>
                <a:cs typeface="Aptos"/>
              </a:defRPr>
            </a:lvl1pPr>
          </a:lstStyle>
          <a:p>
            <a:pPr algn="r"/>
            <a:fld id="{F7021451-1387-4CA6-816F-3879F97B5CBC}" type="slidenum">
              <a:rPr lang="en-US" b="0"/>
              <a:t>13</a:t>
            </a:fld>
            <a:endParaRPr lang="en-US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47472"/>
            <a:ext cx="110185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7324D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Impulse response: one experiment characterizes an LTI system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585216" y="822960"/>
            <a:ext cx="10789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5C6873"/>
                </a:solidFill>
              </a:rPr>
              <a:t>Feed δ[n]; call the output h[n].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9966960" y="329184"/>
            <a:ext cx="1627632" cy="310896"/>
          </a:xfrm>
          <a:prstGeom prst="roundRect">
            <a:avLst>
              <a:gd name="adj" fmla="val 23529"/>
            </a:avLst>
          </a:prstGeom>
          <a:solidFill>
            <a:srgbClr val="1F7A8C"/>
          </a:solidFill>
          <a:ln w="12700">
            <a:solidFill>
              <a:srgbClr val="1F7A8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10012680" y="393192"/>
            <a:ext cx="1527048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kern="0" spc="60" dirty="0">
                <a:solidFill>
                  <a:srgbClr val="FFFFFF"/>
                </a:solidFill>
              </a:rPr>
              <a:t>55–75 MIN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713232" y="1417320"/>
            <a:ext cx="3486912" cy="1005840"/>
          </a:xfrm>
          <a:prstGeom prst="roundRect">
            <a:avLst>
              <a:gd name="adj" fmla="val 5455"/>
            </a:avLst>
          </a:prstGeom>
          <a:solidFill>
            <a:srgbClr val="E9F5F7"/>
          </a:solidFill>
          <a:ln w="13970">
            <a:solidFill>
              <a:srgbClr val="1F7A8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804672" y="1581912"/>
            <a:ext cx="330403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17324D"/>
                </a:solidFill>
              </a:rPr>
              <a:t>Input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822960" y="1892808"/>
            <a:ext cx="326745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150" dirty="0">
                <a:solidFill>
                  <a:srgbClr val="5C6873"/>
                </a:solidFill>
              </a:rPr>
              <a:t>δ[n]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4227576" y="1755648"/>
            <a:ext cx="109728" cy="292608"/>
          </a:xfrm>
          <a:prstGeom prst="chevron">
            <a:avLst/>
          </a:prstGeom>
          <a:solidFill>
            <a:srgbClr val="A9B8C5"/>
          </a:solidFill>
          <a:ln w="12700">
            <a:solidFill>
              <a:srgbClr val="A9B8C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Shape 8"/>
          <p:cNvSpPr/>
          <p:nvPr/>
        </p:nvSpPr>
        <p:spPr>
          <a:xfrm>
            <a:off x="4364736" y="1417320"/>
            <a:ext cx="3486912" cy="1005840"/>
          </a:xfrm>
          <a:prstGeom prst="roundRect">
            <a:avLst>
              <a:gd name="adj" fmla="val 5455"/>
            </a:avLst>
          </a:prstGeom>
          <a:solidFill>
            <a:srgbClr val="EEF4FB"/>
          </a:solidFill>
          <a:ln w="13970">
            <a:solidFill>
              <a:srgbClr val="4A6FA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4456176" y="1581912"/>
            <a:ext cx="330403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17324D"/>
                </a:solidFill>
              </a:rPr>
              <a:t>LTI system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4474464" y="1892808"/>
            <a:ext cx="326745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150" dirty="0">
                <a:solidFill>
                  <a:srgbClr val="5C6873"/>
                </a:solidFill>
              </a:rPr>
              <a:t>T{·}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7879080" y="1755648"/>
            <a:ext cx="109728" cy="292608"/>
          </a:xfrm>
          <a:prstGeom prst="chevron">
            <a:avLst/>
          </a:prstGeom>
          <a:solidFill>
            <a:srgbClr val="A9B8C5"/>
          </a:solidFill>
          <a:ln w="12700">
            <a:solidFill>
              <a:srgbClr val="A9B8C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Shape 12"/>
          <p:cNvSpPr/>
          <p:nvPr/>
        </p:nvSpPr>
        <p:spPr>
          <a:xfrm>
            <a:off x="8016240" y="1417320"/>
            <a:ext cx="3486912" cy="1005840"/>
          </a:xfrm>
          <a:prstGeom prst="roundRect">
            <a:avLst>
              <a:gd name="adj" fmla="val 5455"/>
            </a:avLst>
          </a:prstGeom>
          <a:solidFill>
            <a:srgbClr val="E9F5F7"/>
          </a:solidFill>
          <a:ln w="13970">
            <a:solidFill>
              <a:srgbClr val="1F7A8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8107680" y="1581912"/>
            <a:ext cx="330403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17324D"/>
                </a:solidFill>
              </a:rPr>
              <a:t>Output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8125968" y="1892808"/>
            <a:ext cx="326745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150" dirty="0">
                <a:solidFill>
                  <a:srgbClr val="5C6873"/>
                </a:solidFill>
              </a:rPr>
              <a:t>h[n]</a:t>
            </a:r>
            <a:endParaRPr lang="en-US" sz="1150" dirty="0"/>
          </a:p>
        </p:txBody>
      </p:sp>
      <p:pic>
        <p:nvPicPr>
          <p:cNvPr id="17" name="Image 0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3840480" y="2880360"/>
            <a:ext cx="4297680" cy="640080"/>
          </a:xfrm>
          <a:prstGeom prst="rect">
            <a:avLst/>
          </a:prstGeom>
        </p:spPr>
      </p:pic>
      <p:sp>
        <p:nvSpPr>
          <p:cNvPr id="18" name="Text 15"/>
          <p:cNvSpPr/>
          <p:nvPr/>
        </p:nvSpPr>
        <p:spPr>
          <a:xfrm>
            <a:off x="960120" y="3703320"/>
            <a:ext cx="10149840" cy="182880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marL="228600" indent="-228600">
              <a:buSzPct val="100000"/>
              <a:buChar char="•"/>
            </a:pPr>
            <a:r>
              <a:rPr lang="en-US" sz="1800" dirty="0">
                <a:solidFill>
                  <a:srgbClr val="1D2733"/>
                </a:solidFill>
              </a:rPr>
              <a:t>Linearity tells us how scaled impulses behave.</a:t>
            </a:r>
            <a:endParaRPr lang="en-US" sz="1800" dirty="0"/>
          </a:p>
          <a:p>
            <a:pPr marL="228600" indent="-228600">
              <a:buSzPct val="100000"/>
              <a:buChar char="•"/>
            </a:pPr>
            <a:r>
              <a:rPr lang="en-US" sz="1800" dirty="0">
                <a:solidFill>
                  <a:srgbClr val="1D2733"/>
                </a:solidFill>
              </a:rPr>
              <a:t>Time invariance tells us how shifted impulses behave.</a:t>
            </a:r>
            <a:endParaRPr lang="en-US" sz="1800" dirty="0"/>
          </a:p>
          <a:p>
            <a:pPr marL="228600" indent="-228600">
              <a:buSzPct val="100000"/>
              <a:buChar char="•"/>
            </a:pPr>
            <a:r>
              <a:rPr lang="en-US" sz="1800" dirty="0">
                <a:solidFill>
                  <a:srgbClr val="1D2733"/>
                </a:solidFill>
              </a:rPr>
              <a:t>Since any x[n] is a sum of scaled, shifted impulses, h[n] tells us the response to any x[n].</a:t>
            </a:r>
            <a:endParaRPr lang="en-US" sz="1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40896" y="6492240"/>
            <a:ext cx="228600" cy="16459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900">
                <a:solidFill>
                  <a:srgbClr val="5C6873"/>
                </a:solidFill>
                <a:latin typeface="Aptos"/>
                <a:ea typeface="Aptos"/>
                <a:cs typeface="Aptos"/>
              </a:defRPr>
            </a:lvl1pPr>
          </a:lstStyle>
          <a:p>
            <a:pPr algn="r"/>
            <a:fld id="{F7021451-1387-4CA6-816F-3879F97B5CBC}" type="slidenum">
              <a:rPr lang="en-US" b="0"/>
              <a:t>14</a:t>
            </a:fld>
            <a:endParaRPr lang="en-US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47472"/>
            <a:ext cx="110185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7324D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Deriving convolution from impulse decomposition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585216" y="822960"/>
            <a:ext cx="10789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5C6873"/>
                </a:solidFill>
              </a:rPr>
              <a:t>This derivation is worth understanding line by line.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9966960" y="329184"/>
            <a:ext cx="1627632" cy="310896"/>
          </a:xfrm>
          <a:prstGeom prst="roundRect">
            <a:avLst>
              <a:gd name="adj" fmla="val 23529"/>
            </a:avLst>
          </a:prstGeom>
          <a:solidFill>
            <a:srgbClr val="1F7A8C"/>
          </a:solidFill>
          <a:ln w="12700">
            <a:solidFill>
              <a:srgbClr val="1F7A8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10012680" y="393192"/>
            <a:ext cx="1527048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kern="0" spc="60" dirty="0">
                <a:solidFill>
                  <a:srgbClr val="FFFFFF"/>
                </a:solidFill>
              </a:rPr>
              <a:t>55–75 MIN</a:t>
            </a:r>
            <a:endParaRPr lang="en-US" sz="900" dirty="0"/>
          </a:p>
        </p:txBody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868680" y="1234440"/>
            <a:ext cx="3840480" cy="59436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4983480" y="1417320"/>
            <a:ext cx="5852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dirty="0">
                <a:solidFill>
                  <a:srgbClr val="5C6873"/>
                </a:solidFill>
              </a:rPr>
              <a:t>1. Decompose the input into shifted impulses.</a:t>
            </a:r>
            <a:endParaRPr lang="en-US" sz="1700" dirty="0"/>
          </a:p>
        </p:txBody>
      </p:sp>
      <p:pic>
        <p:nvPicPr>
          <p:cNvPr id="8" name="Image 1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868680" y="2240280"/>
            <a:ext cx="4937760" cy="594360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6080760" y="2423160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dirty="0">
                <a:solidFill>
                  <a:srgbClr val="5C6873"/>
                </a:solidFill>
              </a:rPr>
              <a:t>2. Use linearity.</a:t>
            </a:r>
            <a:endParaRPr lang="en-US" sz="1700" dirty="0"/>
          </a:p>
        </p:txBody>
      </p:sp>
      <p:pic>
        <p:nvPicPr>
          <p:cNvPr id="10" name="Image 2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868680" y="3246120"/>
            <a:ext cx="3840480" cy="594360"/>
          </a:xfrm>
          <a:prstGeom prst="rect">
            <a:avLst/>
          </a:prstGeom>
        </p:spPr>
      </p:pic>
      <p:sp>
        <p:nvSpPr>
          <p:cNvPr id="11" name="Text 6"/>
          <p:cNvSpPr/>
          <p:nvPr/>
        </p:nvSpPr>
        <p:spPr>
          <a:xfrm>
            <a:off x="4983480" y="3429000"/>
            <a:ext cx="5120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dirty="0">
                <a:solidFill>
                  <a:srgbClr val="5C6873"/>
                </a:solidFill>
              </a:rPr>
              <a:t>3. Use time invariance.</a:t>
            </a:r>
            <a:endParaRPr lang="en-US" sz="1700" dirty="0"/>
          </a:p>
        </p:txBody>
      </p:sp>
      <p:pic>
        <p:nvPicPr>
          <p:cNvPr id="12" name="Image 3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868680" y="4297680"/>
            <a:ext cx="6400800" cy="777240"/>
          </a:xfrm>
          <a:prstGeom prst="rect">
            <a:avLst/>
          </a:prstGeom>
        </p:spPr>
      </p:pic>
      <p:sp>
        <p:nvSpPr>
          <p:cNvPr id="13" name="Shape 7"/>
          <p:cNvSpPr/>
          <p:nvPr/>
        </p:nvSpPr>
        <p:spPr>
          <a:xfrm>
            <a:off x="7543800" y="4160520"/>
            <a:ext cx="3657600" cy="1234440"/>
          </a:xfrm>
          <a:prstGeom prst="roundRect">
            <a:avLst>
              <a:gd name="adj" fmla="val 5926"/>
            </a:avLst>
          </a:prstGeom>
          <a:solidFill>
            <a:srgbClr val="E9F5F7"/>
          </a:solidFill>
          <a:ln w="16510">
            <a:solidFill>
              <a:srgbClr val="1F7A8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 8"/>
          <p:cNvSpPr/>
          <p:nvPr/>
        </p:nvSpPr>
        <p:spPr>
          <a:xfrm>
            <a:off x="7708392" y="4270248"/>
            <a:ext cx="332841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F7A8C"/>
                </a:solidFill>
              </a:rPr>
              <a:t>Meaning</a:t>
            </a:r>
            <a:endParaRPr lang="en-US" sz="1200" dirty="0"/>
          </a:p>
        </p:txBody>
      </p:sp>
      <p:sp>
        <p:nvSpPr>
          <p:cNvPr id="15" name="Text 9"/>
          <p:cNvSpPr/>
          <p:nvPr/>
        </p:nvSpPr>
        <p:spPr>
          <a:xfrm>
            <a:off x="7708392" y="4544568"/>
            <a:ext cx="3328416" cy="75895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350" dirty="0">
                <a:solidFill>
                  <a:srgbClr val="1D2733"/>
                </a:solidFill>
              </a:rPr>
              <a:t>Each input sample launches a shifted copy of h[n]; the output is their sum.</a:t>
            </a:r>
            <a:endParaRPr lang="en-US" sz="13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40896" y="6492240"/>
            <a:ext cx="228600" cy="16459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900">
                <a:solidFill>
                  <a:srgbClr val="5C6873"/>
                </a:solidFill>
                <a:latin typeface="Aptos"/>
                <a:ea typeface="Aptos"/>
                <a:cs typeface="Aptos"/>
              </a:defRPr>
            </a:lvl1pPr>
          </a:lstStyle>
          <a:p>
            <a:pPr algn="r"/>
            <a:fld id="{F7021451-1387-4CA6-816F-3879F97B5CBC}" type="slidenum">
              <a:rPr lang="en-US" b="0"/>
              <a:t>15</a:t>
            </a:fld>
            <a:endParaRPr lang="en-US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47472"/>
            <a:ext cx="110185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7324D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Convolution mechanics: flip → shift → multiply → add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585216" y="822960"/>
            <a:ext cx="10789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5C6873"/>
                </a:solidFill>
              </a:rPr>
              <a:t>For finite sequences, the overlap changes as n moves.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9966960" y="329184"/>
            <a:ext cx="1627632" cy="310896"/>
          </a:xfrm>
          <a:prstGeom prst="roundRect">
            <a:avLst>
              <a:gd name="adj" fmla="val 23529"/>
            </a:avLst>
          </a:prstGeom>
          <a:solidFill>
            <a:srgbClr val="1F7A8C"/>
          </a:solidFill>
          <a:ln w="12700">
            <a:solidFill>
              <a:srgbClr val="1F7A8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10012680" y="393192"/>
            <a:ext cx="1527048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kern="0" spc="60" dirty="0">
                <a:solidFill>
                  <a:srgbClr val="FFFFFF"/>
                </a:solidFill>
              </a:rPr>
              <a:t>55–75 MIN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713232" y="1417320"/>
            <a:ext cx="2574036" cy="1005840"/>
          </a:xfrm>
          <a:prstGeom prst="roundRect">
            <a:avLst>
              <a:gd name="adj" fmla="val 5455"/>
            </a:avLst>
          </a:prstGeom>
          <a:solidFill>
            <a:srgbClr val="E9F5F7"/>
          </a:solidFill>
          <a:ln w="13970">
            <a:solidFill>
              <a:srgbClr val="1F7A8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804672" y="1581912"/>
            <a:ext cx="239115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17324D"/>
                </a:solidFill>
              </a:rPr>
              <a:t>1. Flip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822960" y="1892808"/>
            <a:ext cx="23545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150" dirty="0">
                <a:solidFill>
                  <a:srgbClr val="5C6873"/>
                </a:solidFill>
              </a:rPr>
              <a:t>h[k] → h[−k]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3314700" y="1755648"/>
            <a:ext cx="109728" cy="292608"/>
          </a:xfrm>
          <a:prstGeom prst="chevron">
            <a:avLst/>
          </a:prstGeom>
          <a:solidFill>
            <a:srgbClr val="A9B8C5"/>
          </a:solidFill>
          <a:ln w="12700">
            <a:solidFill>
              <a:srgbClr val="A9B8C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Shape 8"/>
          <p:cNvSpPr/>
          <p:nvPr/>
        </p:nvSpPr>
        <p:spPr>
          <a:xfrm>
            <a:off x="3451860" y="1417320"/>
            <a:ext cx="2574036" cy="1005840"/>
          </a:xfrm>
          <a:prstGeom prst="roundRect">
            <a:avLst>
              <a:gd name="adj" fmla="val 5455"/>
            </a:avLst>
          </a:prstGeom>
          <a:solidFill>
            <a:srgbClr val="EEF4FB"/>
          </a:solidFill>
          <a:ln w="13970">
            <a:solidFill>
              <a:srgbClr val="4A6FA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3543300" y="1581912"/>
            <a:ext cx="239115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17324D"/>
                </a:solidFill>
              </a:rPr>
              <a:t>2. Shift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3561588" y="1892808"/>
            <a:ext cx="23545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150" dirty="0">
                <a:solidFill>
                  <a:srgbClr val="5C6873"/>
                </a:solidFill>
              </a:rPr>
              <a:t>h[n−k]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6053328" y="1755648"/>
            <a:ext cx="109728" cy="292608"/>
          </a:xfrm>
          <a:prstGeom prst="chevron">
            <a:avLst/>
          </a:prstGeom>
          <a:solidFill>
            <a:srgbClr val="A9B8C5"/>
          </a:solidFill>
          <a:ln w="12700">
            <a:solidFill>
              <a:srgbClr val="A9B8C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Shape 12"/>
          <p:cNvSpPr/>
          <p:nvPr/>
        </p:nvSpPr>
        <p:spPr>
          <a:xfrm>
            <a:off x="6190488" y="1417320"/>
            <a:ext cx="2574036" cy="1005840"/>
          </a:xfrm>
          <a:prstGeom prst="roundRect">
            <a:avLst>
              <a:gd name="adj" fmla="val 5455"/>
            </a:avLst>
          </a:prstGeom>
          <a:solidFill>
            <a:srgbClr val="E9F5F7"/>
          </a:solidFill>
          <a:ln w="13970">
            <a:solidFill>
              <a:srgbClr val="1F7A8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6281928" y="1581912"/>
            <a:ext cx="239115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17324D"/>
                </a:solidFill>
              </a:rPr>
              <a:t>3. Multiply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6300216" y="1892808"/>
            <a:ext cx="23545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150" dirty="0">
                <a:solidFill>
                  <a:srgbClr val="5C6873"/>
                </a:solidFill>
              </a:rPr>
              <a:t>x[k]h[n−k]</a:t>
            </a:r>
            <a:endParaRPr lang="en-US" sz="1150" dirty="0"/>
          </a:p>
        </p:txBody>
      </p:sp>
      <p:sp>
        <p:nvSpPr>
          <p:cNvPr id="17" name="Shape 15"/>
          <p:cNvSpPr/>
          <p:nvPr/>
        </p:nvSpPr>
        <p:spPr>
          <a:xfrm>
            <a:off x="8791956" y="1755648"/>
            <a:ext cx="109728" cy="292608"/>
          </a:xfrm>
          <a:prstGeom prst="chevron">
            <a:avLst/>
          </a:prstGeom>
          <a:solidFill>
            <a:srgbClr val="A9B8C5"/>
          </a:solidFill>
          <a:ln w="12700">
            <a:solidFill>
              <a:srgbClr val="A9B8C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Shape 16"/>
          <p:cNvSpPr/>
          <p:nvPr/>
        </p:nvSpPr>
        <p:spPr>
          <a:xfrm>
            <a:off x="8929116" y="1417320"/>
            <a:ext cx="2574036" cy="1005840"/>
          </a:xfrm>
          <a:prstGeom prst="roundRect">
            <a:avLst>
              <a:gd name="adj" fmla="val 5455"/>
            </a:avLst>
          </a:prstGeom>
          <a:solidFill>
            <a:srgbClr val="EEF4FB"/>
          </a:solidFill>
          <a:ln w="13970">
            <a:solidFill>
              <a:srgbClr val="4A6FA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Text 17"/>
          <p:cNvSpPr/>
          <p:nvPr/>
        </p:nvSpPr>
        <p:spPr>
          <a:xfrm>
            <a:off x="9020556" y="1581912"/>
            <a:ext cx="239115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17324D"/>
                </a:solidFill>
              </a:rPr>
              <a:t>4. Sum</a:t>
            </a:r>
            <a:endParaRPr lang="en-US" sz="1500" dirty="0"/>
          </a:p>
        </p:txBody>
      </p:sp>
      <p:sp>
        <p:nvSpPr>
          <p:cNvPr id="20" name="Text 18"/>
          <p:cNvSpPr/>
          <p:nvPr/>
        </p:nvSpPr>
        <p:spPr>
          <a:xfrm>
            <a:off x="9038844" y="1892808"/>
            <a:ext cx="23545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150" dirty="0">
                <a:solidFill>
                  <a:srgbClr val="5C6873"/>
                </a:solidFill>
              </a:rPr>
              <a:t>Σ over k</a:t>
            </a:r>
            <a:endParaRPr lang="en-US" sz="1150" dirty="0"/>
          </a:p>
        </p:txBody>
      </p:sp>
      <p:pic>
        <p:nvPicPr>
          <p:cNvPr id="21" name="Image 0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3840480" y="2971800"/>
            <a:ext cx="4389120" cy="685800"/>
          </a:xfrm>
          <a:prstGeom prst="rect">
            <a:avLst/>
          </a:prstGeom>
        </p:spPr>
      </p:pic>
      <p:sp>
        <p:nvSpPr>
          <p:cNvPr id="22" name="Text 19"/>
          <p:cNvSpPr/>
          <p:nvPr/>
        </p:nvSpPr>
        <p:spPr>
          <a:xfrm>
            <a:off x="713232" y="3886200"/>
            <a:ext cx="5349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F7A8C"/>
                </a:solidFill>
              </a:rPr>
              <a:t>Graphical view</a:t>
            </a:r>
            <a:endParaRPr lang="en-US" sz="1800" dirty="0"/>
          </a:p>
        </p:txBody>
      </p:sp>
      <p:sp>
        <p:nvSpPr>
          <p:cNvPr id="23" name="Text 20"/>
          <p:cNvSpPr/>
          <p:nvPr/>
        </p:nvSpPr>
        <p:spPr>
          <a:xfrm>
            <a:off x="6172200" y="3886200"/>
            <a:ext cx="5349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4A6FA5"/>
                </a:solidFill>
              </a:rPr>
              <a:t>Algebraic / code view</a:t>
            </a:r>
            <a:endParaRPr lang="en-US" sz="1800" dirty="0"/>
          </a:p>
        </p:txBody>
      </p:sp>
      <p:sp>
        <p:nvSpPr>
          <p:cNvPr id="24" name="Text 21"/>
          <p:cNvSpPr/>
          <p:nvPr/>
        </p:nvSpPr>
        <p:spPr>
          <a:xfrm>
            <a:off x="786384" y="4270248"/>
            <a:ext cx="5074920" cy="448056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marL="228600" indent="-228600">
              <a:buSzPct val="100000"/>
              <a:buChar char="•"/>
            </a:pPr>
            <a:r>
              <a:rPr lang="en-US" sz="1750" dirty="0">
                <a:solidFill>
                  <a:srgbClr val="1D2733"/>
                </a:solidFill>
              </a:rPr>
              <a:t>Track overlap as n changes</a:t>
            </a:r>
            <a:endParaRPr lang="en-US" sz="1750" dirty="0"/>
          </a:p>
          <a:p>
            <a:pPr marL="228600" indent="-228600">
              <a:buSzPct val="100000"/>
              <a:buChar char="•"/>
            </a:pPr>
            <a:r>
              <a:rPr lang="en-US" sz="1750" dirty="0">
                <a:solidFill>
                  <a:srgbClr val="1D2733"/>
                </a:solidFill>
              </a:rPr>
              <a:t>Good for intuition</a:t>
            </a:r>
            <a:endParaRPr lang="en-US" sz="1750" dirty="0"/>
          </a:p>
          <a:p>
            <a:pPr marL="228600" indent="-228600">
              <a:buSzPct val="100000"/>
              <a:buChar char="•"/>
            </a:pPr>
            <a:r>
              <a:rPr lang="en-US" sz="1750" dirty="0">
                <a:solidFill>
                  <a:srgbClr val="1D2733"/>
                </a:solidFill>
              </a:rPr>
              <a:t>Best with short sequences</a:t>
            </a:r>
            <a:endParaRPr lang="en-US" sz="1750" dirty="0"/>
          </a:p>
        </p:txBody>
      </p:sp>
      <p:sp>
        <p:nvSpPr>
          <p:cNvPr id="25" name="Text 22"/>
          <p:cNvSpPr/>
          <p:nvPr/>
        </p:nvSpPr>
        <p:spPr>
          <a:xfrm>
            <a:off x="6245352" y="4270248"/>
            <a:ext cx="5074920" cy="448056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marL="228600" indent="-228600">
              <a:buSzPct val="100000"/>
              <a:buChar char="•"/>
            </a:pPr>
            <a:r>
              <a:rPr lang="en-US" sz="1750" dirty="0">
                <a:solidFill>
                  <a:srgbClr val="1D2733"/>
                </a:solidFill>
              </a:rPr>
              <a:t>Use nonzero-support limits</a:t>
            </a:r>
            <a:endParaRPr lang="en-US" sz="1750" dirty="0"/>
          </a:p>
          <a:p>
            <a:pPr marL="228600" indent="-228600">
              <a:buSzPct val="100000"/>
              <a:buChar char="•"/>
            </a:pPr>
            <a:r>
              <a:rPr lang="en-US" sz="1750" dirty="0">
                <a:solidFill>
                  <a:srgbClr val="1D2733"/>
                </a:solidFill>
              </a:rPr>
              <a:t>Good for longer signals</a:t>
            </a:r>
            <a:endParaRPr lang="en-US" sz="1750" dirty="0"/>
          </a:p>
          <a:p>
            <a:pPr marL="228600" indent="-228600">
              <a:buSzPct val="100000"/>
              <a:buChar char="•"/>
            </a:pPr>
            <a:r>
              <a:rPr lang="en-US" sz="1750" dirty="0">
                <a:solidFill>
                  <a:srgbClr val="1D2733"/>
                </a:solidFill>
              </a:rPr>
              <a:t>np.convolve / scipy.signal</a:t>
            </a:r>
            <a:endParaRPr lang="en-US" sz="1750" dirty="0"/>
          </a:p>
        </p:txBody>
      </p:sp>
      <p:sp>
        <p:nvSpPr>
          <p:cNvPr id="26" name="Shape 23"/>
          <p:cNvSpPr/>
          <p:nvPr/>
        </p:nvSpPr>
        <p:spPr>
          <a:xfrm>
            <a:off x="5989320" y="3931920"/>
            <a:ext cx="0" cy="4800600"/>
          </a:xfrm>
          <a:prstGeom prst="line">
            <a:avLst/>
          </a:prstGeom>
          <a:noFill/>
          <a:ln w="12700">
            <a:solidFill>
              <a:srgbClr val="D9E1E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7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40896" y="6492240"/>
            <a:ext cx="228600" cy="16459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900">
                <a:solidFill>
                  <a:srgbClr val="5C6873"/>
                </a:solidFill>
                <a:latin typeface="Aptos"/>
                <a:ea typeface="Aptos"/>
                <a:cs typeface="Aptos"/>
              </a:defRPr>
            </a:lvl1pPr>
          </a:lstStyle>
          <a:p>
            <a:pPr algn="r"/>
            <a:fld id="{F7021451-1387-4CA6-816F-3879F97B5CBC}" type="slidenum">
              <a:rPr lang="en-US" b="0"/>
              <a:t>16</a:t>
            </a:fld>
            <a:endParaRPr lang="en-US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47472"/>
            <a:ext cx="110185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7324D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Worked convolution: x[n]=[1,2,1], h[n]=[1,−1]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585216" y="822960"/>
            <a:ext cx="10789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5C6873"/>
                </a:solidFill>
              </a:rPr>
              <a:t>Assume both start at n=0.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9966960" y="329184"/>
            <a:ext cx="1627632" cy="310896"/>
          </a:xfrm>
          <a:prstGeom prst="roundRect">
            <a:avLst>
              <a:gd name="adj" fmla="val 23529"/>
            </a:avLst>
          </a:prstGeom>
          <a:solidFill>
            <a:srgbClr val="1F7A8C"/>
          </a:solidFill>
          <a:ln w="12700">
            <a:solidFill>
              <a:srgbClr val="1F7A8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10012680" y="393192"/>
            <a:ext cx="1527048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kern="0" spc="60" dirty="0">
                <a:solidFill>
                  <a:srgbClr val="FFFFFF"/>
                </a:solidFill>
              </a:rPr>
              <a:t>55–75 MIN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1097280" y="2880360"/>
            <a:ext cx="2670048" cy="0"/>
          </a:xfrm>
          <a:prstGeom prst="line">
            <a:avLst/>
          </a:prstGeom>
          <a:noFill/>
          <a:ln w="15240">
            <a:solidFill>
              <a:srgbClr val="1D2733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7" name="Shape 5"/>
          <p:cNvSpPr/>
          <p:nvPr/>
        </p:nvSpPr>
        <p:spPr>
          <a:xfrm>
            <a:off x="1097280" y="2880360"/>
            <a:ext cx="0" cy="0"/>
          </a:xfrm>
          <a:prstGeom prst="line">
            <a:avLst/>
          </a:prstGeom>
          <a:noFill/>
          <a:ln w="15240">
            <a:solidFill>
              <a:srgbClr val="1D2733"/>
            </a:solidFill>
            <a:prstDash val="solid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731520" y="1271016"/>
            <a:ext cx="3200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5C6873"/>
                </a:solidFill>
              </a:rPr>
              <a:t>x[n]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1542288" y="2880360"/>
            <a:ext cx="0" cy="0"/>
          </a:xfrm>
          <a:prstGeom prst="line">
            <a:avLst/>
          </a:prstGeom>
          <a:noFill/>
          <a:ln w="25400">
            <a:solidFill>
              <a:srgbClr val="1F7A8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Shape 8"/>
          <p:cNvSpPr/>
          <p:nvPr/>
        </p:nvSpPr>
        <p:spPr>
          <a:xfrm>
            <a:off x="1491996" y="2267712"/>
            <a:ext cx="100584" cy="100584"/>
          </a:xfrm>
          <a:prstGeom prst="ellipse">
            <a:avLst/>
          </a:prstGeom>
          <a:solidFill>
            <a:srgbClr val="1F7A8C"/>
          </a:solidFill>
          <a:ln w="12700">
            <a:solidFill>
              <a:srgbClr val="1F7A8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1377696" y="2935224"/>
            <a:ext cx="32918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5C6873"/>
                </a:solidFill>
              </a:rPr>
              <a:t>0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2432304" y="2880360"/>
            <a:ext cx="0" cy="0"/>
          </a:xfrm>
          <a:prstGeom prst="line">
            <a:avLst/>
          </a:prstGeom>
          <a:noFill/>
          <a:ln w="25400">
            <a:solidFill>
              <a:srgbClr val="1F7A8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Shape 11"/>
          <p:cNvSpPr/>
          <p:nvPr/>
        </p:nvSpPr>
        <p:spPr>
          <a:xfrm>
            <a:off x="2382012" y="1705356"/>
            <a:ext cx="100584" cy="100584"/>
          </a:xfrm>
          <a:prstGeom prst="ellipse">
            <a:avLst/>
          </a:prstGeom>
          <a:solidFill>
            <a:srgbClr val="1F7A8C"/>
          </a:solidFill>
          <a:ln w="12700">
            <a:solidFill>
              <a:srgbClr val="1F7A8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2267712" y="2935224"/>
            <a:ext cx="32918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5C6873"/>
                </a:solidFill>
              </a:rPr>
              <a:t>1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3322320" y="2880360"/>
            <a:ext cx="0" cy="0"/>
          </a:xfrm>
          <a:prstGeom prst="line">
            <a:avLst/>
          </a:prstGeom>
          <a:noFill/>
          <a:ln w="25400">
            <a:solidFill>
              <a:srgbClr val="1F7A8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Shape 14"/>
          <p:cNvSpPr/>
          <p:nvPr/>
        </p:nvSpPr>
        <p:spPr>
          <a:xfrm>
            <a:off x="3272028" y="2267712"/>
            <a:ext cx="100584" cy="100584"/>
          </a:xfrm>
          <a:prstGeom prst="ellipse">
            <a:avLst/>
          </a:prstGeom>
          <a:solidFill>
            <a:srgbClr val="1F7A8C"/>
          </a:solidFill>
          <a:ln w="12700">
            <a:solidFill>
              <a:srgbClr val="1F7A8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3157728" y="2935224"/>
            <a:ext cx="32918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5C6873"/>
                </a:solidFill>
              </a:rPr>
              <a:t>2</a:t>
            </a:r>
            <a:endParaRPr lang="en-US" sz="900" dirty="0"/>
          </a:p>
        </p:txBody>
      </p:sp>
      <p:sp>
        <p:nvSpPr>
          <p:cNvPr id="18" name="Shape 16"/>
          <p:cNvSpPr/>
          <p:nvPr/>
        </p:nvSpPr>
        <p:spPr>
          <a:xfrm>
            <a:off x="4800600" y="2880360"/>
            <a:ext cx="2670048" cy="0"/>
          </a:xfrm>
          <a:prstGeom prst="line">
            <a:avLst/>
          </a:prstGeom>
          <a:noFill/>
          <a:ln w="15240">
            <a:solidFill>
              <a:srgbClr val="1D2733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19" name="Shape 17"/>
          <p:cNvSpPr/>
          <p:nvPr/>
        </p:nvSpPr>
        <p:spPr>
          <a:xfrm>
            <a:off x="4800600" y="2880360"/>
            <a:ext cx="0" cy="0"/>
          </a:xfrm>
          <a:prstGeom prst="line">
            <a:avLst/>
          </a:prstGeom>
          <a:noFill/>
          <a:ln w="15240">
            <a:solidFill>
              <a:srgbClr val="1D2733"/>
            </a:solidFill>
            <a:prstDash val="solid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20" name="Text 18"/>
          <p:cNvSpPr/>
          <p:nvPr/>
        </p:nvSpPr>
        <p:spPr>
          <a:xfrm>
            <a:off x="4434840" y="1271016"/>
            <a:ext cx="3200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5C6873"/>
                </a:solidFill>
              </a:rPr>
              <a:t>h[n]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5468112" y="2880360"/>
            <a:ext cx="0" cy="0"/>
          </a:xfrm>
          <a:prstGeom prst="line">
            <a:avLst/>
          </a:prstGeom>
          <a:noFill/>
          <a:ln w="25400">
            <a:solidFill>
              <a:srgbClr val="1F7A8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Shape 20"/>
          <p:cNvSpPr/>
          <p:nvPr/>
        </p:nvSpPr>
        <p:spPr>
          <a:xfrm>
            <a:off x="5417820" y="1705356"/>
            <a:ext cx="100584" cy="100584"/>
          </a:xfrm>
          <a:prstGeom prst="ellipse">
            <a:avLst/>
          </a:prstGeom>
          <a:solidFill>
            <a:srgbClr val="1F7A8C"/>
          </a:solidFill>
          <a:ln w="12700">
            <a:solidFill>
              <a:srgbClr val="1F7A8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" name="Text 21"/>
          <p:cNvSpPr/>
          <p:nvPr/>
        </p:nvSpPr>
        <p:spPr>
          <a:xfrm>
            <a:off x="5303520" y="2935224"/>
            <a:ext cx="32918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5C6873"/>
                </a:solidFill>
              </a:rPr>
              <a:t>0</a:t>
            </a:r>
            <a:endParaRPr lang="en-US" sz="900" dirty="0"/>
          </a:p>
        </p:txBody>
      </p:sp>
      <p:sp>
        <p:nvSpPr>
          <p:cNvPr id="24" name="Shape 22"/>
          <p:cNvSpPr/>
          <p:nvPr/>
        </p:nvSpPr>
        <p:spPr>
          <a:xfrm>
            <a:off x="6803136" y="2880360"/>
            <a:ext cx="0" cy="1124712"/>
          </a:xfrm>
          <a:prstGeom prst="line">
            <a:avLst/>
          </a:prstGeom>
          <a:noFill/>
          <a:ln w="25400">
            <a:solidFill>
              <a:srgbClr val="1F7A8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5" name="Shape 23"/>
          <p:cNvSpPr/>
          <p:nvPr/>
        </p:nvSpPr>
        <p:spPr>
          <a:xfrm>
            <a:off x="6752844" y="3954780"/>
            <a:ext cx="100584" cy="100584"/>
          </a:xfrm>
          <a:prstGeom prst="ellipse">
            <a:avLst/>
          </a:prstGeom>
          <a:solidFill>
            <a:srgbClr val="1F7A8C"/>
          </a:solidFill>
          <a:ln w="12700">
            <a:solidFill>
              <a:srgbClr val="1F7A8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6" name="Text 24"/>
          <p:cNvSpPr/>
          <p:nvPr/>
        </p:nvSpPr>
        <p:spPr>
          <a:xfrm>
            <a:off x="6638544" y="2935224"/>
            <a:ext cx="32918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5C6873"/>
                </a:solidFill>
              </a:rPr>
              <a:t>1</a:t>
            </a:r>
            <a:endParaRPr lang="en-US" sz="900" dirty="0"/>
          </a:p>
        </p:txBody>
      </p:sp>
      <p:sp>
        <p:nvSpPr>
          <p:cNvPr id="27" name="Shape 25"/>
          <p:cNvSpPr/>
          <p:nvPr/>
        </p:nvSpPr>
        <p:spPr>
          <a:xfrm>
            <a:off x="8458200" y="2880360"/>
            <a:ext cx="2670048" cy="0"/>
          </a:xfrm>
          <a:prstGeom prst="line">
            <a:avLst/>
          </a:prstGeom>
          <a:noFill/>
          <a:ln w="15240">
            <a:solidFill>
              <a:srgbClr val="1D2733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28" name="Shape 26"/>
          <p:cNvSpPr/>
          <p:nvPr/>
        </p:nvSpPr>
        <p:spPr>
          <a:xfrm>
            <a:off x="8458200" y="2880360"/>
            <a:ext cx="0" cy="0"/>
          </a:xfrm>
          <a:prstGeom prst="line">
            <a:avLst/>
          </a:prstGeom>
          <a:noFill/>
          <a:ln w="15240">
            <a:solidFill>
              <a:srgbClr val="1D2733"/>
            </a:solidFill>
            <a:prstDash val="solid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29" name="Text 27"/>
          <p:cNvSpPr/>
          <p:nvPr/>
        </p:nvSpPr>
        <p:spPr>
          <a:xfrm>
            <a:off x="8092440" y="1271016"/>
            <a:ext cx="3200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5C6873"/>
                </a:solidFill>
              </a:rPr>
              <a:t>y[n]=x*h</a:t>
            </a:r>
            <a:endParaRPr lang="en-US" sz="1300" dirty="0"/>
          </a:p>
        </p:txBody>
      </p:sp>
      <p:sp>
        <p:nvSpPr>
          <p:cNvPr id="30" name="Shape 28"/>
          <p:cNvSpPr/>
          <p:nvPr/>
        </p:nvSpPr>
        <p:spPr>
          <a:xfrm>
            <a:off x="8791956" y="2880360"/>
            <a:ext cx="0" cy="0"/>
          </a:xfrm>
          <a:prstGeom prst="line">
            <a:avLst/>
          </a:prstGeom>
          <a:noFill/>
          <a:ln w="25400">
            <a:solidFill>
              <a:srgbClr val="1F7A8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1" name="Shape 29"/>
          <p:cNvSpPr/>
          <p:nvPr/>
        </p:nvSpPr>
        <p:spPr>
          <a:xfrm>
            <a:off x="8741664" y="1705356"/>
            <a:ext cx="100584" cy="100584"/>
          </a:xfrm>
          <a:prstGeom prst="ellipse">
            <a:avLst/>
          </a:prstGeom>
          <a:solidFill>
            <a:srgbClr val="1F7A8C"/>
          </a:solidFill>
          <a:ln w="12700">
            <a:solidFill>
              <a:srgbClr val="1F7A8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2" name="Text 30"/>
          <p:cNvSpPr/>
          <p:nvPr/>
        </p:nvSpPr>
        <p:spPr>
          <a:xfrm>
            <a:off x="8627364" y="2935224"/>
            <a:ext cx="32918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5C6873"/>
                </a:solidFill>
              </a:rPr>
              <a:t>0</a:t>
            </a:r>
            <a:endParaRPr lang="en-US" sz="900" dirty="0"/>
          </a:p>
        </p:txBody>
      </p:sp>
      <p:sp>
        <p:nvSpPr>
          <p:cNvPr id="33" name="Shape 31"/>
          <p:cNvSpPr/>
          <p:nvPr/>
        </p:nvSpPr>
        <p:spPr>
          <a:xfrm>
            <a:off x="9459468" y="2880360"/>
            <a:ext cx="0" cy="0"/>
          </a:xfrm>
          <a:prstGeom prst="line">
            <a:avLst/>
          </a:prstGeom>
          <a:noFill/>
          <a:ln w="25400">
            <a:solidFill>
              <a:srgbClr val="1F7A8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4" name="Shape 32"/>
          <p:cNvSpPr/>
          <p:nvPr/>
        </p:nvSpPr>
        <p:spPr>
          <a:xfrm>
            <a:off x="9409176" y="1705356"/>
            <a:ext cx="100584" cy="100584"/>
          </a:xfrm>
          <a:prstGeom prst="ellipse">
            <a:avLst/>
          </a:prstGeom>
          <a:solidFill>
            <a:srgbClr val="1F7A8C"/>
          </a:solidFill>
          <a:ln w="12700">
            <a:solidFill>
              <a:srgbClr val="1F7A8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5" name="Text 33"/>
          <p:cNvSpPr/>
          <p:nvPr/>
        </p:nvSpPr>
        <p:spPr>
          <a:xfrm>
            <a:off x="9294876" y="2935224"/>
            <a:ext cx="32918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5C6873"/>
                </a:solidFill>
              </a:rPr>
              <a:t>1</a:t>
            </a:r>
            <a:endParaRPr lang="en-US" sz="900" dirty="0"/>
          </a:p>
        </p:txBody>
      </p:sp>
      <p:sp>
        <p:nvSpPr>
          <p:cNvPr id="36" name="Shape 34"/>
          <p:cNvSpPr/>
          <p:nvPr/>
        </p:nvSpPr>
        <p:spPr>
          <a:xfrm>
            <a:off x="10126980" y="2880360"/>
            <a:ext cx="0" cy="1124712"/>
          </a:xfrm>
          <a:prstGeom prst="line">
            <a:avLst/>
          </a:prstGeom>
          <a:noFill/>
          <a:ln w="25400">
            <a:solidFill>
              <a:srgbClr val="1F7A8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7" name="Shape 35"/>
          <p:cNvSpPr/>
          <p:nvPr/>
        </p:nvSpPr>
        <p:spPr>
          <a:xfrm>
            <a:off x="10076688" y="3954780"/>
            <a:ext cx="100584" cy="100584"/>
          </a:xfrm>
          <a:prstGeom prst="ellipse">
            <a:avLst/>
          </a:prstGeom>
          <a:solidFill>
            <a:srgbClr val="1F7A8C"/>
          </a:solidFill>
          <a:ln w="12700">
            <a:solidFill>
              <a:srgbClr val="1F7A8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8" name="Text 36"/>
          <p:cNvSpPr/>
          <p:nvPr/>
        </p:nvSpPr>
        <p:spPr>
          <a:xfrm>
            <a:off x="9962388" y="2935224"/>
            <a:ext cx="32918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5C6873"/>
                </a:solidFill>
              </a:rPr>
              <a:t>2</a:t>
            </a:r>
            <a:endParaRPr lang="en-US" sz="900" dirty="0"/>
          </a:p>
        </p:txBody>
      </p:sp>
      <p:sp>
        <p:nvSpPr>
          <p:cNvPr id="39" name="Shape 37"/>
          <p:cNvSpPr/>
          <p:nvPr/>
        </p:nvSpPr>
        <p:spPr>
          <a:xfrm>
            <a:off x="10794492" y="2880360"/>
            <a:ext cx="0" cy="1124712"/>
          </a:xfrm>
          <a:prstGeom prst="line">
            <a:avLst/>
          </a:prstGeom>
          <a:noFill/>
          <a:ln w="25400">
            <a:solidFill>
              <a:srgbClr val="1F7A8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0" name="Shape 38"/>
          <p:cNvSpPr/>
          <p:nvPr/>
        </p:nvSpPr>
        <p:spPr>
          <a:xfrm>
            <a:off x="10744200" y="3954780"/>
            <a:ext cx="100584" cy="100584"/>
          </a:xfrm>
          <a:prstGeom prst="ellipse">
            <a:avLst/>
          </a:prstGeom>
          <a:solidFill>
            <a:srgbClr val="1F7A8C"/>
          </a:solidFill>
          <a:ln w="12700">
            <a:solidFill>
              <a:srgbClr val="1F7A8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1" name="Text 39"/>
          <p:cNvSpPr/>
          <p:nvPr/>
        </p:nvSpPr>
        <p:spPr>
          <a:xfrm>
            <a:off x="10629900" y="2935224"/>
            <a:ext cx="32918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5C6873"/>
                </a:solidFill>
              </a:rPr>
              <a:t>3</a:t>
            </a:r>
            <a:endParaRPr lang="en-US" sz="900" dirty="0"/>
          </a:p>
        </p:txBody>
      </p:sp>
      <p:pic>
        <p:nvPicPr>
          <p:cNvPr id="42" name="Image 0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914400" y="3931920"/>
            <a:ext cx="9966960" cy="713232"/>
          </a:xfrm>
          <a:prstGeom prst="rect">
            <a:avLst/>
          </a:prstGeom>
        </p:spPr>
      </p:pic>
      <p:sp>
        <p:nvSpPr>
          <p:cNvPr id="43" name="Shape 40"/>
          <p:cNvSpPr/>
          <p:nvPr/>
        </p:nvSpPr>
        <p:spPr>
          <a:xfrm>
            <a:off x="2834640" y="4983480"/>
            <a:ext cx="6492240" cy="914400"/>
          </a:xfrm>
          <a:prstGeom prst="roundRect">
            <a:avLst>
              <a:gd name="adj" fmla="val 8000"/>
            </a:avLst>
          </a:prstGeom>
          <a:solidFill>
            <a:srgbClr val="FFF6DF"/>
          </a:solidFill>
          <a:ln w="16510">
            <a:solidFill>
              <a:srgbClr val="D9A44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4" name="Text 41"/>
          <p:cNvSpPr/>
          <p:nvPr/>
        </p:nvSpPr>
        <p:spPr>
          <a:xfrm>
            <a:off x="2999232" y="5093208"/>
            <a:ext cx="616305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D9A441"/>
                </a:solidFill>
              </a:rPr>
              <a:t>Sanity checks</a:t>
            </a:r>
            <a:endParaRPr lang="en-US" sz="1200" dirty="0"/>
          </a:p>
        </p:txBody>
      </p:sp>
      <p:sp>
        <p:nvSpPr>
          <p:cNvPr id="45" name="Text 42"/>
          <p:cNvSpPr/>
          <p:nvPr/>
        </p:nvSpPr>
        <p:spPr>
          <a:xfrm>
            <a:off x="2999232" y="5367528"/>
            <a:ext cx="6163056" cy="43891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350" dirty="0">
                <a:solidFill>
                  <a:srgbClr val="1D2733"/>
                </a:solidFill>
              </a:rPr>
              <a:t>Output length = 3+2−1 = 4. Sum(y)=sum(x)sum(h)=0.</a:t>
            </a:r>
            <a:endParaRPr lang="en-US" sz="1350" dirty="0"/>
          </a:p>
        </p:txBody>
      </p:sp>
      <p:sp>
        <p:nvSpPr>
          <p:cNvPr id="46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40896" y="6492240"/>
            <a:ext cx="228600" cy="16459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900">
                <a:solidFill>
                  <a:srgbClr val="5C6873"/>
                </a:solidFill>
                <a:latin typeface="Aptos"/>
                <a:ea typeface="Aptos"/>
                <a:cs typeface="Aptos"/>
              </a:defRPr>
            </a:lvl1pPr>
          </a:lstStyle>
          <a:p>
            <a:pPr algn="r"/>
            <a:fld id="{F7021451-1387-4CA6-816F-3879F97B5CBC}" type="slidenum">
              <a:rPr lang="en-US" b="0"/>
              <a:t>17</a:t>
            </a:fld>
            <a:endParaRPr lang="en-US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47472"/>
            <a:ext cx="110185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7324D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Convolution has algebraic structure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585216" y="822960"/>
            <a:ext cx="10789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5C6873"/>
                </a:solidFill>
              </a:rPr>
              <a:t>Useful facts that save work and explain cascades.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9966960" y="329184"/>
            <a:ext cx="1627632" cy="310896"/>
          </a:xfrm>
          <a:prstGeom prst="roundRect">
            <a:avLst>
              <a:gd name="adj" fmla="val 23529"/>
            </a:avLst>
          </a:prstGeom>
          <a:solidFill>
            <a:srgbClr val="1F7A8C"/>
          </a:solidFill>
          <a:ln w="12700">
            <a:solidFill>
              <a:srgbClr val="1F7A8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10012680" y="393192"/>
            <a:ext cx="1527048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kern="0" spc="60" dirty="0">
                <a:solidFill>
                  <a:srgbClr val="FFFFFF"/>
                </a:solidFill>
              </a:rPr>
              <a:t>55–75 MIN</a:t>
            </a:r>
            <a:endParaRPr lang="en-US" sz="900" dirty="0"/>
          </a:p>
        </p:txBody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731520" y="1325880"/>
            <a:ext cx="2286000" cy="54864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731520" y="1892808"/>
            <a:ext cx="2286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5C6873"/>
                </a:solidFill>
              </a:rPr>
              <a:t>commutative</a:t>
            </a:r>
            <a:endParaRPr lang="en-US" sz="1100" dirty="0"/>
          </a:p>
        </p:txBody>
      </p:sp>
      <p:pic>
        <p:nvPicPr>
          <p:cNvPr id="8" name="Image 1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3337560" y="1325880"/>
            <a:ext cx="3840480" cy="548640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3337560" y="1892808"/>
            <a:ext cx="3840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5C6873"/>
                </a:solidFill>
              </a:rPr>
              <a:t>associative</a:t>
            </a:r>
            <a:endParaRPr lang="en-US" sz="1100" dirty="0"/>
          </a:p>
        </p:txBody>
      </p:sp>
      <p:pic>
        <p:nvPicPr>
          <p:cNvPr id="10" name="Image 2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7498080" y="1325880"/>
            <a:ext cx="3749040" cy="548640"/>
          </a:xfrm>
          <a:prstGeom prst="rect">
            <a:avLst/>
          </a:prstGeom>
        </p:spPr>
      </p:pic>
      <p:sp>
        <p:nvSpPr>
          <p:cNvPr id="11" name="Text 6"/>
          <p:cNvSpPr/>
          <p:nvPr/>
        </p:nvSpPr>
        <p:spPr>
          <a:xfrm>
            <a:off x="7498080" y="1892808"/>
            <a:ext cx="3749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5C6873"/>
                </a:solidFill>
              </a:rPr>
              <a:t>distributive</a:t>
            </a:r>
            <a:endParaRPr lang="en-US" sz="1100" dirty="0"/>
          </a:p>
        </p:txBody>
      </p:sp>
      <p:sp>
        <p:nvSpPr>
          <p:cNvPr id="12" name="Shape 7"/>
          <p:cNvSpPr/>
          <p:nvPr/>
        </p:nvSpPr>
        <p:spPr>
          <a:xfrm>
            <a:off x="713232" y="2834640"/>
            <a:ext cx="3486912" cy="1005840"/>
          </a:xfrm>
          <a:prstGeom prst="roundRect">
            <a:avLst>
              <a:gd name="adj" fmla="val 5455"/>
            </a:avLst>
          </a:prstGeom>
          <a:solidFill>
            <a:srgbClr val="E9F5F7"/>
          </a:solidFill>
          <a:ln w="13970">
            <a:solidFill>
              <a:srgbClr val="1F7A8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8"/>
          <p:cNvSpPr/>
          <p:nvPr/>
        </p:nvSpPr>
        <p:spPr>
          <a:xfrm>
            <a:off x="804672" y="2999232"/>
            <a:ext cx="330403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17324D"/>
                </a:solidFill>
              </a:rPr>
              <a:t>h₁</a:t>
            </a:r>
            <a:endParaRPr lang="en-US" sz="1500" dirty="0"/>
          </a:p>
        </p:txBody>
      </p:sp>
      <p:sp>
        <p:nvSpPr>
          <p:cNvPr id="14" name="Text 9"/>
          <p:cNvSpPr/>
          <p:nvPr/>
        </p:nvSpPr>
        <p:spPr>
          <a:xfrm>
            <a:off x="822960" y="3310128"/>
            <a:ext cx="326745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150" dirty="0">
                <a:solidFill>
                  <a:srgbClr val="5C6873"/>
                </a:solidFill>
              </a:rPr>
              <a:t>room EQ</a:t>
            </a:r>
            <a:endParaRPr lang="en-US" sz="1150" dirty="0"/>
          </a:p>
        </p:txBody>
      </p:sp>
      <p:sp>
        <p:nvSpPr>
          <p:cNvPr id="15" name="Shape 10"/>
          <p:cNvSpPr/>
          <p:nvPr/>
        </p:nvSpPr>
        <p:spPr>
          <a:xfrm>
            <a:off x="4227576" y="3172968"/>
            <a:ext cx="109728" cy="292608"/>
          </a:xfrm>
          <a:prstGeom prst="chevron">
            <a:avLst/>
          </a:prstGeom>
          <a:solidFill>
            <a:srgbClr val="A9B8C5"/>
          </a:solidFill>
          <a:ln w="12700">
            <a:solidFill>
              <a:srgbClr val="A9B8C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Shape 11"/>
          <p:cNvSpPr/>
          <p:nvPr/>
        </p:nvSpPr>
        <p:spPr>
          <a:xfrm>
            <a:off x="4364736" y="2834640"/>
            <a:ext cx="3486912" cy="1005840"/>
          </a:xfrm>
          <a:prstGeom prst="roundRect">
            <a:avLst>
              <a:gd name="adj" fmla="val 5455"/>
            </a:avLst>
          </a:prstGeom>
          <a:solidFill>
            <a:srgbClr val="EEF4FB"/>
          </a:solidFill>
          <a:ln w="13970">
            <a:solidFill>
              <a:srgbClr val="4A6FA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Text 12"/>
          <p:cNvSpPr/>
          <p:nvPr/>
        </p:nvSpPr>
        <p:spPr>
          <a:xfrm>
            <a:off x="4456176" y="2999232"/>
            <a:ext cx="330403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17324D"/>
                </a:solidFill>
              </a:rPr>
              <a:t>h₂</a:t>
            </a:r>
            <a:endParaRPr lang="en-US" sz="1500" dirty="0"/>
          </a:p>
        </p:txBody>
      </p:sp>
      <p:sp>
        <p:nvSpPr>
          <p:cNvPr id="18" name="Text 13"/>
          <p:cNvSpPr/>
          <p:nvPr/>
        </p:nvSpPr>
        <p:spPr>
          <a:xfrm>
            <a:off x="4474464" y="3310128"/>
            <a:ext cx="326745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150" dirty="0">
                <a:solidFill>
                  <a:srgbClr val="5C6873"/>
                </a:solidFill>
              </a:rPr>
              <a:t>speaker response</a:t>
            </a:r>
            <a:endParaRPr lang="en-US" sz="1150" dirty="0"/>
          </a:p>
        </p:txBody>
      </p:sp>
      <p:sp>
        <p:nvSpPr>
          <p:cNvPr id="19" name="Shape 14"/>
          <p:cNvSpPr/>
          <p:nvPr/>
        </p:nvSpPr>
        <p:spPr>
          <a:xfrm>
            <a:off x="7879080" y="3172968"/>
            <a:ext cx="109728" cy="292608"/>
          </a:xfrm>
          <a:prstGeom prst="chevron">
            <a:avLst/>
          </a:prstGeom>
          <a:solidFill>
            <a:srgbClr val="A9B8C5"/>
          </a:solidFill>
          <a:ln w="12700">
            <a:solidFill>
              <a:srgbClr val="A9B8C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Shape 15"/>
          <p:cNvSpPr/>
          <p:nvPr/>
        </p:nvSpPr>
        <p:spPr>
          <a:xfrm>
            <a:off x="8016240" y="2834640"/>
            <a:ext cx="3486912" cy="1005840"/>
          </a:xfrm>
          <a:prstGeom prst="roundRect">
            <a:avLst>
              <a:gd name="adj" fmla="val 5455"/>
            </a:avLst>
          </a:prstGeom>
          <a:solidFill>
            <a:srgbClr val="E9F5F7"/>
          </a:solidFill>
          <a:ln w="13970">
            <a:solidFill>
              <a:srgbClr val="1F7A8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Text 16"/>
          <p:cNvSpPr/>
          <p:nvPr/>
        </p:nvSpPr>
        <p:spPr>
          <a:xfrm>
            <a:off x="8107680" y="2999232"/>
            <a:ext cx="330403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17324D"/>
                </a:solidFill>
              </a:rPr>
              <a:t>h₁*h₂</a:t>
            </a:r>
            <a:endParaRPr lang="en-US" sz="1500" dirty="0"/>
          </a:p>
        </p:txBody>
      </p:sp>
      <p:sp>
        <p:nvSpPr>
          <p:cNvPr id="22" name="Text 17"/>
          <p:cNvSpPr/>
          <p:nvPr/>
        </p:nvSpPr>
        <p:spPr>
          <a:xfrm>
            <a:off x="8125968" y="3310128"/>
            <a:ext cx="326745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150" dirty="0">
                <a:solidFill>
                  <a:srgbClr val="5C6873"/>
                </a:solidFill>
              </a:rPr>
              <a:t>equivalent system</a:t>
            </a:r>
            <a:endParaRPr lang="en-US" sz="1150" dirty="0"/>
          </a:p>
        </p:txBody>
      </p:sp>
      <p:sp>
        <p:nvSpPr>
          <p:cNvPr id="23" name="Shape 18"/>
          <p:cNvSpPr/>
          <p:nvPr/>
        </p:nvSpPr>
        <p:spPr>
          <a:xfrm>
            <a:off x="2971800" y="4800600"/>
            <a:ext cx="6309360" cy="960120"/>
          </a:xfrm>
          <a:prstGeom prst="roundRect">
            <a:avLst>
              <a:gd name="adj" fmla="val 7619"/>
            </a:avLst>
          </a:prstGeom>
          <a:solidFill>
            <a:srgbClr val="E9F5F7"/>
          </a:solidFill>
          <a:ln w="16510">
            <a:solidFill>
              <a:srgbClr val="1F7A8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4" name="Text 19"/>
          <p:cNvSpPr/>
          <p:nvPr/>
        </p:nvSpPr>
        <p:spPr>
          <a:xfrm>
            <a:off x="3136392" y="4910328"/>
            <a:ext cx="598017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F7A8C"/>
                </a:solidFill>
              </a:rPr>
              <a:t>Why ML cares</a:t>
            </a:r>
            <a:endParaRPr lang="en-US" sz="1200" dirty="0"/>
          </a:p>
        </p:txBody>
      </p:sp>
      <p:sp>
        <p:nvSpPr>
          <p:cNvPr id="25" name="Text 20"/>
          <p:cNvSpPr/>
          <p:nvPr/>
        </p:nvSpPr>
        <p:spPr>
          <a:xfrm>
            <a:off x="3136392" y="5184648"/>
            <a:ext cx="5980176" cy="48463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350" dirty="0">
                <a:solidFill>
                  <a:srgbClr val="1D2733"/>
                </a:solidFill>
              </a:rPr>
              <a:t>A stack of linear convolution layers with no nonlinearity collapses to one convolution.</a:t>
            </a:r>
            <a:endParaRPr lang="en-US" sz="1350" dirty="0"/>
          </a:p>
        </p:txBody>
      </p:sp>
      <p:sp>
        <p:nvSpPr>
          <p:cNvPr id="26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40896" y="6492240"/>
            <a:ext cx="228600" cy="16459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900">
                <a:solidFill>
                  <a:srgbClr val="5C6873"/>
                </a:solidFill>
                <a:latin typeface="Aptos"/>
                <a:ea typeface="Aptos"/>
                <a:cs typeface="Aptos"/>
              </a:defRPr>
            </a:lvl1pPr>
          </a:lstStyle>
          <a:p>
            <a:pPr algn="r"/>
            <a:fld id="{F7021451-1387-4CA6-816F-3879F97B5CBC}" type="slidenum">
              <a:rPr lang="en-US" b="0"/>
              <a:t>18</a:t>
            </a:fld>
            <a:endParaRPr lang="en-US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47472"/>
            <a:ext cx="110185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7324D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Python demo: convolution in one line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585216" y="822960"/>
            <a:ext cx="10789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5C6873"/>
                </a:solidFill>
              </a:rPr>
              <a:t>Then verify the indexing and meaning.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9966960" y="329184"/>
            <a:ext cx="1627632" cy="310896"/>
          </a:xfrm>
          <a:prstGeom prst="roundRect">
            <a:avLst>
              <a:gd name="adj" fmla="val 23529"/>
            </a:avLst>
          </a:prstGeom>
          <a:solidFill>
            <a:srgbClr val="1F7A8C"/>
          </a:solidFill>
          <a:ln w="12700">
            <a:solidFill>
              <a:srgbClr val="1F7A8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10012680" y="393192"/>
            <a:ext cx="1527048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kern="0" spc="60" dirty="0">
                <a:solidFill>
                  <a:srgbClr val="FFFFFF"/>
                </a:solidFill>
              </a:rPr>
              <a:t>55–75 MIN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731520" y="1325880"/>
            <a:ext cx="5166360" cy="2926080"/>
          </a:xfrm>
          <a:prstGeom prst="roundRect">
            <a:avLst>
              <a:gd name="adj" fmla="val 1250"/>
            </a:avLst>
          </a:prstGeom>
          <a:solidFill>
            <a:srgbClr val="F6F8FA"/>
          </a:solidFill>
          <a:ln w="12700">
            <a:solidFill>
              <a:srgbClr val="D5DDE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868680" y="1417320"/>
            <a:ext cx="48920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F7A8C"/>
                </a:solidFill>
              </a:rPr>
              <a:t>Python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868680" y="1691640"/>
            <a:ext cx="4892040" cy="2450592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marL="0" indent="0">
              <a:buNone/>
            </a:pPr>
            <a:r>
              <a:rPr lang="en-US" sz="1300" dirty="0">
                <a:solidFill>
                  <a:srgbClr val="0F1D2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import numpy as np</a:t>
            </a:r>
            <a:endParaRPr lang="en-US" sz="1300" dirty="0"/>
          </a:p>
          <a:p>
            <a:pPr marL="0" indent="0">
              <a:buNone/>
            </a:pP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0F1D2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x = np.array([1., 2., 1.])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0F1D2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 = np.array([1., -1.])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0F1D2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y = np.convolve(x, h, mode='full')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0F1D2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print(y)  # [ 1.  1. -1. -1.]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6263640" y="1325880"/>
            <a:ext cx="5166360" cy="1828800"/>
          </a:xfrm>
          <a:prstGeom prst="roundRect">
            <a:avLst>
              <a:gd name="adj" fmla="val 2000"/>
            </a:avLst>
          </a:prstGeom>
          <a:solidFill>
            <a:srgbClr val="F6F8FA"/>
          </a:solidFill>
          <a:ln w="12700">
            <a:solidFill>
              <a:srgbClr val="D5DDE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6400800" y="1417320"/>
            <a:ext cx="48920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F7A8C"/>
                </a:solidFill>
              </a:rPr>
              <a:t>SciPy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6400800" y="1691640"/>
            <a:ext cx="4892040" cy="1353312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marL="0" indent="0">
              <a:buNone/>
            </a:pPr>
            <a:r>
              <a:rPr lang="en-US" sz="1300" dirty="0">
                <a:solidFill>
                  <a:srgbClr val="0F1D2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For long signals, scipy.signal.fftconvolve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0F1D2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from scipy.signal import fftconvolve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0F1D2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y_fast = fftconvolve(x, h, mode='full')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6263640" y="3474720"/>
            <a:ext cx="5166360" cy="1234440"/>
          </a:xfrm>
          <a:prstGeom prst="roundRect">
            <a:avLst>
              <a:gd name="adj" fmla="val 5926"/>
            </a:avLst>
          </a:prstGeom>
          <a:solidFill>
            <a:srgbClr val="FFF6DF"/>
          </a:solidFill>
          <a:ln w="16510">
            <a:solidFill>
              <a:srgbClr val="D9A44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6428232" y="3584448"/>
            <a:ext cx="483717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D9A441"/>
                </a:solidFill>
              </a:rPr>
              <a:t>Do not skip the math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6428232" y="3858768"/>
            <a:ext cx="4837176" cy="75895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350" dirty="0">
                <a:solidFill>
                  <a:srgbClr val="1D2733"/>
                </a:solidFill>
              </a:rPr>
              <a:t>A library call gives numbers. Convolution theory tells you support, delay, stability, frequency behavior, and what to debug.</a:t>
            </a:r>
            <a:endParaRPr lang="en-US" sz="13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40896" y="6492240"/>
            <a:ext cx="228600" cy="16459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900">
                <a:solidFill>
                  <a:srgbClr val="5C6873"/>
                </a:solidFill>
                <a:latin typeface="Aptos"/>
                <a:ea typeface="Aptos"/>
                <a:cs typeface="Aptos"/>
              </a:defRPr>
            </a:lvl1pPr>
          </a:lstStyle>
          <a:p>
            <a:pPr algn="r"/>
            <a:fld id="{F7021451-1387-4CA6-816F-3879F97B5CBC}" type="slidenum">
              <a:rPr lang="en-US" b="0"/>
              <a:t>19</a:t>
            </a:fld>
            <a:endParaRPr lang="en-US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47472"/>
            <a:ext cx="110185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7324D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ML bridge: PyTorch “convolution” is usually cross-correlation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585216" y="822960"/>
            <a:ext cx="10789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5C6873"/>
                </a:solidFill>
              </a:rPr>
              <a:t>Same local weighted sum, different kernel orientation.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9966960" y="329184"/>
            <a:ext cx="1627632" cy="310896"/>
          </a:xfrm>
          <a:prstGeom prst="roundRect">
            <a:avLst>
              <a:gd name="adj" fmla="val 23529"/>
            </a:avLst>
          </a:prstGeom>
          <a:solidFill>
            <a:srgbClr val="1F7A8C"/>
          </a:solidFill>
          <a:ln w="12700">
            <a:solidFill>
              <a:srgbClr val="1F7A8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10012680" y="393192"/>
            <a:ext cx="1527048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kern="0" spc="60" dirty="0">
                <a:solidFill>
                  <a:srgbClr val="FFFFFF"/>
                </a:solidFill>
              </a:rPr>
              <a:t>55–75 MIN</a:t>
            </a:r>
            <a:endParaRPr lang="en-US" sz="900" dirty="0"/>
          </a:p>
        </p:txBody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85800" y="1280160"/>
            <a:ext cx="5303520" cy="594360"/>
          </a:xfrm>
          <a:prstGeom prst="rect">
            <a:avLst/>
          </a:prstGeom>
        </p:spPr>
      </p:pic>
      <p:pic>
        <p:nvPicPr>
          <p:cNvPr id="7" name="Image 1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6080760" y="1280160"/>
            <a:ext cx="5303520" cy="594360"/>
          </a:xfrm>
          <a:prstGeom prst="rect">
            <a:avLst/>
          </a:prstGeom>
        </p:spPr>
      </p:pic>
      <p:sp>
        <p:nvSpPr>
          <p:cNvPr id="8" name="Shape 4"/>
          <p:cNvSpPr/>
          <p:nvPr/>
        </p:nvSpPr>
        <p:spPr>
          <a:xfrm>
            <a:off x="1920240" y="2788920"/>
            <a:ext cx="8412480" cy="1920240"/>
          </a:xfrm>
          <a:prstGeom prst="roundRect">
            <a:avLst>
              <a:gd name="adj" fmla="val 1905"/>
            </a:avLst>
          </a:prstGeom>
          <a:solidFill>
            <a:srgbClr val="F6F8FA"/>
          </a:solidFill>
          <a:ln w="12700">
            <a:solidFill>
              <a:srgbClr val="D5DDE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5"/>
          <p:cNvSpPr/>
          <p:nvPr/>
        </p:nvSpPr>
        <p:spPr>
          <a:xfrm>
            <a:off x="2057400" y="2880360"/>
            <a:ext cx="81381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F7A8C"/>
                </a:solidFill>
              </a:rPr>
              <a:t>PyTorch</a:t>
            </a:r>
            <a:endParaRPr lang="en-US" sz="1000" dirty="0"/>
          </a:p>
        </p:txBody>
      </p:sp>
      <p:sp>
        <p:nvSpPr>
          <p:cNvPr id="10" name="Text 6"/>
          <p:cNvSpPr/>
          <p:nvPr/>
        </p:nvSpPr>
        <p:spPr>
          <a:xfrm>
            <a:off x="2057400" y="3154680"/>
            <a:ext cx="8138160" cy="1444752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marL="0" indent="0">
              <a:buNone/>
            </a:pPr>
            <a:r>
              <a:rPr lang="en-US" sz="1300" dirty="0">
                <a:solidFill>
                  <a:srgbClr val="0F1D2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import torch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0F1D2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import torch.nn.functional as F</a:t>
            </a:r>
            <a:endParaRPr lang="en-US" sz="1300" dirty="0"/>
          </a:p>
          <a:p>
            <a:pPr marL="0" indent="0">
              <a:buNone/>
            </a:pP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0F1D2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x = torch.tensor([[[1.,2.,1.]]])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0F1D2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 = torch.tensor([[[1.,-1.]]])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0F1D2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y = F.conv1d(x, w)  # correlation convention</a:t>
            </a:r>
            <a:endParaRPr lang="en-US" sz="1300" dirty="0"/>
          </a:p>
        </p:txBody>
      </p:sp>
      <p:sp>
        <p:nvSpPr>
          <p:cNvPr id="11" name="Shape 7"/>
          <p:cNvSpPr/>
          <p:nvPr/>
        </p:nvSpPr>
        <p:spPr>
          <a:xfrm>
            <a:off x="2057400" y="4983480"/>
            <a:ext cx="8138160" cy="914400"/>
          </a:xfrm>
          <a:prstGeom prst="roundRect">
            <a:avLst>
              <a:gd name="adj" fmla="val 8000"/>
            </a:avLst>
          </a:prstGeom>
          <a:solidFill>
            <a:srgbClr val="E9F5F7"/>
          </a:solidFill>
          <a:ln w="16510">
            <a:solidFill>
              <a:srgbClr val="1F7A8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8"/>
          <p:cNvSpPr/>
          <p:nvPr/>
        </p:nvSpPr>
        <p:spPr>
          <a:xfrm>
            <a:off x="2221992" y="5093208"/>
            <a:ext cx="780897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F7A8C"/>
                </a:solidFill>
              </a:rPr>
              <a:t>Key idea</a:t>
            </a:r>
            <a:endParaRPr lang="en-US" sz="1200" dirty="0"/>
          </a:p>
        </p:txBody>
      </p:sp>
      <p:sp>
        <p:nvSpPr>
          <p:cNvPr id="13" name="Text 9"/>
          <p:cNvSpPr/>
          <p:nvPr/>
        </p:nvSpPr>
        <p:spPr>
          <a:xfrm>
            <a:off x="2221992" y="5367528"/>
            <a:ext cx="7808976" cy="43891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350" dirty="0">
                <a:solidFill>
                  <a:srgbClr val="1D2733"/>
                </a:solidFill>
              </a:rPr>
              <a:t>The kernel is learned in ML, but the local linear operation is the same family of operation you are analyzing now.</a:t>
            </a:r>
            <a:endParaRPr lang="en-US" sz="13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40896" y="6492240"/>
            <a:ext cx="228600" cy="16459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900">
                <a:solidFill>
                  <a:srgbClr val="5C6873"/>
                </a:solidFill>
                <a:latin typeface="Aptos"/>
                <a:ea typeface="Aptos"/>
                <a:cs typeface="Aptos"/>
              </a:defRPr>
            </a:lvl1pPr>
          </a:lstStyle>
          <a:p>
            <a:pPr algn="r"/>
            <a:fld id="{F7021451-1387-4CA6-816F-3879F97B5CBC}" type="slidenum">
              <a:rPr lang="en-US" b="0"/>
              <a:t>20</a:t>
            </a:fld>
            <a:endParaRPr lang="en-US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Shape 5">
            <a:extLst>
              <a:ext uri="{FF2B5EF4-FFF2-40B4-BE49-F238E27FC236}">
                <a16:creationId xmlns:a16="http://schemas.microsoft.com/office/drawing/2014/main" id="{7D993E9D-BD39-AFAF-E8EB-A06311280F3E}"/>
              </a:ext>
            </a:extLst>
          </p:cNvPr>
          <p:cNvSpPr/>
          <p:nvPr/>
        </p:nvSpPr>
        <p:spPr>
          <a:xfrm>
            <a:off x="960120" y="2926080"/>
            <a:ext cx="10195560" cy="502920"/>
          </a:xfrm>
          <a:prstGeom prst="roundRect">
            <a:avLst>
              <a:gd name="adj" fmla="val 7273"/>
            </a:avLst>
          </a:prstGeom>
          <a:solidFill>
            <a:srgbClr val="F4F7FA"/>
          </a:solidFill>
          <a:ln w="12700">
            <a:solidFill>
              <a:srgbClr val="DCE4E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" name="Text 0"/>
          <p:cNvSpPr/>
          <p:nvPr/>
        </p:nvSpPr>
        <p:spPr>
          <a:xfrm>
            <a:off x="566928" y="347472"/>
            <a:ext cx="110185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7324D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Concept check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585216" y="822960"/>
            <a:ext cx="10789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5C6873"/>
                </a:solidFill>
              </a:rPr>
              <a:t>No computation should be necessary.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9966960" y="329184"/>
            <a:ext cx="1627632" cy="310896"/>
          </a:xfrm>
          <a:prstGeom prst="roundRect">
            <a:avLst>
              <a:gd name="adj" fmla="val 23529"/>
            </a:avLst>
          </a:prstGeom>
          <a:solidFill>
            <a:srgbClr val="1F7A8C"/>
          </a:solidFill>
          <a:ln w="12700">
            <a:solidFill>
              <a:srgbClr val="1F7A8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10012680" y="393192"/>
            <a:ext cx="1527048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kern="0" spc="60" dirty="0">
                <a:solidFill>
                  <a:srgbClr val="FFFFFF"/>
                </a:solidFill>
              </a:rPr>
              <a:t>CHECK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731520" y="1325880"/>
            <a:ext cx="10744200" cy="7315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2300" b="1" dirty="0">
                <a:solidFill>
                  <a:srgbClr val="1D2733"/>
                </a:solidFill>
              </a:rPr>
              <a:t>For an LTI system, which statement is always true?</a:t>
            </a:r>
            <a:endParaRPr lang="en-US" sz="2300" dirty="0"/>
          </a:p>
        </p:txBody>
      </p:sp>
      <p:sp>
        <p:nvSpPr>
          <p:cNvPr id="7" name="Shape 5"/>
          <p:cNvSpPr/>
          <p:nvPr/>
        </p:nvSpPr>
        <p:spPr>
          <a:xfrm>
            <a:off x="960120" y="2240280"/>
            <a:ext cx="10195560" cy="502920"/>
          </a:xfrm>
          <a:prstGeom prst="roundRect">
            <a:avLst>
              <a:gd name="adj" fmla="val 7273"/>
            </a:avLst>
          </a:prstGeom>
          <a:solidFill>
            <a:srgbClr val="F4F7FA"/>
          </a:solidFill>
          <a:ln w="12700">
            <a:solidFill>
              <a:srgbClr val="DCE4E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1133856" y="2368296"/>
            <a:ext cx="97383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50" dirty="0">
                <a:solidFill>
                  <a:srgbClr val="1D2733"/>
                </a:solidFill>
              </a:rPr>
              <a:t>A.  If x[n] is bounded, y[n] is bounded.</a:t>
            </a:r>
            <a:endParaRPr lang="en-US" sz="1750" dirty="0"/>
          </a:p>
        </p:txBody>
      </p:sp>
      <p:sp>
        <p:nvSpPr>
          <p:cNvPr id="10" name="Text 8"/>
          <p:cNvSpPr/>
          <p:nvPr/>
        </p:nvSpPr>
        <p:spPr>
          <a:xfrm>
            <a:off x="1133856" y="3081528"/>
            <a:ext cx="97383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50" dirty="0">
                <a:solidFill>
                  <a:srgbClr val="1D2733"/>
                </a:solidFill>
              </a:rPr>
              <a:t>B.  The response to δ[n−k] is h[n−k].</a:t>
            </a:r>
            <a:endParaRPr lang="en-US" sz="1750" dirty="0"/>
          </a:p>
        </p:txBody>
      </p:sp>
      <p:sp>
        <p:nvSpPr>
          <p:cNvPr id="11" name="Shape 9"/>
          <p:cNvSpPr/>
          <p:nvPr/>
        </p:nvSpPr>
        <p:spPr>
          <a:xfrm>
            <a:off x="960120" y="3666744"/>
            <a:ext cx="10195560" cy="502920"/>
          </a:xfrm>
          <a:prstGeom prst="roundRect">
            <a:avLst>
              <a:gd name="adj" fmla="val 7273"/>
            </a:avLst>
          </a:prstGeom>
          <a:solidFill>
            <a:srgbClr val="F4F7FA"/>
          </a:solidFill>
          <a:ln w="12700">
            <a:solidFill>
              <a:srgbClr val="DCE4E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1133856" y="3794760"/>
            <a:ext cx="97383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50" dirty="0">
                <a:solidFill>
                  <a:srgbClr val="1D2733"/>
                </a:solidFill>
              </a:rPr>
              <a:t>C.  The system must be causal.</a:t>
            </a:r>
            <a:endParaRPr lang="en-US" sz="1750" dirty="0"/>
          </a:p>
        </p:txBody>
      </p:sp>
      <p:sp>
        <p:nvSpPr>
          <p:cNvPr id="13" name="Shape 11"/>
          <p:cNvSpPr/>
          <p:nvPr/>
        </p:nvSpPr>
        <p:spPr>
          <a:xfrm>
            <a:off x="960120" y="4379976"/>
            <a:ext cx="10195560" cy="502920"/>
          </a:xfrm>
          <a:prstGeom prst="roundRect">
            <a:avLst>
              <a:gd name="adj" fmla="val 7273"/>
            </a:avLst>
          </a:prstGeom>
          <a:solidFill>
            <a:srgbClr val="F4F7FA"/>
          </a:solidFill>
          <a:ln w="12700">
            <a:solidFill>
              <a:srgbClr val="DCE4E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1133856" y="4507992"/>
            <a:ext cx="97383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50" dirty="0">
                <a:solidFill>
                  <a:srgbClr val="1D2733"/>
                </a:solidFill>
              </a:rPr>
              <a:t>D.  The impulse response has finite length.</a:t>
            </a:r>
            <a:endParaRPr lang="en-US" sz="17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40896" y="6492240"/>
            <a:ext cx="228600" cy="16459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900">
                <a:solidFill>
                  <a:srgbClr val="5C6873"/>
                </a:solidFill>
                <a:latin typeface="Aptos"/>
                <a:ea typeface="Aptos"/>
                <a:cs typeface="Aptos"/>
              </a:defRPr>
            </a:lvl1pPr>
          </a:lstStyle>
          <a:p>
            <a:pPr algn="r"/>
            <a:fld id="{F7021451-1387-4CA6-816F-3879F97B5CBC}" type="slidenum">
              <a:rPr lang="en-US" b="0"/>
              <a:t>21</a:t>
            </a:fld>
            <a:endParaRPr lang="en-US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069641B-C67F-0E88-546E-60B936F220E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E420A9F4-D697-DB7A-BB9E-0763D8BF3D9D}"/>
              </a:ext>
            </a:extLst>
          </p:cNvPr>
          <p:cNvSpPr/>
          <p:nvPr/>
        </p:nvSpPr>
        <p:spPr>
          <a:xfrm>
            <a:off x="566928" y="347472"/>
            <a:ext cx="110185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7324D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Concept check</a:t>
            </a:r>
            <a:endParaRPr lang="en-US" sz="2800" dirty="0"/>
          </a:p>
        </p:txBody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93D8DE8D-F0E3-AFAE-E8CA-743537945A4A}"/>
              </a:ext>
            </a:extLst>
          </p:cNvPr>
          <p:cNvSpPr/>
          <p:nvPr/>
        </p:nvSpPr>
        <p:spPr>
          <a:xfrm>
            <a:off x="585216" y="822960"/>
            <a:ext cx="10789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5C6873"/>
                </a:solidFill>
              </a:rPr>
              <a:t>No computation should be necessary.</a:t>
            </a:r>
            <a:endParaRPr lang="en-US" sz="1400" dirty="0"/>
          </a:p>
        </p:txBody>
      </p:sp>
      <p:sp>
        <p:nvSpPr>
          <p:cNvPr id="4" name="Shape 2">
            <a:extLst>
              <a:ext uri="{FF2B5EF4-FFF2-40B4-BE49-F238E27FC236}">
                <a16:creationId xmlns:a16="http://schemas.microsoft.com/office/drawing/2014/main" id="{60F4B762-8DD9-07AA-17A6-196153224F09}"/>
              </a:ext>
            </a:extLst>
          </p:cNvPr>
          <p:cNvSpPr/>
          <p:nvPr/>
        </p:nvSpPr>
        <p:spPr>
          <a:xfrm>
            <a:off x="9966960" y="329184"/>
            <a:ext cx="1627632" cy="310896"/>
          </a:xfrm>
          <a:prstGeom prst="roundRect">
            <a:avLst>
              <a:gd name="adj" fmla="val 23529"/>
            </a:avLst>
          </a:prstGeom>
          <a:solidFill>
            <a:srgbClr val="1F7A8C"/>
          </a:solidFill>
          <a:ln w="12700">
            <a:solidFill>
              <a:srgbClr val="1F7A8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>
            <a:extLst>
              <a:ext uri="{FF2B5EF4-FFF2-40B4-BE49-F238E27FC236}">
                <a16:creationId xmlns:a16="http://schemas.microsoft.com/office/drawing/2014/main" id="{8B7F7680-6373-DF76-38EB-346FD3981FB8}"/>
              </a:ext>
            </a:extLst>
          </p:cNvPr>
          <p:cNvSpPr/>
          <p:nvPr/>
        </p:nvSpPr>
        <p:spPr>
          <a:xfrm>
            <a:off x="10012680" y="393192"/>
            <a:ext cx="1527048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kern="0" spc="60" dirty="0">
                <a:solidFill>
                  <a:srgbClr val="FFFFFF"/>
                </a:solidFill>
              </a:rPr>
              <a:t>CHECK</a:t>
            </a:r>
            <a:endParaRPr lang="en-US" sz="900" dirty="0"/>
          </a:p>
        </p:txBody>
      </p:sp>
      <p:sp>
        <p:nvSpPr>
          <p:cNvPr id="6" name="Text 4">
            <a:extLst>
              <a:ext uri="{FF2B5EF4-FFF2-40B4-BE49-F238E27FC236}">
                <a16:creationId xmlns:a16="http://schemas.microsoft.com/office/drawing/2014/main" id="{80806E60-102E-4E8B-42CA-74D7820C62EB}"/>
              </a:ext>
            </a:extLst>
          </p:cNvPr>
          <p:cNvSpPr/>
          <p:nvPr/>
        </p:nvSpPr>
        <p:spPr>
          <a:xfrm>
            <a:off x="731520" y="1325880"/>
            <a:ext cx="10744200" cy="7315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2300" b="1" dirty="0">
                <a:solidFill>
                  <a:srgbClr val="1D2733"/>
                </a:solidFill>
              </a:rPr>
              <a:t>For an LTI system, which statement is always true?</a:t>
            </a:r>
            <a:endParaRPr lang="en-US" sz="2300" dirty="0"/>
          </a:p>
        </p:txBody>
      </p:sp>
      <p:sp>
        <p:nvSpPr>
          <p:cNvPr id="7" name="Shape 5">
            <a:extLst>
              <a:ext uri="{FF2B5EF4-FFF2-40B4-BE49-F238E27FC236}">
                <a16:creationId xmlns:a16="http://schemas.microsoft.com/office/drawing/2014/main" id="{A7F9604D-60E0-D38D-6A34-AD2166D0544A}"/>
              </a:ext>
            </a:extLst>
          </p:cNvPr>
          <p:cNvSpPr/>
          <p:nvPr/>
        </p:nvSpPr>
        <p:spPr>
          <a:xfrm>
            <a:off x="960120" y="2240280"/>
            <a:ext cx="10195560" cy="502920"/>
          </a:xfrm>
          <a:prstGeom prst="roundRect">
            <a:avLst>
              <a:gd name="adj" fmla="val 7273"/>
            </a:avLst>
          </a:prstGeom>
          <a:solidFill>
            <a:srgbClr val="F4F7FA"/>
          </a:solidFill>
          <a:ln w="12700">
            <a:solidFill>
              <a:srgbClr val="DCE4E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6">
            <a:extLst>
              <a:ext uri="{FF2B5EF4-FFF2-40B4-BE49-F238E27FC236}">
                <a16:creationId xmlns:a16="http://schemas.microsoft.com/office/drawing/2014/main" id="{5A875B56-B775-815A-EDB2-9475771AC505}"/>
              </a:ext>
            </a:extLst>
          </p:cNvPr>
          <p:cNvSpPr/>
          <p:nvPr/>
        </p:nvSpPr>
        <p:spPr>
          <a:xfrm>
            <a:off x="1133856" y="2368296"/>
            <a:ext cx="97383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50" dirty="0">
                <a:solidFill>
                  <a:srgbClr val="1D2733"/>
                </a:solidFill>
              </a:rPr>
              <a:t>A.  If x[n] is bounded, y[n] is bounded.</a:t>
            </a:r>
            <a:endParaRPr lang="en-US" sz="1750" dirty="0"/>
          </a:p>
        </p:txBody>
      </p:sp>
      <p:sp>
        <p:nvSpPr>
          <p:cNvPr id="9" name="Shape 7">
            <a:extLst>
              <a:ext uri="{FF2B5EF4-FFF2-40B4-BE49-F238E27FC236}">
                <a16:creationId xmlns:a16="http://schemas.microsoft.com/office/drawing/2014/main" id="{D25FCD76-198C-DD41-C049-CF5C719BB45B}"/>
              </a:ext>
            </a:extLst>
          </p:cNvPr>
          <p:cNvSpPr/>
          <p:nvPr/>
        </p:nvSpPr>
        <p:spPr>
          <a:xfrm>
            <a:off x="960120" y="2953512"/>
            <a:ext cx="10195560" cy="502920"/>
          </a:xfrm>
          <a:prstGeom prst="roundRect">
            <a:avLst>
              <a:gd name="adj" fmla="val 7273"/>
            </a:avLst>
          </a:prstGeom>
          <a:solidFill>
            <a:srgbClr val="E9F5F7"/>
          </a:solidFill>
          <a:ln w="12700">
            <a:solidFill>
              <a:srgbClr val="1F7A8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8">
            <a:extLst>
              <a:ext uri="{FF2B5EF4-FFF2-40B4-BE49-F238E27FC236}">
                <a16:creationId xmlns:a16="http://schemas.microsoft.com/office/drawing/2014/main" id="{05111184-DBA4-359C-9A16-6A42204F3E1F}"/>
              </a:ext>
            </a:extLst>
          </p:cNvPr>
          <p:cNvSpPr/>
          <p:nvPr/>
        </p:nvSpPr>
        <p:spPr>
          <a:xfrm>
            <a:off x="1133856" y="3081528"/>
            <a:ext cx="97383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50" dirty="0">
                <a:solidFill>
                  <a:srgbClr val="1D2733"/>
                </a:solidFill>
              </a:rPr>
              <a:t>B.  The response to δ[n−k] is h[n−k].</a:t>
            </a:r>
            <a:endParaRPr lang="en-US" sz="1750" dirty="0"/>
          </a:p>
        </p:txBody>
      </p:sp>
      <p:sp>
        <p:nvSpPr>
          <p:cNvPr id="11" name="Shape 9">
            <a:extLst>
              <a:ext uri="{FF2B5EF4-FFF2-40B4-BE49-F238E27FC236}">
                <a16:creationId xmlns:a16="http://schemas.microsoft.com/office/drawing/2014/main" id="{672CF358-E49F-FDB4-206A-251EFF7727A5}"/>
              </a:ext>
            </a:extLst>
          </p:cNvPr>
          <p:cNvSpPr/>
          <p:nvPr/>
        </p:nvSpPr>
        <p:spPr>
          <a:xfrm>
            <a:off x="960120" y="3666744"/>
            <a:ext cx="10195560" cy="502920"/>
          </a:xfrm>
          <a:prstGeom prst="roundRect">
            <a:avLst>
              <a:gd name="adj" fmla="val 7273"/>
            </a:avLst>
          </a:prstGeom>
          <a:solidFill>
            <a:srgbClr val="F4F7FA"/>
          </a:solidFill>
          <a:ln w="12700">
            <a:solidFill>
              <a:srgbClr val="DCE4E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10">
            <a:extLst>
              <a:ext uri="{FF2B5EF4-FFF2-40B4-BE49-F238E27FC236}">
                <a16:creationId xmlns:a16="http://schemas.microsoft.com/office/drawing/2014/main" id="{91091103-2E70-6469-4E61-00EAA1E2A45E}"/>
              </a:ext>
            </a:extLst>
          </p:cNvPr>
          <p:cNvSpPr/>
          <p:nvPr/>
        </p:nvSpPr>
        <p:spPr>
          <a:xfrm>
            <a:off x="1133856" y="3794760"/>
            <a:ext cx="97383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50" dirty="0">
                <a:solidFill>
                  <a:srgbClr val="1D2733"/>
                </a:solidFill>
              </a:rPr>
              <a:t>C.  The system must be causal.</a:t>
            </a:r>
            <a:endParaRPr lang="en-US" sz="1750" dirty="0"/>
          </a:p>
        </p:txBody>
      </p:sp>
      <p:sp>
        <p:nvSpPr>
          <p:cNvPr id="13" name="Shape 11">
            <a:extLst>
              <a:ext uri="{FF2B5EF4-FFF2-40B4-BE49-F238E27FC236}">
                <a16:creationId xmlns:a16="http://schemas.microsoft.com/office/drawing/2014/main" id="{F8748203-7834-8A02-B0E4-57B3D389A633}"/>
              </a:ext>
            </a:extLst>
          </p:cNvPr>
          <p:cNvSpPr/>
          <p:nvPr/>
        </p:nvSpPr>
        <p:spPr>
          <a:xfrm>
            <a:off x="960120" y="4379976"/>
            <a:ext cx="10195560" cy="502920"/>
          </a:xfrm>
          <a:prstGeom prst="roundRect">
            <a:avLst>
              <a:gd name="adj" fmla="val 7273"/>
            </a:avLst>
          </a:prstGeom>
          <a:solidFill>
            <a:srgbClr val="F4F7FA"/>
          </a:solidFill>
          <a:ln w="12700">
            <a:solidFill>
              <a:srgbClr val="DCE4E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 12">
            <a:extLst>
              <a:ext uri="{FF2B5EF4-FFF2-40B4-BE49-F238E27FC236}">
                <a16:creationId xmlns:a16="http://schemas.microsoft.com/office/drawing/2014/main" id="{CE12CAC6-B328-0F5B-2B8F-470239F21FAB}"/>
              </a:ext>
            </a:extLst>
          </p:cNvPr>
          <p:cNvSpPr/>
          <p:nvPr/>
        </p:nvSpPr>
        <p:spPr>
          <a:xfrm>
            <a:off x="1133856" y="4507992"/>
            <a:ext cx="97383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50" dirty="0">
                <a:solidFill>
                  <a:srgbClr val="1D2733"/>
                </a:solidFill>
              </a:rPr>
              <a:t>D.  The impulse response has finite length.</a:t>
            </a:r>
            <a:endParaRPr lang="en-US" sz="1750" dirty="0"/>
          </a:p>
        </p:txBody>
      </p:sp>
      <p:sp>
        <p:nvSpPr>
          <p:cNvPr id="15" name="Text 13">
            <a:extLst>
              <a:ext uri="{FF2B5EF4-FFF2-40B4-BE49-F238E27FC236}">
                <a16:creationId xmlns:a16="http://schemas.microsoft.com/office/drawing/2014/main" id="{C2C61676-1F8F-FF39-4ED1-7F7007AEF6E7}"/>
              </a:ext>
            </a:extLst>
          </p:cNvPr>
          <p:cNvSpPr/>
          <p:nvPr/>
        </p:nvSpPr>
        <p:spPr>
          <a:xfrm>
            <a:off x="960120" y="5303520"/>
            <a:ext cx="10195560" cy="54864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400" i="1" dirty="0">
                <a:solidFill>
                  <a:srgbClr val="5C6873"/>
                </a:solidFill>
              </a:rPr>
              <a:t>Correct: time invariance shifts the impulse response; linearity handles scaling. Stability and causality are additional properties, not automatic.</a:t>
            </a:r>
            <a:endParaRPr lang="en-US" sz="1400" dirty="0"/>
          </a:p>
        </p:txBody>
      </p:sp>
      <p:sp>
        <p:nvSpPr>
          <p:cNvPr id="25" name="Slide Number Placeholder 0">
            <a:extLst>
              <a:ext uri="{FF2B5EF4-FFF2-40B4-BE49-F238E27FC236}">
                <a16:creationId xmlns:a16="http://schemas.microsoft.com/office/drawing/2014/main" id="{4820B4BD-18C1-E072-C0D1-2CFA944C9462}"/>
              </a:ext>
            </a:extLst>
          </p:cNvPr>
          <p:cNvSpPr>
            <a:spLocks noGrp="1"/>
          </p:cNvSpPr>
          <p:nvPr>
            <p:ph type="sldNum" sz="quarter" idx="4294967295"/>
          </p:nvPr>
        </p:nvSpPr>
        <p:spPr>
          <a:xfrm>
            <a:off x="11740896" y="6492240"/>
            <a:ext cx="228600" cy="164592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5C6873"/>
                </a:solidFill>
                <a:latin typeface="Aptos"/>
                <a:ea typeface="Aptos"/>
                <a:cs typeface="Aptos"/>
              </a:defRPr>
            </a:lvl1pPr>
          </a:lstStyle>
          <a:p>
            <a:pPr algn="r"/>
            <a:fld id="{F7021451-1387-4CA6-816F-3879F97B5CBC}" type="slidenum">
              <a:rPr lang="en-US" b="0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22283705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47472"/>
            <a:ext cx="110185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7324D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Lecture 1 synthesis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585216" y="822960"/>
            <a:ext cx="10789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5C6873"/>
                </a:solidFill>
              </a:rPr>
              <a:t>The chain of reasoning matters more than memorizing isolated formulas.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9966960" y="329184"/>
            <a:ext cx="1627632" cy="310896"/>
          </a:xfrm>
          <a:prstGeom prst="roundRect">
            <a:avLst>
              <a:gd name="adj" fmla="val 23529"/>
            </a:avLst>
          </a:prstGeom>
          <a:solidFill>
            <a:srgbClr val="1F7A8C"/>
          </a:solidFill>
          <a:ln w="12700">
            <a:solidFill>
              <a:srgbClr val="1F7A8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10012680" y="393192"/>
            <a:ext cx="1527048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kern="0" spc="60" dirty="0">
                <a:solidFill>
                  <a:srgbClr val="FFFFFF"/>
                </a:solidFill>
              </a:rPr>
              <a:t>WRAP-UP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713232" y="1417320"/>
            <a:ext cx="2026310" cy="1005840"/>
          </a:xfrm>
          <a:prstGeom prst="roundRect">
            <a:avLst>
              <a:gd name="adj" fmla="val 5455"/>
            </a:avLst>
          </a:prstGeom>
          <a:solidFill>
            <a:srgbClr val="E9F5F7"/>
          </a:solidFill>
          <a:ln w="13970">
            <a:solidFill>
              <a:srgbClr val="1F7A8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804672" y="1581912"/>
            <a:ext cx="184343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17324D"/>
                </a:solidFill>
              </a:rPr>
              <a:t>Impulse basis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822960" y="1892808"/>
            <a:ext cx="180685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150" dirty="0">
                <a:solidFill>
                  <a:srgbClr val="5C6873"/>
                </a:solidFill>
              </a:rPr>
              <a:t>x=Σx[k]δ[n−k]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2766974" y="1755648"/>
            <a:ext cx="109728" cy="292608"/>
          </a:xfrm>
          <a:prstGeom prst="chevron">
            <a:avLst/>
          </a:prstGeom>
          <a:solidFill>
            <a:srgbClr val="A9B8C5"/>
          </a:solidFill>
          <a:ln w="12700">
            <a:solidFill>
              <a:srgbClr val="A9B8C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Shape 8"/>
          <p:cNvSpPr/>
          <p:nvPr/>
        </p:nvSpPr>
        <p:spPr>
          <a:xfrm>
            <a:off x="2904134" y="1417320"/>
            <a:ext cx="2026310" cy="1005840"/>
          </a:xfrm>
          <a:prstGeom prst="roundRect">
            <a:avLst>
              <a:gd name="adj" fmla="val 5455"/>
            </a:avLst>
          </a:prstGeom>
          <a:solidFill>
            <a:srgbClr val="EEF4FB"/>
          </a:solidFill>
          <a:ln w="13970">
            <a:solidFill>
              <a:srgbClr val="4A6FA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2995574" y="1581912"/>
            <a:ext cx="184343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17324D"/>
                </a:solidFill>
              </a:rPr>
              <a:t>L + TI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3013862" y="1892808"/>
            <a:ext cx="180685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150" dirty="0">
                <a:solidFill>
                  <a:srgbClr val="5C6873"/>
                </a:solidFill>
              </a:rPr>
              <a:t>scale + shift response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4957877" y="1755648"/>
            <a:ext cx="109728" cy="292608"/>
          </a:xfrm>
          <a:prstGeom prst="chevron">
            <a:avLst/>
          </a:prstGeom>
          <a:solidFill>
            <a:srgbClr val="A9B8C5"/>
          </a:solidFill>
          <a:ln w="12700">
            <a:solidFill>
              <a:srgbClr val="A9B8C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Shape 12"/>
          <p:cNvSpPr/>
          <p:nvPr/>
        </p:nvSpPr>
        <p:spPr>
          <a:xfrm>
            <a:off x="5095037" y="1417320"/>
            <a:ext cx="2026310" cy="1005840"/>
          </a:xfrm>
          <a:prstGeom prst="roundRect">
            <a:avLst>
              <a:gd name="adj" fmla="val 5455"/>
            </a:avLst>
          </a:prstGeom>
          <a:solidFill>
            <a:srgbClr val="E9F5F7"/>
          </a:solidFill>
          <a:ln w="13970">
            <a:solidFill>
              <a:srgbClr val="1F7A8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5186477" y="1581912"/>
            <a:ext cx="184343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17324D"/>
                </a:solidFill>
              </a:rPr>
              <a:t>Impulse response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5204765" y="1892808"/>
            <a:ext cx="180685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150" dirty="0">
                <a:solidFill>
                  <a:srgbClr val="5C6873"/>
                </a:solidFill>
              </a:rPr>
              <a:t>h[n]</a:t>
            </a:r>
            <a:endParaRPr lang="en-US" sz="1150" dirty="0"/>
          </a:p>
        </p:txBody>
      </p:sp>
      <p:sp>
        <p:nvSpPr>
          <p:cNvPr id="17" name="Shape 15"/>
          <p:cNvSpPr/>
          <p:nvPr/>
        </p:nvSpPr>
        <p:spPr>
          <a:xfrm>
            <a:off x="7148779" y="1755648"/>
            <a:ext cx="109728" cy="292608"/>
          </a:xfrm>
          <a:prstGeom prst="chevron">
            <a:avLst/>
          </a:prstGeom>
          <a:solidFill>
            <a:srgbClr val="A9B8C5"/>
          </a:solidFill>
          <a:ln w="12700">
            <a:solidFill>
              <a:srgbClr val="A9B8C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Shape 16"/>
          <p:cNvSpPr/>
          <p:nvPr/>
        </p:nvSpPr>
        <p:spPr>
          <a:xfrm>
            <a:off x="7285939" y="1417320"/>
            <a:ext cx="2026310" cy="1005840"/>
          </a:xfrm>
          <a:prstGeom prst="roundRect">
            <a:avLst>
              <a:gd name="adj" fmla="val 5455"/>
            </a:avLst>
          </a:prstGeom>
          <a:solidFill>
            <a:srgbClr val="EEF4FB"/>
          </a:solidFill>
          <a:ln w="13970">
            <a:solidFill>
              <a:srgbClr val="4A6FA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Text 17"/>
          <p:cNvSpPr/>
          <p:nvPr/>
        </p:nvSpPr>
        <p:spPr>
          <a:xfrm>
            <a:off x="7377379" y="1581912"/>
            <a:ext cx="184343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17324D"/>
                </a:solidFill>
              </a:rPr>
              <a:t>Convolution</a:t>
            </a:r>
            <a:endParaRPr lang="en-US" sz="1500" dirty="0"/>
          </a:p>
        </p:txBody>
      </p:sp>
      <p:sp>
        <p:nvSpPr>
          <p:cNvPr id="20" name="Text 18"/>
          <p:cNvSpPr/>
          <p:nvPr/>
        </p:nvSpPr>
        <p:spPr>
          <a:xfrm>
            <a:off x="7395667" y="1892808"/>
            <a:ext cx="180685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150" dirty="0">
                <a:solidFill>
                  <a:srgbClr val="5C6873"/>
                </a:solidFill>
              </a:rPr>
              <a:t>y=x*h</a:t>
            </a:r>
            <a:endParaRPr lang="en-US" sz="1150" dirty="0"/>
          </a:p>
        </p:txBody>
      </p:sp>
      <p:sp>
        <p:nvSpPr>
          <p:cNvPr id="21" name="Shape 19"/>
          <p:cNvSpPr/>
          <p:nvPr/>
        </p:nvSpPr>
        <p:spPr>
          <a:xfrm>
            <a:off x="9339682" y="1755648"/>
            <a:ext cx="109728" cy="292608"/>
          </a:xfrm>
          <a:prstGeom prst="chevron">
            <a:avLst/>
          </a:prstGeom>
          <a:solidFill>
            <a:srgbClr val="A9B8C5"/>
          </a:solidFill>
          <a:ln w="12700">
            <a:solidFill>
              <a:srgbClr val="A9B8C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Shape 20"/>
          <p:cNvSpPr/>
          <p:nvPr/>
        </p:nvSpPr>
        <p:spPr>
          <a:xfrm>
            <a:off x="9476842" y="1417320"/>
            <a:ext cx="2026310" cy="1005840"/>
          </a:xfrm>
          <a:prstGeom prst="roundRect">
            <a:avLst>
              <a:gd name="adj" fmla="val 5455"/>
            </a:avLst>
          </a:prstGeom>
          <a:solidFill>
            <a:srgbClr val="E9F5F7"/>
          </a:solidFill>
          <a:ln w="13970">
            <a:solidFill>
              <a:srgbClr val="1F7A8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" name="Text 21"/>
          <p:cNvSpPr/>
          <p:nvPr/>
        </p:nvSpPr>
        <p:spPr>
          <a:xfrm>
            <a:off x="9568282" y="1581912"/>
            <a:ext cx="184343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17324D"/>
                </a:solidFill>
              </a:rPr>
              <a:t>Filtering / CNNs</a:t>
            </a:r>
            <a:endParaRPr lang="en-US" sz="1500" dirty="0"/>
          </a:p>
        </p:txBody>
      </p:sp>
      <p:sp>
        <p:nvSpPr>
          <p:cNvPr id="24" name="Text 22"/>
          <p:cNvSpPr/>
          <p:nvPr/>
        </p:nvSpPr>
        <p:spPr>
          <a:xfrm>
            <a:off x="9586570" y="1892808"/>
            <a:ext cx="180685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150" dirty="0">
                <a:solidFill>
                  <a:srgbClr val="5C6873"/>
                </a:solidFill>
              </a:rPr>
              <a:t>local weighted sums</a:t>
            </a:r>
            <a:endParaRPr lang="en-US" sz="1150" dirty="0"/>
          </a:p>
        </p:txBody>
      </p:sp>
      <p:sp>
        <p:nvSpPr>
          <p:cNvPr id="25" name="Text 23"/>
          <p:cNvSpPr/>
          <p:nvPr/>
        </p:nvSpPr>
        <p:spPr>
          <a:xfrm>
            <a:off x="960120" y="3246120"/>
            <a:ext cx="10058400" cy="182880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marL="228600" indent="-228600">
              <a:buSzPct val="100000"/>
              <a:buChar char="•"/>
            </a:pPr>
            <a:r>
              <a:rPr lang="en-US" sz="1900" dirty="0">
                <a:solidFill>
                  <a:srgbClr val="1D2733"/>
                </a:solidFill>
              </a:rPr>
              <a:t>Be able to test system properties with a counterexample or proof.</a:t>
            </a:r>
            <a:endParaRPr lang="en-US" sz="1900" dirty="0"/>
          </a:p>
          <a:p>
            <a:pPr marL="228600" indent="-228600">
              <a:buSzPct val="100000"/>
              <a:buChar char="•"/>
            </a:pPr>
            <a:r>
              <a:rPr lang="en-US" sz="1900" dirty="0">
                <a:solidFill>
                  <a:srgbClr val="1D2733"/>
                </a:solidFill>
              </a:rPr>
              <a:t>Be able to derive convolution from LTI assumptions.</a:t>
            </a:r>
            <a:endParaRPr lang="en-US" sz="1900" dirty="0"/>
          </a:p>
          <a:p>
            <a:pPr marL="228600" indent="-228600">
              <a:buSzPct val="100000"/>
              <a:buChar char="•"/>
            </a:pPr>
            <a:r>
              <a:rPr lang="en-US" sz="1900" dirty="0">
                <a:solidFill>
                  <a:srgbClr val="1D2733"/>
                </a:solidFill>
              </a:rPr>
              <a:t>Be able to compute a short convolution by hand and predict its support.</a:t>
            </a:r>
            <a:endParaRPr lang="en-US" sz="1900" dirty="0"/>
          </a:p>
        </p:txBody>
      </p:sp>
      <p:sp>
        <p:nvSpPr>
          <p:cNvPr id="26" name="Shape 24"/>
          <p:cNvSpPr/>
          <p:nvPr/>
        </p:nvSpPr>
        <p:spPr>
          <a:xfrm>
            <a:off x="2514600" y="5166360"/>
            <a:ext cx="7132320" cy="822960"/>
          </a:xfrm>
          <a:prstGeom prst="roundRect">
            <a:avLst>
              <a:gd name="adj" fmla="val 8889"/>
            </a:avLst>
          </a:prstGeom>
          <a:solidFill>
            <a:srgbClr val="FFF6DF"/>
          </a:solidFill>
          <a:ln w="16510">
            <a:solidFill>
              <a:srgbClr val="D9A44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7" name="Text 25"/>
          <p:cNvSpPr/>
          <p:nvPr/>
        </p:nvSpPr>
        <p:spPr>
          <a:xfrm>
            <a:off x="2679192" y="5276088"/>
            <a:ext cx="680313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D9A441"/>
                </a:solidFill>
              </a:rPr>
              <a:t>Next lecture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2679192" y="5550408"/>
            <a:ext cx="6803136" cy="34747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350" dirty="0">
                <a:solidFill>
                  <a:srgbClr val="1D2733"/>
                </a:solidFill>
              </a:rPr>
              <a:t>Complex exponentials turn convolution into multiplication in the frequency domain.</a:t>
            </a:r>
            <a:endParaRPr lang="en-US" sz="1350" dirty="0"/>
          </a:p>
        </p:txBody>
      </p:sp>
      <p:sp>
        <p:nvSpPr>
          <p:cNvPr id="29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40896" y="6492240"/>
            <a:ext cx="228600" cy="16459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900">
                <a:solidFill>
                  <a:srgbClr val="5C6873"/>
                </a:solidFill>
                <a:latin typeface="Aptos"/>
                <a:ea typeface="Aptos"/>
                <a:cs typeface="Aptos"/>
              </a:defRPr>
            </a:lvl1pPr>
          </a:lstStyle>
          <a:p>
            <a:pPr algn="r"/>
            <a:fld id="{F7021451-1387-4CA6-816F-3879F97B5CBC}" type="slidenum">
              <a:rPr lang="en-US" b="0"/>
              <a:t>23</a:t>
            </a:fld>
            <a:endParaRPr lang="en-US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47472"/>
            <a:ext cx="110185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7324D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Optional board reserve: index bookkeeping for finite convolution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585216" y="822960"/>
            <a:ext cx="10789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5C6873"/>
                </a:solidFill>
              </a:rPr>
              <a:t>Use if students need one more example.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9966960" y="329184"/>
            <a:ext cx="1627632" cy="310896"/>
          </a:xfrm>
          <a:prstGeom prst="roundRect">
            <a:avLst>
              <a:gd name="adj" fmla="val 23529"/>
            </a:avLst>
          </a:prstGeom>
          <a:solidFill>
            <a:srgbClr val="1F7A8C"/>
          </a:solidFill>
          <a:ln w="12700">
            <a:solidFill>
              <a:srgbClr val="1F7A8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10012680" y="393192"/>
            <a:ext cx="1527048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kern="0" spc="60" dirty="0">
                <a:solidFill>
                  <a:srgbClr val="FFFFFF"/>
                </a:solidFill>
              </a:rPr>
              <a:t>RESERVE</a:t>
            </a:r>
            <a:endParaRPr lang="en-US" sz="900" dirty="0"/>
          </a:p>
        </p:txBody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731520" y="1280160"/>
            <a:ext cx="7589520" cy="594360"/>
          </a:xfrm>
          <a:prstGeom prst="rect">
            <a:avLst/>
          </a:prstGeom>
        </p:spPr>
      </p:pic>
      <p:pic>
        <p:nvPicPr>
          <p:cNvPr id="7" name="Image 1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731520" y="2331720"/>
            <a:ext cx="7772400" cy="594360"/>
          </a:xfrm>
          <a:prstGeom prst="rect">
            <a:avLst/>
          </a:prstGeom>
        </p:spPr>
      </p:pic>
      <p:sp>
        <p:nvSpPr>
          <p:cNvPr id="8" name="Shape 4"/>
          <p:cNvSpPr/>
          <p:nvPr/>
        </p:nvSpPr>
        <p:spPr>
          <a:xfrm>
            <a:off x="8503920" y="1234440"/>
            <a:ext cx="3383280" cy="1463040"/>
          </a:xfrm>
          <a:prstGeom prst="roundRect">
            <a:avLst>
              <a:gd name="adj" fmla="val 5000"/>
            </a:avLst>
          </a:prstGeom>
          <a:solidFill>
            <a:srgbClr val="E9F5F7"/>
          </a:solidFill>
          <a:ln w="16510">
            <a:solidFill>
              <a:srgbClr val="1F7A8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5"/>
          <p:cNvSpPr/>
          <p:nvPr/>
        </p:nvSpPr>
        <p:spPr>
          <a:xfrm>
            <a:off x="8668512" y="1344168"/>
            <a:ext cx="305409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F7A8C"/>
                </a:solidFill>
              </a:rPr>
              <a:t>Length rule</a:t>
            </a:r>
            <a:endParaRPr lang="en-US" sz="1200" dirty="0"/>
          </a:p>
        </p:txBody>
      </p:sp>
      <p:sp>
        <p:nvSpPr>
          <p:cNvPr id="10" name="Text 6"/>
          <p:cNvSpPr/>
          <p:nvPr/>
        </p:nvSpPr>
        <p:spPr>
          <a:xfrm>
            <a:off x="8668512" y="1618488"/>
            <a:ext cx="3054096" cy="98755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350" dirty="0">
                <a:solidFill>
                  <a:srgbClr val="1D2733"/>
                </a:solidFill>
              </a:rPr>
              <a:t>For sequences of lengths Lx and Lh starting at known indices, full convolution has length Lx+Lh−1.</a:t>
            </a:r>
            <a:endParaRPr lang="en-US" sz="1350" dirty="0"/>
          </a:p>
        </p:txBody>
      </p:sp>
      <p:sp>
        <p:nvSpPr>
          <p:cNvPr id="11" name="Text 7"/>
          <p:cNvSpPr/>
          <p:nvPr/>
        </p:nvSpPr>
        <p:spPr>
          <a:xfrm>
            <a:off x="914400" y="3657600"/>
            <a:ext cx="9875520" cy="137160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marL="228600" indent="-228600">
              <a:buSzPct val="100000"/>
              <a:buChar char="•"/>
            </a:pPr>
            <a:r>
              <a:rPr lang="en-US" sz="2000" dirty="0">
                <a:solidFill>
                  <a:srgbClr val="1D2733"/>
                </a:solidFill>
              </a:rPr>
              <a:t>This predicts where the output can be nonzero before any arithmetic.</a:t>
            </a:r>
            <a:endParaRPr lang="en-US" sz="2000" dirty="0"/>
          </a:p>
          <a:p>
            <a:pPr marL="228600" indent="-228600">
              <a:buSzPct val="100000"/>
              <a:buChar char="•"/>
            </a:pPr>
            <a:r>
              <a:rPr lang="en-US" sz="2000" dirty="0">
                <a:solidFill>
                  <a:srgbClr val="1D2733"/>
                </a:solidFill>
              </a:rPr>
              <a:t>It also helps debug off-by-one errors in code.</a:t>
            </a:r>
            <a:endParaRPr lang="en-US" sz="2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40896" y="6492240"/>
            <a:ext cx="228600" cy="16459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900">
                <a:solidFill>
                  <a:srgbClr val="5C6873"/>
                </a:solidFill>
                <a:latin typeface="Aptos"/>
                <a:ea typeface="Aptos"/>
                <a:cs typeface="Aptos"/>
              </a:defRPr>
            </a:lvl1pPr>
          </a:lstStyle>
          <a:p>
            <a:pPr algn="r"/>
            <a:fld id="{F7021451-1387-4CA6-816F-3879F97B5CBC}" type="slidenum">
              <a:rPr lang="en-US" b="0"/>
              <a:t>24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26</TotalTime>
  <Words>2675</Words>
  <Application>Microsoft Office PowerPoint</Application>
  <PresentationFormat>Widescreen</PresentationFormat>
  <Paragraphs>398</Paragraphs>
  <Slides>24</Slides>
  <Notes>24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24</vt:i4>
      </vt:variant>
    </vt:vector>
  </HeadingPairs>
  <TitlesOfParts>
    <vt:vector size="29" baseType="lpstr">
      <vt:lpstr>Aptos</vt:lpstr>
      <vt:lpstr>Aptos Display</vt:lpstr>
      <vt:lpstr>Arial</vt:lpstr>
      <vt:lpstr>Courier New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Course materials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Week 1 Lecture 1 — Signals, LTI Systems, and Convolution</dc:title>
  <dc:subject>Week 1 DSP + ML lecture materials</dc:subject>
  <dc:creator>OpenAI</dc:creator>
  <cp:lastModifiedBy>Peter Mathys</cp:lastModifiedBy>
  <cp:revision>2</cp:revision>
  <dcterms:created xsi:type="dcterms:W3CDTF">2026-08-18T14:03:18Z</dcterms:created>
  <dcterms:modified xsi:type="dcterms:W3CDTF">2026-08-18T23:08:46Z</dcterms:modified>
</cp:coreProperties>
</file>