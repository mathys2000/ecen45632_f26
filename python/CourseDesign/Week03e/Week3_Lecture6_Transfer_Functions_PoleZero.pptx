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0" r:id="rId23"/>
    <p:sldId id="276" r:id="rId24"/>
    <p:sldId id="281" r:id="rId25"/>
    <p:sldId id="277" r:id="rId26"/>
    <p:sldId id="27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Transfer Functions, Stability,
and Pole–Zero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Turn rational algebra into geometric intuition about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poles push up
zeros pull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predict filter behavior before plotting.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Derive H(z) directly from a linear constant-coefficient difference equation.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Identify poles, zeros, gain, and ROC constraints.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z-domain rules to test causality and BIBO stability.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Estimate frequency-response shape geometrically from a pole-zero plot.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Design and test a hum notch and a resonator in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Difference equation → transfer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Zero initial conditions turn shifts into powers of z⁻¹.</a:t>
            </a:r>
          </a:p>
        </p:txBody>
      </p:sp>
      <p:pic>
        <p:nvPicPr>
          <p:cNvPr id="6" name="Picture 5" descr="eq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692640" cy="15354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926080"/>
            <a:ext cx="5029200" cy="2971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43891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y[n] − 1.2y[n−1] + 0.32y[n−2]
= x[n] + 0.3x[n−1]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H(z)= (1+0.3z⁻¹)/(1−1.2z⁻¹+0.32z⁻²)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26080"/>
            <a:ext cx="5074920" cy="29718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246120"/>
            <a:ext cx="448056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Numerator roots → zeros.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Denominator roots → poles.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Overall scale → gain.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is determined by the intended system support/causality, not merely by the polynomial ratio.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Factor H(z): poles and zeros are the important landmarks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Root locations are more informative than raw coefficients.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371600"/>
            <a:ext cx="52120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For the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480560" cy="2331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zero: z = −0.3
poles: z = 0.8, 0.4
All poles and zeros are distinct, so the pole–zero plot directly exposes the second-order dynamics.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4572000" cy="4114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4389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6324F"/>
                </a:solidFill>
                <a:latin typeface="Aptos"/>
              </a:rPr>
              <a:t>Engineering habit: factor before you sketch.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Causality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rational LTI system, a causal impulse response is right-sided.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4800600" cy="35204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Causal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34340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7212B"/>
                </a:solidFill>
                <a:latin typeface="Aptos"/>
              </a:rPr>
              <a:t>ROC lies outside the outermost pole.
If poles are at radii 0.4 and 0.8:
causal ROC ⇒ |z| &gt; 0.8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4800600" cy="35204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67712"/>
            <a:ext cx="4160520" cy="18288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h[n] is right-sided.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Right-sided rational sequences have exterior ROCs.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 outermost pole sets the convergence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BIBO stability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LTI systems, stability means the unit circle is in the 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4937760" cy="4206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Time-domain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Aptos"/>
              </a:rPr>
              <a:t>Σ |h[n]| &lt; 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42976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0">
                <a:solidFill>
                  <a:srgbClr val="53616E"/>
                </a:solidFill>
                <a:latin typeface="Aptos"/>
              </a:rPr>
              <a:t>Then H(e^{jω}) = Σ h[n]e^{-jωn} converges for every ω.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4937760" cy="4206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z-plane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17212B"/>
                </a:solidFill>
                <a:latin typeface="Aptos"/>
              </a:rPr>
              <a:t>unit circle ⊂ 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42976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0">
                <a:solidFill>
                  <a:srgbClr val="53616E"/>
                </a:solidFill>
                <a:latin typeface="Aptos"/>
              </a:rPr>
              <a:t>The frequency response is finite all the way around |z|=1.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golden combination: causal + stable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causal rational system, every pole must lie strictly inside the unit circle.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2976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371600"/>
            <a:ext cx="5486400" cy="374903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ptos"/>
              </a:rPr>
              <a:t>Reasoning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240280"/>
            <a:ext cx="4709160" cy="246888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⇒ ROC is outside the outermost pole.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Stable ⇒ ROC must include |z|=1.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Therefore outermost pole radius must be &lt; 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 exactly on |z|=1 is not BIBO stable for the causal rational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13248"/>
            <a:ext cx="10012680" cy="5943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504688"/>
            <a:ext cx="9646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6324F"/>
                </a:solidFill>
                <a:latin typeface="Aptos"/>
              </a:rPr>
              <a:t>Important nuance: “all poles inside unit circle” is the causal + stable rule—not a stability rule without an ROC/support assumption.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6C72-A16E-63EC-12E1-A15A19DD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607189-E643-7FD9-9BA1-8B6F42FAF55E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B96000-7872-D46D-DED1-3233DC4A5526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0703C-120E-929A-C80A-28F1ADD84D1C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47A31-795F-AC5A-FFD4-E2ABDC51F196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440F12-F8DE-3369-151F-8242D9D3A5BE}"/>
              </a:ext>
            </a:extLst>
          </p:cNvPr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9D63B-5A7E-9725-9FF3-E874672773C7}"/>
              </a:ext>
            </a:extLst>
          </p:cNvPr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1DDD9-161F-6FAE-8D12-F0D39FD360BF}"/>
              </a:ext>
            </a:extLst>
          </p:cNvPr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5E0BE-FF4F-5EF5-3E7C-0A7B64D95ACB}"/>
              </a:ext>
            </a:extLst>
          </p:cNvPr>
          <p:cNvSpPr txBox="1"/>
          <p:nvPr/>
        </p:nvSpPr>
        <p:spPr>
          <a:xfrm>
            <a:off x="6949440" y="155448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 &amp; stable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DC560B-C491-93CF-2D14-8FCBB36DA1EE}"/>
              </a:ext>
            </a:extLst>
          </p:cNvPr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0D1CD-4D4C-1282-0A35-08236095B88A}"/>
              </a:ext>
            </a:extLst>
          </p:cNvPr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DC21B-2029-F07A-072D-B727AD0F6BCB}"/>
              </a:ext>
            </a:extLst>
          </p:cNvPr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2C957-8E1F-E214-ACB9-28A6A3EE30AD}"/>
              </a:ext>
            </a:extLst>
          </p:cNvPr>
          <p:cNvSpPr txBox="1"/>
          <p:nvPr/>
        </p:nvSpPr>
        <p:spPr>
          <a:xfrm>
            <a:off x="6949440" y="297180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causal, unstable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34A148-5BFA-505F-58B8-8D5B78DC2E27}"/>
              </a:ext>
            </a:extLst>
          </p:cNvPr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9E6C57-F0DC-56DB-F467-BABD9071381F}"/>
              </a:ext>
            </a:extLst>
          </p:cNvPr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B1EE5-62E7-FA65-330C-FC8F8A2CD330}"/>
              </a:ext>
            </a:extLst>
          </p:cNvPr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F9AB0F-271A-4E24-8439-EDF58612448C}"/>
              </a:ext>
            </a:extLst>
          </p:cNvPr>
          <p:cNvSpPr txBox="1"/>
          <p:nvPr/>
        </p:nvSpPr>
        <p:spPr>
          <a:xfrm>
            <a:off x="6949440" y="438912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anti-causal, stable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A9C8C4-DE6C-DD86-5B66-D71C1347A658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ACB99-90E2-9E0E-EE06-0767680048D8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5140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Geometric frequency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Evaluate H(z) at a point moving around the unit circle.</a:t>
            </a:r>
          </a:p>
        </p:txBody>
      </p:sp>
      <p:pic>
        <p:nvPicPr>
          <p:cNvPr id="6" name="Picture 5" descr="eq_g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051560"/>
            <a:ext cx="9418320" cy="1221584"/>
          </a:xfrm>
          <a:prstGeom prst="rect">
            <a:avLst/>
          </a:prstGeom>
        </p:spPr>
      </p:pic>
      <p:pic>
        <p:nvPicPr>
          <p:cNvPr id="7" name="Picture 6" descr="geom_v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484632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428603"/>
            <a:ext cx="5257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748643"/>
            <a:ext cx="461772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Numerator: multiply distances from the unit-circle point to each zero.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Denominator: multiply distances to each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zero → a short numerator vector → small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pole → a short denominator vector → large magnitude.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Zeros pull the magnitude 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zero on the unit circle creates exact cancellation at its angle.</a:t>
            </a:r>
          </a:p>
        </p:txBody>
      </p:sp>
      <p:pic>
        <p:nvPicPr>
          <p:cNvPr id="6" name="Picture 5" descr="zero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86000"/>
            <a:ext cx="315468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At ω equal to the zero angle, e^{jω}=z₀.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The zero distance is exactly 0.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Product in the numerator becomes 0.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Therefore |H|=0: a perfect notch.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Poles push the magnitude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pole close to the unit circle creates a resonant peak near its angle.</a:t>
            </a:r>
          </a:p>
        </p:txBody>
      </p:sp>
      <p:pic>
        <p:nvPicPr>
          <p:cNvPr id="6" name="Picture 5" descr="pole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86000"/>
            <a:ext cx="315468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At a nearby unit-circle angle, the pole distance becomes small.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That distance is in the denominator.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Smaller denominator → larger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Closer pole radius → sharper, longer-lived resonance.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First-order example: pole location predicts low-pass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H(z)=1/(1−0.8z⁻¹) has a pole at +0.8 on the real axis.</a:t>
            </a:r>
          </a:p>
        </p:txBody>
      </p:sp>
      <p:pic>
        <p:nvPicPr>
          <p:cNvPr id="6" name="Picture 5" descr="pz_first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45720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325880"/>
            <a:ext cx="5349240" cy="3977639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61888" y="1755648"/>
            <a:ext cx="47548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ω=0 corresponds to z=+1, close to the pole at +0.8 → large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ω=π corresponds to z=−1, far from the pole → smaller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So the response favors low frequency before we compute a single formula.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This recovers the one-pole smoother from Week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Design example: notch out 60 Hz hum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Place conjugate zeros on the unit circle at the unwanted frequency.</a:t>
            </a:r>
          </a:p>
        </p:txBody>
      </p:sp>
      <p:pic>
        <p:nvPicPr>
          <p:cNvPr id="6" name="Picture 5" descr="notch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08660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25880"/>
            <a:ext cx="3474720" cy="37947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At fₛ=1000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29260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7212B"/>
                </a:solidFill>
                <a:latin typeface="Aptos"/>
              </a:rPr>
              <a:t>ω₀ = 2π·60/1000
≈ 0.377 rad/sample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108960"/>
            <a:ext cx="2971800" cy="16459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Zeros: e^{±jω₀}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Nearby poles at r e^{±jω₀} make a narrow, well-behaved notch.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Choose r&lt;1 for causal stability.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Notch-filter equation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second-order section gives an interpretable audio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H(z) = K · (1 − 2cosω₀ z⁻¹ + z⁻²) / (1 − 2r cosω₀ z⁻¹ + r²z⁻²)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15468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Zeros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exactly on unit circle at ±ω₀ → ideal zero response at the hum 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06040"/>
            <a:ext cx="315468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same angle but radius r&lt;1 → control notch width / transient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06040"/>
            <a:ext cx="315468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Gain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often chosen to make DC or passband gain approximately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800600"/>
            <a:ext cx="10149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937760"/>
            <a:ext cx="9692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Audio intuition: zeros do the cancellation; poles nearby keep the rest of the spectrum from being unnecessarily attenuated.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 radius controls resonance and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Move the pole radially without changing its preferred frequency.</a:t>
            </a:r>
          </a:p>
        </p:txBody>
      </p:sp>
      <p:pic>
        <p:nvPicPr>
          <p:cNvPr id="6" name="Picture 5" descr="pole_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65836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40690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719072"/>
            <a:ext cx="3108960" cy="32461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Same angle ⇒ same resonance center.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 closer to 1 ⇒ smaller distance to unit circle.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Peak becomes sharper and stronger.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Impulse response decays roughly like rⁿ, so ringing lasts longer.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r≥1 breaks causal BIBO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Pole–zero sandbox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Predict first. Move a pole or zero. Then listen / plot.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Start with no poles/zeros: flat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325880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Put a zero on |z|=1 at an angle: predict the notch.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4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Move the zero inside the circle: does the notch remain perfect?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Add a pole at the same angle with r=0.9, then 0.98.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3291839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Listen to the 60-Hz hum example before and after filtering.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5120640"/>
            <a:ext cx="3108960" cy="658368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5239512"/>
            <a:ext cx="28803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6324F"/>
                </a:solidFill>
                <a:latin typeface="Aptos"/>
              </a:rPr>
              <a:t>Notebook: pole_zero_sandbox()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poles, zeros, and freqz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code as a geometry checker.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623560" cy="44805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512064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import numpy as np
from scipy import signal
zeros = np.exp(1j*np.array([w0, -w0]))
poles = r * zeros
b = np.poly(zeros).real
a = np.poly(poles).real
w, H = signal.freqz(b, a, fs=fs)
# plot zeros, poles, |H|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572000" cy="44805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152" y="1645920"/>
            <a:ext cx="3977639" cy="32918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`np.roots` moves coefficients → roots.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`np.poly` moves roots → coefficients.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`signal.freqz` evaluates on the unit circle numerically.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The pole-zero plot should let you predict the major features before `freqz` confirms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demo: removing hum without erasing the signal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notch should target a narrow frequency, not broadly low-pass the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754880" cy="2057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Synthetic voice-like harmonics + 60 Hz and 120 Hz hum.
Listen: 01_voice_with_60Hz_hum.wav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4754880" cy="20574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Second-order 60-Hz notch with pole radius r=0.985.
Listen: 02_voice_after_60Hz_notch.wav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114800"/>
            <a:ext cx="982980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79392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Good observation: a very narrow notch removes the targeted hum component while leaving nearby useful content mostly intact. A broad low-pass filter would solve the hum problem by throwing away far more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ML bridge: filter geometry shapes the features a model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Front-end filtering changes spectra, spectrograms, and therefore learned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46120" cy="1691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Notch zeros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Remove a nuisance line such as power hum before spectral feature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91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Resonant poles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Can emphasize a narrow band—useful or dangerous depending on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46120" cy="16916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numerically exploding front end corrupts every downstream feature and gradient.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40480"/>
            <a:ext cx="10149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95097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Design question for ML: are you removing a known nuisance, imposing a useful inductive bias, or accidentally deleting information that the classifier needs?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61CC-7EE3-5EF0-5011-08723639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D3F6CA-B1B5-12E9-0A02-DD2FD0CDF520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F9414-C603-DBBE-E16B-45B8E40FF1EA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A8589-D166-20B6-5508-1A344E085BD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4CBD8-7C45-2802-2C0D-A74779EB11B5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2B8A7-6EBB-95B1-6A43-B3A6A38DE7EF}"/>
              </a:ext>
            </a:extLst>
          </p:cNvPr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B354E2-5BCF-C1CB-2D02-1DBBD04CB858}"/>
              </a:ext>
            </a:extLst>
          </p:cNvPr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97CB9-8520-068D-3D37-1A7887FD1360}"/>
              </a:ext>
            </a:extLst>
          </p:cNvPr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89568-EA2E-8031-6B80-49778C27819A}"/>
              </a:ext>
            </a:extLst>
          </p:cNvPr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2655F6-74D7-35F1-04F4-AD9068CF4343}"/>
              </a:ext>
            </a:extLst>
          </p:cNvPr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1F7D7-76B5-D0F3-5729-30A3B0B2FBE4}"/>
              </a:ext>
            </a:extLst>
          </p:cNvPr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1B2A9-F9C3-BB71-B76D-918D9FA69DE0}"/>
              </a:ext>
            </a:extLst>
          </p:cNvPr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B646EB1-07B2-E05E-4EF6-51644D64BEC9}"/>
              </a:ext>
            </a:extLst>
          </p:cNvPr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FA3E2-B37A-FDCA-FB68-50BA1009B578}"/>
              </a:ext>
            </a:extLst>
          </p:cNvPr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A066B-E12F-A810-DFCC-4459003890C4}"/>
              </a:ext>
            </a:extLst>
          </p:cNvPr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78CEFE-7911-B462-C017-5596E7A3EF19}"/>
              </a:ext>
            </a:extLst>
          </p:cNvPr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76179-2F73-0423-E86B-B913BDCF1E38}"/>
              </a:ext>
            </a:extLst>
          </p:cNvPr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45EAF-BD74-926E-7ED5-D882F69BA9E8}"/>
              </a:ext>
            </a:extLst>
          </p:cNvPr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47E620-BC3F-2BC3-ABBF-07C1BAD2D846}"/>
              </a:ext>
            </a:extLst>
          </p:cNvPr>
          <p:cNvSpPr/>
          <p:nvPr/>
        </p:nvSpPr>
        <p:spPr>
          <a:xfrm>
            <a:off x="1371600" y="5166360"/>
            <a:ext cx="941832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65253-699B-F026-1633-E4E2BF1D3131}"/>
              </a:ext>
            </a:extLst>
          </p:cNvPr>
          <p:cNvSpPr txBox="1"/>
          <p:nvPr/>
        </p:nvSpPr>
        <p:spPr>
          <a:xfrm>
            <a:off x="1600200" y="5276088"/>
            <a:ext cx="8961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Correct: B. Same angle → same center frequency; radius closer to 1 → stronger/narrower resonance and slower decay.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06A51C-4A67-30EF-6678-68F2A8C17B0D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59063-44BE-BAA5-2991-F54728397E5A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85755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stability + H(e^{jω})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57305"/>
            <a:ext cx="978408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dirty="0">
                <a:solidFill>
                  <a:srgbClr val="16324F"/>
                </a:solidFill>
                <a:latin typeface="Aptos"/>
              </a:rPr>
              <a:t>Exit ticket: Why does a zero on the unit circle create a notch?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C015-EA51-5C76-236E-EDF04002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A41169-20A6-D698-E3A0-151899E5BF35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4AD508-C194-3669-1687-3A68585E38DF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04F45-E6A6-463C-E40C-AD77AA6C521D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C04E5-7204-D6AC-F46C-2CD00D19E05E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8ECAB1-AD36-47CC-8846-30BA97E1C16D}"/>
              </a:ext>
            </a:extLst>
          </p:cNvPr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522E0-3C3D-5F40-9B30-1451E3C4E455}"/>
              </a:ext>
            </a:extLst>
          </p:cNvPr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B38A6-5A00-8317-3220-81061B1E11BC}"/>
              </a:ext>
            </a:extLst>
          </p:cNvPr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F31AB312-62D1-6B34-CD67-B07ED737A8E6}"/>
              </a:ext>
            </a:extLst>
          </p:cNvPr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5D6057-D253-C60B-5F68-2434C6808602}"/>
              </a:ext>
            </a:extLst>
          </p:cNvPr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0E6AFF-4948-1480-4A70-62D45BDC86CE}"/>
              </a:ext>
            </a:extLst>
          </p:cNvPr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0457D-D6B1-4D9C-06E7-6944DACB8E23}"/>
              </a:ext>
            </a:extLst>
          </p:cNvPr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BBAC81CD-E811-C210-1192-151BEA048C73}"/>
              </a:ext>
            </a:extLst>
          </p:cNvPr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B5C2026-D1DA-7A4F-691C-C44D7BD59CD6}"/>
              </a:ext>
            </a:extLst>
          </p:cNvPr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E0652-B6DE-2EB7-376D-CA3DE7A6EF10}"/>
              </a:ext>
            </a:extLst>
          </p:cNvPr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0DA7E-F64D-0A64-C08E-C5DFD4CC37AE}"/>
              </a:ext>
            </a:extLst>
          </p:cNvPr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3AB59DE-12B5-487B-1C94-FE8EADC786F1}"/>
              </a:ext>
            </a:extLst>
          </p:cNvPr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46B9468-2D66-55B6-4604-59F422A67232}"/>
              </a:ext>
            </a:extLst>
          </p:cNvPr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A3455B-C229-A581-81E8-E6EB2B27EBD0}"/>
              </a:ext>
            </a:extLst>
          </p:cNvPr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7022D-37CD-BBB7-A7A5-54275E5758CC}"/>
              </a:ext>
            </a:extLst>
          </p:cNvPr>
          <p:cNvSpPr txBox="1"/>
          <p:nvPr/>
        </p:nvSpPr>
        <p:spPr>
          <a:xfrm>
            <a:off x="7607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stability + H(e^{jω})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490872AE-E8D3-45C6-0FE0-935A2136850B}"/>
              </a:ext>
            </a:extLst>
          </p:cNvPr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0A9A8D-9E5F-7680-BBA0-804A8F5A8DDE}"/>
              </a:ext>
            </a:extLst>
          </p:cNvPr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CED750-4EC7-8CB4-460E-041F6E4DDB5B}"/>
              </a:ext>
            </a:extLst>
          </p:cNvPr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78465-1793-1E98-D3D9-C59DAD0F59AC}"/>
              </a:ext>
            </a:extLst>
          </p:cNvPr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7D1552A-CB36-07B6-18A8-FE0F60A6A103}"/>
              </a:ext>
            </a:extLst>
          </p:cNvPr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022C8-C130-F2EB-B288-67157DD2B499}"/>
              </a:ext>
            </a:extLst>
          </p:cNvPr>
          <p:cNvSpPr txBox="1"/>
          <p:nvPr/>
        </p:nvSpPr>
        <p:spPr>
          <a:xfrm>
            <a:off x="1188720" y="4480560"/>
            <a:ext cx="978408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Exit ticket: Why does a zero on the unit circle create a notch?  Good answer: at that frequency the evaluation point e^{jω} coincides with the zero, making a numerator distance—and therefore H(e^{jω})—equal to zero.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8B91B3-D16E-6559-BFAB-C91EDF1C06F9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36554-DCAD-7765-B49D-548E9925B97D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09264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Weekly quiz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Suggested: 15 minutes at the start of Week 4 or end of Lecture 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4892040" cy="1920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481328"/>
            <a:ext cx="456285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Core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47088"/>
            <a:ext cx="4562855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z-transform + ROC interpretation; inverse transform by PFE; transfer-function poles/zeros; causality/stability; geometric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4892040" cy="1920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81328"/>
            <a:ext cx="456285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One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847088"/>
            <a:ext cx="4562855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Derive H(z) and identify poles for a first- or second-order difference equation.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77639"/>
            <a:ext cx="9921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24528"/>
            <a:ext cx="9372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Solutions and grading notes are in the accompanying Week 3 homework + quiz handout.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coefficient ↔ root sanity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Useful when students get lost in z⁻¹ polynomial conventions.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16324F"/>
                </a:solidFill>
                <a:latin typeface="Aptos"/>
              </a:rPr>
              <a:t>1 − 1.4z⁻¹ + 0.45z⁻² = (1 − 0.5z⁻¹)(1 − 0.9z⁻¹)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60320"/>
            <a:ext cx="2926080" cy="13716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z=0.5 and z=0.9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560320"/>
            <a:ext cx="2926080" cy="13716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Causal 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|z|&gt;0.9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2926080" cy="13716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Yes: the unit circle is in |z|&gt;0.9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7200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Fast check: for a causal rational system, if any pole magnitude ≥1, do not call it BIBO stable.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2413</Words>
  <Application>Microsoft Office PowerPoint</Application>
  <PresentationFormat>Widescreen</PresentationFormat>
  <Paragraphs>298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2</cp:revision>
  <dcterms:created xsi:type="dcterms:W3CDTF">2026-08-18T14:43:54Z</dcterms:created>
  <dcterms:modified xsi:type="dcterms:W3CDTF">2026-08-23T01:00:20Z</dcterms:modified>
</cp:coreProperties>
</file>