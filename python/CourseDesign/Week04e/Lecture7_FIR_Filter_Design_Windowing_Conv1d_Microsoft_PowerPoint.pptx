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F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E87E37"/>
                </a:solidFill>
                <a:latin typeface="Arial"/>
              </a:rPr>
              <a:t>LECTURE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97280"/>
            <a:ext cx="7772400" cy="1234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Arial"/>
              </a:rPr>
              <a:t>FIR Filter Design, Windowing,
&amp; 1D Convolutions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514600"/>
            <a:ext cx="813816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D2DCE8"/>
                </a:solidFill>
                <a:latin typeface="Arial"/>
              </a:rPr>
              <a:t>From ideal frequency responses to fixed or learnable convolution kernels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800600"/>
            <a:ext cx="2057400" cy="548640"/>
          </a:xfrm>
          <a:prstGeom prst="roundRect">
            <a:avLst/>
          </a:prstGeom>
          <a:solidFill>
            <a:srgbClr val="1D919C"/>
          </a:solidFill>
          <a:ln w="12700">
            <a:solidFill>
              <a:srgbClr val="1D9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919472"/>
            <a:ext cx="2057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FIR / 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4910328"/>
            <a:ext cx="228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8648" y="4800600"/>
            <a:ext cx="2057400" cy="548640"/>
          </a:xfrm>
          <a:prstGeom prst="roundRect">
            <a:avLst/>
          </a:prstGeom>
          <a:solidFill>
            <a:srgbClr val="4575B0"/>
          </a:solidFill>
          <a:ln w="12700">
            <a:solidFill>
              <a:srgbClr val="4575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8648" y="4919472"/>
            <a:ext cx="2057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ideal LPF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79" y="4910328"/>
            <a:ext cx="228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4800600"/>
            <a:ext cx="2057400" cy="548640"/>
          </a:xfrm>
          <a:prstGeom prst="roundRect">
            <a:avLst/>
          </a:prstGeom>
          <a:solidFill>
            <a:srgbClr val="E87E37"/>
          </a:solidFill>
          <a:ln w="12700">
            <a:solidFill>
              <a:srgbClr val="E87E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30368" y="4919472"/>
            <a:ext cx="2057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window 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9" y="4910328"/>
            <a:ext cx="228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62088" y="4800600"/>
            <a:ext cx="2057400" cy="548640"/>
          </a:xfrm>
          <a:prstGeom prst="roundRect">
            <a:avLst/>
          </a:prstGeom>
          <a:solidFill>
            <a:srgbClr val="48915B"/>
          </a:solidFill>
          <a:ln w="12700">
            <a:solidFill>
              <a:srgbClr val="4891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2088" y="4919472"/>
            <a:ext cx="2057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Conv1d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806440"/>
            <a:ext cx="4754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BECBDB"/>
                </a:solidFill>
                <a:latin typeface="Arial"/>
              </a:rPr>
              <a:t>75 minutes • senior + first-year graduate ECE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5806440"/>
            <a:ext cx="39319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0" i="0">
                <a:solidFill>
                  <a:srgbClr val="BECBDB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Where this 75-minute lecture is going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527048"/>
            <a:ext cx="2331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0–10 min • FIR vs. IIR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901952"/>
            <a:ext cx="2331720" cy="1444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Linear phase, group delay, and why waveform alignment can matter.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1417320"/>
            <a:ext cx="50292" cy="20116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527048"/>
            <a:ext cx="2331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10–30 min • Ideal filter + Gibbs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1901952"/>
            <a:ext cx="2331720" cy="1444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Derive the sinc impulse response and see what truncation does.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417320"/>
            <a:ext cx="50292" cy="20116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527048"/>
            <a:ext cx="2331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30–55 min • Window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901952"/>
            <a:ext cx="2331720" cy="1444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Main-lobe width versus sidelobe attenuation.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0" y="1417320"/>
            <a:ext cx="50292" cy="20116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4" y="1527048"/>
            <a:ext cx="2331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55–75 min • DSP ↔ PyTorch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0304" y="1901952"/>
            <a:ext cx="2331720" cy="1444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Implement fixed FIR taps with Conv1d; then ask what changes when weights are learned.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977639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50" b="1" i="0">
                <a:solidFill>
                  <a:srgbClr val="122B4A"/>
                </a:solidFill>
                <a:latin typeface="Arial"/>
              </a:rPr>
              <a:t>DSP bridge: a mathematically designed FIR and a neural 1-D convolution use the same sliding weighted sum.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617720"/>
            <a:ext cx="996696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0" i="0">
                <a:solidFill>
                  <a:srgbClr val="2A323D"/>
                </a:solidFill>
                <a:latin typeface="Arial"/>
              </a:rPr>
              <a:t>Classical DSP supplies structure and constraints; machine learning either reuses that structure or learns parameters inside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FIR VS. IIR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Same frequency-selective goal, different structures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3474720" cy="19202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0292" cy="19202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527048"/>
            <a:ext cx="32461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FIR: feedforward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901952"/>
            <a:ext cx="3246120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Finite impulse response. No feedback. Exact linear phase is available when the taps have the required symmetry.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417320"/>
            <a:ext cx="3474720" cy="19202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417320"/>
            <a:ext cx="50292" cy="19202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1527048"/>
            <a:ext cx="32461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IIR: recursive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1901952"/>
            <a:ext cx="3246120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Feedback permits sharp magnitude responses with fewer coefficients, but phase is generally nonlinear.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417320"/>
            <a:ext cx="3474720" cy="19202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01583" y="1417320"/>
            <a:ext cx="50292" cy="19202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7" y="1527048"/>
            <a:ext cx="32461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perspective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7" y="1901952"/>
            <a:ext cx="3246120" cy="1353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fixed FIR can be the front end of an ML pipeline; a Conv1d layer uses the same local weighted sum but can make the coefficients trainable.</a:t>
            </a:r>
          </a:p>
        </p:txBody>
      </p:sp>
      <p:pic>
        <p:nvPicPr>
          <p:cNvPr id="18" name="Picture 17" descr="eq_d75032a14b2ce5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886200"/>
            <a:ext cx="4206240" cy="10041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0" y="3886200"/>
            <a:ext cx="521208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2A323D"/>
                </a:solidFill>
                <a:latin typeface="Arial"/>
              </a:rPr>
              <a:t>Do not oversell linear phase: it is valuable when temporal alignment and waveform shape should be preserved, but not every ML task requires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LINEAR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Symmetric FIR taps give a constant delay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eq_f2b9a7754d2813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3017520" cy="351666"/>
          </a:xfrm>
          <a:prstGeom prst="rect">
            <a:avLst/>
          </a:prstGeom>
        </p:spPr>
      </p:pic>
      <p:pic>
        <p:nvPicPr>
          <p:cNvPr id="7" name="Picture 6" descr="eq_ffac0f6a2f2e97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331720"/>
            <a:ext cx="5669280" cy="772599"/>
          </a:xfrm>
          <a:prstGeom prst="rect">
            <a:avLst/>
          </a:prstGeom>
        </p:spPr>
      </p:pic>
      <p:pic>
        <p:nvPicPr>
          <p:cNvPr id="8" name="Picture 7" descr="eq_721118a2166098b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429000"/>
            <a:ext cx="6217920" cy="103437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903720" y="1417320"/>
            <a:ext cx="457200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03720" y="1417320"/>
            <a:ext cx="50292" cy="1828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50024" y="1527048"/>
            <a:ext cx="4343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Physical interpretation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0024" y="1901952"/>
            <a:ext cx="4343400" cy="1261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Every passband frequency component is delayed by the same number of samples, apart from sign-related phase jumps where the real amplitude term changes sign.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3520440"/>
            <a:ext cx="4572000" cy="17373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03720" y="3520440"/>
            <a:ext cx="50292" cy="173736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0024" y="3630168"/>
            <a:ext cx="4343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connection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0024" y="4005072"/>
            <a:ext cx="4343400" cy="11704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If a transient shape is a feature, constant delay avoids frequency-dependent smearing before MFCCs, peaks, onsets, or time-localized descriptors are computed.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LINEAR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Group delay is the more intuitive diagnostic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fir_group_de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71600"/>
            <a:ext cx="6400800" cy="36368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60920" y="1508760"/>
            <a:ext cx="402336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60920" y="150876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07224" y="1618488"/>
            <a:ext cx="3794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Read the plot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7224" y="1993392"/>
            <a:ext cx="379476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a 41-tap symmetric FIR, the expected delay is</a:t>
            </a:r>
          </a:p>
        </p:txBody>
      </p:sp>
      <p:pic>
        <p:nvPicPr>
          <p:cNvPr id="11" name="Picture 10" descr="eq_1489bb9efdf73e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2651760"/>
            <a:ext cx="3474720" cy="46699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360920" y="3657600"/>
            <a:ext cx="402336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60920" y="3657600"/>
            <a:ext cx="50292" cy="13716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07224" y="3767328"/>
            <a:ext cx="3794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224" y="4142232"/>
            <a:ext cx="37947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“Linear phase does not mean zero delay. It means a delay that is approximately constant with frequency.”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CONCEPT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What would nonlinear phase do to a transient?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E87E37"/>
                </a:solidFill>
                <a:latin typeface="Arial"/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1069848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 i="0">
                <a:solidFill>
                  <a:srgbClr val="122B4A"/>
                </a:solidFill>
                <a:latin typeface="Arial"/>
              </a:rPr>
              <a:t>Two filters have nearly identical magnitude responses. One has constant group delay; the other has strongly frequency-dependent group delay. What can differ at the output?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512064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246120"/>
            <a:ext cx="50292" cy="13258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355848"/>
            <a:ext cx="4892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30752"/>
            <a:ext cx="4892040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spectra can have almost the same magnitudes while the waveform shapes differ because frequency components arrive with different delays.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46120"/>
            <a:ext cx="512064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3246120"/>
            <a:ext cx="50292" cy="13258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8504" y="3355848"/>
            <a:ext cx="4892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Strong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3730752"/>
            <a:ext cx="4892040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That distortion can alter time-localized features such as onset shape or peak timing. Whether it harms an ML model depends on what features and invariances the model uses.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IDEAL LOWPASS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Start in the frequency domain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eq_c8307acbb69816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4480560" cy="875899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852160" y="3657600"/>
            <a:ext cx="5212080" cy="0"/>
          </a:xfrm>
          <a:prstGeom prst="line">
            <a:avLst/>
          </a:prstGeom>
          <a:ln w="17780">
            <a:solidFill>
              <a:srgbClr val="2A3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458200" y="1463040"/>
            <a:ext cx="0" cy="3291840"/>
          </a:xfrm>
          <a:prstGeom prst="line">
            <a:avLst/>
          </a:prstGeom>
          <a:ln w="17780">
            <a:solidFill>
              <a:srgbClr val="2A3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040880" y="2148840"/>
            <a:ext cx="2834640" cy="0"/>
          </a:xfrm>
          <a:prstGeom prst="line">
            <a:avLst/>
          </a:prstGeom>
          <a:ln w="38100">
            <a:solidFill>
              <a:srgbClr val="1D91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040880" y="2148840"/>
            <a:ext cx="0" cy="1508760"/>
          </a:xfrm>
          <a:prstGeom prst="line">
            <a:avLst/>
          </a:prstGeom>
          <a:ln w="25400">
            <a:solidFill>
              <a:srgbClr val="1D91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2148840"/>
            <a:ext cx="0" cy="1508760"/>
          </a:xfrm>
          <a:prstGeom prst="line">
            <a:avLst/>
          </a:prstGeom>
          <a:ln w="25400">
            <a:solidFill>
              <a:srgbClr val="1D91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12280" y="3703320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2A323D"/>
                </a:solidFill>
                <a:latin typeface="Arial"/>
              </a:rPr>
              <a:t>−ωc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8360" y="3703320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2A323D"/>
                </a:solidFill>
                <a:latin typeface="Arial"/>
              </a:rPr>
              <a:t>ωc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28800"/>
            <a:ext cx="274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2A323D"/>
                </a:solidFill>
                <a:latin typeface="Arial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389120"/>
            <a:ext cx="457200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389120"/>
            <a:ext cx="50292" cy="914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498848"/>
            <a:ext cx="4343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Engineering dream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873752"/>
            <a:ext cx="43434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Perfectly flat passband, zero stopband, and an infinitely sharp transition.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389120"/>
            <a:ext cx="457200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438912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4498848"/>
            <a:ext cx="4343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4873752"/>
            <a:ext cx="43434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price is an infinite-duration, noncausal impulse response.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IDEAL LOWPASS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Inverse DTFT produces the sinc impulse response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8</a:t>
            </a:r>
          </a:p>
        </p:txBody>
      </p:sp>
      <p:pic>
        <p:nvPicPr>
          <p:cNvPr id="6" name="Picture 5" descr="eq_401b747cf30fdb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5212080" cy="911134"/>
          </a:xfrm>
          <a:prstGeom prst="rect">
            <a:avLst/>
          </a:prstGeom>
        </p:spPr>
      </p:pic>
      <p:pic>
        <p:nvPicPr>
          <p:cNvPr id="7" name="Picture 6" descr="eq_891e46895909da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23160"/>
            <a:ext cx="7315200" cy="1354412"/>
          </a:xfrm>
          <a:prstGeom prst="rect">
            <a:avLst/>
          </a:prstGeom>
        </p:spPr>
      </p:pic>
      <p:pic>
        <p:nvPicPr>
          <p:cNvPr id="8" name="Picture 7" descr="eq_e4c80780e76687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566160"/>
            <a:ext cx="5669280" cy="80989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80960" y="1463040"/>
            <a:ext cx="365760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0" y="1463040"/>
            <a:ext cx="50292" cy="1828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27264" y="1572768"/>
            <a:ext cx="34290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Interpretation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7264" y="1947672"/>
            <a:ext cx="3429000" cy="1261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brick-wall frequency response requires a sinc extending forever in both time directions.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3611880"/>
            <a:ext cx="36576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361188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27264" y="3721608"/>
            <a:ext cx="34290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Senior/grad expectation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27264" y="4096512"/>
            <a:ext cx="342900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Students should be able to derive the sinc from the inverse DTFT, not only quote the result.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IDEAL LOWPASS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ideal impulse response is infinite and two-sided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9</a:t>
            </a:r>
          </a:p>
        </p:txBody>
      </p:sp>
      <p:pic>
        <p:nvPicPr>
          <p:cNvPr id="6" name="Picture 5" descr="fir_ideal_si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6583680" cy="371784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35240" y="1508760"/>
            <a:ext cx="3749039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35240" y="150876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81544" y="1618488"/>
            <a:ext cx="3520439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Problem 1: infinite length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81544" y="1993392"/>
            <a:ext cx="3520439" cy="6675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finite processor cannot store or multiply by infinitely many taps.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926080"/>
            <a:ext cx="3749039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5240" y="2926080"/>
            <a:ext cx="50292" cy="12344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81544" y="3035808"/>
            <a:ext cx="3520439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Problem 2: noncausal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81544" y="3410712"/>
            <a:ext cx="3520439" cy="6675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Samples for negative time imply dependence on future inputs unless we delay/shift the finite approximation.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4343400"/>
            <a:ext cx="3749039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434340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1544" y="4453128"/>
            <a:ext cx="3520439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What we will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1544" y="4828032"/>
            <a:ext cx="3520439" cy="5760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Truncate the sinc, shift it to be causal, and shape the truncation with a window.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FINITE FIR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Center first, then shift to a causal tap sequence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eq_7425899234f5d6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71600"/>
            <a:ext cx="4937760" cy="7703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468880"/>
            <a:ext cx="502920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2A323D"/>
                </a:solidFill>
                <a:latin typeface="Arial"/>
              </a:rPr>
              <a:t>For an FIR of order M with M+1 taps, centering the ideal response at M/2 gives the symmetry needed for linear phase.</a:t>
            </a:r>
          </a:p>
        </p:txBody>
      </p:sp>
      <p:pic>
        <p:nvPicPr>
          <p:cNvPr id="8" name="Picture 7" descr="eq_93088cddfc06a7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794760"/>
            <a:ext cx="3566160" cy="57648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0" y="1463040"/>
            <a:ext cx="466344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463040"/>
            <a:ext cx="50292" cy="11887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1572768"/>
            <a:ext cx="44348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7104" y="1947672"/>
            <a:ext cx="4434840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N = 51 taps, M = 50 and the delay is 25 samples.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926080"/>
            <a:ext cx="466344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926080"/>
            <a:ext cx="50292" cy="13258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7104" y="3035808"/>
            <a:ext cx="44348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Important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3410712"/>
            <a:ext cx="4434840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shift changes phase, not magnitude. We are making the finite approximation causal by accepting a fixed delay.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GIBBS PHENOMENON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Rectangular truncation is simple—but its sidelobes are not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eq_ead8e3cdcffb6ba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3108960" cy="36232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2240280"/>
            <a:ext cx="484632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50292" cy="12344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350008"/>
            <a:ext cx="4617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Time-domain 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724912"/>
            <a:ext cx="4617720" cy="6675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rectangular window keeps a finite block of sinc samples and sets everything else to zero.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03320"/>
            <a:ext cx="48463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703320"/>
            <a:ext cx="50292" cy="14173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813048"/>
            <a:ext cx="4617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Frequency-domain consequence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4187952"/>
            <a:ext cx="4617720" cy="8503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Abrupt truncation has strong sidelobes. Convolution with the rectangular-window spectrum creates oscillatory passband/stopband ripple.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554480"/>
            <a:ext cx="502920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22B4A"/>
                </a:solidFill>
                <a:latin typeface="Arial"/>
              </a:rPr>
              <a:t>A common misconception: “make the filter longer and the Gibbs ripple disappears.”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514600"/>
            <a:ext cx="5029200" cy="1188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2A323D"/>
                </a:solidFill>
                <a:latin typeface="Arial"/>
              </a:rPr>
              <a:t>A longer rectangular window makes the ripple region narrower, but the limiting peak overshoot near the discontinuity does not go to zero.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GIBBS PHENOMENON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Increasing length narrows the transition but does not eliminate overshoot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12</a:t>
            </a:r>
          </a:p>
        </p:txBody>
      </p:sp>
      <p:pic>
        <p:nvPicPr>
          <p:cNvPr id="6" name="Picture 5" descr="fir_gibbs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25880"/>
            <a:ext cx="7315200" cy="41563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1508760"/>
            <a:ext cx="310896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1508760"/>
            <a:ext cx="50292" cy="11887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75904" y="1618488"/>
            <a:ext cx="28803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Read the plot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1993392"/>
            <a:ext cx="2880360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As N increases, the oscillation is compressed toward the cutoff.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971800"/>
            <a:ext cx="310896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297180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3081528"/>
            <a:ext cx="28803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But notice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456432"/>
            <a:ext cx="2880360" cy="6675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peak overshoot remains visible. Length and sidelobe level are different design knobs.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4480560"/>
            <a:ext cx="310896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4480560"/>
            <a:ext cx="50292" cy="11430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4590288"/>
            <a:ext cx="28803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Next 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4965192"/>
            <a:ext cx="2880360" cy="5760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Use a smoother window to reduce sidelobes—accepting a wider transition.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WINDOW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Shape the truncation instead of switching it off abruptly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13</a:t>
            </a:r>
          </a:p>
        </p:txBody>
      </p:sp>
      <p:pic>
        <p:nvPicPr>
          <p:cNvPr id="6" name="Picture 5" descr="eq_08a96e67ae183e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3840480" cy="469232"/>
          </a:xfrm>
          <a:prstGeom prst="rect">
            <a:avLst/>
          </a:prstGeom>
        </p:spPr>
      </p:pic>
      <p:pic>
        <p:nvPicPr>
          <p:cNvPr id="7" name="Picture 6" descr="eq_644b878ded0fe1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68880"/>
            <a:ext cx="6126480" cy="100188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040880" y="1417320"/>
            <a:ext cx="429768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40880" y="1417320"/>
            <a:ext cx="50292" cy="12801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87184" y="1527048"/>
            <a:ext cx="40690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Key duality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87184" y="1901952"/>
            <a:ext cx="4069080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Multiplication in time corresponds to periodic convolution in frequency.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0" y="2971800"/>
            <a:ext cx="4297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2971800"/>
            <a:ext cx="50292" cy="14630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87184" y="3081528"/>
            <a:ext cx="40690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Design intuition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7184" y="3456432"/>
            <a:ext cx="4069080" cy="8961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smoother time-domain taper lowers spectral sidelobes but broadens the window main lobe, which broadens the filter transition band.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WINDOWS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Rectangular → Bartlett → Hann/Hamming → Blackman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14</a:t>
            </a:r>
          </a:p>
        </p:txBody>
      </p:sp>
      <p:pic>
        <p:nvPicPr>
          <p:cNvPr id="6" name="Picture 5" descr="fir_windows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675120" cy="37926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35240" y="1371600"/>
            <a:ext cx="365760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35240" y="137160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81544" y="1481328"/>
            <a:ext cx="34290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Rectangular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81544" y="1856232"/>
            <a:ext cx="34290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Hardest edges; narrowest main lobe; high sidelobes.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514600"/>
            <a:ext cx="36576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5240" y="251460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81544" y="2624328"/>
            <a:ext cx="34290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Hann / Hamming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81544" y="2999232"/>
            <a:ext cx="3429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Smooth taper. Hamming is designed for a particularly low first sidelobe.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3886200"/>
            <a:ext cx="36576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3886200"/>
            <a:ext cx="50292" cy="10972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1544" y="3995928"/>
            <a:ext cx="34290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Blackman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1544" y="4370832"/>
            <a:ext cx="3429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Stronger taper and lower sidelobes, but a wider main lobe / transition.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303520"/>
            <a:ext cx="36576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1">
                <a:solidFill>
                  <a:srgbClr val="606A77"/>
                </a:solidFill>
                <a:latin typeface="Arial"/>
              </a:rPr>
              <a:t>“Hann” is the standard name; “Hanning” is common informal usage.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WINDOW TRADEOFF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Main-lobe width versus sidelobe attenuation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71600"/>
            <a:ext cx="192024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90472"/>
            <a:ext cx="1828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Window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371600"/>
            <a:ext cx="219456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490472"/>
            <a:ext cx="21031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Approx. first sidelobe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371600"/>
            <a:ext cx="224028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6359" y="1490472"/>
            <a:ext cx="2148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Approx. main-lobe width*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1371600"/>
            <a:ext cx="384048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1490472"/>
            <a:ext cx="3749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Use when...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938528"/>
            <a:ext cx="192024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048256"/>
            <a:ext cx="182880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Rectangular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938528"/>
            <a:ext cx="219456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8920" y="2048256"/>
            <a:ext cx="210312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−13 dB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0" y="1938528"/>
            <a:ext cx="22402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59" y="2048256"/>
            <a:ext cx="214884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4π/N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43800" y="1938528"/>
            <a:ext cx="38404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2048256"/>
            <a:ext cx="374904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Narrow transition dominates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2551176"/>
            <a:ext cx="192024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660904"/>
            <a:ext cx="182880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Bartlett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551176"/>
            <a:ext cx="219456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8920" y="2660904"/>
            <a:ext cx="210312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−26 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20640" y="2551176"/>
            <a:ext cx="224028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66359" y="2660904"/>
            <a:ext cx="214884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8π/N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2551176"/>
            <a:ext cx="384048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9520" y="2660904"/>
            <a:ext cx="374904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Simple triangular taper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3163824"/>
            <a:ext cx="192024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273552"/>
            <a:ext cx="182880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Hann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163824"/>
            <a:ext cx="219456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88920" y="3273552"/>
            <a:ext cx="210312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−31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0" y="3163824"/>
            <a:ext cx="22402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66359" y="3273552"/>
            <a:ext cx="214884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8π/N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3800" y="3163824"/>
            <a:ext cx="38404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89520" y="3273552"/>
            <a:ext cx="374904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Balanced spectral leakage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3776472"/>
            <a:ext cx="192024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886200"/>
            <a:ext cx="182880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Hamming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776472"/>
            <a:ext cx="219456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88920" y="3886200"/>
            <a:ext cx="210312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−43 dB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0" y="3776472"/>
            <a:ext cx="224028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66359" y="3886200"/>
            <a:ext cx="214884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8π/N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43800" y="3776472"/>
            <a:ext cx="384048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89520" y="3886200"/>
            <a:ext cx="374904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Better first sidelobe suppression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389120"/>
            <a:ext cx="192024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498848"/>
            <a:ext cx="182880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Blackman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0" y="4389120"/>
            <a:ext cx="219456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88920" y="4498848"/>
            <a:ext cx="210312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−58 dB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20640" y="4389120"/>
            <a:ext cx="22402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66359" y="4498848"/>
            <a:ext cx="214884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12π/N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43800" y="4389120"/>
            <a:ext cx="38404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89520" y="4498848"/>
            <a:ext cx="3749040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Strong stopband suppression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257800"/>
            <a:ext cx="10789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06A77"/>
                </a:solidFill>
                <a:latin typeface="Arial"/>
              </a:rPr>
              <a:t>*Width between the first nulls; approximate asymptotic rules for equal window length.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88720" y="5623560"/>
            <a:ext cx="9784080" cy="6400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88720" y="5623560"/>
            <a:ext cx="50292" cy="6400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35024" y="5733288"/>
            <a:ext cx="9555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35024" y="6108192"/>
            <a:ext cx="9555480" cy="731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 i="0">
                <a:solidFill>
                  <a:srgbClr val="2A323D"/>
                </a:solidFill>
                <a:latin typeface="Arial"/>
              </a:rPr>
              <a:t>There is no universally “best” window. The specification decides how much transition width can be traded for stopband suppression.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WINDOW TRADEOFF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Same length and cutoff; different transition/ripple behavior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16</a:t>
            </a:r>
          </a:p>
        </p:txBody>
      </p:sp>
      <p:pic>
        <p:nvPicPr>
          <p:cNvPr id="6" name="Picture 5" descr="fir_window_respon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98448"/>
            <a:ext cx="7589520" cy="431222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55448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0" y="155448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58784" y="1664208"/>
            <a:ext cx="2606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Rectangular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784" y="2039112"/>
            <a:ext cx="260604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Sharpest transition, worst sidelobes.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2743200"/>
            <a:ext cx="283464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0" y="274320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58784" y="2852928"/>
            <a:ext cx="2606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Hamming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3227832"/>
            <a:ext cx="2606040" cy="5760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common compromise: wider transition, much lower first sidelobe.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420624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4206240"/>
            <a:ext cx="50292" cy="914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8784" y="4315968"/>
            <a:ext cx="2606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Blackman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4690872"/>
            <a:ext cx="260604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Strongest attenuation here, but broadest transition.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DESIGN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A practical 51-tap Hamming lowpass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53312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E87E37"/>
                </a:solidFill>
                <a:latin typeface="Arial"/>
              </a:rPr>
              <a:t>Specification sketch</a:t>
            </a:r>
          </a:p>
        </p:txBody>
      </p:sp>
      <p:pic>
        <p:nvPicPr>
          <p:cNvPr id="7" name="Picture 6" descr="eq_0aa82fe02f4193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3657600" cy="381573"/>
          </a:xfrm>
          <a:prstGeom prst="rect">
            <a:avLst/>
          </a:prstGeom>
        </p:spPr>
      </p:pic>
      <p:pic>
        <p:nvPicPr>
          <p:cNvPr id="8" name="Picture 7" descr="eq_9cef1a64bc0717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43200"/>
            <a:ext cx="4206240" cy="42694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" y="3749039"/>
            <a:ext cx="466344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749039"/>
            <a:ext cx="50292" cy="12344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858767"/>
            <a:ext cx="44348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Why Hamming?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4233671"/>
            <a:ext cx="4434840" cy="6675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We accept a somewhat wider transition in exchange for much better sidelobe rejection than rectangular truncation.</a:t>
            </a:r>
          </a:p>
        </p:txBody>
      </p:sp>
      <p:pic>
        <p:nvPicPr>
          <p:cNvPr id="13" name="Picture 12" descr="fir_window_respon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325880"/>
            <a:ext cx="5486400" cy="3117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FILTER LENGTH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Longer FIRs buy a narrower transition—at a cost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18</a:t>
            </a:r>
          </a:p>
        </p:txBody>
      </p:sp>
      <p:pic>
        <p:nvPicPr>
          <p:cNvPr id="6" name="Picture 5" descr="eq_90fdfe8dede92c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3200400" cy="5263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2514600"/>
            <a:ext cx="338328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51460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24328"/>
            <a:ext cx="31546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Increase 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999232"/>
            <a:ext cx="3154680" cy="5760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More taps generally narrow the transition for the same window family.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514600"/>
            <a:ext cx="338328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514600"/>
            <a:ext cx="50292" cy="11430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5424" y="2624328"/>
            <a:ext cx="31546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But pay for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999232"/>
            <a:ext cx="3154680" cy="5760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More multiplies, more memory, and larger linear-phase delay</a:t>
            </a:r>
          </a:p>
        </p:txBody>
      </p:sp>
      <p:pic>
        <p:nvPicPr>
          <p:cNvPr id="15" name="Picture 14" descr="eq_7a217251f5ed1b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3840480"/>
            <a:ext cx="2651760" cy="42866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001000" y="2514600"/>
            <a:ext cx="33832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2514600"/>
            <a:ext cx="50292" cy="15544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2624328"/>
            <a:ext cx="31546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viewpoint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999232"/>
            <a:ext cx="3154680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longer convolution kernel also means a larger temporal receptive field and more learned parameters if the kernel is trainable.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CONCEPT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Choose the design knob that matches the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29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0292" cy="13716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572768"/>
            <a:ext cx="3200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 •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320040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Stopband leakage is unacceptable, but transition width may be wider.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342900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50292" cy="15544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264408"/>
            <a:ext cx="3200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639312"/>
            <a:ext cx="3200400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Choose a stronger taper such as Blackman or increase length.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1463040"/>
            <a:ext cx="3429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6280" y="146304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2584" y="1572768"/>
            <a:ext cx="3200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 • 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1947672"/>
            <a:ext cx="320040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Transition must be very narrow, but moderate ripple is acceptable.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3154680"/>
            <a:ext cx="342900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26280" y="3154680"/>
            <a:ext cx="50292" cy="15544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72584" y="3264408"/>
            <a:ext cx="3200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2584" y="3639312"/>
            <a:ext cx="3200400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Rectangular can give a narrower main lobe for the same N; increasing N is another option.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1463040"/>
            <a:ext cx="3429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0" y="1463040"/>
            <a:ext cx="50292" cy="13716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7344" y="1572768"/>
            <a:ext cx="3200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 • Prompt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7344" y="1947672"/>
            <a:ext cx="320040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filtered waveform must maintain relative timing across the passband.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3154680"/>
            <a:ext cx="342900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21040" y="3154680"/>
            <a:ext cx="50292" cy="15544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67344" y="3264408"/>
            <a:ext cx="3200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67344" y="3639312"/>
            <a:ext cx="3200400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Use a linear-phase FIR or another phase-preserving strategy.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DSP ↔ PYTORCH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A 1-D convolution is a sliding dot product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20</a:t>
            </a:r>
          </a:p>
        </p:txBody>
      </p:sp>
      <p:pic>
        <p:nvPicPr>
          <p:cNvPr id="6" name="Picture 5" descr="eq_4088984310bf6d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4572000" cy="1147297"/>
          </a:xfrm>
          <a:prstGeom prst="rect">
            <a:avLst/>
          </a:prstGeom>
        </p:spPr>
      </p:pic>
      <p:pic>
        <p:nvPicPr>
          <p:cNvPr id="7" name="Picture 6" descr="eq_3829ae31a8997b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514600"/>
            <a:ext cx="4206240" cy="50206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3657600"/>
            <a:ext cx="475488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50292" cy="12801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767328"/>
            <a:ext cx="45262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DSP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4142232"/>
            <a:ext cx="4526280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impulse response h[k] is designed to satisfy magnitude/phase specifications.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3657600"/>
            <a:ext cx="475488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3657600"/>
            <a:ext cx="50292" cy="128016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35624" y="3767328"/>
            <a:ext cx="45262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35624" y="4142232"/>
            <a:ext cx="4526280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same local dot product becomes a layer. The kernel may be initialized from DSP knowledge or learned from data.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PYTORCH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Conv1d uses cross-correlation ordering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21</a:t>
            </a:r>
          </a:p>
        </p:txBody>
      </p:sp>
      <p:pic>
        <p:nvPicPr>
          <p:cNvPr id="6" name="Picture 5" descr="eq_c0ae3bbc6dc9fa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4846320" cy="1024833"/>
          </a:xfrm>
          <a:prstGeom prst="rect">
            <a:avLst/>
          </a:prstGeom>
        </p:spPr>
      </p:pic>
      <p:pic>
        <p:nvPicPr>
          <p:cNvPr id="7" name="Picture 6" descr="eq_39bdac431bdbed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423160"/>
            <a:ext cx="6217920" cy="11512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675120" y="1417320"/>
            <a:ext cx="457200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41732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21424" y="1527048"/>
            <a:ext cx="4343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To reproduce textbook causal FIR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21424" y="1901952"/>
            <a:ext cx="4343400" cy="6675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Left-pad by M samples and reverse the coefficient order before calling Conv1d.</a:t>
            </a:r>
          </a:p>
        </p:txBody>
      </p:sp>
      <p:pic>
        <p:nvPicPr>
          <p:cNvPr id="12" name="Picture 11" descr="eq_dc481ec5dbdb99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2926080"/>
            <a:ext cx="2286000" cy="27285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675120" y="3794760"/>
            <a:ext cx="457200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3794760"/>
            <a:ext cx="50292" cy="13258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1424" y="3904488"/>
            <a:ext cx="4343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1424" y="4279392"/>
            <a:ext cx="4343400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operation is not “wrong convolution”; deep-learning libraries use a correlation convention because the kernel is usually learned anyway.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Fixed FIR taps inside PyTorch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5943600" cy="3383280"/>
          </a:xfrm>
          <a:prstGeom prst="roundRect">
            <a:avLst/>
          </a:prstGeom>
          <a:solidFill>
            <a:srgbClr val="1B232E"/>
          </a:solidFill>
          <a:ln w="12700">
            <a:solidFill>
              <a:srgbClr val="1B23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481328"/>
            <a:ext cx="566928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urier New"/>
              </a:rPr>
              <a:t>h = torch.tensor(h_np, dtype=torch.float32)
x = torch.tensor(x_np).view(1, 1, -1)
# causal textbook convolution
kernel = h.flip(0).view(1, 1, -1)
x_pad = F.pad(x, (len(h)-1, 0))
y = F.conv1d(x_pad, kernel)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1417320"/>
            <a:ext cx="4206240" cy="10515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0" y="1417320"/>
            <a:ext cx="50292" cy="10515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95744" y="1527048"/>
            <a:ext cx="3977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Shape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4" y="1901952"/>
            <a:ext cx="3977640" cy="484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Input is (N,C,L). A single mono signal is (1,1,L).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697480"/>
            <a:ext cx="420624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49440" y="2697480"/>
            <a:ext cx="50292" cy="118872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95744" y="2807208"/>
            <a:ext cx="3977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Fixed weights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5744" y="3182112"/>
            <a:ext cx="3977640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Use a tensor or freeze a Conv1d layer so the taps do not receive gradient updates.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4160520"/>
            <a:ext cx="420624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49440" y="4160520"/>
            <a:ext cx="50292" cy="11887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5744" y="4270248"/>
            <a:ext cx="3977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Learnable weights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95744" y="4645152"/>
            <a:ext cx="3977640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Leave requires_grad=True and the same coefficients become trainable model parameters.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TENSOR SHAPES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Batch, channel, and length carry physical meaning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eq_c74e7c3b2beae4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4389120" cy="48263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2514600"/>
            <a:ext cx="329184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514600"/>
            <a:ext cx="50292" cy="12801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24328"/>
            <a:ext cx="30632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 • Batch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999232"/>
            <a:ext cx="3063240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Independent clips/examples processed together.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14600"/>
            <a:ext cx="329184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2514600"/>
            <a:ext cx="50292" cy="128016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1144" y="2624328"/>
            <a:ext cx="30632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 •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999232"/>
            <a:ext cx="3063240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Mono, stereo, microphones, sensors, or learned feature maps.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514600"/>
            <a:ext cx="329184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2514600"/>
            <a:ext cx="50292" cy="12801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8744" y="2624328"/>
            <a:ext cx="30632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L • Length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999232"/>
            <a:ext cx="3063240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Discrete-time sample index / temporal extent.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663440"/>
            <a:ext cx="99669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 i="0">
                <a:solidFill>
                  <a:srgbClr val="122B4A"/>
                </a:solidFill>
                <a:latin typeface="Arial"/>
              </a:rPr>
              <a:t>Example: 32 stereo one-second clips at 16 kHz → (32, 2, 16000)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NumPy convolution and PyTorch Conv1d agree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fir_torch_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7680960" cy="43641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58200" y="1554480"/>
            <a:ext cx="292608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58200" y="1554480"/>
            <a:ext cx="50292" cy="13258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04504" y="1664208"/>
            <a:ext cx="2697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Numerical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4504" y="2039112"/>
            <a:ext cx="2697480" cy="7589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supplied script reports a maximum mismatch on the order of 10⁻⁷ in float32.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3291840"/>
            <a:ext cx="29260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58200" y="3291840"/>
            <a:ext cx="50292" cy="15544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04504" y="3401568"/>
            <a:ext cx="2697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Teaching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04504" y="3776472"/>
            <a:ext cx="2697480" cy="9875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Same filter, same signal-processing operation. The distinction is whether the coefficients are fixed by design or optimized from data.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DSP ↔ 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Designed taps versus learned taps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1828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3108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Classical FIR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3108960" cy="1261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Choose desired H(e^{jω}) → derive ideal h[n] → truncate/window → verify specifications.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17320"/>
            <a:ext cx="333756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417320"/>
            <a:ext cx="50292" cy="18288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1144" y="1527048"/>
            <a:ext cx="3108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Hybrid approach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1901952"/>
            <a:ext cx="3108960" cy="1261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Initialize Conv1d with a known bandpass/lowpass/filterbank and optionally fine-tune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417320"/>
            <a:ext cx="333756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417320"/>
            <a:ext cx="50292" cy="18288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3" y="1527048"/>
            <a:ext cx="3108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Fully learned convolution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3" y="1901952"/>
            <a:ext cx="3108960" cy="1261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Choose kernel size and channels; backpropagation learns coefficients that reduce task loss.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977639"/>
            <a:ext cx="101498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100" b="1" i="0">
                <a:solidFill>
                  <a:srgbClr val="122B4A"/>
                </a:solidFill>
                <a:latin typeface="Arial"/>
              </a:rPr>
              <a:t>The arithmetic is the same local weighted sum; the source of the weights is what changes.</a:t>
            </a:r>
          </a:p>
        </p:txBody>
      </p:sp>
      <p:pic>
        <p:nvPicPr>
          <p:cNvPr id="19" name="Picture 18" descr="eq_e0f8dcee168a9c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937760"/>
            <a:ext cx="8229600" cy="10287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Translate the classical vocabulary into ML vocabulary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237744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22860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DSP concept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325880"/>
            <a:ext cx="283464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463040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Mathematical role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02920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63040"/>
            <a:ext cx="4937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ML connection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874519"/>
            <a:ext cx="23774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965960"/>
            <a:ext cx="2231136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FIR filter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1874519"/>
            <a:ext cx="2834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4992" y="1965960"/>
            <a:ext cx="2688336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feedforward delay 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874519"/>
            <a:ext cx="5029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1965960"/>
            <a:ext cx="4882896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Conv1d with fixed or learnable kernel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587752"/>
            <a:ext cx="237744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2679192"/>
            <a:ext cx="2231136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Tap h[k]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587752"/>
            <a:ext cx="283464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64992" y="2679192"/>
            <a:ext cx="2688336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impulse-response coefficient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587752"/>
            <a:ext cx="502920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2679192"/>
            <a:ext cx="4882896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kernel / weight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300984"/>
            <a:ext cx="23774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3392424"/>
            <a:ext cx="2231136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Window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3300984"/>
            <a:ext cx="2834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64992" y="3392424"/>
            <a:ext cx="2688336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controls truncation spectrum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300984"/>
            <a:ext cx="5029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3392424"/>
            <a:ext cx="4882896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inductive constraint on kernel support; not the same as ML regularization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014216"/>
            <a:ext cx="237744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105656"/>
            <a:ext cx="2231136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Linear phase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4014216"/>
            <a:ext cx="283464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64992" y="4105656"/>
            <a:ext cx="2688336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constant group delay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014216"/>
            <a:ext cx="502920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3952" y="4105656"/>
            <a:ext cx="4882896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preserves relative temporal alignment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4727448"/>
            <a:ext cx="23774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2" y="4818888"/>
            <a:ext cx="2231136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Filter length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4727448"/>
            <a:ext cx="2834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64992" y="4818888"/>
            <a:ext cx="2688336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transition width + delay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727448"/>
            <a:ext cx="5029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73952" y="4818888"/>
            <a:ext cx="4882896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receptive field + parameter count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571500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0" i="1">
                <a:solidFill>
                  <a:srgbClr val="606A77"/>
                </a:solidFill>
                <a:latin typeface="Arial"/>
              </a:rPr>
              <a:t>Nuance: a classical window is a deterministic spectral-design device; calling it “kernel regularization” is only an analogy.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Lecture 7 synthesis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6304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1572768"/>
            <a:ext cx="2331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Linear phase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47672"/>
            <a:ext cx="2331720" cy="1444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Symmetric FIR taps can provide constant group delay.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463040"/>
            <a:ext cx="50292" cy="20116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1572768"/>
            <a:ext cx="2331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Ideal → practical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47672"/>
            <a:ext cx="2331720" cy="1444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brick-wall LPF becomes a sinc; finite implementation requires truncation and delay.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1463040"/>
            <a:ext cx="50292" cy="20116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572768"/>
            <a:ext cx="2331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Window tradeoff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47672"/>
            <a:ext cx="2331720" cy="1444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Lower sidelobes cost transition width.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9720" y="1463040"/>
            <a:ext cx="50292" cy="20116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36024" y="1572768"/>
            <a:ext cx="2331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PyTorch bridge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47672"/>
            <a:ext cx="2331720" cy="1444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Conv1d performs the same local weighted sum; its weights may be fixed or learned.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206240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122B4A"/>
                </a:solidFill>
                <a:latin typeface="Arial"/>
              </a:rPr>
              <a:t>Minute paper: What does a neural 1-D convolution add to the FIR operation itself?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65960" y="4937760"/>
            <a:ext cx="8229600" cy="9601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65960" y="4937760"/>
            <a:ext cx="50292" cy="9601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12264" y="5047488"/>
            <a:ext cx="80010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Strong answer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12264" y="5422392"/>
            <a:ext cx="800100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It does not change the local multiply-and-sum operation. It places that operation inside a trainable model so the kernel coefficients can be learned from a loss.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Problems 1–4 • FIR and Conv1d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32004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1 • Ideal LPF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633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Derive the sinc from the inverse DTFT; explain noncausality; find delay for N=41.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3200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2 • Window tradeoff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633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Rectangular vs Hamming: transition, sidelobes, and Gibbs behavior.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3200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3 • Linear phase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633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Show symmetric FIR form and derive constant group delay.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32004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4 • Conv1d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633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Compute a 3-tap convolution and explain the PyTorch kernel flip.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166360"/>
            <a:ext cx="10149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22B4A"/>
                </a:solidFill>
                <a:latin typeface="Arial"/>
              </a:rPr>
              <a:t>Full worked solutions are included in Lectures7_8_Homework_Quiz_Solutions.md and the instructor package.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Homework solutions • Problems 1–2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4983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1 • Ideal LPF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983480" cy="1444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Inverse DTFT gives the sinc; h_d[0]=ω_c/π. The ideal response is infinite and two-sided. For N=41, shift by 20 samples and τ_g=20.</a:t>
            </a:r>
          </a:p>
        </p:txBody>
      </p:sp>
      <p:pic>
        <p:nvPicPr>
          <p:cNvPr id="10" name="Picture 9" descr="eq_9042b7e17da42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94760"/>
            <a:ext cx="4754880" cy="70608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63640" y="1417320"/>
            <a:ext cx="5120640" cy="30175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417320"/>
            <a:ext cx="50292" cy="30175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1527048"/>
            <a:ext cx="4892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2 • Windows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901952"/>
            <a:ext cx="4892040" cy="2450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Rectangular: narrower transition but ≈−13 dB first sidelobe. Hamming: wider transition but ≈−43 dB first sidelobe. Increasing rectangular-window length narrows the Gibbs region; it does not eliminate peak overshoot.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Homework solutions • Problems 3–4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120640" cy="15087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15087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4892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3 • Symmetry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892040" cy="9418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Pairing symmetric taps gives a real amplitude term times a pure delay. Therefore group delay is constant.</a:t>
            </a:r>
          </a:p>
        </p:txBody>
      </p:sp>
      <p:pic>
        <p:nvPicPr>
          <p:cNvPr id="10" name="Picture 9" descr="eq_564ecb477badba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4754880" cy="69267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1417320"/>
            <a:ext cx="512064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50292" cy="29718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527048"/>
            <a:ext cx="4892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4 • Convolution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901952"/>
            <a:ext cx="4892040" cy="2404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h=[0.2,0.5,0.3] and x=[1,2,0,−1], the first four causal outputs are [0.2,0.9,1.3,0.4]. Conv1d uses correlation ordering, so flip the taps for textbook convolution.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