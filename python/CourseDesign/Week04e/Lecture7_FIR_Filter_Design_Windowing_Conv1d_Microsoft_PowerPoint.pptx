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7" r:id="rId30"/>
    <p:sldId id="283" r:id="rId31"/>
    <p:sldId id="284" r:id="rId32"/>
    <p:sldId id="285" r:id="rId33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87E37"/>
                </a:solidFill>
                <a:latin typeface="Arial"/>
              </a:rPr>
              <a:t>LECTURE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FIR Filter Design, Windowing,
&amp; 1D Convolutions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ideal frequency responses to fixed or learnable convolution kernels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FIR /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ideal LPF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Conv1d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0–10 min • FIR vs. IIR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Linear phase, group delay, and why waveform alignment can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10–30 min • Ideal filter + Gibbs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impulse response and see what truncation does.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30–55 min • Window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Main-lobe width versus sidelobe attenuation.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55–75 min • DSP ↔ PyTorch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Implement fixed FIR taps with Conv1d; then ask what changes when weights are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a mathematically designed FIR and a neural 1-D convolution use the same sliding weighted sum.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FIR VS. IIR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frequency-selective goal, different structures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19202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FIR: feedforward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 impulse response. No feedback. Exact linear phase is available when the taps have the required symmetry.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50292" cy="19202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IIR: recursive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Feedback permits sharp magnitude responses with fewer coefficients, but phase is generally nonlinear.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50292" cy="19202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7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7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fixed FIR can be the front end of an ML pipeline; a Conv1d layer uses the same local weighted sum but can make the coefficients trainable.</a:t>
            </a:r>
          </a:p>
        </p:txBody>
      </p:sp>
      <p:pic>
        <p:nvPicPr>
          <p:cNvPr id="18" name="Picture 17" descr="eq_d75032a14b2ce5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86200"/>
            <a:ext cx="4206240" cy="10041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0" y="3886200"/>
            <a:ext cx="52120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2A323D"/>
                </a:solidFill>
                <a:latin typeface="Arial"/>
              </a:rPr>
              <a:t>Do not oversell linear phase: it is valuable when temporal alignment and waveform shape should be preserved, but not every ML task requires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Symmetric FIR taps give a constant delay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eq_f2b9a7754d2813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3017520" cy="351666"/>
          </a:xfrm>
          <a:prstGeom prst="rect">
            <a:avLst/>
          </a:prstGeom>
        </p:spPr>
      </p:pic>
      <p:pic>
        <p:nvPicPr>
          <p:cNvPr id="7" name="Picture 6" descr="eq_ffac0f6a2f2e9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5669280" cy="772599"/>
          </a:xfrm>
          <a:prstGeom prst="rect">
            <a:avLst/>
          </a:prstGeom>
        </p:spPr>
      </p:pic>
      <p:pic>
        <p:nvPicPr>
          <p:cNvPr id="8" name="Picture 7" descr="eq_721118a216609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29000"/>
            <a:ext cx="6217920" cy="10343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1417320"/>
            <a:ext cx="45720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372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00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Physical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1901952"/>
            <a:ext cx="43434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passband frequency component is delayed by the same number of samples, apart from sign-related phase jumps where the real amplitude term changes 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520440"/>
            <a:ext cx="4572000" cy="17373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3520440"/>
            <a:ext cx="50292" cy="17373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0024" y="363016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4005072"/>
            <a:ext cx="4343400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a transient shape is a feature, constant delay avoids frequency-dependent smearing before MFCCs, peaks, onsets, or time-localized descriptors are computed.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Group delay is the more intuitive diagnostic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f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400800" cy="36368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02336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07224" y="161848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7224" y="1993392"/>
            <a:ext cx="3794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a 41-tap symmetric FIR, the expected delay is</a:t>
            </a:r>
          </a:p>
        </p:txBody>
      </p:sp>
      <p:pic>
        <p:nvPicPr>
          <p:cNvPr id="11" name="Picture 10" descr="eq_1489bb9efdf73e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651760"/>
            <a:ext cx="3474720" cy="4669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60920" y="3657600"/>
            <a:ext cx="402336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0920" y="365760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07224" y="376732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4142232"/>
            <a:ext cx="379476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“Linear phase does not mean zero delay. It means a delay that is approximately constant with frequency.”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would nonlinear phase do to a transient?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87E37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22B4A"/>
                </a:solidFill>
                <a:latin typeface="Arial"/>
              </a:rPr>
              <a:t>Two filters have nearly identical magnitude responses. One has constant group delay; the other has strongly frequency-dependent group delay. What can differ at the output?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spectra can have almost the same magnitudes while the waveform shapes differ because frequency components arrive with different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24612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That distortion can alter time-localized features such as onset shape or peak timing. Whether it harms an ML model depends on what features and invariances the model 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Start in the frequency domain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eq_c8307acbb69816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480560" cy="875899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852160" y="3657600"/>
            <a:ext cx="5212080" cy="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8200" y="1463040"/>
            <a:ext cx="0" cy="329184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2148840"/>
            <a:ext cx="2834640" cy="0"/>
          </a:xfrm>
          <a:prstGeom prst="line">
            <a:avLst/>
          </a:prstGeom>
          <a:ln w="381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228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−ωc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ωc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A323D"/>
                </a:solidFill>
                <a:latin typeface="Arial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43891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Engineering dream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Perfectly flat passband, zero stopband, and an infinitely sharp transition.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438912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278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price is an infinite-duration, noncausal impulse response.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Inverse DTFT produces the sinc impulse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pic>
        <p:nvPicPr>
          <p:cNvPr id="6" name="Picture 5" descr="eq_401b747cf30fd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911134"/>
          </a:xfrm>
          <a:prstGeom prst="rect">
            <a:avLst/>
          </a:prstGeom>
        </p:spPr>
      </p:pic>
      <p:pic>
        <p:nvPicPr>
          <p:cNvPr id="7" name="Picture 6" descr="eq_891e46895909da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6950503" cy="1354412"/>
          </a:xfrm>
          <a:prstGeom prst="rect">
            <a:avLst/>
          </a:prstGeom>
        </p:spPr>
      </p:pic>
      <p:pic>
        <p:nvPicPr>
          <p:cNvPr id="8" name="Picture 7" descr="eq_e4c80780e76687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785"/>
            <a:ext cx="5669280" cy="8098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0314" y="1170432"/>
            <a:ext cx="36576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0314" y="1170432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6618" y="1280160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6618" y="1655064"/>
            <a:ext cx="34290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brick-wall frequency response requires a sinc extending forever in both time directions.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63718"/>
            <a:ext cx="36576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3963718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4073446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Senior/grad expectation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448350"/>
            <a:ext cx="34290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Students should be able to derive the sinc from the inverse DTFT, not only quote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ideal impulse response is infinite and two-sided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fir_ideal_si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583680" cy="37178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0876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5087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1848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1: infinite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99339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finite processor cannot store or multiply by infinitely many taps.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2608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92608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303580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2: noncausal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341071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Samples for negative time imply dependence on future inputs unless we delay/shift the finite approximation.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343400"/>
            <a:ext cx="3749039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43434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445312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What we will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828032"/>
            <a:ext cx="3520439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Truncate the sinc, shift it to be causal, and shape the truncation with a window.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FINITE FIR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Center first, then shift to a causal tap sequence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7425899234f5d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4937760" cy="770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68880"/>
            <a:ext cx="50292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For an FIR of order M with M+1 taps, centering the ideal response at M/2 gives the symmetry needed for linear phase.</a:t>
            </a:r>
          </a:p>
        </p:txBody>
      </p:sp>
      <p:pic>
        <p:nvPicPr>
          <p:cNvPr id="8" name="Picture 7" descr="eq_93088cddfc06a7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794760"/>
            <a:ext cx="3566160" cy="5764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63040"/>
            <a:ext cx="46634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47104" y="157276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947672"/>
            <a:ext cx="44348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N = 51 taps, M = 50 and the delay is 25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46634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303580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10712"/>
            <a:ext cx="44348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shift changes phase, not magnitude. We are making the finite approximation causal by accepting a fixed delay.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truncation is simple—but its sidelobes are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ead8e3cdcffb6b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108960" cy="362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24028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35000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Time-domain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2491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rectangular window keeps a finite block of sinc samples and sets everything else to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48463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70332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81304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Frequency-domain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187952"/>
            <a:ext cx="46177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has strong sidelobes. Convolution with the rectangular-window spectrum creates oscillatory passband/stopband ripple.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50292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22B4A"/>
                </a:solidFill>
                <a:latin typeface="Arial"/>
              </a:rPr>
              <a:t>A common misconception: “make the filter longer and the Gibbs ripple disappears.”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14600"/>
            <a:ext cx="502920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A longer rectangular window makes the ripple region narrower, but the limiting peak overshoot near the discontinuity does not go to 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Increasing length narrows the transition but does not eliminate overshoot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fir_gibbs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508760"/>
            <a:ext cx="310896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50876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6184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1993392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As N increases, the oscillation is compressed toward the cutoff.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971800"/>
            <a:ext cx="31089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297180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08152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456432"/>
            <a:ext cx="28803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peak overshoot remains visible. Length and sidelobe level are different design knobs.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480560"/>
            <a:ext cx="310896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44805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45902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4965192"/>
            <a:ext cx="288036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smoother window to reduce sidelobes—accepting a wider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Shape the truncation instead of switching it off abruptly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08a96e67ae183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3840480" cy="469232"/>
          </a:xfrm>
          <a:prstGeom prst="rect">
            <a:avLst/>
          </a:prstGeom>
        </p:spPr>
      </p:pic>
      <p:pic>
        <p:nvPicPr>
          <p:cNvPr id="7" name="Picture 6" descr="eq_644b878ded0fe1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6126480" cy="10018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417320"/>
            <a:ext cx="42976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2704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Key duality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01952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Multiplication in time corresponds to periodic convolution in frequency.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97180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2971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08152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45643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smoother time-domain taper lowers spectral sidelobes but broadens the window main lobe, which broadens the filter transition band.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→ Bartlett → Hann/Hamming → Blackman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fir_window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675120" cy="37926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481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5623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Hardest edges; narrowest main lobe; high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5146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514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2624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Hann / 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9992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Smooth taper. Hamming is designed for a particularly low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8862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38862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39959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3708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Stronger taper and lower sidelobes, but a wider main lobe /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303520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Arial"/>
              </a:rPr>
              <a:t>“Hann” is the standard name; “Hanning” is common informal usage.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Main-lobe width versus sidelobe attenuation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19202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945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490472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first sidelobe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371600"/>
            <a:ext cx="22402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490472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main-lobe width*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371600"/>
            <a:ext cx="38404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1490472"/>
            <a:ext cx="3749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Use when...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38528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048256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Rectangular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938528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2048256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−13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938528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59" y="2048256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4π/N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938528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2048256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Narrow transition dominates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551176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660904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Bartlett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551176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88920" y="2660904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−26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551176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59" y="2660904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551176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2660904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Simple triangular taper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163824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163824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3273552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−31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163824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66359" y="3273552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163824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3273552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Balanced spectral leakage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776472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Hamming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776472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88920" y="3886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−43 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776472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66359" y="388620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3776472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0" y="3886200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Better first sidelobe suppression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389120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49884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Blackman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389120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88920" y="449884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−58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389120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66359" y="4498848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12π/N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4389120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0" y="4498848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Strong stopband suppression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25780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06A77"/>
                </a:solidFill>
                <a:latin typeface="Arial"/>
              </a:rPr>
              <a:t>*Width between the first nulls; approximate asymptotic rules for equal window length.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8720" y="5678849"/>
            <a:ext cx="9784080" cy="713231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88720" y="5623560"/>
            <a:ext cx="50292" cy="6400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35024" y="5733288"/>
            <a:ext cx="9555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5024" y="6108192"/>
            <a:ext cx="955548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There is no universally “best” window. The specification decides how much transition width can be traded for stopband suppression.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length and cutoff; different transition/ripple behavior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fir_window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5544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Sharpest transition, worst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74320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8529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22783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common compromise: wider transition, much lower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2062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420624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43159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6908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Strongest attenuation here, but broadest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practical 51-tap Hamming lowpass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Specification sketch</a:t>
            </a:r>
          </a:p>
        </p:txBody>
      </p:sp>
      <p:pic>
        <p:nvPicPr>
          <p:cNvPr id="7" name="Picture 6" descr="eq_0aa82fe02f4193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3657600" cy="381573"/>
          </a:xfrm>
          <a:prstGeom prst="rect">
            <a:avLst/>
          </a:prstGeom>
        </p:spPr>
      </p:pic>
      <p:pic>
        <p:nvPicPr>
          <p:cNvPr id="8" name="Picture 7" descr="eq_9cef1a64bc0717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4206240" cy="4269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3749039"/>
            <a:ext cx="46634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3858767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Hamming?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233671"/>
            <a:ext cx="44348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We accept a somewhat wider transition in exchange for much better sidelobe rejection than rectangular truncation.</a:t>
            </a:r>
          </a:p>
        </p:txBody>
      </p:sp>
      <p:pic>
        <p:nvPicPr>
          <p:cNvPr id="13" name="Picture 12" descr="fir_window_respon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25880"/>
            <a:ext cx="5486400" cy="3117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FILTER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Longer FIRs buy a narrower transition—at a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pic>
        <p:nvPicPr>
          <p:cNvPr id="6" name="Picture 5" descr="eq_90fdfe8dede92c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200400" cy="5263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Increase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taps generally narrow the transition for the same window family.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514600"/>
            <a:ext cx="50292" cy="11430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pay for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multiplies, more memory, and larger linear-phase delay</a:t>
            </a:r>
          </a:p>
        </p:txBody>
      </p:sp>
      <p:pic>
        <p:nvPicPr>
          <p:cNvPr id="15" name="Picture 14" descr="eq_7a217251f5ed1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40480"/>
            <a:ext cx="2651760" cy="4286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01000" y="251460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730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99923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longer convolution kernel also means a larger temporal receptive field and more learned parameters if the kernel is trainable.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ABFA5-8BFB-2178-DC6F-156AC41C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78E16-D7BC-88D2-63E4-F9A5FFC25315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AC675-8373-A7A8-59EB-AF6C5B24F1F6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2F17E00-1A18-F0C2-9CFE-F14A688B83BB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0D8662-D270-25F3-6B55-DDB23FC09AB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DB1C26-BFF9-29A8-EC54-DBFA2A0ED151}"/>
              </a:ext>
            </a:extLst>
          </p:cNvPr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06523-4437-1F5F-B46D-A31835DCBBF1}"/>
              </a:ext>
            </a:extLst>
          </p:cNvPr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5EBBE-3205-D091-66A4-F9AD98906F8B}"/>
              </a:ext>
            </a:extLst>
          </p:cNvPr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D1A2F-7E9C-2097-95AC-BF19DD15E6AA}"/>
              </a:ext>
            </a:extLst>
          </p:cNvPr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0E0807-D47A-0E9D-E20A-A5806FA77749}"/>
              </a:ext>
            </a:extLst>
          </p:cNvPr>
          <p:cNvSpPr/>
          <p:nvPr/>
        </p:nvSpPr>
        <p:spPr>
          <a:xfrm>
            <a:off x="73152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46DFED-21D4-C23F-0C69-197F1E0AB311}"/>
              </a:ext>
            </a:extLst>
          </p:cNvPr>
          <p:cNvSpPr/>
          <p:nvPr/>
        </p:nvSpPr>
        <p:spPr>
          <a:xfrm>
            <a:off x="731520" y="315468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059B5-E180-EEC4-ED8D-84ADC1964404}"/>
              </a:ext>
            </a:extLst>
          </p:cNvPr>
          <p:cNvSpPr txBox="1"/>
          <p:nvPr/>
        </p:nvSpPr>
        <p:spPr>
          <a:xfrm>
            <a:off x="87782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5A205-92C8-80BA-70C7-2FE9B09C6366}"/>
              </a:ext>
            </a:extLst>
          </p:cNvPr>
          <p:cNvSpPr txBox="1"/>
          <p:nvPr/>
        </p:nvSpPr>
        <p:spPr>
          <a:xfrm>
            <a:off x="87782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a stronger taper such as Blackman or increase length.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C07ED0-F242-BB6F-B3FC-7AF984B2A628}"/>
              </a:ext>
            </a:extLst>
          </p:cNvPr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8F1B08-C97D-B509-EEFF-473C4741F4CF}"/>
              </a:ext>
            </a:extLst>
          </p:cNvPr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C556B-FE88-501C-3875-15FF1810BAE1}"/>
              </a:ext>
            </a:extLst>
          </p:cNvPr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34D98-C10A-F31C-E697-D90535611974}"/>
              </a:ext>
            </a:extLst>
          </p:cNvPr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7C12D3-28A6-B60A-486B-F590FAC06479}"/>
              </a:ext>
            </a:extLst>
          </p:cNvPr>
          <p:cNvSpPr/>
          <p:nvPr/>
        </p:nvSpPr>
        <p:spPr>
          <a:xfrm>
            <a:off x="452628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AB2667-9D01-3498-3F1F-708A32E6D29E}"/>
              </a:ext>
            </a:extLst>
          </p:cNvPr>
          <p:cNvSpPr/>
          <p:nvPr/>
        </p:nvSpPr>
        <p:spPr>
          <a:xfrm>
            <a:off x="4526280" y="315468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108A7-6B36-AE24-EC10-8CAC9A5A96FB}"/>
              </a:ext>
            </a:extLst>
          </p:cNvPr>
          <p:cNvSpPr txBox="1"/>
          <p:nvPr/>
        </p:nvSpPr>
        <p:spPr>
          <a:xfrm>
            <a:off x="467258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BCCE16-745C-E80E-E596-EEB8A8590B25}"/>
              </a:ext>
            </a:extLst>
          </p:cNvPr>
          <p:cNvSpPr txBox="1"/>
          <p:nvPr/>
        </p:nvSpPr>
        <p:spPr>
          <a:xfrm>
            <a:off x="467258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can give a narrower main lobe for the same N; increasing N is another option.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A2966F-ECF8-9955-5DA6-9A1C8231EC55}"/>
              </a:ext>
            </a:extLst>
          </p:cNvPr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A002D5-6070-5AF9-0411-52427EF297A8}"/>
              </a:ext>
            </a:extLst>
          </p:cNvPr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A7F5B5-852E-F44B-1FCE-80033E7A1B73}"/>
              </a:ext>
            </a:extLst>
          </p:cNvPr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BA72C2-8623-273B-A034-9E1E83F546B7}"/>
              </a:ext>
            </a:extLst>
          </p:cNvPr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26B460-A899-326E-C0EA-104E76C15933}"/>
              </a:ext>
            </a:extLst>
          </p:cNvPr>
          <p:cNvSpPr/>
          <p:nvPr/>
        </p:nvSpPr>
        <p:spPr>
          <a:xfrm>
            <a:off x="832104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16874C-3909-6F59-BAD1-BE393BD39F38}"/>
              </a:ext>
            </a:extLst>
          </p:cNvPr>
          <p:cNvSpPr/>
          <p:nvPr/>
        </p:nvSpPr>
        <p:spPr>
          <a:xfrm>
            <a:off x="8321040" y="315468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9E3DCB-D095-0CDE-195E-7042BCE5D86A}"/>
              </a:ext>
            </a:extLst>
          </p:cNvPr>
          <p:cNvSpPr txBox="1"/>
          <p:nvPr/>
        </p:nvSpPr>
        <p:spPr>
          <a:xfrm>
            <a:off x="846734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A878B-0E2E-C7E2-57BA-0223B61E9062}"/>
              </a:ext>
            </a:extLst>
          </p:cNvPr>
          <p:cNvSpPr txBox="1"/>
          <p:nvPr/>
        </p:nvSpPr>
        <p:spPr>
          <a:xfrm>
            <a:off x="846734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linear-phase FIR or another phase-preserving strategy.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1ACB67-08BB-79FF-87DA-CDA756BFB59A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C88F81-08CA-39EE-5B8C-00E8DEBA464F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064358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1-D convolution is a sliding dot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eq_4088984310bf6d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572000" cy="1147297"/>
          </a:xfrm>
          <a:prstGeom prst="rect">
            <a:avLst/>
          </a:prstGeom>
        </p:spPr>
      </p:pic>
      <p:pic>
        <p:nvPicPr>
          <p:cNvPr id="7" name="Picture 6" descr="eq_3829ae31a8997b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4206240" cy="5020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impulse response h[k] is designed to satisfy magnitude/phase specifications.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3657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3562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same local dot product becomes a layer. The kernel may be initialized from DSP knowledge or learned from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PYTORCH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Conv1d uses cross-correlation ordering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eq_c0ae3bbc6dc9f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4846320" cy="1024833"/>
          </a:xfrm>
          <a:prstGeom prst="rect">
            <a:avLst/>
          </a:prstGeom>
        </p:spPr>
      </p:pic>
      <p:pic>
        <p:nvPicPr>
          <p:cNvPr id="7" name="Picture 6" descr="eq_39bdac431bdbed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23160"/>
            <a:ext cx="6217920" cy="11512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17320"/>
            <a:ext cx="457200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41732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214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To reproduce textbook causal 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1424" y="1901952"/>
            <a:ext cx="434340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Left-pad by M samples and reverse the coefficient order before calling Conv1d.</a:t>
            </a:r>
          </a:p>
        </p:txBody>
      </p:sp>
      <p:pic>
        <p:nvPicPr>
          <p:cNvPr id="12" name="Picture 11" descr="eq_dc481ec5dbdb99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926080"/>
            <a:ext cx="2286000" cy="2728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75120" y="3794760"/>
            <a:ext cx="457200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379476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21424" y="39044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4279392"/>
            <a:ext cx="434340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operation is not “wrong convolution”; deep-learning libraries use a correlation convention because the kernel is usually learned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Fixed FIR taps inside PyTorch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943600" cy="338328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669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h = torch.tensor(h_np, dtype=torch.float32)
x = torch.tensor(x_np).view(1, 1, -1)
# causal textbook convolution
kernel = h.flip(0).view(1, 1, -1)
x_pad = F.pad(x, (len(h)-1, 0))
y = F.conv1d(x_pad, kernel)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17320"/>
            <a:ext cx="42062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95744" y="15270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1901952"/>
            <a:ext cx="39776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Input is (N,C,L). A single mono signal is (1,1,L).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69748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95744" y="280720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318211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tensor or freeze a Conv1d layer so the taps do not receive gradient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16052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9440" y="416052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5744" y="42702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Learnable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64515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Leave requires_grad=True and the same coefficients become trainable model parameters.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TENSOR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Batch, channel, and length carry physical meaning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c74e7c3b2beae4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389120" cy="4826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 •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Independent clips/examples processed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514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Mono, stereo, microphones, sensors, or learned feature maps.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51460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 •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Discrete-time sample index / temporal extent.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9966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Example: 32 stereo one-second clips at 16 kHz → (32, 2, 16000)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NumPy convolution and PyTorch Conv1d agree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fir_torch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92608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Numerical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9748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supplied script reports a maximum mismatch on the order of 10⁻⁷ in float32.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291840"/>
            <a:ext cx="29260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329184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340156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776472"/>
            <a:ext cx="26974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Same filter, same signal-processing operation. The distinction is whether the coefficients are fixed by design or optimized from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Designed taps versus learned taps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Classical FIR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desired H(e^{jω}) → derive ideal h[n] → truncate/window → verify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Hybrid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Initialize Conv1d with a known bandpass/lowpass/filterbank and optionally fine-tune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Fully learned convolution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kernel size and channels; backpropagation learns coefficients that reduce task loss.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101498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arithmetic is the same local weighted sum; the source of the weights is what changes.</a:t>
            </a:r>
          </a:p>
        </p:txBody>
      </p:sp>
      <p:pic>
        <p:nvPicPr>
          <p:cNvPr id="19" name="Picture 18" descr="eq_e0f8dcee168a9c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937760"/>
            <a:ext cx="8229600" cy="1028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Translate the classical vocabulary into ML vocabulary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DSP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25880"/>
            <a:ext cx="28346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Mathematical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029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937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ML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965960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FIR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4992" y="1965960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feedforward delay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965960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Conv1d with fixed or learnable kernel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679192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Tap h[k]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587752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64992" y="2679192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impulse-response coefficient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87752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679192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kernel / weight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00984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392424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30098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64992" y="3392424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controls truncation spectrum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00984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3392424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inductive constraint on kernel support; not the same as ML regularization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14216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105656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Linear phase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14216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64992" y="4105656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constant group delay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14216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4105656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preserves relative temporal alignment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727448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4818888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Filter length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72744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64992" y="4818888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transition width + delay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72744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818888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receptive field + parameter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1500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1">
                <a:solidFill>
                  <a:srgbClr val="606A77"/>
                </a:solidFill>
                <a:latin typeface="Arial"/>
              </a:rPr>
              <a:t>Nuance: a classical window is a deterministic spectral-design device; calling it “kernel regularization” is only an analogy.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9B29F-D282-876F-99C9-A77159CF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3B4A1-668B-8C6F-E5FA-1F30BC557AFF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3F6AA-0DBB-3AD6-62DB-F3BE2E8F085B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94610CA-912E-D5C8-3EAA-0398B3C795A9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3D279B-8676-24FB-62EC-044A32346AE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26E025-5238-B0CC-4704-B75CC021764A}"/>
              </a:ext>
            </a:extLst>
          </p:cNvPr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729FF9-25FA-9BA0-FB06-5057EC1F7F86}"/>
              </a:ext>
            </a:extLst>
          </p:cNvPr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FBD42-A5A8-640E-087E-BA34AD0C3724}"/>
              </a:ext>
            </a:extLst>
          </p:cNvPr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0924F-5AC4-7E11-B45B-3E324AE4C9EC}"/>
              </a:ext>
            </a:extLst>
          </p:cNvPr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A5B88BE-36D0-6019-8F28-30B05FEA4478}"/>
              </a:ext>
            </a:extLst>
          </p:cNvPr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5C677-D278-B395-6BDF-A3F254ACDED8}"/>
              </a:ext>
            </a:extLst>
          </p:cNvPr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F4018-4E9F-5DC7-A777-BCBB0CEF23AA}"/>
              </a:ext>
            </a:extLst>
          </p:cNvPr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C41394-1E5E-EE1C-DF29-F20B9873370B}"/>
              </a:ext>
            </a:extLst>
          </p:cNvPr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3D8EC5-101F-13D5-D67F-EB069B45F770}"/>
              </a:ext>
            </a:extLst>
          </p:cNvPr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49A1EF-5B62-E322-CFB4-DE5EC88976C8}"/>
              </a:ext>
            </a:extLst>
          </p:cNvPr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1D492-A2D0-10AC-EEE0-57D43D437AC2}"/>
              </a:ext>
            </a:extLst>
          </p:cNvPr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E8139-0954-D78E-7C11-0E7A7F8640AB}"/>
              </a:ext>
            </a:extLst>
          </p:cNvPr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1D6CB01-596A-7BE7-5762-0172B9D2C940}"/>
              </a:ext>
            </a:extLst>
          </p:cNvPr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BDB3F6-1991-A7FC-39C9-07426AAFC2E1}"/>
              </a:ext>
            </a:extLst>
          </p:cNvPr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CB145-47C6-44AC-858C-193EAECD6C83}"/>
              </a:ext>
            </a:extLst>
          </p:cNvPr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A0682-BB1D-4020-BEEF-6540FE1E9BF1}"/>
              </a:ext>
            </a:extLst>
          </p:cNvPr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95C4B4-660B-DC70-9A0B-1341FD1DC094}"/>
              </a:ext>
            </a:extLst>
          </p:cNvPr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34F242-F169-98B9-17A0-209883953303}"/>
              </a:ext>
            </a:extLst>
          </p:cNvPr>
          <p:cNvSpPr/>
          <p:nvPr/>
        </p:nvSpPr>
        <p:spPr>
          <a:xfrm>
            <a:off x="1965960" y="4937760"/>
            <a:ext cx="8229600" cy="9601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72341C-18A1-2DFD-4D67-8C5DBB1226F5}"/>
              </a:ext>
            </a:extLst>
          </p:cNvPr>
          <p:cNvSpPr/>
          <p:nvPr/>
        </p:nvSpPr>
        <p:spPr>
          <a:xfrm>
            <a:off x="1965960" y="4937760"/>
            <a:ext cx="50292" cy="9601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6AEBF4-8C74-63A4-F925-E394947D1A43}"/>
              </a:ext>
            </a:extLst>
          </p:cNvPr>
          <p:cNvSpPr txBox="1"/>
          <p:nvPr/>
        </p:nvSpPr>
        <p:spPr>
          <a:xfrm>
            <a:off x="2112264" y="5047488"/>
            <a:ext cx="8001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28B033-F80B-FDAE-329A-70279D2B83F5}"/>
              </a:ext>
            </a:extLst>
          </p:cNvPr>
          <p:cNvSpPr txBox="1"/>
          <p:nvPr/>
        </p:nvSpPr>
        <p:spPr>
          <a:xfrm>
            <a:off x="2112264" y="5422392"/>
            <a:ext cx="80010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does not change the local multiply-and-sum operation. It places that operation inside a trainable model so the kernel coefficients can be learned from a loss.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4529D-BF04-CD96-164A-DA4C6F909BB1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6F8372-FC55-94E8-4D22-9B8A6B013EFA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355272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1–4 • FIR and Conv1d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Ideal LPF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from the inverse DTFT; explain noncausality; find delay for N=41.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Window 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vs Hamming: transition, sidelobes, and Gibbs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Linear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Show symmetric FIR form and derive constant group delay.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a 3-tap convolution and explain the PyTorch kernel flip.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 and the instructor package.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1–2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Ideal LPF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Inverse DTFT gives the sinc; h_d[0]=ω_c/π. The ideal response is infinite and two-sided. For N=41, shift by 20 samples and τ_g=20.</a:t>
            </a:r>
          </a:p>
        </p:txBody>
      </p:sp>
      <p:pic>
        <p:nvPicPr>
          <p:cNvPr id="10" name="Picture 9" descr="eq_9042b7e17da42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94760"/>
            <a:ext cx="4754880" cy="7060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417320"/>
            <a:ext cx="5120640" cy="30175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0292" cy="30175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901952"/>
            <a:ext cx="4892040" cy="2450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Rectangular: narrower transition but ≈−13 dB first sidelobe. Hamming: wider transition but ≈−43 dB first sidelobe. Increasing rectangular-window length narrows the Gibbs region; it does not eliminate peak overshoot.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3–4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087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Symmetry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Pairing symmetric taps gives a real amplitude term times a pure delay. Therefore group delay is constant.</a:t>
            </a:r>
          </a:p>
        </p:txBody>
      </p:sp>
      <p:pic>
        <p:nvPicPr>
          <p:cNvPr id="10" name="Picture 9" descr="eq_564ecb477badba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754880" cy="6926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Convolution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h=[0.2,0.5,0.3] and x=[1,2,0,−1], the first four causal outputs are [0.2,0.9,1.3,0.4]. Conv1d uses correlation ordering, so flip the taps for textbook convolution.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2761</Words>
  <Application>Microsoft Office PowerPoint</Application>
  <PresentationFormat>Widescreen</PresentationFormat>
  <Paragraphs>392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Peter Mathys</cp:lastModifiedBy>
  <cp:revision>2</cp:revision>
  <cp:lastPrinted>2026-09-01T19:44:10Z</cp:lastPrinted>
  <dcterms:created xsi:type="dcterms:W3CDTF">2013-01-27T09:14:16Z</dcterms:created>
  <dcterms:modified xsi:type="dcterms:W3CDTF">2026-09-01T19:47:23Z</dcterms:modified>
  <cp:category/>
</cp:coreProperties>
</file>