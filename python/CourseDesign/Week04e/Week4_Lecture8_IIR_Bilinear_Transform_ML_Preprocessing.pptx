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18288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sz="900" b="1" i="0" dirty="0">
                <a:solidFill>
                  <a:srgbClr val="E87E37"/>
                </a:solidFill>
                <a:latin typeface="Arial"/>
              </a:rPr>
              <a:t>WEEK 4 ● </a:t>
            </a:r>
            <a:r>
              <a:rPr sz="900" b="1" i="0" dirty="0">
                <a:solidFill>
                  <a:srgbClr val="E87E37"/>
                </a:solidFill>
                <a:latin typeface="Arial"/>
              </a:rPr>
              <a:t>LECTURE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97280"/>
            <a:ext cx="777240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IIR Design, Bilinear Transformation,
&amp;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8138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D2DCE8"/>
                </a:solidFill>
                <a:latin typeface="Arial"/>
              </a:rPr>
              <a:t>From analog prototypes to stable digital filters—and the phase choices hidden in ML 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800600"/>
            <a:ext cx="2057400" cy="548640"/>
          </a:xfrm>
          <a:prstGeom prst="roundRect">
            <a:avLst/>
          </a:prstGeom>
          <a:solidFill>
            <a:srgbClr val="1D919C"/>
          </a:solidFill>
          <a:ln w="12700">
            <a:solidFill>
              <a:srgbClr val="1D9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analog prototypes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4800600"/>
            <a:ext cx="2057400" cy="548640"/>
          </a:xfrm>
          <a:prstGeom prst="roundRect">
            <a:avLst/>
          </a:prstGeom>
          <a:solidFill>
            <a:srgbClr val="4575B0"/>
          </a:solidFill>
          <a:ln w="12700">
            <a:solidFill>
              <a:srgbClr val="45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9864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bilinear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7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4800600"/>
            <a:ext cx="2057400" cy="548640"/>
          </a:xfrm>
          <a:prstGeom prst="roundRect">
            <a:avLst/>
          </a:prstGeom>
          <a:solidFill>
            <a:srgbClr val="E87E37"/>
          </a:solidFill>
          <a:ln w="12700"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036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prewarping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088" y="4800600"/>
            <a:ext cx="2057400" cy="548640"/>
          </a:xfrm>
          <a:prstGeom prst="roundRect">
            <a:avLst/>
          </a:prstGeom>
          <a:solidFill>
            <a:srgbClr val="48915B"/>
          </a:solidFill>
          <a:ln w="12700">
            <a:solidFill>
              <a:srgbClr val="48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6208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offline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06440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BECBDB"/>
                </a:solidFill>
                <a:latin typeface="Arial"/>
              </a:rPr>
              <a:t>75 minutes • senior + first-year graduate ECE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806440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BECBDB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this 75-minute lecture is going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0–15 min • Analog prototypes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Butterworth, Chebyshev I/II, and elliptic tradeoffs.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15–40 min • Bilinear 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the analog LHP into the digital unit disk while preserving stability.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40–60 min • Warping + 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Derive Ω(ω) and hit the desired digital critical frequencies.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03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60–75 min • ML 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Causal IIR versus forward-backward zero-phase filtering and deployment implications.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977639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50" b="1" i="0">
                <a:solidFill>
                  <a:srgbClr val="122B4A"/>
                </a:solidFill>
                <a:latin typeface="Arial"/>
              </a:rPr>
              <a:t>DSP bridge: IIR design gives efficient recursive filters; ML preprocessing must also account for phase, causality, and train/deployment consistency.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17720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 i="0">
                <a:solidFill>
                  <a:srgbClr val="2A323D"/>
                </a:solidFill>
                <a:latin typeface="Arial"/>
              </a:rPr>
              <a:t>Classical DSP supplies structure and constraints; machine learning either reuses that structure or learns parameters inside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Why accept feedback and nonlinear phase?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Sharp magnitude selectivity can often be obtained with far fewer coefficients than an FIR meeting comparable magnitude specifications.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417320"/>
            <a:ext cx="50292" cy="18288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Tradeoff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recursive denominator introduces poles and typically nonlinear phase / frequency-dependent group delay.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29016" y="1417320"/>
            <a:ext cx="50292" cy="18288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offline denoising or smoothing, compact IIR filters are attractive—but preprocessing must match the temporal assumptions of deployment.</a:t>
            </a:r>
          </a:p>
        </p:txBody>
      </p:sp>
      <p:pic>
        <p:nvPicPr>
          <p:cNvPr id="18" name="Picture 17" descr="eq_454b281a1511f2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4069080"/>
            <a:ext cx="7040880" cy="14690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ANALOG PROTOTYPES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Four classical ways to spend ripple and transition width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4</a:t>
            </a:r>
          </a:p>
        </p:txBody>
      </p:sp>
      <p:pic>
        <p:nvPicPr>
          <p:cNvPr id="6" name="Picture 5" descr="iir_analog_proto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46304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1463040"/>
            <a:ext cx="50292" cy="9144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58784" y="157276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Butterworth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8784" y="194767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Maximally flat magnitude in the passband; monotonic.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65176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80" y="265176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58784" y="27614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Chebyshev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313639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Spend ripple in one band to sharpen the transition.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3840480"/>
            <a:ext cx="283464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3840480"/>
            <a:ext cx="50292" cy="10515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8784" y="3950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Elliptic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4325112"/>
            <a:ext cx="26060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in both bands; steepest transition for a given order/specification.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BUTTERWORTH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Maximally flat magnitude response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5</a:t>
            </a:r>
          </a:p>
        </p:txBody>
      </p:sp>
      <p:pic>
        <p:nvPicPr>
          <p:cNvPr id="6" name="Picture 5" descr="eq_62a8c3eaef3b8c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400800" cy="1534026"/>
          </a:xfrm>
          <a:prstGeom prst="rect">
            <a:avLst/>
          </a:prstGeom>
        </p:spPr>
      </p:pic>
      <p:pic>
        <p:nvPicPr>
          <p:cNvPr id="7" name="Picture 6" descr="eq_e5c940fa22db2d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81130"/>
            <a:ext cx="6217920" cy="92918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463040"/>
            <a:ext cx="36576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89520" y="146304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35824" y="157276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Order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5824" y="1947672"/>
            <a:ext cx="3429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Higher N steepens the transition around Ω_c.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834640"/>
            <a:ext cx="365760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2834640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35824" y="294436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 passband ripple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24" y="3319272"/>
            <a:ext cx="34290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 is attractive when smooth magnitude behavior matters more than the narrowest possible transition.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480560"/>
            <a:ext cx="36576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448056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35824" y="459028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4965192"/>
            <a:ext cx="3429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At the cutoff, the squared magnitude is 1/2 regardless of 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BUTTERWORTH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increasing order buys—and what it costs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6</a:t>
            </a:r>
          </a:p>
        </p:txBody>
      </p:sp>
      <p:pic>
        <p:nvPicPr>
          <p:cNvPr id="6" name="Picture 5" descr="eq_0c1d009d8a26d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035040" cy="12535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3017519"/>
            <a:ext cx="34747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017519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3127247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Magnitude slope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02151"/>
            <a:ext cx="32461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Each additional pole increases asymptotic attenuation by about 20 dB/decade.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17519"/>
            <a:ext cx="34747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3017519"/>
            <a:ext cx="50292" cy="12801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26864" y="3127247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Implementation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3502151"/>
            <a:ext cx="32461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Higher order means more states / sections and greater numerical sensitivity in direct-form implementations.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017519"/>
            <a:ext cx="320040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3017519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3127247"/>
            <a:ext cx="2971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3502151"/>
            <a:ext cx="29718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second-order sections for moderate/high-order digital IIR implementations when possible.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PROTOTYPE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the ripple is allowed to live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20574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9659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Prototype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325880"/>
            <a:ext cx="20116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63239" y="1463040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Passband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325880"/>
            <a:ext cx="20116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49240" y="1463040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Stopband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325880"/>
            <a:ext cx="38862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1463040"/>
            <a:ext cx="3794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Transition / comment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874519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02082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Butterworth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874519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63239" y="202082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874519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49240" y="202082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1874519"/>
            <a:ext cx="3886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0" y="202082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maximally flat; smooth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651760"/>
            <a:ext cx="20574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279806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Chebyshev 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65176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63239" y="279806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265176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49240" y="279806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2651760"/>
            <a:ext cx="38862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43800" y="279806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sharper for allowed passband ripple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429000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357530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Chebyshev 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42900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63239" y="357530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342900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9240" y="357530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79" y="3429000"/>
            <a:ext cx="3886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43800" y="357530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spend ripple in stopband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206240"/>
            <a:ext cx="20574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435254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Elliptic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420624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063239" y="435254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420624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49240" y="435254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9" y="4206240"/>
            <a:ext cx="38862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43800" y="435254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steepest transition for given order/spec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79788" y="5422393"/>
            <a:ext cx="9509760" cy="685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255014" y="5422393"/>
            <a:ext cx="50292" cy="685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426464" y="5458968"/>
            <a:ext cx="9281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22B4A"/>
                </a:solidFill>
                <a:latin typeface="Arial"/>
              </a:rPr>
              <a:t>Engineering habit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26464" y="5833872"/>
            <a:ext cx="9281160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 dirty="0">
                <a:solidFill>
                  <a:srgbClr val="2A323D"/>
                </a:solidFill>
                <a:latin typeface="Arial"/>
              </a:rPr>
              <a:t>Choose the prototype from passband/stopband tolerances and order requirements—not from a universal ranking.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Which prototype sounds plausible?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Sensor 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Passband amplitude must be smooth; moderate transition width is acceptable.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06324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317296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547872"/>
            <a:ext cx="315468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 is a natural first choice because it is monotonic and maximally flat.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141732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Tight transition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small amount of controlled passband ripple is acceptable to lower order.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34840" y="306324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81144" y="317296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3547872"/>
            <a:ext cx="315468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Chebyshev I trades passband ripple for a sharper transition.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38160" y="141732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Most aggressive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is acceptable in both bands and minimum order is important.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38160" y="3063240"/>
            <a:ext cx="50292" cy="12344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84464" y="317296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3547872"/>
            <a:ext cx="315468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Elliptic is often the most aggressive classical choice.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ANALOG →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must a useful domain map preserve?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Analog stable poles satisfy Re{s}&lt;0. They must map to |z|&lt;1.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Frequency axis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analog jΩ axis should map to the digital unit circle z=e^{jω}.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One-to-one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Avoid aliasing of multiple analog frequencies onto the same digital frequency.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122B4A"/>
                </a:solidFill>
                <a:latin typeface="Arial"/>
              </a:rPr>
              <a:t>The bilinear transform satisfies these properties—but its price is nonlinear frequency warping.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BILINEAR TRANSFORM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substitution that maps the half-plane to the disk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10</a:t>
            </a:r>
          </a:p>
        </p:txBody>
      </p:sp>
      <p:pic>
        <p:nvPicPr>
          <p:cNvPr id="6" name="Picture 5" descr="eq_8aa7f017591418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389120" cy="812647"/>
          </a:xfrm>
          <a:prstGeom prst="rect">
            <a:avLst/>
          </a:prstGeom>
        </p:spPr>
      </p:pic>
      <p:pic>
        <p:nvPicPr>
          <p:cNvPr id="7" name="Picture 6" descr="eq_92da49cc1fb712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60320"/>
            <a:ext cx="3931920" cy="7243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0" y="1417320"/>
            <a:ext cx="502920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0" y="1417320"/>
            <a:ext cx="50292" cy="10515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15584" y="152704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5584" y="1901952"/>
            <a:ext cx="480060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 is the sampling period used in the analog-to-digital mapping.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43200"/>
            <a:ext cx="50292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0" y="274320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15584" y="28529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Important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5584" y="3227832"/>
            <a:ext cx="48006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This is not the impulse-invariance map z=e^{sT}. The bilinear transform avoids frequency aliasing but warps the axis.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STABILITY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Why the analog left-half plane lands inside the unit circle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11</a:t>
            </a:r>
          </a:p>
        </p:txBody>
      </p:sp>
      <p:pic>
        <p:nvPicPr>
          <p:cNvPr id="6" name="Picture 5" descr="eq_373a404e9c46c6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663440" cy="876586"/>
          </a:xfrm>
          <a:prstGeom prst="rect">
            <a:avLst/>
          </a:prstGeom>
        </p:spPr>
      </p:pic>
      <p:pic>
        <p:nvPicPr>
          <p:cNvPr id="7" name="Picture 6" descr="eq_945229a29281a8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05" y="2427413"/>
            <a:ext cx="6516695" cy="822960"/>
          </a:xfrm>
          <a:prstGeom prst="rect">
            <a:avLst/>
          </a:prstGeom>
        </p:spPr>
      </p:pic>
      <p:pic>
        <p:nvPicPr>
          <p:cNvPr id="8" name="Picture 7" descr="eq_7e8e5f5c4032ce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11880"/>
            <a:ext cx="2560320" cy="3416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80" y="1472184"/>
            <a:ext cx="4297680" cy="16459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0" y="1472184"/>
            <a:ext cx="50292" cy="16459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44384" y="1581912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44384" y="1956816"/>
            <a:ext cx="4069080" cy="10789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negative real part makes the numerator magnitude smaller than the denominator magnitude, so a stable analog pole maps inside the digital unit circle.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0" y="3483864"/>
            <a:ext cx="429768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80" y="3483864"/>
            <a:ext cx="50292" cy="11887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44384" y="3593592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4384" y="3968496"/>
            <a:ext cx="406908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σ=0, numerator and denominator magnitudes are equal, hence |z|=1.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STABILITY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Representative analog stable poles map inside |z|=1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12</a:t>
            </a:r>
          </a:p>
        </p:txBody>
      </p:sp>
      <p:pic>
        <p:nvPicPr>
          <p:cNvPr id="6" name="Picture 5" descr="iir_bilinear_pol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5218176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554480"/>
            <a:ext cx="4297680" cy="16459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20840" y="1554480"/>
            <a:ext cx="50292" cy="16459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67144" y="166420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7144" y="2039112"/>
            <a:ext cx="4069080" cy="10789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Every shown analog pole has negative real part. After the bilinear map, every digital pole lies strictly inside the unit circle.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3611880"/>
            <a:ext cx="4297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20840" y="361188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67144" y="372160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This is the guarantee we want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144" y="4096512"/>
            <a:ext cx="4069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Start from a stable analog prototype and the mapped digital filter remains stable, barring numerical implementation issues.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analog jΩ axis maps exactly onto the unit circle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13</a:t>
            </a:r>
          </a:p>
        </p:txBody>
      </p:sp>
      <p:pic>
        <p:nvPicPr>
          <p:cNvPr id="6" name="Picture 5" descr="eq_5fccd76c2f62be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023360" cy="453762"/>
          </a:xfrm>
          <a:prstGeom prst="rect">
            <a:avLst/>
          </a:prstGeom>
        </p:spPr>
      </p:pic>
      <p:pic>
        <p:nvPicPr>
          <p:cNvPr id="7" name="Picture 6" descr="eq_301d517cf8a29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31720"/>
            <a:ext cx="5394960" cy="801131"/>
          </a:xfrm>
          <a:prstGeom prst="rect">
            <a:avLst/>
          </a:prstGeom>
        </p:spPr>
      </p:pic>
      <p:pic>
        <p:nvPicPr>
          <p:cNvPr id="8" name="Picture 7" descr="eq_aaab5185354626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29000"/>
            <a:ext cx="5852160" cy="8690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0" y="1645920"/>
            <a:ext cx="438912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0" y="164592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4304" y="1755648"/>
            <a:ext cx="41605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4" y="2130552"/>
            <a:ext cx="416052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Ω=0 maps to ω=0. As |Ω|→∞, the digital frequency approaches ±π and z approaches −1.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566160"/>
            <a:ext cx="438912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0" y="3566160"/>
            <a:ext cx="50292" cy="11430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04304" y="3675888"/>
            <a:ext cx="41605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 aliasing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04" y="4050792"/>
            <a:ext cx="416052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entire analog frequency axis maps one-to-one into −π&lt;ω&lt;π.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price of the one-to-one 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14</a:t>
            </a:r>
          </a:p>
        </p:txBody>
      </p:sp>
      <p:pic>
        <p:nvPicPr>
          <p:cNvPr id="6" name="Picture 5" descr="eq_8fc34ff581eba4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5303520" cy="971980"/>
          </a:xfrm>
          <a:prstGeom prst="rect">
            <a:avLst/>
          </a:prstGeom>
        </p:spPr>
      </p:pic>
      <p:pic>
        <p:nvPicPr>
          <p:cNvPr id="7" name="Picture 6" descr="eq_b824e165219b9b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97480"/>
            <a:ext cx="5303520" cy="11314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1417320"/>
            <a:ext cx="457200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92240" y="14173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38544" y="15270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Low frequency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1901952"/>
            <a:ext cx="434340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small ω, tan(ω/2)≈ω/2, so Ω≈ω/T.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880360"/>
            <a:ext cx="4572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288036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38544" y="299008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Near Nyquist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3364992"/>
            <a:ext cx="4343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map becomes strongly nonlinear; equal analog frequency intervals do not remain equal digital intervals.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Near Nyquist, the analog axis is stretched dramatically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15</a:t>
            </a:r>
          </a:p>
        </p:txBody>
      </p:sp>
      <p:pic>
        <p:nvPicPr>
          <p:cNvPr id="6" name="Picture 5" descr="iir_frequency_war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772400" cy="44161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645920"/>
            <a:ext cx="274320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95360" y="16459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41664" y="1755648"/>
            <a:ext cx="2514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Read the curve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1664" y="2130552"/>
            <a:ext cx="251460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relationship is nearly linear near DC but diverges as ω→π.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063240"/>
            <a:ext cx="274320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95360" y="306324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41664" y="3172968"/>
            <a:ext cx="2514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consequence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3547872"/>
            <a:ext cx="251460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you design the analog cutoff at the unwarped numeric value, the final digital cutoff misses its target.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PREWARPING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 dirty="0">
                <a:solidFill>
                  <a:srgbClr val="122B4A"/>
                </a:solidFill>
                <a:latin typeface="Arial"/>
              </a:rPr>
              <a:t>Design the analog prototype at the frequency that maps to the desired digital edge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4444" y="1378192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16</a:t>
            </a:r>
          </a:p>
        </p:txBody>
      </p:sp>
      <p:pic>
        <p:nvPicPr>
          <p:cNvPr id="6" name="Picture 5" descr="eq_95cf1f4e17d885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80846"/>
            <a:ext cx="5212080" cy="8425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3169566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87E37"/>
                </a:solidFill>
                <a:latin typeface="Arial"/>
              </a:rPr>
              <a:t>Design sequence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3581046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 • Digital 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ω_s, ripple / attenuation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40" y="3581046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6674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2 • Prewarp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each critical digital frequency to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3581046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138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 • Analog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design Butterworth / Chebyshev / elliptic prototype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89720" y="3581046"/>
            <a:ext cx="50292" cy="15544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3602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 • Bilinear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substitute s(z) to obtain the digital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Prewarp a desired cutoff at 0.4π rad/sample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17</a:t>
            </a:r>
          </a:p>
        </p:txBody>
      </p:sp>
      <p:pic>
        <p:nvPicPr>
          <p:cNvPr id="6" name="Picture 5" descr="eq_0de928ed302769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023360" cy="431074"/>
          </a:xfrm>
          <a:prstGeom prst="rect">
            <a:avLst/>
          </a:prstGeom>
        </p:spPr>
      </p:pic>
      <p:pic>
        <p:nvPicPr>
          <p:cNvPr id="7" name="Picture 6" descr="eq_cbe6f5f0e454da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77440"/>
            <a:ext cx="5943600" cy="77646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3657600"/>
            <a:ext cx="50292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37673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142232"/>
            <a:ext cx="48006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Design the analog prototype at Ω_c≈1.4531—not at 0.4π≈1.2566.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0292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36576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37673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142232"/>
            <a:ext cx="48006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After the bilinear transform, the measured −3 dB point lands at approximately 0.4π.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From digital specification to digital IIR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Digital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ω_s, A_p, A_s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34639" y="1828800"/>
            <a:ext cx="50292" cy="14630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8094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Prewarp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66359" y="182880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1266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Analog 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H_c(s)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79" y="1828800"/>
            <a:ext cx="50292" cy="14630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4438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Bilinear transform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H(z)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29800" y="1828800"/>
            <a:ext cx="50292" cy="1463040"/>
          </a:xfrm>
          <a:prstGeom prst="rect">
            <a:avLst/>
          </a:prstGeom>
          <a:solidFill>
            <a:srgbClr val="7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76104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6104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freqz + numerical stability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069080"/>
            <a:ext cx="102412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22B4A"/>
                </a:solidFill>
                <a:latin typeface="Arial"/>
              </a:rPr>
              <a:t>The bilinear transform preserves stability, not exact frequency spacing. Verification is part of the design, not an optional afterthought.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Explicit analog prototype → bilinear transform in SciPy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6035040" cy="3566160"/>
          </a:xfrm>
          <a:prstGeom prst="roundRect">
            <a:avLst/>
          </a:prstGeom>
          <a:solidFill>
            <a:srgbClr val="1B232E"/>
          </a:solidFill>
          <a:ln w="12700">
            <a:solidFill>
              <a:srgbClr val="1B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81328"/>
            <a:ext cx="576072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Courier New"/>
              </a:rPr>
              <a:t>wc = 0.4*np.pi
T = 1.0
Omega_c = (2/T)*np.tan(wc/2)
b_a, a_a = signal.butter(4, Omega_c, analog=True)
b_z, a_z = signal.bilinear(b_a, a_a, fs=1/T)
w, H = signal.freqz(b_z, a_z)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463040"/>
            <a:ext cx="411480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0" y="146304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87184" y="1572768"/>
            <a:ext cx="3886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Why show the explicit path?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184" y="1947672"/>
            <a:ext cx="388620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It makes prewarping and the analog prototype visible instead of hiding the mathematics inside one convenience function.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246120"/>
            <a:ext cx="411480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0880" y="3246120"/>
            <a:ext cx="50292" cy="14173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87184" y="3355848"/>
            <a:ext cx="3886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Implementation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3730752"/>
            <a:ext cx="388620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deployment, prefer numerically robust second-order-section forms when order becomes substantial.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prewarped design hits the intended digital cutoff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20</a:t>
            </a:r>
          </a:p>
        </p:txBody>
      </p:sp>
      <p:pic>
        <p:nvPicPr>
          <p:cNvPr id="6" name="Picture 5" descr="iir_prewarp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834640" cy="1005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10058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060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Desired digital cutoff: ω_c = 0.4π.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83464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283464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294436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Measured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31927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script finds the −3 dB point at ≈0.3999π.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976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58200" y="429768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04504" y="44074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478231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Always verify the digital response after mapping.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Efficient magnitude selectivity does not usually preserve waveform shape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21</a:t>
            </a:r>
          </a:p>
        </p:txBody>
      </p:sp>
      <p:pic>
        <p:nvPicPr>
          <p:cNvPr id="6" name="Picture 5" descr="iir_nonlinear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040880" cy="40005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554480"/>
            <a:ext cx="329184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46720" y="155448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93024" y="166420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Nonlinear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3024" y="2039112"/>
            <a:ext cx="306324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phase is not a straight line in ω, so group delay varies with frequency.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108960"/>
            <a:ext cx="3291840" cy="15087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3108960"/>
            <a:ext cx="50292" cy="15087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3024" y="321868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3593592"/>
            <a:ext cx="3063240" cy="9418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timing relationships are part of the feature, causal IIR preprocessing can alter them. That may or may not matter depending on the task.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Frequency-dependent group delay makes the distortion easier to see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22</a:t>
            </a:r>
          </a:p>
        </p:txBody>
      </p:sp>
      <p:pic>
        <p:nvPicPr>
          <p:cNvPr id="6" name="Picture 5" descr="iir_group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7315200" cy="41563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645920"/>
            <a:ext cx="301752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0" y="16459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75904" y="1755648"/>
            <a:ext cx="2788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Contrast with Lecture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2130552"/>
            <a:ext cx="278892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symmetric FIR had nearly constant τ_g. Here the delay changes across the passband/transition.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383280"/>
            <a:ext cx="301752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3383280"/>
            <a:ext cx="50292" cy="14630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75904" y="3493008"/>
            <a:ext cx="2788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Practical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3867912"/>
            <a:ext cx="278892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Does the downstream model care about absolute timing, relative timing, or only long-term spectral statistics?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OFFLINE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Forward-backward filtering cancels phase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23</a:t>
            </a:r>
          </a:p>
        </p:txBody>
      </p:sp>
      <p:pic>
        <p:nvPicPr>
          <p:cNvPr id="6" name="Picture 5" descr="eq_5885df518f8066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6400800" cy="818147"/>
          </a:xfrm>
          <a:prstGeom prst="rect">
            <a:avLst/>
          </a:prstGeom>
        </p:spPr>
      </p:pic>
      <p:pic>
        <p:nvPicPr>
          <p:cNvPr id="7" name="Picture 6" descr="eq_bb091832dc5180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60320"/>
            <a:ext cx="7498079" cy="9584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50876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0" y="150876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58784" y="16184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Net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8784" y="199339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real-coefficient filters, the phases cancel: zero-phase distortion.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880360"/>
            <a:ext cx="28346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12480" y="288036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58784" y="29900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 magnitude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8784" y="3364992"/>
            <a:ext cx="26060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magnitude is squared, so attenuation in dB is approximately doubled.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434340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0" y="43434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58784" y="445312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And causality is gone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482803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backward pass uses future samples relative to a streaming implementation.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OFFLINE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Compare causal IIR delay with forward-backward zero phase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24</a:t>
            </a:r>
          </a:p>
        </p:txBody>
      </p:sp>
      <p:pic>
        <p:nvPicPr>
          <p:cNvPr id="6" name="Picture 5" descr="iir_filtfilt_trans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818120" cy="42515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554480"/>
            <a:ext cx="265176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95360" y="155448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41664" y="1664208"/>
            <a:ext cx="2423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Causal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1664" y="2039112"/>
            <a:ext cx="242316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transient is delayed and reshaped according to the filter phase/group delay.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200400"/>
            <a:ext cx="265176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95360" y="320040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41664" y="3310128"/>
            <a:ext cx="2423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Forward-backward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3685032"/>
            <a:ext cx="242316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transient aligns much more closely in time—but the method is offline and noncausal.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FORWARD-BACKWARD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Zero phase does not mean “the same filter twice for free”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25</a:t>
            </a:r>
          </a:p>
        </p:txBody>
      </p:sp>
      <p:pic>
        <p:nvPicPr>
          <p:cNvPr id="6" name="Picture 5" descr="iir_filtfilt_magn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680960" cy="43641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One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is |H|.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788920"/>
            <a:ext cx="283464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27889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289864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Two passes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273552"/>
            <a:ext cx="260604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becomes |H|²; order/effective selectivity are increased.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51960"/>
            <a:ext cx="28346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58200" y="425196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04504" y="43616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4736592"/>
            <a:ext cx="26060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you need a final −3 dB edge after forward-backward filtering, design with the two-pass response in mind.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Zero-phase preprocessing can quietly change the learning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1488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Noncausal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Future samples are used; not reproducible in a strict real-time stream.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1488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Boundary transients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Finite-record initial conditions and padding can distort the beginning/end.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1488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Magnitude squared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effective response is not the same as one causal pass.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1488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Train/serve skew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model trained with future-aware filtering may see a different distribution when deployed causally.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251960"/>
            <a:ext cx="100584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22B4A"/>
                </a:solidFill>
                <a:latin typeface="Arial"/>
              </a:rPr>
              <a:t>Good engineering question: “Will the exact same preprocessing be available when the model is actually used?”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ML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a classical IIR can fit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0292" cy="14173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Raw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sensor / audio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50292" cy="14173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12464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Fixed IIR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remove nuisance 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79" y="182880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1383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DSP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3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MFCCs, energy, flux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3999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3999" y="1828800"/>
            <a:ext cx="50292" cy="141732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0303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3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SVM / RF / MLP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02336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" y="402336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0704" y="413308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Appropriate 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" y="4507992"/>
            <a:ext cx="461772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known high-frequency interference band is irrelevant to the classification task and can be attenuated efficiently before features are computed.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02336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402336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64224" y="413308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Question before filtering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4507992"/>
            <a:ext cx="461772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Could the “noise” contain class information? Fixed preprocessing is an inductive assumption and should be validated.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FIR, IIR, or learned front end?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164592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554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Choice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325880"/>
            <a:ext cx="26517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06039" y="1463040"/>
            <a:ext cx="2560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Strength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325880"/>
            <a:ext cx="26517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32120" y="1463040"/>
            <a:ext cx="2560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Cost /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325880"/>
            <a:ext cx="301752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292607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Good 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874519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198424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Linear-phase FIR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1874519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06039" y="198424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controlled phase + finite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1874519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32120" y="198424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more taps / delay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874519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200" y="198424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waveform alignment matters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651760"/>
            <a:ext cx="16459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276148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IIR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65176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06039" y="276148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sharp response with few coefficients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265176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32120" y="276148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nonlinear phase; feedback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651760"/>
            <a:ext cx="30175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58200" y="276148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efficient causal preprocessing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429000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53872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filtfilt IIR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34290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06039" y="353872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zero phase offline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34290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32120" y="353872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noncausal; |H|²; edges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342900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58200" y="353872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offline dataset preparation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206240"/>
            <a:ext cx="16459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431596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Learned Conv1d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420624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606039" y="431596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task-adaptive front 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420624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32120" y="431596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needs data/validation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4206240"/>
            <a:ext cx="30175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58200" y="431596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end-to-end 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Lecture 8 synthesis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where ripple is allowed and how much transition width you need.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Bilinear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Stable analog LHP → stable digital unit disk.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Critical frequencies must be mapped through tan(ω/2).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Phase, causality, edges, and deployment consistency are part of the ML problem.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22B4A"/>
                </a:solidFill>
                <a:latin typeface="Arial"/>
              </a:rPr>
              <a:t>Minute paper: Why can a zero-phase offline preprocessing pipeline give misleading confidence about a streaming deployment?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Problems 5–8 • IIR, bilinear transform, preprocessing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32004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5 • Butterworth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Evaluate a fourth-order Butterworth response at Ω_c and 2Ω_c.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3200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6 • Stability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s=−2+j3 through the bilinear transform for T=0.1 and verify |z|&lt;1.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3200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7 • 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Compute Ω_c for desired ω_c=0.4π, T=1.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32004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8 • filtfilt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Explain phase cancellation, |H|², noncausality, and ML train/serve risk.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12080"/>
            <a:ext cx="9784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122B4A"/>
                </a:solidFill>
                <a:latin typeface="Arial"/>
              </a:rPr>
              <a:t>Full worked solutions are included in Lectures7_8_Homework_Quiz_Solutions.md.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WEEKLY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Questions 1–4 • 10–12 minutes total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8346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Q1 • Delay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symmetric FIR has N=31 taps. What is its group delay?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8346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Q2 •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Hamming vs rectangular: which has lower sidelobes? Which has narrower main lobe?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8346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Q3 • Gibbs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Explain Gibbs phenomenon in one sentence.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8346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Q4 • Conv1d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Why flip fixed FIR taps when reproducing textbook convolution?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WEEKLY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Questions 5–8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8346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Q5 • Butterworth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in dB at Ω=Ω_c?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8346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Q6 • Warping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State the Ω–ω bilinear frequency relation.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8346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Q7 • 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ω_c=0.6π, should the analog prototype use Ω_c=0.6π/T directly? Why?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8346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Q8 • Zero phase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Main benefit and main deployment limitation of forward-backward filtering?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87E37"/>
                </a:solidFill>
                <a:latin typeface="Arial"/>
              </a:rPr>
              <a:t>INSTRUCTOR SOLUTION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772400" cy="1371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Weekly Quiz + Homework
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31920"/>
            <a:ext cx="86868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C8D4E2"/>
                </a:solidFill>
                <a:latin typeface="Arial"/>
              </a:rPr>
              <a:t>Keep these slides after the student-facing material or move them to a separate instructor deck.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Quiz solutions • Questions 1–4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31089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542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τ_g=(31−1)/2=15 samples.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31089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542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Hamming → lower sidelobes; rectangular → narrower main lobe.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31089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542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Abrupt truncation produces oscillatory ripple near a frequency discontinuity; increasing N narrows the ripple region but does not drive peak overshoot to zero.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310896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542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Conv1d uses cross-correlation ordering; textbook convolution contains x[n−k], which reverses one sequence.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Quiz solutions • Questions 5–8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971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−3.01 dB because |H|=1/√2.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9718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Ω=(2/T)tan(ω/2).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9718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No. Prewarp with Ω_c=(2/T)tan(0.3π).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9718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Benefit: zero net phase offline. Limitation: noncausal/future-aware, so it cannot be reproduced directly in a strict streaming pipeline.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Homework solutions • Problems 5–6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27432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27432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4983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5 • Butterworth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983480" cy="21762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At Ω=Ω_c: |H|=1/√2 → −3.01 dB. At Ω=2Ω_c with N=4: |H|²=1/(1+2⁸)=1/257, so |H|≈0.0624 → ≈−24.1 dB.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20640" cy="27432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0292" cy="27432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6 • Pole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1901952"/>
            <a:ext cx="4892040" cy="21762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T=0.1 and s=−2+j3, z=(1+sT/2)/(1−sT/2)≈0.785+j0.243, so |z|≈0.822&lt;1.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Homework solutions • Problems 7–8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7 • Prewarp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892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ω_c=0.4π and T=1:</a:t>
            </a:r>
          </a:p>
        </p:txBody>
      </p:sp>
      <p:pic>
        <p:nvPicPr>
          <p:cNvPr id="10" name="Picture 9" descr="eq_6cb892ae0f1d49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60320"/>
            <a:ext cx="4480560" cy="3958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1417320"/>
            <a:ext cx="5120640" cy="27432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0292" cy="27432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8 • Forward-backward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901952"/>
            <a:ext cx="4892040" cy="21762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becomes |H|² and phase cancels. It is noncausal, has boundary handling issues, and can create train/deployment mismatch if inference must be causal.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2971</Words>
  <Application>Microsoft Office PowerPoint</Application>
  <PresentationFormat>Widescreen</PresentationFormat>
  <Paragraphs>454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4</cp:revision>
  <cp:lastPrinted>2026-09-01T19:55:00Z</cp:lastPrinted>
  <dcterms:created xsi:type="dcterms:W3CDTF">2013-01-27T09:14:16Z</dcterms:created>
  <dcterms:modified xsi:type="dcterms:W3CDTF">2026-09-03T19:43:37Z</dcterms:modified>
  <cp:category/>
</cp:coreProperties>
</file>