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4B975-8779-42E8-9F62-4811D971A5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BBD92-2B3C-45C1-9185-9CAA20011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4A616-7B08-4857-8F38-7E95E4990F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LECTURE 9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All equations shown as raw $...$ / $$...$$ text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22960" y="1554480"/>
            <a:ext cx="10515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$$H(e^{j\omega})=H(z)\big|_{z=e^{j\omega}}$$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2560320"/>
            <a:ext cx="104238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Every digital frequency $\omega$ corresponds to one point $e^{j\omega}$ on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Magnitude and phase can be read geometrically from vectors drawn from poles and zeros to that 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85800" y="1371600"/>
            <a:ext cx="557748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$$|H(e^{j\omega})|=|K|\frac{\prod_i|e^{j\omega}-z_i|}{\prod_k|e^{j\omega}-p_k|}$$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0" descr="/mnt/data/week5_lectures9_10/assets/L9_pz_geometry.png"/>
          <p:cNvPicPr/>
          <p:nvPr/>
        </p:nvPicPr>
        <p:blipFill>
          <a:blip r:embed="rId3"/>
          <a:stretch/>
        </p:blipFill>
        <p:spPr>
          <a:xfrm>
            <a:off x="6537960" y="1325880"/>
            <a:ext cx="4663080" cy="46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40080" y="1463040"/>
            <a:ext cx="1088100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$$\angle H(e^{j\omega})=\angle K+\sum_i\angle(e^{j\omega}-z_i)-\sum_k\angle(e^{j\omega}-p_k)$$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265176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31520" y="1371600"/>
            <a:ext cx="53031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$$H(z)=\frac{1-0.8z^{-1}}{1-0.5z^{-1}}$$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$\omega=0$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77680" y="281628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unit-circle point is $z=1$. The zero-distance is $0.2$ and pole-distance is $0.5$, so $|H(1)|=0.4$.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$\omega=\pi$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877680" y="473652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point is $z=-1$. The distances are $1.8$ and $1.5$, so $|H(-1)|=1.2$. Predict a high-frequency tilt before plotting.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mnt/data/week5_lectures9_10/assets/L9_mag.png"/>
          <p:cNvPicPr/>
          <p:nvPr/>
        </p:nvPicPr>
        <p:blipFill>
          <a:blip r:embed="rId3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777240" y="1417320"/>
            <a:ext cx="10515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pole at angle $\omega_0$ moves radially from radius $0.5$ to radius $0.95$. What happens near $\omega_0$?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the denominator vector becomes much shorter, so magnitude increases sharply and the phase changes more rapidly.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Graduate-level addition: the pole also produces a more concentrated group-delay contribution near its angle.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858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$$\tau_p(\omega)=-\frac{\angle H(e^{j\omega})}{\omega}$$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61722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$$\tau_g(\omega)=-\frac{d}{d\omega}\angle H(e^{j\omega})$$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$$\angle H(e^{j\omega})=\beta-\alpha\omega$$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$$\tau_g(\omega)=\alpha$$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$\beta$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$\pi$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28800" y="54864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$|H(e^{j\omega})|$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$$x[n]=\frac{1}{2\pi}\int_{-\pi}^{\pi}X(e^{j\omega})e^{j\omega n}d\omega$$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$$|H_{ap}(e^{j\omega})|=1\quad\forall\omega$$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$$H_{ap}(z)=\frac{z^{-1}-a^*}{1-az^{-1}},\qquad |a|&lt;1$$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$z=a$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$z=1/a^*$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$|z|=1$,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magnitude is flat while group delay is not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/mnt/data/week5_lectures9_10/assets/L9_allpass_mag.png"/>
          <p:cNvPicPr/>
          <p:nvPr/>
        </p:nvPicPr>
        <p:blipFill>
          <a:blip r:embed="rId3"/>
          <a:stretch/>
        </p:blipFill>
        <p:spPr>
          <a:xfrm>
            <a:off x="6858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1" descr="/mnt/data/week5_lectures9_10/assets/L9_allpass_gd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ape 5"/>
          <p:cNvSpPr/>
          <p:nvPr/>
        </p:nvSpPr>
        <p:spPr>
          <a:xfrm>
            <a:off x="1828800" y="54864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Key insight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can produce substantial timing changes without leaving any trace in a magnitude-only plot.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$|H_{tot}|=|H||H_{ap}|=|H|$.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$$\tau_{g,tot}(\omega)=\tau_{g,H}(\omega)+\tau_{g,ap}(\omega)$$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$|H(e^{j\omega})|$ but different $\angle H(e^{j\omega})$. Must their outputs be identical for every input?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no. Their spectra have the same magnitudes but different phases, so transient waveform shapes can differ.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would they sound or look nearly equivalent? When the task or perception is insensitive to the altered phase relationships.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 • Pole-zero geometry for $H(z)=(1-0.8z^{-1})/(1-0.5z^{-1})$.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 • Compute phase delay and group delay for $\phi(\omega)=-3\omega+0.4\sin\omega$.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3 • Prove unit magnitude for a first-order all-pass.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 • Explain how nonlinear phase can alter ECG timing features and propose offline/streaming mitigations.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solution sketch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85800" y="141732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P1: $|H(1)|=0.4$, $|H(-1)|=1.2$; distance ratios predict the tilt.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P2: $\tau_p=3-0.4\sin\omega/\omega$ and $\tau_g=3-0.4\cos\omega$.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P3: numerator and denominator squared magnitudes are both $1+a^2-2a\cos\omega$.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P4: preserve timing offline with validated zero-phase processing or use a linear-phase / deployment-matched causal front end.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2074</Words>
  <Application>Microsoft Office PowerPoint</Application>
  <PresentationFormat>Widescreen</PresentationFormat>
  <Paragraphs>220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Mathys</cp:lastModifiedBy>
  <cp:revision>1</cp:revision>
  <dcterms:modified xsi:type="dcterms:W3CDTF">2026-08-31T21:11:46Z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