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47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107CC0B-26CF-4D7B-83A1-219EED61A1E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FDC2E4-6A8F-471E-9ACB-60AFD883A6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B7298D-9326-43FE-AA5A-2A84A76DA2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3ECBF2-2EAF-44DA-A839-EF1F24B011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970527-FB7F-4CFA-9658-1B2DA60346B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7D1C1A-56E7-4108-87DF-1F8B20106E8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3B4A99-27FB-4D68-A763-7CE91B2778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2B09D8-BC4E-4DD0-B5CE-3BDE29D996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BC23BB-A180-426F-84B0-954A07B7739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299AE7E-D394-4655-B36B-84020FE6E8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D44B32-F11F-4535-BE4C-95A14A493F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0F199B-59C7-4C80-9B9D-FC6BF2E182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02FB271-AF13-4573-A5DD-7F00F1BEF6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657AB6-ACB7-48B9-9439-E707F06CF1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1D22FE-A601-4F4B-AD52-753EB6CAB5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1F4B975-8779-42E8-9F62-4811D971A53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41DAED-F353-4B94-B3DE-97D7543FCD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9BFE9EB-0DE1-4989-AAB8-F1D39F9E14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32DEC9-309E-4F37-B695-F5FF72737C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2F1773-9CA4-456E-8C24-BAD063610F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77926F-9D43-4E07-8E20-44DFD2AAEA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8847340-FE8B-4100-8D56-FE4F859A2F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15690C-2795-4C38-9CBA-DECC6CBEBE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F4BBD92-2B3C-45C1-9185-9CAA200119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D4A616-7B08-4857-8F38-7E95E4990F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94360" y="5029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A7C7E7"/>
                </a:solidFill>
                <a:effectLst/>
                <a:uFillTx/>
                <a:latin typeface="Aptos"/>
              </a:rPr>
              <a:t>WEEK 5 ● LECTURE </a:t>
            </a:r>
            <a:r>
              <a:rPr lang="en-US" sz="1500" b="1" u="none" strike="noStrike" dirty="0">
                <a:solidFill>
                  <a:srgbClr val="A7C7E7"/>
                </a:solidFill>
                <a:effectLst/>
                <a:uFillTx/>
                <a:latin typeface="Aptos"/>
              </a:rPr>
              <a:t>9</a:t>
            </a:r>
            <a:endParaRPr lang="en-US" sz="15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94360" y="1234440"/>
            <a:ext cx="10515240" cy="123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Time/Frequency Responses and Group Delay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594360" y="2743200"/>
            <a:ext cx="106066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DDE8F3"/>
                </a:solidFill>
                <a:effectLst/>
                <a:uFillTx/>
                <a:latin typeface="Aptos"/>
              </a:rPr>
              <a:t>From pole-zero geometry to waveform dispersion and all-pass phase equalization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594360" y="3931920"/>
            <a:ext cx="10332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pole-zero geometry  →  group delay  →  all-pass  →  ML feature timing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594360" y="4983480"/>
            <a:ext cx="5943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DE8F3"/>
                </a:solidFill>
                <a:effectLst/>
                <a:uFillTx/>
                <a:latin typeface="Aptos"/>
              </a:rPr>
              <a:t>75 minutes • senior + first-year graduate ECE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594360" y="55321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7C7E7"/>
                </a:solidFill>
                <a:effectLst/>
                <a:uFillTx/>
                <a:latin typeface="Aptos"/>
              </a:rPr>
              <a:t>Equations typeset in standard mathematical notation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Roadmap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640080" y="1417320"/>
            <a:ext cx="10972440" cy="448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0–15 min • Read magnitude and phase directly from pole-zero geometry.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15–40 min • Distinguish phase delay from group delay and connect nonlinear phase to dispersion.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40–60 min • Build all-pass systems from reciprocal pole-zero structure.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60–75 min • Ask whether preprocessing preserves the timing features an ML model actually uses.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Frequency response is the z-transform evaluated on the unit circle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822960" y="1554480"/>
            <a:ext cx="1051524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822960" y="2560320"/>
            <a:ext cx="10423800" cy="21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Every digital frequency ω corresponds to one point e^(jω) on the unit circle.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Magnitude and phase can be read geometrically from vectors drawn from poles and zeros to that point.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Picture 26" descr="eq_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1882" y="1656842"/>
            <a:ext cx="3877396" cy="5264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Pole-zero geometry: magnitude is a distance ratio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5"/>
          <p:cNvSpPr/>
          <p:nvPr/>
        </p:nvSpPr>
        <p:spPr>
          <a:xfrm>
            <a:off x="685800" y="1371600"/>
            <a:ext cx="5577480" cy="9140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" name="Image 0" descr="/mnt/data/week5_lectures9_10/assets/L9_pz_geometry.png"/>
          <p:cNvPicPr/>
          <p:nvPr/>
        </p:nvPicPr>
        <p:blipFill>
          <a:blip r:embed="rId3"/>
          <a:stretch/>
        </p:blipFill>
        <p:spPr>
          <a:xfrm>
            <a:off x="6537960" y="1325880"/>
            <a:ext cx="4663080" cy="466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Shape 6"/>
          <p:cNvSpPr/>
          <p:nvPr/>
        </p:nvSpPr>
        <p:spPr>
          <a:xfrm>
            <a:off x="685800" y="2743200"/>
            <a:ext cx="5394600" cy="2102760"/>
          </a:xfrm>
          <a:prstGeom prst="roundRect">
            <a:avLst>
              <a:gd name="adj" fmla="val 2609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7"/>
          <p:cNvSpPr/>
          <p:nvPr/>
        </p:nvSpPr>
        <p:spPr>
          <a:xfrm>
            <a:off x="831960" y="2853000"/>
            <a:ext cx="51019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Interpretation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8"/>
          <p:cNvSpPr/>
          <p:nvPr/>
        </p:nvSpPr>
        <p:spPr>
          <a:xfrm>
            <a:off x="831960" y="3182040"/>
            <a:ext cx="5101920" cy="1572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Zeros pull the response toward zero when the unit-circle point passes nearby. Poles push the response upward when the unit-circle point passes nearby.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" name="Picture 36" descr="eq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8302" y="1499566"/>
            <a:ext cx="2112476" cy="6581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Pole-zero geometry: phase is an angle sum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5"/>
          <p:cNvSpPr/>
          <p:nvPr/>
        </p:nvSpPr>
        <p:spPr>
          <a:xfrm>
            <a:off x="640080" y="1463040"/>
            <a:ext cx="10881000" cy="9140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6"/>
          <p:cNvSpPr/>
          <p:nvPr/>
        </p:nvSpPr>
        <p:spPr>
          <a:xfrm>
            <a:off x="822960" y="2651760"/>
            <a:ext cx="10058040" cy="219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Each zero contributes a vector angle.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Each pole contributes a vector angle with the opposite sign.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Phase can vary rapidly even when magnitude looks smooth.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Picture 43" descr="eq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157" y="1591006"/>
            <a:ext cx="6948846" cy="6581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Worked geometry example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5"/>
          <p:cNvSpPr/>
          <p:nvPr/>
        </p:nvSpPr>
        <p:spPr>
          <a:xfrm>
            <a:off x="731520" y="1371600"/>
            <a:ext cx="5303160" cy="6854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6"/>
          <p:cNvSpPr/>
          <p:nvPr/>
        </p:nvSpPr>
        <p:spPr>
          <a:xfrm>
            <a:off x="731520" y="2377440"/>
            <a:ext cx="5303160" cy="1645560"/>
          </a:xfrm>
          <a:prstGeom prst="roundRect">
            <a:avLst>
              <a:gd name="adj" fmla="val 3333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7"/>
          <p:cNvSpPr/>
          <p:nvPr/>
        </p:nvSpPr>
        <p:spPr>
          <a:xfrm>
            <a:off x="877680" y="2487240"/>
            <a:ext cx="5010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At ω=0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8"/>
          <p:cNvSpPr/>
          <p:nvPr/>
        </p:nvSpPr>
        <p:spPr>
          <a:xfrm>
            <a:off x="877680" y="2816280"/>
            <a:ext cx="5010480" cy="11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unit-circle point is z=1. The zero-distance is 0.2 and pole-distance is 0.5, so |H(1)|=0.4.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9"/>
          <p:cNvSpPr/>
          <p:nvPr/>
        </p:nvSpPr>
        <p:spPr>
          <a:xfrm>
            <a:off x="731520" y="4297680"/>
            <a:ext cx="5303160" cy="1645560"/>
          </a:xfrm>
          <a:prstGeom prst="roundRect">
            <a:avLst>
              <a:gd name="adj" fmla="val 3333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0"/>
          <p:cNvSpPr/>
          <p:nvPr/>
        </p:nvSpPr>
        <p:spPr>
          <a:xfrm>
            <a:off x="877680" y="4407480"/>
            <a:ext cx="5010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At ω=π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1"/>
          <p:cNvSpPr/>
          <p:nvPr/>
        </p:nvSpPr>
        <p:spPr>
          <a:xfrm>
            <a:off x="877680" y="4736520"/>
            <a:ext cx="5010480" cy="11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point is z=-1. The distances are 1.8 and 1.5, so |H(-1)|=1.2. Predict a high-frequency tilt before plotting.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0" descr="/mnt/data/week5_lectures9_10/assets/L9_mag.png"/>
          <p:cNvPicPr/>
          <p:nvPr/>
        </p:nvPicPr>
        <p:blipFill>
          <a:blip r:embed="rId3"/>
          <a:stretch/>
        </p:blipFill>
        <p:spPr>
          <a:xfrm>
            <a:off x="6400800" y="1417320"/>
            <a:ext cx="5028840" cy="393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" name="Picture 56" descr="eq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3028" y="1467562"/>
            <a:ext cx="2100144" cy="4935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Concept check: move a pole toward the unit circle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777240" y="1417320"/>
            <a:ext cx="10515240" cy="393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pole at angle ω₀ moves radially from radius 0.5 to radius 0.95. What happens near ω₀?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Good answer: the denominator vector becomes much shorter, so magnitude increases sharply and the phase changes more rapidly.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Graduate-level addition: the pole also produces a more concentrated group-delay contribution near its angle.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Phase delay and group delay answer different questions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5"/>
          <p:cNvSpPr/>
          <p:nvPr/>
        </p:nvSpPr>
        <p:spPr>
          <a:xfrm>
            <a:off x="685800" y="1371600"/>
            <a:ext cx="530316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6"/>
          <p:cNvSpPr/>
          <p:nvPr/>
        </p:nvSpPr>
        <p:spPr>
          <a:xfrm>
            <a:off x="6172200" y="1371600"/>
            <a:ext cx="530316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7"/>
          <p:cNvSpPr/>
          <p:nvPr/>
        </p:nvSpPr>
        <p:spPr>
          <a:xfrm>
            <a:off x="685800" y="2423160"/>
            <a:ext cx="5303160" cy="1462680"/>
          </a:xfrm>
          <a:prstGeom prst="roundRect">
            <a:avLst>
              <a:gd name="adj" fmla="val 3750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8"/>
          <p:cNvSpPr/>
          <p:nvPr/>
        </p:nvSpPr>
        <p:spPr>
          <a:xfrm>
            <a:off x="831960" y="2532960"/>
            <a:ext cx="5010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Phase delay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9"/>
          <p:cNvSpPr/>
          <p:nvPr/>
        </p:nvSpPr>
        <p:spPr>
          <a:xfrm>
            <a:off x="831960" y="2862000"/>
            <a:ext cx="5010480" cy="9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For a single sinusoidal component, how much phase corresponds to an equivalent delay?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0"/>
          <p:cNvSpPr/>
          <p:nvPr/>
        </p:nvSpPr>
        <p:spPr>
          <a:xfrm>
            <a:off x="6172200" y="2423160"/>
            <a:ext cx="5303160" cy="1462680"/>
          </a:xfrm>
          <a:prstGeom prst="roundRect">
            <a:avLst>
              <a:gd name="adj" fmla="val 3750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1"/>
          <p:cNvSpPr/>
          <p:nvPr/>
        </p:nvSpPr>
        <p:spPr>
          <a:xfrm>
            <a:off x="6318360" y="2532960"/>
            <a:ext cx="5010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Group delay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2"/>
          <p:cNvSpPr/>
          <p:nvPr/>
        </p:nvSpPr>
        <p:spPr>
          <a:xfrm>
            <a:off x="6318360" y="2862000"/>
            <a:ext cx="5010480" cy="9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For a narrowband packet, how does the envelope / modulation arrive versus frequency?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3"/>
          <p:cNvSpPr/>
          <p:nvPr/>
        </p:nvSpPr>
        <p:spPr>
          <a:xfrm>
            <a:off x="2194560" y="4343400"/>
            <a:ext cx="7772040" cy="109692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1905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4"/>
          <p:cNvSpPr/>
          <p:nvPr/>
        </p:nvSpPr>
        <p:spPr>
          <a:xfrm>
            <a:off x="2340720" y="4453200"/>
            <a:ext cx="74793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Aptos"/>
              </a:rPr>
              <a:t>Do not conflate them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5"/>
          <p:cNvSpPr/>
          <p:nvPr/>
        </p:nvSpPr>
        <p:spPr>
          <a:xfrm>
            <a:off x="2340720" y="4782240"/>
            <a:ext cx="747936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They are equal for pure linear phase through the origin, but generally differ.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Picture 78" descr="eq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7616" y="1473962"/>
            <a:ext cx="2599527" cy="526435"/>
          </a:xfrm>
          <a:prstGeom prst="rect">
            <a:avLst/>
          </a:prstGeom>
        </p:spPr>
      </p:pic>
      <p:pic>
        <p:nvPicPr>
          <p:cNvPr id="80" name="Picture 79" descr="eq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5127" y="1473962"/>
            <a:ext cx="3597305" cy="5264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Linear phase gives constant group delay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1005840" y="1371600"/>
            <a:ext cx="1005804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2011680" y="2468880"/>
            <a:ext cx="8046360" cy="6854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7"/>
          <p:cNvSpPr/>
          <p:nvPr/>
        </p:nvSpPr>
        <p:spPr>
          <a:xfrm>
            <a:off x="822960" y="3474720"/>
            <a:ext cx="1024092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All passband frequency components receive the same local delay.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constant β can shift phase without changing the group-delay slope.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Possible π jumps from a real amplitude sign change should not be mistaken for physical dispersion.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Picture 86" descr="eq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683" y="1473962"/>
            <a:ext cx="3710354" cy="526435"/>
          </a:xfrm>
          <a:prstGeom prst="rect">
            <a:avLst/>
          </a:prstGeom>
        </p:spPr>
      </p:pic>
      <p:pic>
        <p:nvPicPr>
          <p:cNvPr id="88" name="Picture 87" descr="eq_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8866" y="2564842"/>
            <a:ext cx="2051987" cy="4935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Nonlinear phase produces frequency-dependent delay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Image 0" descr="/mnt/data/week5_lectures9_10/assets/L9_phase.png"/>
          <p:cNvPicPr/>
          <p:nvPr/>
        </p:nvPicPr>
        <p:blipFill>
          <a:blip r:embed="rId3"/>
          <a:stretch/>
        </p:blipFill>
        <p:spPr>
          <a:xfrm>
            <a:off x="640080" y="1325880"/>
            <a:ext cx="5394600" cy="406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" name="Image 1" descr="/mnt/data/week5_lectures9_10/assets/L9_group_delay.png"/>
          <p:cNvPicPr/>
          <p:nvPr/>
        </p:nvPicPr>
        <p:blipFill>
          <a:blip r:embed="rId4"/>
          <a:stretch/>
        </p:blipFill>
        <p:spPr>
          <a:xfrm>
            <a:off x="6172200" y="1325880"/>
            <a:ext cx="5394600" cy="40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Shape 5"/>
          <p:cNvSpPr/>
          <p:nvPr/>
        </p:nvSpPr>
        <p:spPr>
          <a:xfrm>
            <a:off x="1828800" y="5486400"/>
            <a:ext cx="8503560" cy="658080"/>
          </a:xfrm>
          <a:prstGeom prst="roundRect">
            <a:avLst>
              <a:gd name="adj" fmla="val 8333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6"/>
          <p:cNvSpPr/>
          <p:nvPr/>
        </p:nvSpPr>
        <p:spPr>
          <a:xfrm>
            <a:off x="1974960" y="5596200"/>
            <a:ext cx="82108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Read both plots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7"/>
          <p:cNvSpPr/>
          <p:nvPr/>
        </p:nvSpPr>
        <p:spPr>
          <a:xfrm>
            <a:off x="1974960" y="5925240"/>
            <a:ext cx="821088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phase curvature becomes group-delay variation. The derivative makes rapid phase changes easier to interpret as timing dispersion.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A transient is a superposition of many frequencies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777240" y="1417320"/>
            <a:ext cx="10515240" cy="32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sharp onset or pulse requires many spectral components.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If each component experiences a different delay, the components no longer reassemble at the same relative times.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result can be peak shift, ringing, smearing, or altered onset slope—even if |H(e^(jω))| looks acceptable.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6"/>
          <p:cNvSpPr/>
          <p:nvPr/>
        </p:nvSpPr>
        <p:spPr>
          <a:xfrm>
            <a:off x="1097280" y="4709160"/>
            <a:ext cx="969228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Picture 103" descr="eq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767" y="4811522"/>
            <a:ext cx="3597305" cy="5264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Demonstration: causal IIR dispersion versus zero-phase offline filtering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Image 0" descr="/mnt/data/week5_lectures9_10/assets/L9_transient_dispersion.png"/>
          <p:cNvPicPr/>
          <p:nvPr/>
        </p:nvPicPr>
        <p:blipFill>
          <a:blip r:embed="rId3"/>
          <a:stretch/>
        </p:blipFill>
        <p:spPr>
          <a:xfrm>
            <a:off x="685800" y="1325880"/>
            <a:ext cx="7406280" cy="438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Shape 5"/>
          <p:cNvSpPr/>
          <p:nvPr/>
        </p:nvSpPr>
        <p:spPr>
          <a:xfrm>
            <a:off x="8321040" y="1554480"/>
            <a:ext cx="2971440" cy="3108600"/>
          </a:xfrm>
          <a:prstGeom prst="roundRect">
            <a:avLst>
              <a:gd name="adj" fmla="val 1846"/>
            </a:avLst>
          </a:prstGeom>
          <a:solidFill>
            <a:srgbClr val="F7FAFC"/>
          </a:solidFill>
          <a:ln w="19050">
            <a:solidFill>
              <a:srgbClr val="D9770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8467200" y="1664280"/>
            <a:ext cx="26787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97706"/>
                </a:solidFill>
                <a:effectLst/>
                <a:uFillTx/>
                <a:latin typeface="Aptos"/>
              </a:rPr>
              <a:t>Good observation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7"/>
          <p:cNvSpPr/>
          <p:nvPr/>
        </p:nvSpPr>
        <p:spPr>
          <a:xfrm>
            <a:off x="8467200" y="1993320"/>
            <a:ext cx="2678760" cy="257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The causal IIR can shift and reshape the transient. Forward-backward filtering restores timing much better, but it is noncausal and changes the effective magnitude response.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All-pass systems: magnitude one does not mean “does nothing”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914400" y="1325880"/>
            <a:ext cx="10332360" cy="7311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6"/>
          <p:cNvSpPr/>
          <p:nvPr/>
        </p:nvSpPr>
        <p:spPr>
          <a:xfrm>
            <a:off x="777240" y="2423160"/>
            <a:ext cx="10423800" cy="274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An all-pass changes phase without changing magnitude.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That makes it a phase / group-delay design element rather than a magnitude-shaping element.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Useful for phase equalization, fractional-delay structures, and decomposing a system into minimum-phase and all-pass parts.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Picture 119" descr="eq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960" y="1428242"/>
            <a:ext cx="3619240" cy="52643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First-order all-pass structure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5"/>
          <p:cNvSpPr/>
          <p:nvPr/>
        </p:nvSpPr>
        <p:spPr>
          <a:xfrm>
            <a:off x="731520" y="1325880"/>
            <a:ext cx="10698120" cy="7768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6"/>
          <p:cNvSpPr/>
          <p:nvPr/>
        </p:nvSpPr>
        <p:spPr>
          <a:xfrm>
            <a:off x="777240" y="2514600"/>
            <a:ext cx="10515240" cy="255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Pole at z=a lies inside the unit circle.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Zero at z=1/a* lies at the conjugate reciprocal location outside the unit circle.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On |z|=1, numerator and denominator distances match, so magnitude is unity.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Picture 126" descr="eq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245" y="1434643"/>
            <a:ext cx="4368669" cy="55935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All-pass magnitude is flat while group delay is not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" name="Image 0" descr="/mnt/data/week5_lectures9_10/assets/L9_allpass_mag.png"/>
          <p:cNvPicPr/>
          <p:nvPr/>
        </p:nvPicPr>
        <p:blipFill>
          <a:blip r:embed="rId3"/>
          <a:stretch/>
        </p:blipFill>
        <p:spPr>
          <a:xfrm>
            <a:off x="685800" y="1325880"/>
            <a:ext cx="5394600" cy="406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3" name="Image 1" descr="/mnt/data/week5_lectures9_10/assets/L9_allpass_gd.png"/>
          <p:cNvPicPr/>
          <p:nvPr/>
        </p:nvPicPr>
        <p:blipFill>
          <a:blip r:embed="rId4"/>
          <a:stretch/>
        </p:blipFill>
        <p:spPr>
          <a:xfrm>
            <a:off x="6172200" y="1325880"/>
            <a:ext cx="5394600" cy="40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Shape 5"/>
          <p:cNvSpPr/>
          <p:nvPr/>
        </p:nvSpPr>
        <p:spPr>
          <a:xfrm>
            <a:off x="1828800" y="5486400"/>
            <a:ext cx="8503560" cy="658080"/>
          </a:xfrm>
          <a:prstGeom prst="roundRect">
            <a:avLst>
              <a:gd name="adj" fmla="val 8333"/>
            </a:avLst>
          </a:prstGeom>
          <a:solidFill>
            <a:srgbClr val="F7FAFC"/>
          </a:solidFill>
          <a:ln w="19050">
            <a:solidFill>
              <a:srgbClr val="B91C1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6"/>
          <p:cNvSpPr/>
          <p:nvPr/>
        </p:nvSpPr>
        <p:spPr>
          <a:xfrm>
            <a:off x="1974960" y="5596200"/>
            <a:ext cx="82108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B91C1C"/>
                </a:solidFill>
                <a:effectLst/>
                <a:uFillTx/>
                <a:latin typeface="Aptos"/>
              </a:rPr>
              <a:t>Key insight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7"/>
          <p:cNvSpPr/>
          <p:nvPr/>
        </p:nvSpPr>
        <p:spPr>
          <a:xfrm>
            <a:off x="1974960" y="5925240"/>
            <a:ext cx="821088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An all-pass can produce substantial timing changes without leaving any trace in a magnitude-only plot.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Phase equalization with an all-pass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5"/>
          <p:cNvSpPr/>
          <p:nvPr/>
        </p:nvSpPr>
        <p:spPr>
          <a:xfrm>
            <a:off x="731520" y="1417320"/>
            <a:ext cx="10515240" cy="310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Suppose a magnitude response is acceptable but group delay is uneven.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Cascading an all-pass leaves total magnitude unchanged because |Hₜₒₜ|=|H||Hₐₚ|=|H|.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Choose the all-pass phase so its group-delay contribution makes the total delay flatter over the band of interest.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6"/>
          <p:cNvSpPr/>
          <p:nvPr/>
        </p:nvSpPr>
        <p:spPr>
          <a:xfrm>
            <a:off x="914400" y="4754880"/>
            <a:ext cx="10240920" cy="7768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4" name="Picture 143" descr="eq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199" y="4863643"/>
            <a:ext cx="6865322" cy="55935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What can an all-pass equalizer not fix?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5"/>
          <p:cNvSpPr/>
          <p:nvPr/>
        </p:nvSpPr>
        <p:spPr>
          <a:xfrm>
            <a:off x="777240" y="1417320"/>
            <a:ext cx="1051524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It cannot repair magnitude notches, stopband leakage, or insufficient bandwidth because its magnitude is exactly one.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It can only redistribute phase / group delay.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causal stable all-pass generally adds nonnegative group delay; “flattening” often means adding delay where the original system was too fast rather than subtracting delay where it was too slow.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ML context: feature distortion happens before the model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5"/>
          <p:cNvSpPr/>
          <p:nvPr/>
        </p:nvSpPr>
        <p:spPr>
          <a:xfrm>
            <a:off x="731520" y="1371600"/>
            <a:ext cx="10698120" cy="420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ECG anomaly detection: QRS peak timing and slope may be predictive.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Audio event detection: onset rise time and inter-channel timing may be predictive.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Vibration fault detection: impulse spacing and envelope timing may be predictive.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preprocessing filter that disperses these structures changes the features before an SVM, RF, MLP, or CNN can use them.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Good ML engineering question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5"/>
          <p:cNvSpPr/>
          <p:nvPr/>
        </p:nvSpPr>
        <p:spPr>
          <a:xfrm>
            <a:off x="1188720" y="1554480"/>
            <a:ext cx="9875160" cy="1462680"/>
          </a:xfrm>
          <a:prstGeom prst="roundRect">
            <a:avLst>
              <a:gd name="adj" fmla="val 3750"/>
            </a:avLst>
          </a:prstGeom>
          <a:solidFill>
            <a:srgbClr val="F7FAFC"/>
          </a:solidFill>
          <a:ln w="19050">
            <a:solidFill>
              <a:srgbClr val="2F8F9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6"/>
          <p:cNvSpPr/>
          <p:nvPr/>
        </p:nvSpPr>
        <p:spPr>
          <a:xfrm>
            <a:off x="1334880" y="1664280"/>
            <a:ext cx="95824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F8F9D"/>
                </a:solidFill>
                <a:effectLst/>
                <a:uFillTx/>
                <a:latin typeface="Aptos"/>
              </a:rPr>
              <a:t>Ask before filtering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7"/>
          <p:cNvSpPr/>
          <p:nvPr/>
        </p:nvSpPr>
        <p:spPr>
          <a:xfrm>
            <a:off x="1334880" y="1993320"/>
            <a:ext cx="9582480" cy="932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Does the downstream task depend primarily on long-term spectral magnitude, or on timing / waveform morphology?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8"/>
          <p:cNvSpPr/>
          <p:nvPr/>
        </p:nvSpPr>
        <p:spPr>
          <a:xfrm>
            <a:off x="914400" y="3474720"/>
            <a:ext cx="10058040" cy="21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If magnitude statistics dominate, nonlinear phase may be harmless.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If local timing is predictive, preserve phase or make training/deployment use the same causal distortion.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Do not assume “denoised” means “more informative for the classifier.”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Python demo: inspect response and delay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5"/>
          <p:cNvSpPr/>
          <p:nvPr/>
        </p:nvSpPr>
        <p:spPr>
          <a:xfrm>
            <a:off x="731520" y="1325880"/>
            <a:ext cx="10606680" cy="4388760"/>
          </a:xfrm>
          <a:prstGeom prst="rect">
            <a:avLst/>
          </a:prstGeom>
          <a:solidFill>
            <a:srgbClr val="F8FAFC"/>
          </a:solidFill>
          <a:ln w="0">
            <a:solidFill>
              <a:srgbClr val="CBD5E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b = np.array([1.0, -0.8])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a = np.array([1.0, -0.5])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w, H = signal.freqz(b, a, worN=2048)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phase = np.unwrap(np.angle(H))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w_gd, gd = signal.group_delay((b, a), w=2048)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# Pole-zero geometry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zeros = np.roots(b)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poles = np.roots(a)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# Compare causal IIR and zero-phase offline filtering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y_causal = signal.sosfilt(sos, x)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11827"/>
                </a:solidFill>
                <a:effectLst/>
                <a:uFillTx/>
                <a:latin typeface="Aptos Mono"/>
                <a:ea typeface="Aptos Mono"/>
              </a:rPr>
              <a:t>y_zero = signal.sosfiltfilt(sos, x)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Concept check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5"/>
          <p:cNvSpPr/>
          <p:nvPr/>
        </p:nvSpPr>
        <p:spPr>
          <a:xfrm>
            <a:off x="731520" y="1417320"/>
            <a:ext cx="10606680" cy="365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Two filters have identical |H(e^(jω))| but different ∠ H(e^(jω)). Must their outputs be identical for every input?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Good answer: no. Their spectra have the same magnitudes but different phases, so transient waveform shapes can differ.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When would they sound or look nearly equivalent? When the task or perception is insensitive to the altered phase relationships.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Lecture 9 synthesis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"/>
          <p:cNvSpPr/>
          <p:nvPr/>
        </p:nvSpPr>
        <p:spPr>
          <a:xfrm>
            <a:off x="777240" y="1371600"/>
            <a:ext cx="10423800" cy="384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Pole-zero distance ratios explain magnitude; vector-angle sums explain phase.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Group delay turns phase slope into a timing diagnostic.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All-pass systems have unit magnitude but can strongly reshape phase and delay.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9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ML preprocessing must preserve—or consistently reproduce—the temporal features the model needs.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Homework — Lecture 9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5"/>
          <p:cNvSpPr/>
          <p:nvPr/>
        </p:nvSpPr>
        <p:spPr>
          <a:xfrm>
            <a:off x="685800" y="1417320"/>
            <a:ext cx="10698120" cy="393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1 • Pole-zero geometry for H(z)=(1-0.8z⁻¹)/(1-0.5z⁻¹).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2 • Compute phase delay and group delay for φ(ω)=-3ω+0.4sinω.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3 • Prove unit magnitude for a first-order all-pass.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4 • Explain how nonlinear phase can alter ECG timing features and propose offline/streaming mitigations.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411480" y="16452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F75B5"/>
                </a:solidFill>
                <a:effectLst/>
                <a:uFillTx/>
                <a:latin typeface="Aptos"/>
              </a:rPr>
              <a:t>DSP + Machine Learning • Week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411480" y="502920"/>
            <a:ext cx="111553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7365D"/>
                </a:solidFill>
                <a:effectLst/>
                <a:uFillTx/>
                <a:latin typeface="Aptos"/>
              </a:rPr>
              <a:t>Instructor solution sketch — Lecture 9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"/>
          <p:cNvSpPr/>
          <p:nvPr/>
        </p:nvSpPr>
        <p:spPr>
          <a:xfrm>
            <a:off x="411480" y="1124640"/>
            <a:ext cx="11292840" cy="360"/>
          </a:xfrm>
          <a:prstGeom prst="line">
            <a:avLst/>
          </a:prstGeom>
          <a:ln w="12700">
            <a:solidFill>
              <a:srgbClr val="D7E0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3"/>
          <p:cNvSpPr/>
          <p:nvPr/>
        </p:nvSpPr>
        <p:spPr>
          <a:xfrm>
            <a:off x="411480" y="6473880"/>
            <a:ext cx="38401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Oppenheim &amp; Schafer + Raschka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4"/>
          <p:cNvSpPr/>
          <p:nvPr/>
        </p:nvSpPr>
        <p:spPr>
          <a:xfrm>
            <a:off x="11338560" y="644652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5"/>
          <p:cNvSpPr/>
          <p:nvPr/>
        </p:nvSpPr>
        <p:spPr>
          <a:xfrm>
            <a:off x="685800" y="1417320"/>
            <a:ext cx="10698120" cy="420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P1: |H(1)|=0.4, |H(-1)|=1.2; distance ratios predict the tilt.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P2: τₚ=3-0.4sinω/ω and τg=3-0.4cosω.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P3: numerator and denominator squared magnitudes are both 1+a²-2acosω.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buClr>
                <a:srgbClr val="1F2937"/>
              </a:buClr>
              <a:buFont typeface="Symbol" charset="2"/>
              <a:buChar char=""/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P4: preserve timing offline with validated zero-phase processing or use a linear-phase / deployment-matched causal front end.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Words>1706</Words>
  <Application>Microsoft Office PowerPoint</Application>
  <PresentationFormat>Widescreen</PresentationFormat>
  <Paragraphs>208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Aptos</vt:lpstr>
      <vt:lpstr>Aptos Mono</vt:lpstr>
      <vt:lpstr>Arial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viby</dc:creator>
  <cp:lastModifiedBy>Peter Mathys</cp:lastModifiedBy>
  <cp:revision>3</cp:revision>
  <dcterms:modified xsi:type="dcterms:W3CDTF">2026-09-04T16:05:52Z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2026-08-31T04:28:47Z</dcterms:created>
  <dc:creator>OpenAI</dc:creator>
  <dc:description/>
  <dc:language>en-US</dc:language>
  <cp:lastModifiedBy>OpenAI</cp:lastModifiedBy>
  <dcterms:modified xsi:type="dcterms:W3CDTF">2026-08-31T04:28:47Z</dcterms:modified>
  <cp:revision>1</cp:revision>
  <dc:subject>Lecture 9 — Time/Frequency Responses and Group Delay</dc:subject>
  <dc:title>Lecture 9 — Time/Frequency Responses and Group Delay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24</vt:r8>
  </property>
  <property fmtid="{D5CDD505-2E9C-101B-9397-08002B2CF9AE}" pid="3" name="PresentationFormat">
    <vt:lpwstr>On-screen Show (16:9)</vt:lpwstr>
  </property>
  <property fmtid="{D5CDD505-2E9C-101B-9397-08002B2CF9AE}" pid="4" name="Slides">
    <vt:r8>24</vt:r8>
  </property>
</Properties>
</file>