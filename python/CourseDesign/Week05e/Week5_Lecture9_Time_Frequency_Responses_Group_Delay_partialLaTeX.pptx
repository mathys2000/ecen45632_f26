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07CC0B-26CF-4D7B-83A1-219EED61A1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DC2E4-6A8F-471E-9ACB-60AFD883A6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B7298D-9326-43FE-AA5A-2A84A76DA2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3ECBF2-2EAF-44DA-A839-EF1F24B011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70527-FB7F-4CFA-9658-1B2DA60346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7D1C1A-56E7-4108-87DF-1F8B20106E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B4A99-27FB-4D68-A763-7CE91B2778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BC23BB-A180-426F-84B0-954A07B773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9AE7E-D394-4655-B36B-84020FE6E8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44B32-F11F-4535-BE4C-95A14A493F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F199B-59C7-4C80-9B9D-FC6BF2E182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2FB271-AF13-4573-A5DD-7F00F1BEF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657AB6-ACB7-48B9-9439-E707F06CF1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D22FE-A601-4F4B-AD52-753EB6CAB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F4B975-8779-42E8-9F62-4811D971A5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1DAED-F353-4B94-B3DE-97D7543FCD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BFE9EB-0DE1-4989-AAB8-F1D39F9E1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2DEC9-309E-4F37-B695-F5FF72737C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2F1773-9CA4-456E-8C24-BAD063610F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77926F-9D43-4E07-8E20-44DFD2AAEA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15690C-2795-4C38-9CBA-DECC6CBEBE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4BBD92-2B3C-45C1-9185-9CAA200119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D4A616-7B08-4857-8F38-7E95E4990F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A7C7E7"/>
                </a:solidFill>
                <a:effectLst/>
                <a:uFillTx/>
                <a:latin typeface="Aptos"/>
              </a:rPr>
              <a:t>WEEK 5 ● LECTURE 9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Time/Frequency Responses and Group Delay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pole-zero geometry to waveform dispersion and all-pass phase equalization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pole-zero geometry  →  group delay  →  all-pass  →  ML feature timing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All equations shown as raw $...$ / $$...$$ text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0–15 min • Read magnitude and phase directly from pole-zero geometry.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15–40 min • Distinguish phase delay from group delay and connect nonlinear phase to dispersion.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40–60 min • Build all-pass systems from reciprocal pole-zero structure.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60–75 min • Ask whether preprocessing preserves the timing features an ML model actually uses.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Frequency response is the z-transform evaluated on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 5"/>
              <p:cNvSpPr/>
              <p:nvPr/>
            </p:nvSpPr>
            <p:spPr>
              <a:xfrm>
                <a:off x="822960" y="1554480"/>
                <a:ext cx="10515240" cy="731160"/>
              </a:xfrm>
              <a:prstGeom prst="rect">
                <a:avLst/>
              </a:prstGeom>
              <a:solidFill>
                <a:srgbClr val="F4F7FB"/>
              </a:solidFill>
              <a:ln w="12700">
                <a:solidFill>
                  <a:srgbClr val="D7E0E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0" tIns="360" rIns="360" bIns="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sz="2400" b="1" i="1" u="none" strike="noStrike" dirty="0" smtClean="0">
                          <a:solidFill>
                            <a:srgbClr val="17365D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2400" b="1" i="1" u="none" strike="noStrike" dirty="0">
                          <a:solidFill>
                            <a:srgbClr val="17365D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1" i="1" u="none" strike="noStrike" dirty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u="none" strike="noStrike" dirty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sz="2400" b="1" i="1" u="none" strike="noStrike" dirty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2400" b="1" i="1" u="none" strike="noStrike" dirty="0" smtClean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sup>
                      </m:sSup>
                      <m:r>
                        <a:rPr lang="en-US" sz="2400" b="1" i="1" u="none" strike="noStrike" dirty="0">
                          <a:solidFill>
                            <a:srgbClr val="17365D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 i="1" u="none" strike="noStrike" dirty="0">
                          <a:solidFill>
                            <a:srgbClr val="17365D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sz="2400" b="1" i="1" u="none" strike="noStrike" dirty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u="none" strike="noStrike" dirty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  <m:sSub>
                        <m:sSubPr>
                          <m:ctrlPr>
                            <a:rPr lang="en-US" sz="2400" b="1" i="1" u="none" strike="noStrike" dirty="0" smtClean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400" b="1" i="1" u="none" strike="noStrike" dirty="0">
                                  <a:solidFill>
                                    <a:srgbClr val="17365D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u="none" strike="noStrike" dirty="0">
                                  <a:solidFill>
                                    <a:srgbClr val="17365D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r>
                            <a:rPr lang="en-US" sz="2400" b="1" i="1" u="none" strike="noStrike" dirty="0" smtClean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𝒛</m:t>
                          </m:r>
                          <m:r>
                            <a:rPr lang="en-US" sz="2400" b="1" i="1" u="none" strike="noStrike" dirty="0" smtClean="0">
                              <a:solidFill>
                                <a:srgbClr val="17365D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400" b="1" i="1" u="none" strike="noStrike" dirty="0" smtClean="0">
                                  <a:solidFill>
                                    <a:srgbClr val="17365D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u="none" strike="noStrike" dirty="0" smtClean="0">
                                  <a:solidFill>
                                    <a:srgbClr val="17365D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400" b="1" i="1" u="none" strike="noStrike" dirty="0" smtClean="0">
                                  <a:solidFill>
                                    <a:srgbClr val="17365D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sz="2400" b="1" i="1" u="none" strike="noStrike" dirty="0" smtClean="0">
                                  <a:solidFill>
                                    <a:srgbClr val="17365D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𝝎</m:t>
                              </m:r>
                            </m:sup>
                          </m:sSup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5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554480"/>
                <a:ext cx="10515240" cy="731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D7E0EA"/>
                </a:solidFill>
                <a:rou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6"/>
              <p:cNvSpPr/>
              <p:nvPr/>
            </p:nvSpPr>
            <p:spPr>
              <a:xfrm>
                <a:off x="822960" y="2560320"/>
                <a:ext cx="10423800" cy="2194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20" tIns="720" rIns="720" bIns="720" anchor="t">
                <a:noAutofit/>
              </a:bodyPr>
              <a:lstStyle/>
              <a:p>
                <a:pPr marL="228600" indent="-228600" defTabSz="914400">
                  <a:lnSpc>
                    <a:spcPct val="100000"/>
                  </a:lnSpc>
                  <a:buClr>
                    <a:srgbClr val="1F2937"/>
                  </a:buClr>
                  <a:buFont typeface="Symbol" charset="2"/>
                  <a:buChar char=""/>
                </a:pPr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Every digital frequency </a:t>
                </a:r>
                <a14:m>
                  <m:oMath xmlns:m="http://schemas.openxmlformats.org/officeDocument/2006/math">
                    <m:r>
                      <a:rPr lang="en-US" sz="1800" b="0" i="1" u="none" strike="noStrike" dirty="0" smtClean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 corresponds to one point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 the unit circle.</a:t>
                </a:r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228600" indent="-228600" defTabSz="914400">
                  <a:lnSpc>
                    <a:spcPct val="100000"/>
                  </a:lnSpc>
                  <a:buClr>
                    <a:srgbClr val="1F2937"/>
                  </a:buClr>
                  <a:buFont typeface="Symbol" charset="2"/>
                  <a:buChar char=""/>
                </a:pPr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Magnitude and phase can be read geometrically from vectors drawn from poles and zeros to that point.</a:t>
                </a:r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26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2560320"/>
                <a:ext cx="10423800" cy="2194200"/>
              </a:xfrm>
              <a:prstGeom prst="rect">
                <a:avLst/>
              </a:prstGeom>
              <a:blipFill>
                <a:blip r:embed="rId4"/>
                <a:stretch>
                  <a:fillRect l="-1345" t="-361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magnitude is a distance ratio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 5"/>
              <p:cNvSpPr/>
              <p:nvPr/>
            </p:nvSpPr>
            <p:spPr>
              <a:xfrm>
                <a:off x="685800" y="1371600"/>
                <a:ext cx="5577480" cy="914040"/>
              </a:xfrm>
              <a:prstGeom prst="rect">
                <a:avLst/>
              </a:prstGeom>
              <a:solidFill>
                <a:srgbClr val="F4F7FB"/>
              </a:solidFill>
              <a:ln w="12700">
                <a:solidFill>
                  <a:srgbClr val="D7E0E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0" tIns="360" rIns="360" bIns="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0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0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=|</m:t>
                      </m:r>
                      <m:r>
                        <a:rPr lang="en-US" sz="20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sz="20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f>
                        <m:fPr>
                          <m:ctrlPr>
                            <a:rPr lang="en-US" sz="20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∏"/>
                              <m:limLoc m:val="subSup"/>
                              <m:supHide m:val="on"/>
                              <m:ctrlP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  <m: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∏"/>
                              <m:limLoc m:val="subSup"/>
                              <m:supHide m:val="on"/>
                              <m:ctrlP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  <m: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0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0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0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32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371600"/>
                <a:ext cx="5577480" cy="9140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D7E0EA"/>
                </a:solidFill>
                <a:rou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Image 0" descr="/mnt/data/week5_lectures9_10/assets/L9_pz_geometry.png"/>
          <p:cNvPicPr/>
          <p:nvPr/>
        </p:nvPicPr>
        <p:blipFill>
          <a:blip r:embed="rId4"/>
          <a:stretch/>
        </p:blipFill>
        <p:spPr>
          <a:xfrm>
            <a:off x="6537960" y="1325880"/>
            <a:ext cx="4663080" cy="466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Shape 6"/>
          <p:cNvSpPr/>
          <p:nvPr/>
        </p:nvSpPr>
        <p:spPr>
          <a:xfrm>
            <a:off x="685800" y="2743200"/>
            <a:ext cx="5394600" cy="2102760"/>
          </a:xfrm>
          <a:prstGeom prst="roundRect">
            <a:avLst>
              <a:gd name="adj" fmla="val 260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831960" y="2853000"/>
            <a:ext cx="5101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Interpretation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831960" y="3182040"/>
            <a:ext cx="510192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pull the response toward zero when the unit-circle point passes nearby. Poles push the response upward when the unit-circle point passes nearby.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phase is an angle sum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 5"/>
              <p:cNvSpPr/>
              <p:nvPr/>
            </p:nvSpPr>
            <p:spPr>
              <a:xfrm>
                <a:off x="640080" y="1463040"/>
                <a:ext cx="10881000" cy="914040"/>
              </a:xfrm>
              <a:prstGeom prst="rect">
                <a:avLst/>
              </a:prstGeom>
              <a:solidFill>
                <a:srgbClr val="F4F7FB"/>
              </a:solidFill>
              <a:ln w="12700">
                <a:solidFill>
                  <a:srgbClr val="D7E0E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0" tIns="360" rIns="360" bIns="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sz="18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n-US" sz="18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8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</m:e>
                      </m:d>
                      <m:r>
                        <a:rPr lang="en-US" sz="18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=∠</m:t>
                      </m:r>
                      <m:r>
                        <a:rPr lang="en-US" sz="18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sz="18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8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18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18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d>
                            <m:dPr>
                              <m:ctrlP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  <m: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∠(</m:t>
                              </m:r>
                              <m:sSup>
                                <m:sSupPr>
                                  <m:ctrlP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sup>
                              </m:sSup>
                              <m: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8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18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42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463040"/>
                <a:ext cx="10881000" cy="9140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D7E0EA"/>
                </a:solidFill>
                <a:rou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 6"/>
          <p:cNvSpPr/>
          <p:nvPr/>
        </p:nvSpPr>
        <p:spPr>
          <a:xfrm>
            <a:off x="822960" y="2651760"/>
            <a:ext cx="1005804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zero contributes a vector angle.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pole contributes a vector angle with the opposite sign.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Phase can vary rapidly even when magnitude looks smooth.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 5"/>
              <p:cNvSpPr/>
              <p:nvPr/>
            </p:nvSpPr>
            <p:spPr>
              <a:xfrm>
                <a:off x="731520" y="1234800"/>
                <a:ext cx="5303160" cy="948030"/>
              </a:xfrm>
              <a:prstGeom prst="rect">
                <a:avLst/>
              </a:prstGeom>
              <a:solidFill>
                <a:srgbClr val="F4F7FB"/>
              </a:solidFill>
              <a:ln w="12700">
                <a:solidFill>
                  <a:srgbClr val="D7E0E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0" tIns="360" rIns="360" bIns="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>
                      <m:r>
                        <a:rPr lang="en-US" sz="23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3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3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3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3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1−0.8</m:t>
                          </m:r>
                          <m:sSup>
                            <m:sSupPr>
                              <m:ctrlPr>
                                <a:rPr lang="en-US" sz="23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3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num>
                        <m:den>
                          <m:r>
                            <a:rPr lang="en-US" sz="23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</a:rPr>
                            <m:t>1−0.5</m:t>
                          </m:r>
                          <m:sSup>
                            <m:sSupPr>
                              <m:ctrlPr>
                                <a:rPr lang="en-US" sz="23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3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3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49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234800"/>
                <a:ext cx="5303160" cy="9480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D7E0EA"/>
                </a:solidFill>
                <a:rou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Shape 6"/>
          <p:cNvSpPr/>
          <p:nvPr/>
        </p:nvSpPr>
        <p:spPr>
          <a:xfrm>
            <a:off x="731520" y="237744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877680" y="24872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$\omega=0$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 8"/>
              <p:cNvSpPr/>
              <p:nvPr/>
            </p:nvSpPr>
            <p:spPr>
              <a:xfrm>
                <a:off x="877680" y="2816280"/>
                <a:ext cx="5010480" cy="111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0" tIns="360" rIns="360" bIns="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6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The unit-circle point is </a:t>
                </a:r>
                <a14:m>
                  <m:oMath xmlns:m="http://schemas.openxmlformats.org/officeDocument/2006/math">
                    <m:r>
                      <a:rPr lang="en-US" sz="1600" b="0" i="1" u="none" strike="noStrike" dirty="0" smtClean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u="none" strike="noStrike" dirty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u="none" strike="noStrike" dirty="0" smtClean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. The zero-distance is 0.2 and pole-distance is 0.5, so </a:t>
                </a:r>
                <a14:m>
                  <m:oMath xmlns:m="http://schemas.openxmlformats.org/officeDocument/2006/math">
                    <m:r>
                      <a:rPr lang="en-US" sz="1600" b="0" i="1" u="none" strike="noStrike" dirty="0" smtClean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b="0" i="1" u="none" strike="noStrike" dirty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600" b="0" i="1" u="none" strike="noStrike" dirty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(1)|=0.4</m:t>
                    </m:r>
                  </m:oMath>
                </a14:m>
                <a:r>
                  <a:rPr lang="en-US" sz="16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.</a:t>
                </a:r>
                <a:endParaRPr lang="en-US" sz="1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52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80" y="2816280"/>
                <a:ext cx="5010480" cy="1115280"/>
              </a:xfrm>
              <a:prstGeom prst="rect">
                <a:avLst/>
              </a:prstGeom>
              <a:blipFill>
                <a:blip r:embed="rId4"/>
                <a:stretch>
                  <a:fillRect l="-2433" t="-5464" r="-304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Shape 9"/>
          <p:cNvSpPr/>
          <p:nvPr/>
        </p:nvSpPr>
        <p:spPr>
          <a:xfrm>
            <a:off x="731520" y="429768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877680" y="440748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$\omega=\pi$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 11"/>
              <p:cNvSpPr/>
              <p:nvPr/>
            </p:nvSpPr>
            <p:spPr>
              <a:xfrm>
                <a:off x="877680" y="4736520"/>
                <a:ext cx="5010480" cy="1115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0" tIns="360" rIns="360" bIns="3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6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The point is </a:t>
                </a:r>
                <a14:m>
                  <m:oMath xmlns:m="http://schemas.openxmlformats.org/officeDocument/2006/math">
                    <m:r>
                      <a:rPr lang="en-US" sz="1600" b="0" i="1" u="none" strike="noStrike" dirty="0" smtClean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u="none" strike="noStrike" dirty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600" b="0" i="1" u="none" strike="noStrike" dirty="0" smtClean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. The distances are 1.8 and 1.5, so </a:t>
                </a:r>
                <a14:m>
                  <m:oMath xmlns:m="http://schemas.openxmlformats.org/officeDocument/2006/math">
                    <m:r>
                      <a:rPr lang="en-US" sz="1600" b="0" i="1" u="none" strike="noStrike" dirty="0" smtClean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600" b="0" i="1" u="none" strike="noStrike" dirty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600" b="0" i="1" u="none" strike="noStrike" dirty="0">
                        <a:solidFill>
                          <a:srgbClr val="1F2937"/>
                        </a:solidFill>
                        <a:effectLst/>
                        <a:uFillTx/>
                        <a:latin typeface="Cambria Math" panose="02040503050406030204" pitchFamily="18" charset="0"/>
                      </a:rPr>
                      <m:t>(−1)|=1.2</m:t>
                    </m:r>
                  </m:oMath>
                </a14:m>
                <a:r>
                  <a:rPr lang="en-US" sz="16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. Predict a high-frequency tilt before plotting.</a:t>
                </a:r>
                <a:endParaRPr lang="en-US" sz="16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55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80" y="4736520"/>
                <a:ext cx="5010480" cy="1115280"/>
              </a:xfrm>
              <a:prstGeom prst="rect">
                <a:avLst/>
              </a:prstGeom>
              <a:blipFill>
                <a:blip r:embed="rId5"/>
                <a:stretch>
                  <a:fillRect l="-2433" t="-546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" name="Image 0" descr="/mnt/data/week5_lectures9_10/assets/L9_mag.png"/>
          <p:cNvPicPr/>
          <p:nvPr/>
        </p:nvPicPr>
        <p:blipFill>
          <a:blip r:embed="rId6"/>
          <a:stretch/>
        </p:blipFill>
        <p:spPr>
          <a:xfrm>
            <a:off x="6400800" y="1417320"/>
            <a:ext cx="5028840" cy="3931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 5"/>
              <p:cNvSpPr/>
              <p:nvPr/>
            </p:nvSpPr>
            <p:spPr>
              <a:xfrm>
                <a:off x="777240" y="1417320"/>
                <a:ext cx="10515240" cy="3931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720" tIns="720" rIns="720" bIns="720" anchor="t">
                <a:noAutofit/>
              </a:bodyPr>
              <a:lstStyle/>
              <a:p>
                <a:pPr marL="228600" indent="-228600" defTabSz="914400">
                  <a:lnSpc>
                    <a:spcPct val="100000"/>
                  </a:lnSpc>
                  <a:buClr>
                    <a:srgbClr val="1F2937"/>
                  </a:buClr>
                  <a:buFont typeface="Symbol" charset="2"/>
                  <a:buChar char=""/>
                </a:pPr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A pole at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 moves radially from radius 0.5 to radius 0.95. What happens near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800" b="0" i="1" u="none" strike="noStrike" smtClean="0">
                            <a:solidFill>
                              <a:srgbClr val="1F2937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?</a:t>
                </a:r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228600" indent="-228600" defTabSz="914400">
                  <a:lnSpc>
                    <a:spcPct val="100000"/>
                  </a:lnSpc>
                  <a:buClr>
                    <a:srgbClr val="1F2937"/>
                  </a:buClr>
                  <a:buFont typeface="Symbol" charset="2"/>
                  <a:buChar char=""/>
                </a:pPr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Good answer: the denominator vector becomes much shorter, so magnitude increases sharply and the phase changes more rapidly.</a:t>
                </a:r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marL="228600" indent="-228600" defTabSz="914400">
                  <a:lnSpc>
                    <a:spcPct val="100000"/>
                  </a:lnSpc>
                  <a:buClr>
                    <a:srgbClr val="1F2937"/>
                  </a:buClr>
                  <a:buFont typeface="Symbol" charset="2"/>
                  <a:buChar char=""/>
                </a:pPr>
                <a:r>
                  <a:rPr lang="en-US" sz="1800" b="0" u="none" strike="noStrike" dirty="0">
                    <a:solidFill>
                      <a:srgbClr val="1F2937"/>
                    </a:solidFill>
                    <a:effectLst/>
                    <a:uFillTx/>
                    <a:latin typeface="Aptos"/>
                  </a:rPr>
                  <a:t>Graduate-level addition: the pole also produces a more concentrated group-delay contribution near its angle.</a:t>
                </a:r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62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1417320"/>
                <a:ext cx="10515240" cy="3931560"/>
              </a:xfrm>
              <a:prstGeom prst="rect">
                <a:avLst/>
              </a:prstGeom>
              <a:blipFill>
                <a:blip r:embed="rId3"/>
                <a:stretch>
                  <a:fillRect l="-1392" t="-232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delay and group delay answer different questions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 5"/>
              <p:cNvSpPr/>
              <p:nvPr/>
            </p:nvSpPr>
            <p:spPr>
              <a:xfrm>
                <a:off x="685800" y="1281223"/>
                <a:ext cx="5303160" cy="924673"/>
              </a:xfrm>
              <a:prstGeom prst="rect">
                <a:avLst/>
              </a:prstGeom>
              <a:solidFill>
                <a:srgbClr val="F4F7FB"/>
              </a:solidFill>
              <a:ln w="12700">
                <a:solidFill>
                  <a:srgbClr val="D7E0E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0" tIns="360" rIns="360" bIns="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sz="21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∠</m:t>
                          </m:r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100" b="0" i="1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sz="21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68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281223"/>
                <a:ext cx="5303160" cy="9246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D7E0EA"/>
                </a:solidFill>
                <a:rou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 6"/>
              <p:cNvSpPr/>
              <p:nvPr/>
            </p:nvSpPr>
            <p:spPr>
              <a:xfrm>
                <a:off x="6172200" y="1279423"/>
                <a:ext cx="5303160" cy="924673"/>
              </a:xfrm>
              <a:prstGeom prst="rect">
                <a:avLst/>
              </a:prstGeom>
              <a:solidFill>
                <a:srgbClr val="F4F7FB"/>
              </a:solidFill>
              <a:ln w="12700">
                <a:solidFill>
                  <a:srgbClr val="D7E0EA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60" tIns="360" rIns="360" bIns="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1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en-US" sz="21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n-US" sz="21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sz="21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100" b="0" i="1" u="none" strike="noStrike" smtClean="0"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sz="2100" b="0" i="1" u="none" strike="noStrike" smtClean="0"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1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mc:Choice>
        <mc:Fallback>
          <p:sp>
            <p:nvSpPr>
              <p:cNvPr id="69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279423"/>
                <a:ext cx="5303160" cy="9246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D7E0EA"/>
                </a:solidFill>
                <a:rou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Shape 7"/>
          <p:cNvSpPr/>
          <p:nvPr/>
        </p:nvSpPr>
        <p:spPr>
          <a:xfrm>
            <a:off x="6858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8319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Phase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8319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single sinusoidal component, how much phase corresponds to an equivalent delay?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1722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3183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Group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3183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narrowband packet, how does the envelope / modulation arrive versus frequency?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2194560" y="4343400"/>
            <a:ext cx="7772040" cy="10969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2340720" y="4453200"/>
            <a:ext cx="7479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Do not conflate them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2340720" y="4782240"/>
            <a:ext cx="7479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They are equal for pure linear phase through the origin, but generally differ.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Linear phase gives constant group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$$\angle H(e^{j\omega})=\beta-\alpha\omega$$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2011680" y="2468880"/>
            <a:ext cx="80463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$$\tau_g(\omega)=\alpha$$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822960" y="3474720"/>
            <a:ext cx="1024092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 passband frequency components receive the same local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constant $\beta$ can shift phase without changing the group-delay slope.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Possible $\pi$ jumps from a real amplitude sign change should not be mistaken for physical dispersion.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Nonlinear phase produces frequency-dependent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/mnt/data/week5_lectures9_10/assets/L9_phase.png"/>
          <p:cNvPicPr/>
          <p:nvPr/>
        </p:nvPicPr>
        <p:blipFill>
          <a:blip r:embed="rId3"/>
          <a:stretch/>
        </p:blipFill>
        <p:spPr>
          <a:xfrm>
            <a:off x="64008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 1" descr="/mnt/data/week5_lectures9_10/assets/L9_group_delay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hape 5"/>
          <p:cNvSpPr/>
          <p:nvPr/>
        </p:nvSpPr>
        <p:spPr>
          <a:xfrm>
            <a:off x="1828800" y="54864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Read both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phase curvature becomes group-delay variation. The derivative makes rapid phase changes easier to interpret as timing dispersion.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transient is a superposition of many frequencies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777240" y="1417320"/>
            <a:ext cx="1051524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sharp onset or pulse requires many spectral components.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each component experiences a different delay, the components no longer reassemble at the same relative times.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result can be peak shift, ringing, smearing, or altered onset slope—even if $|H(e^{j\omega})|$ looks acceptable.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097280" y="4709160"/>
            <a:ext cx="969228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$$x[n]=\frac{1}{2\pi}\int_{-\pi}^{\pi}X(e^{j\omega})e^{j\omega n}d\omega$$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Demonstration: causal IIR dispersion versus zero-phase offline filtering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/mnt/data/week5_lectures9_10/assets/L9_transient_dispersion.png"/>
          <p:cNvPicPr/>
          <p:nvPr/>
        </p:nvPicPr>
        <p:blipFill>
          <a:blip r:embed="rId3"/>
          <a:stretch/>
        </p:blipFill>
        <p:spPr>
          <a:xfrm>
            <a:off x="685800" y="1325880"/>
            <a:ext cx="740628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hape 5"/>
          <p:cNvSpPr/>
          <p:nvPr/>
        </p:nvSpPr>
        <p:spPr>
          <a:xfrm>
            <a:off x="8321040" y="1554480"/>
            <a:ext cx="2971440" cy="3108600"/>
          </a:xfrm>
          <a:prstGeom prst="roundRect">
            <a:avLst>
              <a:gd name="adj" fmla="val 1846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8467200" y="166428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Good observation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8467200" y="1993320"/>
            <a:ext cx="267876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causal IIR can shift and reshape the transient. Forward-backward filtering restores timing much better, but it is noncausal and changes the effective magnitude response.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systems: magnitude one does not mean “does nothing”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14400" y="1325880"/>
            <a:ext cx="10332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$$|H_{ap}(e^{j\omega})|=1\quad\forall\omega$$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777240" y="242316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changes phase without changing magnitude.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makes it a phase / group-delay design element rather than a magnitude-shaping element.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phase equalization, fractional-delay structures, and decomposing a system into minimum-phase and all-pass parts.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First-order all-pass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31520" y="1325880"/>
            <a:ext cx="106981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$$H_{ap}(z)=\frac{z^{-1}-a^*}{1-az^{-1}},\qquad |a|&lt;1$$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777240" y="2514600"/>
            <a:ext cx="105152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 at $z=a$ lies inside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 at $z=1/a^*$ lies at the conjugate reciprocal location outside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On $|z|=1$, numerator and denominator distances match, so magnitude is unity.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magnitude is flat while group delay is not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/mnt/data/week5_lectures9_10/assets/L9_allpass_mag.png"/>
          <p:cNvPicPr/>
          <p:nvPr/>
        </p:nvPicPr>
        <p:blipFill>
          <a:blip r:embed="rId3"/>
          <a:stretch/>
        </p:blipFill>
        <p:spPr>
          <a:xfrm>
            <a:off x="6858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Image 1" descr="/mnt/data/week5_lectures9_10/assets/L9_allpass_gd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Shape 5"/>
          <p:cNvSpPr/>
          <p:nvPr/>
        </p:nvSpPr>
        <p:spPr>
          <a:xfrm>
            <a:off x="1828800" y="54864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Key insight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can produce substantial timing changes without leaving any trace in a magnitude-only plot.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equalization with an all-pass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731520" y="1417320"/>
            <a:ext cx="1051524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Suppose a magnitude response is acceptable but group delay is uneven.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Cascading an all-pass leaves total magnitude unchanged because $|H_{tot}|=|H||H_{ap}|=|H|$.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Choose the all-pass phase so its group-delay contribution makes the total delay flatter over the band of interest.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914400" y="475488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$$\tau_{g,tot}(\omega)=\tau_{g,H}(\omega)+\tau_{g,ap}(\omega)$$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can an all-pass equalizer not fix?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cannot repair magnitude notches, stopband leakage, or insufficient bandwidth because its magnitude is exactly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 only redistribute phase /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causal stable all-pass generally adds nonnegative group delay; “flattening” often means adding delay where the original system was too fast rather than subtracting delay where it was too slow.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ML context: feature distortion happens before the model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731520" y="137160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ECG anomaly detection: QRS peak timing and slope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Audio event detection: onset rise time and inter-channel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Vibration fault detection: impulse spacing and envelope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preprocessing filter that disperses these structures changes the features before an SVM, RF, MLP, or CNN can use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Good ML engineering question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1188720" y="1554480"/>
            <a:ext cx="9875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1334880" y="1664280"/>
            <a:ext cx="9582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Ask before filtering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1334880" y="1993320"/>
            <a:ext cx="9582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Does the downstream task depend primarily on long-term spectral magnitude, or on timing / waveform morphology?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914400" y="3474720"/>
            <a:ext cx="100580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magnitude statistics dominate, nonlinear phase may be harmless.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local timing is predictive, preserve phase or make training/deployment use the same causal distortion.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 not assume “denoised” means “more informative for the classifier.”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inspect response and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b = np.array([1.0, -0.8])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a = np.array([1.0, -0.5])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w, H = signal.freqz(b, a, worN=2048)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phase = np.unwrap(np.angle(H))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w_gd, gd = signal.group_delay((b, a),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Pole-zero geometry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zeros = np.roots(b)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poles = np.roots(a)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Compare causal IIR and zero-phase offline filtering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y_causal = signal.sosfilt(sos,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y_zero = signal.sosfiltfilt(sos,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$|H(e^{j\omega})|$ but different $\angle H(e^{j\omega})$. Must their outputs be identical for every input?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no. Their spectra have the same magnitudes but different phases, so transient waveform shapes can differ.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would they sound or look nearly equivalent? When the task or perception is insensitive to the altered phase relationships.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9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777240" y="1371600"/>
            <a:ext cx="1042380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Pole-zero distance ratios explain magnitude; vector-angle sums explain phase.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turns phase slope into a timing diagnostic.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All-pass systems have unit magnitude but can strongly reshape phase and delay.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ML preprocessing must preserve—or consistently reproduce—the temporal features the model needs.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Homework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685800" y="1417320"/>
            <a:ext cx="106981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 • Pole-zero geometry for $H(z)=(1-0.8z^{-1})/(1-0.5z^{-1})$.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 • Compute phase delay and group delay for $\phi(\omega)=-3\omega+0.4\sin\omega$.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3 • Prove unit magnitude for a first-order all-pass.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 • Explain how nonlinear phase can alter ECG timing features and propose offline/streaming mitigations.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solution sketch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685800" y="141732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P1: $|H(1)|=0.4$, $|H(-1)|=1.2$; distance ratios predict the tilt.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P2: $\tau_p=3-0.4\sin\omega/\omega$ and $\tau_g=3-0.4\cos\omega$.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P3: numerator and denominator squared magnitudes are both $1+a^2-2a\cos\omega$.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P4: preserve timing offline with validated zero-phase processing or use a linear-phase / deployment-matched causal front end.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1094</TotalTime>
  <Words>1921</Words>
  <Application>Microsoft Office PowerPoint</Application>
  <PresentationFormat>Widescreen</PresentationFormat>
  <Paragraphs>220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Aptos Mono</vt:lpstr>
      <vt:lpstr>Arial</vt:lpstr>
      <vt:lpstr>Cambria Math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viby</dc:creator>
  <cp:lastModifiedBy>Peter Mathys</cp:lastModifiedBy>
  <cp:revision>6</cp:revision>
  <dcterms:modified xsi:type="dcterms:W3CDTF">2026-09-04T14:00:35Z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9 — Time/Frequency Responses and Group Delay</dc:subject>
  <dc:title>Lecture 9 — Time/Frequency Responses and Group Delay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24</vt:r8>
  </property>
  <property fmtid="{D5CDD505-2E9C-101B-9397-08002B2CF9AE}" pid="3" name="PresentationFormat">
    <vt:lpwstr>On-screen Show (16:9)</vt:lpwstr>
  </property>
  <property fmtid="{D5CDD505-2E9C-101B-9397-08002B2CF9AE}" pid="4" name="Slides">
    <vt:r8>24</vt:r8>
  </property>
</Properties>
</file>