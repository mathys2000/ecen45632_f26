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C57E7-184D-49F6-851B-A4BDDD2235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761BF-D4E2-4BF2-A71C-3518E5E05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F1EAC-54D7-4F50-AD03-E2FB0F524F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610A3-F1F1-4001-9FAA-D2744CA3B8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1EF20-42D5-4566-A3E5-051B9757D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LECTURE 10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A(ω)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π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τg=α.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03" y="1464826"/>
            <a:ext cx="4391314" cy="590428"/>
          </a:xfrm>
          <a:prstGeom prst="rect">
            <a:avLst/>
          </a:prstGeom>
        </p:spPr>
      </p:pic>
      <p:pic>
        <p:nvPicPr>
          <p:cNvPr id="29" name="Picture 28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28" y="2607826"/>
            <a:ext cx="5696664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97280" y="5303520"/>
            <a:ext cx="9692280" cy="822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n with M-n yields cosine terms after factoring out e^(-jω M/2).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±π/2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0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64" y="1453853"/>
            <a:ext cx="4214832" cy="520934"/>
          </a:xfrm>
          <a:prstGeom prst="rect">
            <a:avLst/>
          </a:prstGeom>
        </p:spPr>
      </p:pic>
      <p:pic>
        <p:nvPicPr>
          <p:cNvPr id="52" name="Picture 51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23" y="1460258"/>
            <a:ext cx="4586313" cy="508123"/>
          </a:xfrm>
          <a:prstGeom prst="rect">
            <a:avLst/>
          </a:prstGeom>
        </p:spPr>
      </p:pic>
      <p:pic>
        <p:nvPicPr>
          <p:cNvPr id="53" name="Picture 52" descr="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56" y="4842619"/>
            <a:ext cx="5136967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H(e^(jω))=Σₙ₌₀^(M)h[n]e^(-jω 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n with M-n using h[n]=h[M-n].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e^(-jω M/2).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 descr="eq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86" y="5025499"/>
            <a:ext cx="2445948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h[n]=-h[M-n], paired terms become proportional to sin((M/2-n)ω).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40"/>
            <a:ext cx="4571640" cy="123408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M/2=(N-1)/2.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z=1 or z=-1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0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647" y="1459339"/>
            <a:ext cx="7642426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H(e^(jπ)).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88" descr="eq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39" y="1459339"/>
            <a:ext cx="7996041" cy="555681"/>
          </a:xfrm>
          <a:prstGeom prst="rect">
            <a:avLst/>
          </a:prstGeom>
        </p:spPr>
      </p:pic>
      <p:pic>
        <p:nvPicPr>
          <p:cNvPr id="90" name="Picture 89" descr="eq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43" y="2607826"/>
            <a:ext cx="8889233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z=1 and z=-1.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6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8" y="1413619"/>
            <a:ext cx="8162024" cy="555681"/>
          </a:xfrm>
          <a:prstGeom prst="rect">
            <a:avLst/>
          </a:prstGeom>
        </p:spPr>
      </p:pic>
      <p:pic>
        <p:nvPicPr>
          <p:cNvPr id="98" name="Picture 97" descr="eq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9" y="2562106"/>
            <a:ext cx="661280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04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40" y="1413619"/>
            <a:ext cx="8515640" cy="555681"/>
          </a:xfrm>
          <a:prstGeom prst="rect">
            <a:avLst/>
          </a:prstGeom>
        </p:spPr>
      </p:pic>
      <p:pic>
        <p:nvPicPr>
          <p:cNvPr id="106" name="Picture 105" descr="eq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60" y="2556619"/>
            <a:ext cx="2444999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ω=π.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H(e^(jπ))=0.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3" descr="eq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32" y="1424592"/>
            <a:ext cx="3112855" cy="6251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z₀ is a zero, reciprocal symmetry forces 1/z₀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7" y="4802386"/>
            <a:ext cx="5025205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A(ω)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π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30078"/>
            <a:ext cx="3990298" cy="6599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59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9" y="1464826"/>
            <a:ext cx="824386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Answer: Type II because N is even and the taps are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 H(e^(jπ))=0.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No.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 • Derive the pure-delay factor from symmetric FIR taps.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 • Classify four examples as Types I–IV and state forced endpoint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 • Complete the four-zero constellation for z₀=0.7e^(j0.6).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8 • Design a symmetry-constrained trainable Conv1d parameterization and discuss its inductive bias.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1–4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85800" y="1417320"/>
            <a:ext cx="1069812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Q1 • What geometric quantities determine |H(e^(jω))| from a pole-zero plot?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Q2 • State τₚ(ω) and τg(ω).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Q3 • What property defines an all-pass system?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Q4 • Why can equal magnitude responses still produce different transient waveforms?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5–8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Q5 • A real symmetric FIR has N=21. What is its group delay?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Q6 • Which type is even-length and symmetric, and what forced zero does it have?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Q7 • If a complex zero z₀ is off the unit circle, what other three zeros accompany it in a real linear-phase FIR?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Q8 • Does a random `nn.Conv1d` kernel automatically have linear phase? Why?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quiz solutions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640080" y="132588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A1: zero-vector lengths in numerator divided by pole-vector lengths in denominator.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A2: τₚ=-∠ H/ω and τg=-d(∠ H)/dω.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A3: |Hₐₚ(e^(jω))|=1 for all 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A4: phase / group-delay differences alter relative arrival times of frequency components.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A5: 10 samples.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A6: Type II; forced zero at z=-1 or ω=π.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A7: z₀*, 1/z₀, and 1/z₀*.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A8: no; generic kernels are unconstrained, so symmetry is not guaranteed.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homework solution sketch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P5: H(e^(jω))=e^(-jω M/2)A(ω), so τg=M/2=(N-1)/2.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P6: I = odd/symmetric; II = even/symmetric with ω=π zero; III = odd/antisymmetric with 0 and π zeros; IV = even/antisymmetric with 0 zero.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P7: z₀, z₀*, 1/z₀, 1/z₀*.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P8: learn half + center, mirror the half; exact symmetry is maintained during every update.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2871</Words>
  <Application>Microsoft Office PowerPoint</Application>
  <PresentationFormat>Widescreen</PresentationFormat>
  <Paragraphs>307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1</cp:revision>
  <dcterms:modified xsi:type="dcterms:W3CDTF">2026-08-31T21:11:41Z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