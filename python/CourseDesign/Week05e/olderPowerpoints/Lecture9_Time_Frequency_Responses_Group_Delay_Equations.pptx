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ore0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5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07CC0B-26CF-4D7B-83A1-219EED61A1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DC2E4-6A8F-471E-9ACB-60AFD883A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B7298D-9326-43FE-AA5A-2A84A76DA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3ECBF2-2EAF-44DA-A839-EF1F24B01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70527-FB7F-4CFA-9658-1B2DA60346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7D1C1A-56E7-4108-87DF-1F8B20106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B4A99-27FB-4D68-A763-7CE91B277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C23BB-A180-426F-84B0-954A07B773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9AE7E-D394-4655-B36B-84020FE6E8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44B32-F11F-4535-BE4C-95A14A493F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F199B-59C7-4C80-9B9D-FC6BF2E18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FB271-AF13-4573-A5DD-7F00F1BEF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57AB6-ACB7-48B9-9439-E707F06CF1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D22FE-A601-4F4B-AD52-753EB6CAB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F4B975-8779-42E8-9F62-4811D971A5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1DAED-F353-4B94-B3DE-97D7543FCD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BFE9EB-0DE1-4989-AAB8-F1D39F9E1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2DEC9-309E-4F37-B695-F5FF72737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F1773-9CA4-456E-8C24-BAD063610F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7926F-9D43-4E07-8E20-44DFD2AAEA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5690C-2795-4C38-9CBA-DECC6CBEB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4BBD92-2B3C-45C1-9185-9CAA20011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4A616-7B08-4857-8F38-7E95E4990F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LECTURE 9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Time/Frequency Responses and Group Delay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pole-zero geometry to waveform dispersion and all-pass phase equalization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pole-zero geometry  →  group delay  →  all-pass  →  ML feature timing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Equations typeset in standard mathematical notation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0–15 min • Read magnitude and phase directly from pole-zero geometry.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15–40 min • Distinguish phase delay from group delay and connect nonlinear phase to dispersion.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40–60 min • Build all-pass systems from reciprocal pole-zero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60–75 min • Ask whether preprocessing preserves the timing features an ML model actually uses.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Frequency response is the z-transform evaluated on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22960" y="1554480"/>
            <a:ext cx="10515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22960" y="2560320"/>
            <a:ext cx="1042380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Every digital frequency ω corresponds to one point e^(jω) on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Magnitude and phase can be read geometrically from vectors drawn from poles and zeros to that point.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26" descr="eq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882" y="1656842"/>
            <a:ext cx="3877396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magnitude is a distance ratio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685800" y="1371600"/>
            <a:ext cx="557748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20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20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20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20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20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20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20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20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0" descr="/mnt/data/week5_lectures9_10/assets/L9_pz_geometry.png"/>
          <p:cNvPicPr/>
          <p:nvPr/>
        </p:nvPicPr>
        <p:blipFill>
          <a:blip r:embed="rId3"/>
          <a:stretch/>
        </p:blipFill>
        <p:spPr>
          <a:xfrm>
            <a:off x="6537960" y="1325880"/>
            <a:ext cx="4663080" cy="466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Shape 6"/>
          <p:cNvSpPr/>
          <p:nvPr/>
        </p:nvSpPr>
        <p:spPr>
          <a:xfrm>
            <a:off x="685800" y="2743200"/>
            <a:ext cx="5394600" cy="2102760"/>
          </a:xfrm>
          <a:prstGeom prst="roundRect">
            <a:avLst>
              <a:gd name="adj" fmla="val 260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831960" y="285300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Interpretation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831960" y="3182040"/>
            <a:ext cx="510192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pull the response toward zero when the unit-circle point passes nearby. Poles push the response upward when the unit-circle point passes nearby.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Picture 36" descr="eq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302" y="1499566"/>
            <a:ext cx="2112476" cy="6581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phase is an angle sum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40080" y="1463040"/>
            <a:ext cx="1088100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18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18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18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18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18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18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18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18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822960" y="2651760"/>
            <a:ext cx="100580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zero contributes a vector angle.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pole contributes a vector angle with the opposite sign.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Phase can vary rapidly even when magnitude looks smooth.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Picture 43" descr="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157" y="1591006"/>
            <a:ext cx="6948846" cy="6581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31520" y="1371600"/>
            <a:ext cx="53031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731520" y="237744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77680" y="24872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877680" y="281628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unit-circle point is z=1. The zero-distance is 0.2 and pole-distance is 0.5, so |H(1)|=0.4.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731520" y="429768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77680" y="440748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877680" y="473652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point is z=-1. The distances are 1.8 and 1.5, so |H(-1)|=1.2. Predict a high-frequency tilt before plotting.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/mnt/data/week5_lectures9_10/assets/L9_mag.png"/>
          <p:cNvPicPr/>
          <p:nvPr/>
        </p:nvPicPr>
        <p:blipFill>
          <a:blip r:embed="rId3"/>
          <a:stretch/>
        </p:blipFill>
        <p:spPr>
          <a:xfrm>
            <a:off x="6400800" y="1417320"/>
            <a:ext cx="5028840" cy="393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Picture 56" descr="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028" y="1467562"/>
            <a:ext cx="2100144" cy="4935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777240" y="1417320"/>
            <a:ext cx="105152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pole at angle ω₀ moves radially from radius 0.5 to radius 0.95. What happens near ω₀?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the denominator vector becomes much shorter, so magnitude increases sharply and the phase changes more rapidly.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Graduate-level addition: the pole also produces a more concentrated group-delay contribution near its angle.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delay and group delay answer different questions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6858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21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21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61722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21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r>
              <a:rPr lang="en-US" sz="21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6858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8319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Phase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8319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single sinusoidal component, how much phase corresponds to an equivalent delay?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1722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3183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Group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3183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narrowband packet, how does the envelope / modulation arrive versus frequency?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2194560" y="4343400"/>
            <a:ext cx="7772040" cy="10969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2340720" y="4453200"/>
            <a:ext cx="7479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Do not conflate them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2340720" y="4782240"/>
            <a:ext cx="7479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They are equal for pure linear phase through the origin, but generally differ.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78" descr="eq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616" y="1473962"/>
            <a:ext cx="2599527" cy="526435"/>
          </a:xfrm>
          <a:prstGeom prst="rect">
            <a:avLst/>
          </a:prstGeom>
        </p:spPr>
      </p:pic>
      <p:pic>
        <p:nvPicPr>
          <p:cNvPr id="80" name="Picture 79" descr="eq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127" y="147396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Linear phase gives constant group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2011680" y="2468880"/>
            <a:ext cx="80463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22960" y="3474720"/>
            <a:ext cx="102409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 passband frequency components receive the same local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constant β can shift phase without changing the group-delay slope.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Possible π jumps from a real amplitude sign change should not be mistaken for physical dispersion.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86" descr="eq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683" y="1473962"/>
            <a:ext cx="3710354" cy="526435"/>
          </a:xfrm>
          <a:prstGeom prst="rect">
            <a:avLst/>
          </a:prstGeom>
        </p:spPr>
      </p:pic>
      <p:pic>
        <p:nvPicPr>
          <p:cNvPr id="88" name="Picture 87" descr="eq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866" y="2564842"/>
            <a:ext cx="2051987" cy="4935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Nonlinear phase produces frequency-dependent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mnt/data/week5_lectures9_10/assets/L9_phase.png"/>
          <p:cNvPicPr/>
          <p:nvPr/>
        </p:nvPicPr>
        <p:blipFill>
          <a:blip r:embed="rId3"/>
          <a:stretch/>
        </p:blipFill>
        <p:spPr>
          <a:xfrm>
            <a:off x="64008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 1" descr="/mnt/data/week5_lectures9_10/assets/L9_group_delay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5"/>
          <p:cNvSpPr/>
          <p:nvPr/>
        </p:nvSpPr>
        <p:spPr>
          <a:xfrm>
            <a:off x="1828800" y="54864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Read both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phase curvature becomes group-delay variation. The derivative makes rapid phase changes easier to interpret as timing dispersion.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transient is a superposition of many frequencies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77240" y="1417320"/>
            <a:ext cx="105152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sharp onset or pulse requires many spectral components.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each component experiences a different delay, the components no longer reassemble at the same relative times.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result can be peak shift, ringing, smearing, or altered onset slope—even if |H(e^(jω))| looks acceptable.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097280" y="4709160"/>
            <a:ext cx="969228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103" descr="eq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767" y="481152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Demonstration: causal IIR dispersion versus zero-phase offline filtering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/mnt/data/week5_lectures9_10/assets/L9_transient_dispersion.png"/>
          <p:cNvPicPr/>
          <p:nvPr/>
        </p:nvPicPr>
        <p:blipFill>
          <a:blip r:embed="rId3"/>
          <a:stretch/>
        </p:blipFill>
        <p:spPr>
          <a:xfrm>
            <a:off x="685800" y="1325880"/>
            <a:ext cx="74062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hape 5"/>
          <p:cNvSpPr/>
          <p:nvPr/>
        </p:nvSpPr>
        <p:spPr>
          <a:xfrm>
            <a:off x="8321040" y="1554480"/>
            <a:ext cx="2971440" cy="3108600"/>
          </a:xfrm>
          <a:prstGeom prst="roundRect">
            <a:avLst>
              <a:gd name="adj" fmla="val 1846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8467200" y="166428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Good observation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467200" y="1993320"/>
            <a:ext cx="267876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causal IIR can shift and reshape the transient. Forward-backward filtering restores timing much better, but it is noncausal and changes the effective magnitude response.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systems: magnitude one does not mean “does nothing”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14400" y="1325880"/>
            <a:ext cx="10332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77240" y="242316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changes phase without changing magnitude.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makes it a phase / group-delay design element rather than a magnitude-shaping element.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phase equalization, fractional-delay structures, and decomposing a system into minimum-phase and all-pass parts.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119" descr="eq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960" y="1428242"/>
            <a:ext cx="3619240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First-order all-pass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31520" y="1325880"/>
            <a:ext cx="106981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777240" y="2514600"/>
            <a:ext cx="105152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 at z=a lies inside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 at z=1/a* lies at the conjugate reciprocal location outside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On |z|=1, numerator and denominator distances match, so magnitude is unity.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126" descr="eq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245" y="1434643"/>
            <a:ext cx="4368669" cy="55935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magnitude is flat while group delay is not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/mnt/data/week5_lectures9_10/assets/L9_allpass_mag.png"/>
          <p:cNvPicPr/>
          <p:nvPr/>
        </p:nvPicPr>
        <p:blipFill>
          <a:blip r:embed="rId3"/>
          <a:stretch/>
        </p:blipFill>
        <p:spPr>
          <a:xfrm>
            <a:off x="6858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Image 1" descr="/mnt/data/week5_lectures9_10/assets/L9_allpass_gd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Shape 5"/>
          <p:cNvSpPr/>
          <p:nvPr/>
        </p:nvSpPr>
        <p:spPr>
          <a:xfrm>
            <a:off x="1828800" y="54864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Key insight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can produce substantial timing changes without leaving any trace in a magnitude-only plot.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equalization with an all-pass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731520" y="1417320"/>
            <a:ext cx="1051524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Suppose a magnitude response is acceptable but group delay is uneven.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Cascading an all-pass leaves total magnitude unchanged because |Hₜₒₜ|=|H||Hₐₚ|=|H|.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Choose the all-pass phase so its group-delay contribution makes the total delay flatter over the band of interest.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914400" y="475488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/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 descr="eq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199" y="4863643"/>
            <a:ext cx="6865322" cy="55935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can an all-pass equalizer not fix?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cannot repair magnitude notches, stopband leakage, or insufficient bandwidth because its magnitude is exactly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 only redistribute phase /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causal stable all-pass generally adds nonnegative group delay; “flattening” often means adding delay where the original system was too fast rather than subtracting delay where it was too slow.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ML context: feature distortion happens before the model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31520" y="137160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ECG anomaly detection: QRS peak timing and slope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Audio event detection: onset rise time and inter-channel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Vibration fault detection: impulse spacing and envelope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preprocessing filter that disperses these structures changes the features before an SVM, RF, MLP, or CNN can use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Good ML engineering question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188720" y="1554480"/>
            <a:ext cx="9875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334880" y="1664280"/>
            <a:ext cx="9582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Ask before filtering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1334880" y="1993320"/>
            <a:ext cx="9582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Does the downstream task depend primarily on long-term spectral magnitude, or on timing / waveform morphology?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914400" y="3474720"/>
            <a:ext cx="10058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magnitude statistics dominate, nonlinear phase may be harmless.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local timing is predictive, preserve phase or make training/deployment use the same causal distortion.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 not assume “denoised” means “more informative for the classifier.”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inspect response and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b = np.array([1.0, -0.8])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a = np.array([1.0, -0.5])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w, H = signal.freqz(b, a, worN=2048)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phase = np.unwrap(np.angle(H))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w_gd, gd = signal.group_delay((b, a),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Pole-zero geometry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zeros = np.roots(b)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poles = np.roots(a)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Compare causal IIR and zero-phase offline filtering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y_causal = signal.sosfilt(sos,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y_zero = signal.sosfiltfilt(sos,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|H(e^(jω))| but different ∠ H(e^(jω)). Must their outputs be identical for every input?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no. Their spectra have the same magnitudes but different phases, so transient waveform shapes can differ.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would they sound or look nearly equivalent? When the task or perception is insensitive to the altered phase relationships.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9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777240" y="1371600"/>
            <a:ext cx="1042380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Pole-zero distance ratios explain magnitude; vector-angle sums explain phase.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turns phase slope into a timing diagnostic.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All-pass systems have unit magnitude but can strongly reshape phase and delay.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ML preprocessing must preserve—or consistently reproduce—the temporal features the model needs.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 • Pole-zero geometry for H(z)=(1-0.8z⁻¹)/(1-0.5z⁻¹).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 • Compute phase delay and group delay for φ(ω)=-3ω+0.4sinω.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3 • Prove unit magnitude for a first-order all-pass.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 • Explain how nonlinear phase can alter ECG timing features and propose offline/streaming mitigations.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solution sketch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685800" y="141732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P1: |H(1)|=0.4, |H(-1)|=1.2; distance ratios predict the tilt.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P2: τₚ=3-0.4sinω/ω and τg=3-0.4cosω.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P3: numerator and denominator squared magnitudes are both 1+a²-2acosω.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P4: preserve timing offline with validated zero-phase processing or use a linear-phase / deployment-matched causal front end.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2074</Words>
  <Application>Microsoft Office PowerPoint</Application>
  <PresentationFormat>Widescreen</PresentationFormat>
  <Paragraphs>220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viby</dc:creator>
  <cp:lastModifiedBy>Peter Mathys</cp:lastModifiedBy>
  <cp:revision>2</cp:revision>
  <dcterms:modified xsi:type="dcterms:W3CDTF">2026-09-03T21:57:35Z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9 — Time/Frequency Responses and Group Delay</dc:subject>
  <dc:title>Lecture 9 — Time/Frequency Responses and Group Delay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On-screen Show (16:9)</vt:lpwstr>
  </property>
  <property fmtid="{D5CDD505-2E9C-101B-9397-08002B2CF9AE}" pid="4" name="Slides">
    <vt:r8>24</vt:r8>
  </property>
</Properties>
</file>