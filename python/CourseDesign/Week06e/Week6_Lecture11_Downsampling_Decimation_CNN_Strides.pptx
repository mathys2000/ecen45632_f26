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0:00–0:02. Frame the lecture as one idea appearing in two communities: sample-rate reduction in DSP and striding/pooling in CNNs.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connect to Week 2 sampling/aliasing. Emphasize that the “new” operation is discrete-time rate change, but the sampling logic is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0:02–0:04. Transition into the formal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M=3 explicitly: x_d[0]=x[0], x_d[1]=x[3], x_d[2]=x[6]. Ask: what happens to the physical time spacing between samples?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compute the result before revealing the callout. Common error: students confuse downsampling by M with dividing amplitudes by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over-derive unless this class needs it. The important mental model is “stretch, shift, add.” Connect overlap directly to aliasing.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describe the difference between the two figures without equations first. Then connect the safe bandwidth to π/M.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This is the engineering implementation, not just the mathematical operator.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ωc = π/M is the idealized boundary. Practical FIR filters need a transition band; the passband must end below π/M.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difference between “cutoff = π/2” as theory and a realizable response with transition width. Ask where the first aliased energy would land if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nuance statement to avoid turning “FIR linear phase” into a universal rule. For audio, latency may motivate different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Suggested answer: Need 0.22π ≤ π/M, so M ≤ 1/0.22 ≈ 4.54. Largest integer M is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0:50. This connection is the conceptual bridge to 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Conv1d stride=M can be written as convolution followed by taking every Mth output. That makes the sampling interpretation exact.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exact equivariance from robustness. Striding inherently reduces resolution; aliasing makes phase sensitivity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anti-aliased CNNs as a design pattern, not a magic rule. The right amount of lowpass filtering depends on data, task, and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pairs predict before running the notebook. The lowpass+stride pipeline should be less sensitive for signals dominated by content near the new Nyquist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exit answer: because task loss does not force the kernel to suppress frequencies above the post-stride Nyquist limit, so high-frequency feature energy can alias.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slide for course-site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5B8A"/>
          </a:solidFill>
          <a:ln w="12700">
            <a:solidFill>
              <a:srgbClr val="245B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6 • MULTI-RATE DSP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881360" y="651052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10283E"/>
          </a:solidFill>
          <a:ln w="12700">
            <a:solidFill>
              <a:srgbClr val="1028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31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5303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Downsampling,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Decimation, and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Strides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369417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Classical sampling theory meets modern convolutional networks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498080" y="1280160"/>
            <a:ext cx="1920240" cy="1005840"/>
          </a:xfrm>
          <a:prstGeom prst="roundRect">
            <a:avLst/>
          </a:prstGeom>
          <a:solidFill>
            <a:srgbClr val="E7F3FA"/>
          </a:solidFill>
          <a:ln w="19050">
            <a:solidFill>
              <a:srgbClr val="6FA6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0" y="1298448"/>
            <a:ext cx="1920240" cy="9875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12280" y="260604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 copies stretch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can overlap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43800" y="3703320"/>
            <a:ext cx="1828800" cy="0"/>
          </a:xfrm>
          <a:prstGeom prst="line">
            <a:avLst/>
          </a:prstGeom>
          <a:noFill/>
          <a:ln w="25400">
            <a:solidFill>
              <a:srgbClr val="8EC3E3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040880" y="4069080"/>
            <a:ext cx="2743200" cy="1051560"/>
          </a:xfrm>
          <a:prstGeom prst="roundRect">
            <a:avLst/>
          </a:prstGeom>
          <a:solidFill>
            <a:srgbClr val="E7F3FA"/>
          </a:solidFill>
          <a:ln w="19050">
            <a:solidFill>
              <a:srgbClr val="6FA6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087368"/>
            <a:ext cx="2743200" cy="10332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Conv1d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= 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6126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CA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§4.6  |  Raschka: CNN architecture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75 minutes, students should be able to reason in both time and frequency domains.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566928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</a:t>
            </a:r>
            <a:pPr indent="0" marL="0">
              <a:buNone/>
            </a:pP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downsampled sequences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from x[n] and M.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</a:t>
            </a:r>
            <a:pPr indent="0" marL="0">
              <a:buNone/>
            </a:pP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spectral stretching and aliasing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using the DTFT relation.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the </a:t>
            </a:r>
            <a:pPr indent="0" marL="0">
              <a:buNone/>
            </a:pP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anti-aliasing stage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a decimator.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</a:t>
            </a:r>
            <a:pPr indent="0" marL="0">
              <a:buNone/>
            </a:pP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&gt; 1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 a CNN is a sampling operation.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9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Diagnose </a:t>
            </a:r>
            <a:pPr indent="0" marL="0">
              <a:buNone/>
            </a:pPr>
            <a:r>
              <a:rPr lang="en-US" sz="195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shift-equivariance failures</a:t>
            </a:r>
            <a:pPr indent="0" marL="0">
              <a:buNone/>
            </a:pPr>
            <a:r>
              <a:rPr lang="en-US" sz="19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caused by aliased feature maps.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7315200" y="18288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79792" y="1956816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79792" y="2267712"/>
            <a:ext cx="32369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0–25 min: downsampling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25–50 min: decimation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50–75 min: CNN strides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0" y="4251960"/>
            <a:ext cx="3566160" cy="1234440"/>
          </a:xfrm>
          <a:prstGeom prst="roundRect">
            <a:avLst>
              <a:gd name="adj" fmla="val 444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79792" y="4379976"/>
            <a:ext cx="3236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79792" y="4690872"/>
            <a:ext cx="3236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must happen before we throw samples away?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in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every Mth sample; the sample spacing grows by M.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0:04–0:10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Downsampling: the time-domain definition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10012680" y="384048"/>
            <a:ext cx="1600200" cy="329184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31552" y="448056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5B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0:04–0:10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554480"/>
            <a:ext cx="2926080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512064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sample rate: F_s.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sample rate: F_s/M.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new values are computed—the operation selects a subsequence.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loss is harmless only when the discarded samples are redundant relative to the signal bandwidth.</a:t>
            </a:r>
            <a:endParaRPr lang="en-US" sz="1800" dirty="0"/>
          </a:p>
        </p:txBody>
      </p:sp>
      <p:pic>
        <p:nvPicPr>
          <p:cNvPr id="8" name="Image 1" descr="/mnt/data/week6_multirate/assets/downsample_t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649741"/>
            <a:ext cx="5394960" cy="196999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0:10–0:14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quick index-mapping example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Suppose x[n] = { 2, 1, −1, 3, 4, 0, 5, 2, −2, 1, … } and M = 3.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41832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47672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29384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9384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35224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16936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16936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922776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04488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4488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10328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92040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97880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79592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79592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85432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67144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67144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872984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854696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54696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0536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842248" y="2578608"/>
            <a:ext cx="502920" cy="502920"/>
          </a:xfrm>
          <a:prstGeom prst="ellipse">
            <a:avLst/>
          </a:prstGeom>
          <a:solidFill>
            <a:srgbClr val="F6F8FA"/>
          </a:solidFill>
          <a:ln w="12700">
            <a:solidFill>
              <a:srgbClr val="C9D6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42248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48088" y="2194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829800" y="2578608"/>
            <a:ext cx="502920" cy="502920"/>
          </a:xfrm>
          <a:prstGeom prst="ellipse">
            <a:avLst/>
          </a:prstGeom>
          <a:solidFill>
            <a:srgbClr val="DDEEF8"/>
          </a:solidFill>
          <a:ln w="25400">
            <a:solidFill>
              <a:srgbClr val="2F8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29800" y="27157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20040" y="2221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256032" y="27249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x[n]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3063240" y="3840480"/>
            <a:ext cx="5852160" cy="1097280"/>
          </a:xfrm>
          <a:prstGeom prst="roundRect">
            <a:avLst>
              <a:gd name="adj" fmla="val 5000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3227832" y="3968496"/>
            <a:ext cx="5522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227832" y="4279392"/>
            <a:ext cx="5522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x_d[n] = { 2, 3, 5, 1, … }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0:14–0:20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happens in frequency?</a:t>
            </a:r>
            <a:endParaRPr lang="en-US" sz="25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80" y="1417320"/>
            <a:ext cx="548640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423160"/>
            <a:ext cx="539496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Stretch:</a:t>
            </a:r>
            <a:pPr indent="0" marL="0">
              <a:buNone/>
            </a:pP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each input spectrum is evaluated at ω/M, so features expand by M on the output frequency axis.</a:t>
            </a:r>
            <a:pPr indent="0" marL="0">
              <a:buNone/>
            </a:pP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Shift:</a:t>
            </a:r>
            <a:pPr indent="0" marL="0">
              <a:buNone/>
            </a:pP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 periodically shifted copies appear.</a:t>
            </a:r>
            <a:pPr indent="0" marL="0">
              <a:buNone/>
            </a:pP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Add:</a:t>
            </a:r>
            <a:pPr indent="0" marL="0">
              <a:buNone/>
            </a:pP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the copies are summed; overlap is irreversible aliasing.</a:t>
            </a:r>
            <a:pPr indent="0" marL="0">
              <a:buNone/>
            </a:pP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4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4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Scale:</a:t>
            </a:r>
            <a:pPr indent="0" marL="0">
              <a:buNone/>
            </a:pPr>
            <a:r>
              <a:rPr lang="en-US" sz="174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the 1/M factor accounts for the rate change in the DTFT relation.</a:t>
            </a:r>
            <a:endParaRPr lang="en-US" sz="1740" dirty="0"/>
          </a:p>
        </p:txBody>
      </p:sp>
      <p:sp>
        <p:nvSpPr>
          <p:cNvPr id="6" name="Shape 3"/>
          <p:cNvSpPr/>
          <p:nvPr/>
        </p:nvSpPr>
        <p:spPr>
          <a:xfrm>
            <a:off x="6720840" y="1828800"/>
            <a:ext cx="960120" cy="731520"/>
          </a:xfrm>
          <a:prstGeom prst="chevron">
            <a:avLst/>
          </a:prstGeom>
          <a:solidFill>
            <a:srgbClr val="DDEEF8"/>
          </a:solidFill>
          <a:ln w="12700">
            <a:solidFill>
              <a:srgbClr val="2F80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2084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stretch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01000" y="1828800"/>
            <a:ext cx="960120" cy="731520"/>
          </a:xfrm>
          <a:prstGeom prst="chevron">
            <a:avLst/>
          </a:prstGeom>
          <a:solidFill>
            <a:srgbClr val="E7F4EC"/>
          </a:solidFill>
          <a:ln w="12700">
            <a:solidFill>
              <a:srgbClr val="2C7A5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0100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281160" y="1828800"/>
            <a:ext cx="960120" cy="731520"/>
          </a:xfrm>
          <a:prstGeom prst="chevron">
            <a:avLst/>
          </a:prstGeom>
          <a:solidFill>
            <a:srgbClr val="FFF1E5"/>
          </a:solidFill>
          <a:ln w="12700">
            <a:solidFill>
              <a:srgbClr val="C96A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81160" y="205740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12280" y="3063240"/>
            <a:ext cx="3886200" cy="146304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976872" y="3191256"/>
            <a:ext cx="3557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76872" y="3502152"/>
            <a:ext cx="35570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is a sampling operation performed on an already-discrete signal.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0:20–0:25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Aliasing: when stretched copies overlap</a:t>
            </a:r>
            <a:endParaRPr lang="en-US" sz="2550" dirty="0"/>
          </a:p>
        </p:txBody>
      </p:sp>
      <p:pic>
        <p:nvPicPr>
          <p:cNvPr id="4" name="Image 0" descr="/mnt/data/week6_multirate/assets/spectrum_alia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14539"/>
            <a:ext cx="5486400" cy="3394683"/>
          </a:xfrm>
          <a:prstGeom prst="rect">
            <a:avLst/>
          </a:prstGeom>
        </p:spPr>
      </p:pic>
      <p:pic>
        <p:nvPicPr>
          <p:cNvPr id="5" name="Image 1" descr="/mnt/data/week6_multirate/assets/spectrum_no_ali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71117"/>
            <a:ext cx="5303520" cy="3281527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063240" y="5559552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3227832" y="5687568"/>
            <a:ext cx="5705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Alias-free requirement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3227832" y="5998464"/>
            <a:ext cx="5705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↓M, confine the signal to |ω| &lt; π/M (with a practical transition band).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 = filter + downsample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lowpass filter removes content that would fold into the preserved band.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0:25–0:32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anti-aliasing filter is necessary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1430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67128"/>
            <a:ext cx="1143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28800" y="2478024"/>
            <a:ext cx="9144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43200" y="1965960"/>
            <a:ext cx="1920240" cy="1024128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0" y="1984248"/>
            <a:ext cx="19202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HAA(z)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663440" y="2478024"/>
            <a:ext cx="96012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623560" y="2057400"/>
            <a:ext cx="1325880" cy="841248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23560" y="2075688"/>
            <a:ext cx="13258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49440" y="2478024"/>
            <a:ext cx="100584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955280" y="2148840"/>
            <a:ext cx="11430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2167128"/>
            <a:ext cx="1143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60120" y="38862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124712" y="4014216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cutoff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24712" y="4325112"/>
            <a:ext cx="2414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ω_c = π/M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77640" y="3886200"/>
            <a:ext cx="3749040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142232" y="4014216"/>
            <a:ext cx="341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filter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42232" y="4325112"/>
            <a:ext cx="3419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passband edge &lt; π/M and stopband edge ≤ π/M.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001000" y="3886200"/>
            <a:ext cx="2880360" cy="960120"/>
          </a:xfrm>
          <a:prstGeom prst="roundRect">
            <a:avLst>
              <a:gd name="adj" fmla="val 571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65592" y="4014216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tradeoff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65592" y="4325112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Sharper transition ⇒ longer FIR ⇒ more delay and computation.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0:32–0:39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design example: decimate by 2</a:t>
            </a:r>
            <a:endParaRPr lang="en-US" sz="2550" dirty="0"/>
          </a:p>
        </p:txBody>
      </p:sp>
      <p:pic>
        <p:nvPicPr>
          <p:cNvPr id="4" name="Image 0" descr="/mnt/data/week6_multirate/assets/anti_alias_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547083"/>
            <a:ext cx="5577840" cy="21753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20840" y="1645920"/>
            <a:ext cx="452628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Nyquist limit corresponds to input |ω| = π/2.</a:t>
            </a:r>
            <a:pPr indent="0" marL="0">
              <a:buNone/>
            </a:pP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the useful band below the transition region.</a:t>
            </a:r>
            <a:pPr indent="0" marL="0">
              <a:buNone/>
            </a:pP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Suppress energy above π/2 before ↓2.</a:t>
            </a:r>
            <a:pPr indent="0" marL="0">
              <a:buNone/>
            </a:pP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5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linear-phase FIR gives constant group delay in the passband.</a:t>
            </a:r>
            <a:endParaRPr lang="en-US" sz="1750" dirty="0"/>
          </a:p>
        </p:txBody>
      </p:sp>
      <p:sp>
        <p:nvSpPr>
          <p:cNvPr id="6" name="Shape 3"/>
          <p:cNvSpPr/>
          <p:nvPr/>
        </p:nvSpPr>
        <p:spPr>
          <a:xfrm>
            <a:off x="6720840" y="4709160"/>
            <a:ext cx="4434840" cy="960120"/>
          </a:xfrm>
          <a:prstGeom prst="roundRect">
            <a:avLst>
              <a:gd name="adj" fmla="val 5714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885432" y="4837176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note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85432" y="5148072"/>
            <a:ext cx="4105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scipy.signal.decimate or resample_poly handles filtering + rate change for you—but the design assumptions still matter.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0:39–0:46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linear-phase FIR is a common choice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777240" y="15087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41832" y="16367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Preserved waveform shape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41832" y="19476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 group delay keeps relative phase relationships across the passband.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5087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73952" y="16367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by construction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73952" y="19476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impulse response filters have no recursive poles to destabilize the decimator.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7240" y="35661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41832" y="36941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Predictable delay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41832" y="40050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Symmetric taps give delay (N−1)/2 samples at the input rate.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3566160"/>
            <a:ext cx="5074920" cy="1508760"/>
          </a:xfrm>
          <a:prstGeom prst="roundRect">
            <a:avLst>
              <a:gd name="adj" fmla="val 3636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73952" y="3694176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structures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73952" y="4005072"/>
            <a:ext cx="47457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implementations avoid computing samples that will be discarded.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715000"/>
            <a:ext cx="10469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 nuance: linear phase is useful, not mandatory. Minimum-phase or IIR designs may be preferred when latency dominates.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check: safe decimation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61320" cy="1920240"/>
          </a:xfrm>
          <a:prstGeom prst="roundRect">
            <a:avLst/>
          </a:prstGeom>
          <a:solidFill>
            <a:srgbClr val="F7FAFC"/>
          </a:solidFill>
          <a:ln w="15240">
            <a:solidFill>
              <a:srgbClr val="C9D6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874520"/>
            <a:ext cx="992124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signal occupies |ω| ≤ 0.22π. What is the largest integer M that can be used without aliasing, assuming an ideal anti-alias filter that preserves the whole band?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103120" y="4069080"/>
            <a:ext cx="7955280" cy="105156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77640" y="437083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Reveal after discussion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94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6FA6C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 strides are downsampling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61488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5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strided convolution combines learned filtering with sample selection.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0:50–0:57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Conv1d with stride M: the DSP view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5087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75688"/>
            <a:ext cx="150876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map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148840" y="2468880"/>
            <a:ext cx="82296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71800" y="1874520"/>
            <a:ext cx="2331720" cy="1188720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892808"/>
            <a:ext cx="2331720" cy="11704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FIR-like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kernel h[k]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03520" y="2468880"/>
            <a:ext cx="82296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126480" y="2011680"/>
            <a:ext cx="1554480" cy="914400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2029968"/>
            <a:ext cx="1554480" cy="8961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2468880"/>
            <a:ext cx="86868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49640" y="2057400"/>
            <a:ext cx="15087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2075688"/>
            <a:ext cx="150876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y[n]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51760" y="3794760"/>
            <a:ext cx="4297680" cy="6400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086600" y="370332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251192" y="3831336"/>
            <a:ext cx="341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difference from classical decimation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51192" y="4142232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is learned for task loss—not explicitly constrained to be a lowpass anti-aliasing filter.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0:57–1:04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aliasing can hurt shift equivariance</a:t>
            </a:r>
            <a:endParaRPr lang="en-US" sz="2550" dirty="0"/>
          </a:p>
        </p:txBody>
      </p:sp>
      <p:pic>
        <p:nvPicPr>
          <p:cNvPr id="4" name="Image 0" descr="/mnt/data/week6_multirate/assets/shift_equivari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75729"/>
            <a:ext cx="5669280" cy="336374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20840" y="1600200"/>
            <a:ext cx="44805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Convolution alone</a:t>
            </a:r>
            <a:pPr indent="0" marL="0">
              <a:buNone/>
            </a:pP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shift equivariant (ignoring boundaries).</a:t>
            </a:r>
            <a:pPr indent="0" marL="0">
              <a:buNone/>
            </a:pP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Subsampling</a:t>
            </a:r>
            <a:pPr indent="0" marL="0">
              <a:buNone/>
            </a:pP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chooses a sampling phase.</a:t>
            </a:r>
            <a:pPr indent="0" marL="0">
              <a:buNone/>
            </a:pP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one-sample input shift</a:t>
            </a:r>
            <a:pPr indent="0" marL="0">
              <a:buNone/>
            </a:pP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can move energy to a different phase before ↓M.</a:t>
            </a:r>
            <a:pPr indent="0" marL="0">
              <a:buNone/>
            </a:pP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2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2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Aliased high-frequency feature content</a:t>
            </a:r>
            <a:pPr indent="0" marL="0">
              <a:buNone/>
            </a:pPr>
            <a:r>
              <a:rPr lang="en-US" sz="172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makes the output vary sharply under small shifts.</a:t>
            </a:r>
            <a:endParaRPr lang="en-US" sz="1720" dirty="0"/>
          </a:p>
        </p:txBody>
      </p:sp>
      <p:sp>
        <p:nvSpPr>
          <p:cNvPr id="6" name="Shape 3"/>
          <p:cNvSpPr/>
          <p:nvPr/>
        </p:nvSpPr>
        <p:spPr>
          <a:xfrm>
            <a:off x="6720840" y="4983480"/>
            <a:ext cx="4434840" cy="841248"/>
          </a:xfrm>
          <a:prstGeom prst="roundRect">
            <a:avLst>
              <a:gd name="adj" fmla="val 6522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885432" y="5111496"/>
            <a:ext cx="4105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symptom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85432" y="5422392"/>
            <a:ext cx="4105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or feature maps can change more than expected after tiny translations or time shifts.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1:04–1:10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CNNs: restore the missing DSP step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1828800" cy="822960"/>
          </a:xfrm>
          <a:prstGeom prst="roundRect">
            <a:avLst/>
          </a:prstGeom>
          <a:solidFill>
            <a:srgbClr val="EAF4FA"/>
          </a:solidFill>
          <a:ln w="19050">
            <a:solidFill>
              <a:srgbClr val="2F80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75688"/>
            <a:ext cx="18288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conv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057400"/>
            <a:ext cx="1828800" cy="822960"/>
          </a:xfrm>
          <a:prstGeom prst="roundRect">
            <a:avLst/>
          </a:prstGeom>
          <a:solidFill>
            <a:srgbClr val="F3F8FB"/>
          </a:solidFill>
          <a:ln w="19050">
            <a:solidFill>
              <a:srgbClr val="C9D6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2075688"/>
            <a:ext cx="18288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06440" y="1901952"/>
            <a:ext cx="2240280" cy="1143000"/>
          </a:xfrm>
          <a:prstGeom prst="roundRect">
            <a:avLst/>
          </a:prstGeom>
          <a:solidFill>
            <a:srgbClr val="EEF7F1"/>
          </a:solidFill>
          <a:ln w="19050">
            <a:solidFill>
              <a:srgbClr val="2C7A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6440" y="1920240"/>
            <a:ext cx="2240280" cy="11247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/ constrained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 blur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46720" y="2468880"/>
            <a:ext cx="685800" cy="0"/>
          </a:xfrm>
          <a:prstGeom prst="line">
            <a:avLst/>
          </a:prstGeom>
          <a:noFill/>
          <a:ln w="25400">
            <a:solidFill>
              <a:srgbClr val="245B8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732520" y="2057400"/>
            <a:ext cx="1371600" cy="822960"/>
          </a:xfrm>
          <a:prstGeom prst="roundRect">
            <a:avLst/>
          </a:prstGeom>
          <a:solidFill>
            <a:srgbClr val="FFF6E9"/>
          </a:solidFill>
          <a:ln w="19050">
            <a:solidFill>
              <a:srgbClr val="C96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32520" y="2075688"/>
            <a:ext cx="137160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3840480"/>
            <a:ext cx="1001268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BlurPool-style idea: lowpass before spatial or temporal subsampling.</a:t>
            </a:r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Alternative: constrain the strided kernel to have stronger lowpass behavior.</a:t>
            </a:r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7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Tradeoff: suppressing high-frequency detail can reduce aliasing but may also remove task-relevant features.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1:10–1:14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Mini-demo / coding prompt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three stride-2 pipelines on the same 1-D signal: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8755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A. Raw subsampling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8755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= x[::2]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3484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F3F8FB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9943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B. Learned stride-2 conv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torch.nn.Conv1d(..., stride=2)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214884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11312" y="227685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C. Blur + stride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11312" y="2587752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lowpass(x) → take every 2nd sample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43000" y="41605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the input by one sample. Which pipeline changes least, and why?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743200" y="5166360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F7FAF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907792" y="529437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accompanying notebook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07792" y="5605272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Sections 1–5 reproduce the DSP spectra and the PyTorch stride comparison.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1:14–1:15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11 wrap-up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6583680" cy="4114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changes the sample rate and stretches spectral copies.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occurs when those copies overlap.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Decimation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anti-alias lowpass filtering followed by ↓M.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Strided CNN layers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are learned-filter + downsample systems.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2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CNNs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reintroduce an explicit lowpass step before subsampling.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210312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FF8EC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165592" y="2231136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question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65592" y="2542032"/>
            <a:ext cx="30540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one sentence: why can a perfectly reasonable learned convolution still be a poor anti-aliasing filter?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001000" y="4343400"/>
            <a:ext cx="3383280" cy="1188720"/>
          </a:xfrm>
          <a:prstGeom prst="roundRect">
            <a:avLst>
              <a:gd name="adj" fmla="val 4615"/>
            </a:avLst>
          </a:prstGeom>
          <a:solidFill>
            <a:srgbClr val="EEF7F1"/>
          </a:solidFill>
          <a:ln w="12700">
            <a:solidFill>
              <a:srgbClr val="C9D6E2"/>
            </a:solidFill>
            <a:prstDash val="solid"/>
          </a:ln>
          <a:effectLst>
            <a:outerShdw sx="100000" sy="100000" kx="0" ky="0" algn="bl" rotWithShape="0" blurRad="16510" dist="889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165592" y="4471416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lecture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65592" y="4782312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 insertion creates images; interpolation removes them.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1018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 and instructor resources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868680" y="1600200"/>
            <a:ext cx="1024128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Schafer, Discrete-Time Signal Processing, §4.6: sampling-rate conversion.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Raschka et al., Machine Learning with PyTorch and Scikit-Learn: convolutional neural network architecture.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Accompanying notebook: Week6_Multirate_DSP_and_ML_Demos.ipynb.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pPr indent="0" marL="0">
              <a:buNone/>
            </a:pPr>
            <a:r>
              <a:rPr lang="en-US" sz="1800" b="1" dirty="0">
                <a:solidFill>
                  <a:srgbClr val="2F8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Homework and weekly quiz: Week6_Multirate_Homework_Quiz_Solutions.docx.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DSP and ML Course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11: Downsampling, Decimation, and CNN Strides</dc:title>
  <dc:subject>Week 6 Multi-rate DSP</dc:subject>
  <dc:creator>OpenAI</dc:creator>
  <cp:lastModifiedBy>OpenAI</cp:lastModifiedBy>
  <cp:revision>1</cp:revision>
  <dcterms:created xsi:type="dcterms:W3CDTF">2026-09-04T18:33:06Z</dcterms:created>
  <dcterms:modified xsi:type="dcterms:W3CDTF">2026-09-04T18:33:06Z</dcterms:modified>
</cp:coreProperties>
</file>