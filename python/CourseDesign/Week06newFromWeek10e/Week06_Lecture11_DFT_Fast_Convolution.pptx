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85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24888E"/>
                </a:solidFill>
                <a:latin typeface="Aptos"/>
              </a:rPr>
              <a:t>WEEK 6 ● </a:t>
            </a:r>
            <a:r>
              <a:rPr sz="1400" b="1" dirty="0">
                <a:solidFill>
                  <a:srgbClr val="24888E"/>
                </a:solidFill>
                <a:latin typeface="Aptos"/>
              </a:rPr>
              <a:t>LECTURE 1</a:t>
            </a:r>
            <a:r>
              <a:rPr lang="en-US" sz="1400" b="1" dirty="0">
                <a:solidFill>
                  <a:srgbClr val="24888E"/>
                </a:solidFill>
                <a:latin typeface="Aptos"/>
              </a:rPr>
              <a:t>1</a:t>
            </a:r>
            <a:endParaRPr sz="1400" b="1" dirty="0">
              <a:solidFill>
                <a:srgbClr val="24888E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The DFT and Fast Convolution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7E1EE"/>
                </a:solidFill>
                <a:latin typeface="Aptos"/>
              </a:rPr>
              <a:t>From frequency samples to efficient streaming FIR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97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CCDD"/>
                </a:solidFill>
                <a:latin typeface="Aptos"/>
              </a:rPr>
              <a:t>Oppenheim &amp; Schafer • DFT / FFT / STFT  |  Raschka • CNN architecture and feature pipelines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0:00–0:03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766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Interpret the N-point DFT as samples of the DTFT of a finite record.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Distinguish linear convolution from N-point circular convolution.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Choose zero-padding so DFT multiplication produces linear convolution.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Explain and implement overlap-add and overlap-save block filtering.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Connect FFT block processing to real-time preprocessing before ML inference.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463040"/>
            <a:ext cx="36576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64424" y="155448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Core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4424" y="1819656"/>
            <a:ext cx="336499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How can an operation that is naturally defined for a whole sequence be implemented efficiently on an endless stream?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DFT review: a finite set of frequency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0:03–0:09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463A0"/>
                </a:solidFill>
                <a:latin typeface="Aptos"/>
              </a:rPr>
              <a:t>X[k] = Σₙ₌₀ᴺ⁻¹ x[n] e^(−j2πkn/N),   k = 0,…,N−1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10424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DFT is exactly the DTFT of the N-sample finite record evaluated at ωₖ = 2πk/N.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inverse DFT reconstructs those N time samples exactly.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DFT assumes an N-periodic extension when we interpret algebra such as convolution.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937759"/>
            <a:ext cx="8321040" cy="989891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75104" y="5029200"/>
            <a:ext cx="8028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Do not confuse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5294376"/>
            <a:ext cx="8028431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191E26"/>
                </a:solidFill>
                <a:latin typeface="Aptos"/>
              </a:rPr>
              <a:t>A larger FFT can sample the same finite-record DTFT more densely, but zero-padding does not create new time-domain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The DFT samples the DTFT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0:09–0:14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dft_samples_dt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76656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508760"/>
            <a:ext cx="365760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0020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Reading the figure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65376"/>
            <a:ext cx="3364992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smooth curve is the finite record’s DTFT. The dots are the 32 DFT samples. An FFT is an algorithm for computing these samples efficiently.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97763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53E"/>
                </a:solidFill>
                <a:latin typeface="Aptos"/>
              </a:rPr>
              <a:t>Frequency grid:  ωₖ = 2πk/N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Why the FFT matters computationally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0:14–0:20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D67D35"/>
                </a:solidFill>
                <a:latin typeface="Aptos"/>
              </a:rPr>
              <a:t>Direct DFT: approximately O(N²)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4888E"/>
                </a:solidFill>
                <a:latin typeface="Aptos"/>
              </a:rPr>
              <a:t>FFT: approximately O(N log₂N)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6675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This difference becomes decisive for long FIR filters and repeated streaming blocks.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FFT does not change the transform—it changes the computational algorithm.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Fast convolution exploits the convolution theorem plus the FFT.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08760"/>
            <a:ext cx="356616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72983" y="160020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1865376"/>
            <a:ext cx="3273552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For N = 4096, N² ≈ 16.8 million while N log₂N ≈ 49 thousand scale operations (constant factors omitted).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Linear convolution versus circular convolution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0:20–0:27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Linear:  y[n] = Σₘ x[m] h[n−m]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dirty="0">
                <a:solidFill>
                  <a:srgbClr val="2463A0"/>
                </a:solidFill>
                <a:latin typeface="Aptos"/>
              </a:rPr>
              <a:t>N-point circular:  </a:t>
            </a:r>
            <a:r>
              <a:rPr sz="2300" b="1" dirty="0" err="1">
                <a:solidFill>
                  <a:srgbClr val="2463A0"/>
                </a:solidFill>
                <a:latin typeface="Aptos"/>
              </a:rPr>
              <a:t>y_N</a:t>
            </a:r>
            <a:r>
              <a:rPr sz="2300" b="1" dirty="0">
                <a:solidFill>
                  <a:srgbClr val="2463A0"/>
                </a:solidFill>
                <a:latin typeface="Aptos"/>
              </a:rPr>
              <a:t>[n] = Σₘ₌₀ᴺ⁻¹ x[m] h[(n−m) mod 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6766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Linear convolution has length Lx + Lh − 1 for finite sequences.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Circular convolution wraps samples modulo 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DFT multiplication corresponds to circular convolution of the N-point sequences.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3126" y="1536192"/>
            <a:ext cx="356616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9430" y="1627632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Key issue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9430" y="1892807"/>
            <a:ext cx="3273552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If N is too small, the tail of the linear convolution wraps onto the beginning.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Wrap-around is the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0:27–0:32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linear_vs_circ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76656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508760"/>
            <a:ext cx="3657600" cy="17830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0020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What happened?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65376"/>
            <a:ext cx="3364992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N=4 circular result folds the samples that belong at n ≥ 4 back into n = 0,1,…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8862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253E"/>
                </a:solidFill>
                <a:latin typeface="Aptos"/>
              </a:rPr>
              <a:t>Circular is not “wrong”—it is a different operation.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Zero-padding makes DFT convolution linear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0:32–0:38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91E26"/>
                </a:solidFill>
                <a:latin typeface="Aptos"/>
              </a:rPr>
              <a:t>Choose an FFT length satisfying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4888E"/>
                </a:solidFill>
                <a:latin typeface="Aptos"/>
              </a:rPr>
              <a:t>NFFT ≥ Lx + Lh − 1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766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Pad both x[n] and h[n] to NFFT.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Multiply their NFFT-point DFTs.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Take the inverse DFT.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first Lx + Lh − 1 samples equal the linear convolution.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54480"/>
            <a:ext cx="35661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72983" y="164592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1911095"/>
            <a:ext cx="327355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Lx = 1000 and Lh = 129 require at least 1128 points. In practice, 2048 may be chosen for FFT efficiency.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Concept check: padding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CONCEPT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0:38–0:40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x[n] has length 80 and h[n] has length 33. What is the minimum FFT size for one-shot FFT-based linear convolution?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39569F-4B84-1BF2-BA6B-3EE228CC0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67CC2B-3FE4-6705-ED46-E241D160D952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EF2C4E-3524-D99F-A91B-5D9804A9434F}"/>
              </a:ext>
            </a:extLst>
          </p:cNvPr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Concept check: padding requirement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EFA404-CB13-A6BB-E87A-767E3FE653B3}"/>
              </a:ext>
            </a:extLst>
          </p:cNvPr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CONCEPT CHECK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54E196-9894-01E6-D023-1E4E5732CF0C}"/>
              </a:ext>
            </a:extLst>
          </p:cNvPr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0:38–0:40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77881D-D6DF-1C50-AEAF-940B4175B010}"/>
              </a:ext>
            </a:extLst>
          </p:cNvPr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D1CA95-2630-AB0B-7623-AD7F9022BC3F}"/>
              </a:ext>
            </a:extLst>
          </p:cNvPr>
          <p:cNvSpPr txBox="1"/>
          <p:nvPr/>
        </p:nvSpPr>
        <p:spPr>
          <a:xfrm>
            <a:off x="777240" y="1463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x[n] has length 80 and h[n] has length 33. What is the minimum FFT size for one-shot FFT-based linear convolution?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66A3436-DBAE-17BE-1230-15C8CC38ADB2}"/>
              </a:ext>
            </a:extLst>
          </p:cNvPr>
          <p:cNvSpPr/>
          <p:nvPr/>
        </p:nvSpPr>
        <p:spPr>
          <a:xfrm>
            <a:off x="1280160" y="2834640"/>
            <a:ext cx="9601200" cy="132588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6EC16B-18EB-0D73-8A53-5FCA100C0E4C}"/>
              </a:ext>
            </a:extLst>
          </p:cNvPr>
          <p:cNvSpPr txBox="1"/>
          <p:nvPr/>
        </p:nvSpPr>
        <p:spPr>
          <a:xfrm>
            <a:off x="1426463" y="2926080"/>
            <a:ext cx="9308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Good answer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296121-B60D-F90A-672A-136BA4CEDF11}"/>
              </a:ext>
            </a:extLst>
          </p:cNvPr>
          <p:cNvSpPr txBox="1"/>
          <p:nvPr/>
        </p:nvSpPr>
        <p:spPr>
          <a:xfrm>
            <a:off x="1426463" y="3191256"/>
            <a:ext cx="930859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NFFT ≥ 80 + 33 − 1 = 112. Any NFFT of at least 112 works mathematically; an implementation may choose 128.</a:t>
            </a:r>
          </a:p>
        </p:txBody>
      </p:sp>
    </p:spTree>
    <p:extLst>
      <p:ext uri="{BB962C8B-B14F-4D97-AF65-F5344CB8AC3E}">
        <p14:creationId xmlns:p14="http://schemas.microsoft.com/office/powerpoint/2010/main" val="2872226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Why block processing is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0:40–0:46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stream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583680" cy="2834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280160"/>
            <a:ext cx="39776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A microphone, sensor, or radio stream does not end so that we can take one giant FFT.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We process finite blocks as they arrive.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Each block must still reproduce the same linear FIR filtering result.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Block length affects throughput, latency, memory, and FFT efficiency.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876091"/>
            <a:ext cx="8229600" cy="1014346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75104" y="4937759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5202936"/>
            <a:ext cx="793699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Real-time inference often begins with streaming DSP: filtering, resampling, denoising, framing, and feature extraction.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Overlap-Add: filter independent input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OVERLAP-ADD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0:46–0:54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1. Split x[n] into non-overlapping blocks of B samples.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2. Zero-pad each block and h[n] so NFFT ≥ B + Lh − 1.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3. FFT → multiply by H[k] → IFFT.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4. Add the overlapping output tails.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888E"/>
                </a:solidFill>
                <a:latin typeface="Aptos"/>
              </a:rPr>
              <a:t>Each block produces B + Lh − 1 valid linear-convolution samples.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800599"/>
            <a:ext cx="8321040" cy="1010093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75104" y="4892040"/>
            <a:ext cx="8028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Why “add”?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5157216"/>
            <a:ext cx="8028431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Adjacent block convolutions overlap in time because the FIR has memory. Those overlapping contributions must be summed.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Overlap-Add gives the same FIR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OVERLAP-ADD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0:54–0:58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ola_equi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85800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80960" y="1508760"/>
            <a:ext cx="36118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27264" y="1600200"/>
            <a:ext cx="33192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865376"/>
            <a:ext cx="331927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direct time-domain FIR and FFT overlap-add traces lie on top of one another to numerical precision.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8404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253E"/>
                </a:solidFill>
                <a:latin typeface="Aptos"/>
              </a:rPr>
              <a:t>This equivalence should be a coding unit test.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Overlap-Save: overlap the input, discard invalid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OVERLAP-SAVE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0:58–1:06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6949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Choose an FFT size NFFT and FIR length Lh.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Each input block contains Lh − 1 old samples plus new samples.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Perform NFFT-point circular convolution.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Discard the first Lh − 1 output samples, which contain time-aliasing contamination.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Keep the remaining NFFT − Lh + 1 valid samples.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508760"/>
            <a:ext cx="33832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55864" y="1600200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Why “save”?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55864" y="1865376"/>
            <a:ext cx="309067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We save only the uncontaminated portion of each circular-convolution block and concatenate those portions.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794759"/>
            <a:ext cx="3383280" cy="1595947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55864" y="3886200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Contrast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4151376"/>
            <a:ext cx="3090672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OLA overlaps and adds outputs. OLS overlaps inputs and discards corrupted outputs.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OLA versus OLS: engineering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1:06–1:10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63A0"/>
                </a:solidFill>
                <a:latin typeface="Aptos"/>
              </a:rPr>
              <a:t>Overlap-Add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Simple conceptual decomposition.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Needs an output accumulation buffer.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Input blocks are non-overlapping.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888E"/>
                </a:solidFill>
                <a:latin typeface="Aptos"/>
              </a:rPr>
              <a:t>Overlap-Save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Input blocks overlap by Lh − 1.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No output addition step.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Discard first Lh − 1 samples per block.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4709159"/>
            <a:ext cx="8229600" cy="1032421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66544" y="4800600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Both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5065776"/>
            <a:ext cx="793699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Reuse H[k] for every block and can be much faster than direct convolution for long FIR filters.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Choosing FFT and block sizes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1:10–1:13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675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Larger FFTs often improve arithmetic efficiency per sample but increase buffering latency.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Short blocks reduce latency but increase FFT overhead.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Choose NFFT using measured platform performance, not only asymptotic complexity.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On an edge device, memory movement and cache behavior can matter as much as multiply 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554480"/>
            <a:ext cx="3657600" cy="214884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27264" y="164592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Design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911095"/>
            <a:ext cx="3364992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 classifier needs 10-ms latency. Would a huge “efficient” FFT block still be acceptable? No—the end-to-end latency constraint dominates.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ML pipeline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1:13–1:14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53E"/>
                </a:solidFill>
                <a:latin typeface="Aptos"/>
              </a:rPr>
              <a:t>stream → fast FIR / resampling → framing → features →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Fast convolution lets expensive preprocessing run continuously without changing the filter response.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same block boundaries should not create artifacts that leak into ML features.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Streaming DSP and streaming inference must share latency and buffer budgets.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4800600"/>
            <a:ext cx="804672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57984" y="4892040"/>
            <a:ext cx="7754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Think like a system designer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57984" y="5157216"/>
            <a:ext cx="775411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Accuracy, throughput, latency, and numerical equivalence all matter.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Lecture 19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1:14–1:15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4980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DFT samples the finite-record DTFT.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DFT multiplication gives circular convolution.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Zero-padding prevents wrap-around and recovers linear convolution.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Overlap-add and overlap-save extend FFT convolution to endless streams.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Block size is both a DSP and systems-design parameter.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554480"/>
            <a:ext cx="301752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13064" y="1645920"/>
            <a:ext cx="2724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Exit ticket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13064" y="1911095"/>
            <a:ext cx="272491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Why is NFFT ≥ B + Lh − 1 required in overlap-add, and what fails if NFFT is smaller?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1425</Words>
  <Application>Microsoft Office PowerPoint</Application>
  <PresentationFormat>Widescreen</PresentationFormat>
  <Paragraphs>171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Peter Mathys</cp:lastModifiedBy>
  <cp:revision>3</cp:revision>
  <dcterms:created xsi:type="dcterms:W3CDTF">2013-01-27T09:14:16Z</dcterms:created>
  <dcterms:modified xsi:type="dcterms:W3CDTF">2026-09-30T19:48:00Z</dcterms:modified>
  <cp:category/>
</cp:coreProperties>
</file>