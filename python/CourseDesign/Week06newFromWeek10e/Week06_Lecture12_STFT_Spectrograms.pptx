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47" y="4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5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6858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dirty="0">
                <a:solidFill>
                  <a:srgbClr val="24888E"/>
                </a:solidFill>
                <a:latin typeface="Aptos"/>
              </a:rPr>
              <a:t>WEEK 6 ● </a:t>
            </a:r>
            <a:r>
              <a:rPr sz="1400" b="1" dirty="0">
                <a:solidFill>
                  <a:srgbClr val="24888E"/>
                </a:solidFill>
                <a:latin typeface="Aptos"/>
              </a:rPr>
              <a:t>LECTURE </a:t>
            </a:r>
            <a:r>
              <a:rPr lang="en-US" sz="1400" b="1" dirty="0">
                <a:solidFill>
                  <a:srgbClr val="24888E"/>
                </a:solidFill>
                <a:latin typeface="Aptos"/>
              </a:rPr>
              <a:t>1</a:t>
            </a:r>
            <a:r>
              <a:rPr sz="1400" b="1" dirty="0">
                <a:solidFill>
                  <a:srgbClr val="24888E"/>
                </a:solidFill>
                <a:latin typeface="Aptos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6070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The STFT and Spectrograms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788920"/>
            <a:ext cx="9875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7E1EE"/>
                </a:solidFill>
                <a:latin typeface="Aptos"/>
              </a:rPr>
              <a:t>Local spectra for non-stationary signals and 2-D ML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8978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ECCDD"/>
                </a:solidFill>
                <a:latin typeface="Aptos"/>
              </a:rPr>
              <a:t>Oppenheim &amp; Schafer • DFT / FFT / STFT  |  Raschka • CNN architecture and feature pipelines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0:00–0:03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67665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100">
                <a:solidFill>
                  <a:srgbClr val="191E26"/>
                </a:solidFill>
                <a:latin typeface="Aptos"/>
              </a:defRPr>
            </a:pPr>
            <a:r>
              <a:t>• Explain why a single global spectrum can fail for non-stationary signals.</a:t>
            </a:r>
          </a:p>
          <a:p>
            <a:pPr>
              <a:spcAft>
                <a:spcPts val="700"/>
              </a:spcAft>
              <a:defRPr sz="2100">
                <a:solidFill>
                  <a:srgbClr val="191E26"/>
                </a:solidFill>
                <a:latin typeface="Aptos"/>
              </a:defRPr>
            </a:pPr>
            <a:r>
              <a:t>• Interpret the STFT as a sequence of windowed local Fourier transforms.</a:t>
            </a:r>
          </a:p>
          <a:p>
            <a:pPr>
              <a:spcAft>
                <a:spcPts val="700"/>
              </a:spcAft>
              <a:defRPr sz="2100">
                <a:solidFill>
                  <a:srgbClr val="191E26"/>
                </a:solidFill>
                <a:latin typeface="Aptos"/>
              </a:defRPr>
            </a:pPr>
            <a:r>
              <a:t>• Predict the time–frequency resolution trade-off from window duration.</a:t>
            </a:r>
          </a:p>
          <a:p>
            <a:pPr>
              <a:spcAft>
                <a:spcPts val="700"/>
              </a:spcAft>
              <a:defRPr sz="2100">
                <a:solidFill>
                  <a:srgbClr val="191E26"/>
                </a:solidFill>
                <a:latin typeface="Aptos"/>
              </a:defRPr>
            </a:pPr>
            <a:r>
              <a:t>• Read and construct a spectrogram.</a:t>
            </a:r>
          </a:p>
          <a:p>
            <a:pPr>
              <a:spcAft>
                <a:spcPts val="700"/>
              </a:spcAft>
              <a:defRPr sz="2100">
                <a:solidFill>
                  <a:srgbClr val="191E26"/>
                </a:solidFill>
                <a:latin typeface="Aptos"/>
              </a:defRPr>
            </a:pPr>
            <a:r>
              <a:t>• Format spectrograms as structured tensors for PyTorch CNNs.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1463040"/>
            <a:ext cx="3657600" cy="1920240"/>
          </a:xfrm>
          <a:prstGeom prst="roundRect">
            <a:avLst/>
          </a:prstGeom>
          <a:solidFill>
            <a:srgbClr val="F1F5F9"/>
          </a:solidFill>
          <a:ln>
            <a:solidFill>
              <a:srgbClr val="2488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64424" y="1554480"/>
            <a:ext cx="33649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Core 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64424" y="1819656"/>
            <a:ext cx="3364992" cy="1472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How do we preserve both when a frequency occurs and what that frequency is?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Why a global spectrum is not enough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NON-STATIONARY SIGNALS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0:03–0:10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pic>
        <p:nvPicPr>
          <p:cNvPr id="7" name="Picture 6" descr="global_spectrum_chir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6675120" cy="31089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589520" y="1508760"/>
            <a:ext cx="3657600" cy="1143000"/>
          </a:xfrm>
          <a:prstGeom prst="roundRect">
            <a:avLst/>
          </a:prstGeom>
          <a:solidFill>
            <a:srgbClr val="F1F5F9"/>
          </a:solidFill>
          <a:ln>
            <a:solidFill>
              <a:srgbClr val="2488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35824" y="1600200"/>
            <a:ext cx="33649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What it tells 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35824" y="1865376"/>
            <a:ext cx="3364992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Many frequencies occurred during the record.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0" y="2971800"/>
            <a:ext cx="3657600" cy="1417320"/>
          </a:xfrm>
          <a:prstGeom prst="roundRect">
            <a:avLst/>
          </a:prstGeom>
          <a:solidFill>
            <a:srgbClr val="F1F5F9"/>
          </a:solidFill>
          <a:ln>
            <a:solidFill>
              <a:srgbClr val="D67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35824" y="3063240"/>
            <a:ext cx="33649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67D35"/>
                </a:solidFill>
                <a:latin typeface="Aptos"/>
              </a:rPr>
              <a:t>What it loses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35824" y="3328416"/>
            <a:ext cx="3364992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It does not tell us that the dominant frequency swept upward with time.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75488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6253E"/>
                </a:solidFill>
                <a:latin typeface="Aptos"/>
              </a:rPr>
              <a:t>Speech, radar, machinery faults, ECG/EEG, and transient events are often non-stationary.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Localize before transforming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STFT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0:10–0:15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71600"/>
            <a:ext cx="10424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6253E"/>
                </a:solidFill>
                <a:latin typeface="Aptos"/>
              </a:rPr>
              <a:t>Take a short window around a time location, then compute a Fourier transform of that local segment.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14600"/>
            <a:ext cx="9875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463A0"/>
                </a:solidFill>
                <a:latin typeface="Aptos"/>
              </a:rPr>
              <a:t>X(r,ω) = Σₘ x[m] w[m−rR] e^(−jωm)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474720"/>
            <a:ext cx="6400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r = frame index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R = hop size between frames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w[n] = analysis window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Each frame produces one local spectrum.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26679" y="3246120"/>
            <a:ext cx="3566160" cy="2057400"/>
          </a:xfrm>
          <a:prstGeom prst="roundRect">
            <a:avLst/>
          </a:prstGeom>
          <a:solidFill>
            <a:srgbClr val="F1F5F9"/>
          </a:solidFill>
          <a:ln>
            <a:solidFill>
              <a:srgbClr val="2488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872983" y="3337560"/>
            <a:ext cx="32735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Equivalent notation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72983" y="3602736"/>
            <a:ext cx="3273552" cy="1380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Texts place the window as w[rR−m] or w[m−rR]. For real symmetric windows, the practical idea is the same: select a neighborhood around the frame time.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From frames to a time–frequency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STFT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0:15–0:22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58521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Frame the signal into overlapping segments.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Multiply each segment by a window.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Take an FFT along the sample dimension.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Stack the spectra as columns (or rows).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069080"/>
            <a:ext cx="6035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4888E"/>
                </a:solidFill>
                <a:latin typeface="Aptos"/>
              </a:rPr>
              <a:t>STFT output shape ≈ frequency bins × time frames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86600" y="1554480"/>
            <a:ext cx="4160520" cy="2057400"/>
          </a:xfrm>
          <a:prstGeom prst="roundRect">
            <a:avLst/>
          </a:prstGeom>
          <a:solidFill>
            <a:srgbClr val="F1F5F9"/>
          </a:solidFill>
          <a:ln>
            <a:solidFill>
              <a:srgbClr val="246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232904" y="1645920"/>
            <a:ext cx="386791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63A0"/>
                </a:solidFill>
                <a:latin typeface="Aptos"/>
              </a:rPr>
              <a:t>PyTorch viewpoint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32904" y="1911095"/>
            <a:ext cx="3867911" cy="1609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That matrix is already a structured tensor. Add batch and channel dimensions and it looks like an image input to a CNN.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The STFT reveals the chirp trajectory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STFT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0:22–0:28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pic>
        <p:nvPicPr>
          <p:cNvPr id="7" name="Picture 6" descr="chirp_spectro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188720"/>
            <a:ext cx="6858000" cy="35204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726679" y="1508760"/>
            <a:ext cx="3566160" cy="1828800"/>
          </a:xfrm>
          <a:prstGeom prst="roundRect">
            <a:avLst/>
          </a:prstGeom>
          <a:solidFill>
            <a:srgbClr val="F1F5F9"/>
          </a:solidFill>
          <a:ln>
            <a:solidFill>
              <a:srgbClr val="2488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872983" y="1600200"/>
            <a:ext cx="32735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Read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72983" y="1865376"/>
            <a:ext cx="3273552" cy="1380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Horizontal position = time. Vertical position = frequency. Brightness/color = local magnitude or power.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79" y="384048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6253E"/>
                </a:solidFill>
                <a:latin typeface="Aptos"/>
              </a:rPr>
              <a:t>The upward ridge is the time-varying instantaneous frequency.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Window length sets the central trade-off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RESOLUTION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0:28–0:34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D67D35"/>
                </a:solidFill>
                <a:latin typeface="Aptos"/>
              </a:rPr>
              <a:t>Short window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4114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91E26"/>
                </a:solidFill>
                <a:latin typeface="Aptos"/>
              </a:defRPr>
            </a:pPr>
            <a:r>
              <a:t>• Good time localization.</a:t>
            </a:r>
          </a:p>
          <a:p>
            <a:pPr>
              <a:spcAft>
                <a:spcPts val="700"/>
              </a:spcAft>
              <a:defRPr sz="1900">
                <a:solidFill>
                  <a:srgbClr val="191E26"/>
                </a:solidFill>
                <a:latin typeface="Aptos"/>
              </a:defRPr>
            </a:pPr>
            <a:r>
              <a:t>• Few samples → broad spectral main lobe.</a:t>
            </a:r>
          </a:p>
          <a:p>
            <a:pPr>
              <a:spcAft>
                <a:spcPts val="700"/>
              </a:spcAft>
              <a:defRPr sz="1900">
                <a:solidFill>
                  <a:srgbClr val="191E26"/>
                </a:solidFill>
                <a:latin typeface="Aptos"/>
              </a:defRPr>
            </a:pPr>
            <a:r>
              <a:t>• Fast events are separated more clearly.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3258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4888E"/>
                </a:solidFill>
                <a:latin typeface="Aptos"/>
              </a:rPr>
              <a:t>Long window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828800"/>
            <a:ext cx="4297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91E26"/>
                </a:solidFill>
                <a:latin typeface="Aptos"/>
              </a:defRPr>
            </a:pPr>
            <a:r>
              <a:t>• Good frequency localization.</a:t>
            </a:r>
          </a:p>
          <a:p>
            <a:pPr>
              <a:spcAft>
                <a:spcPts val="700"/>
              </a:spcAft>
              <a:defRPr sz="1900">
                <a:solidFill>
                  <a:srgbClr val="191E26"/>
                </a:solidFill>
                <a:latin typeface="Aptos"/>
              </a:defRPr>
            </a:pPr>
            <a:r>
              <a:t>• Many samples → narrower spectral features.</a:t>
            </a:r>
          </a:p>
          <a:p>
            <a:pPr>
              <a:spcAft>
                <a:spcPts val="700"/>
              </a:spcAft>
              <a:defRPr sz="1900">
                <a:solidFill>
                  <a:srgbClr val="191E26"/>
                </a:solidFill>
                <a:latin typeface="Aptos"/>
              </a:defRPr>
            </a:pPr>
            <a:r>
              <a:t>• Rapid changes are smeared over time.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0" y="4572000"/>
            <a:ext cx="8412480" cy="1036674"/>
          </a:xfrm>
          <a:prstGeom prst="roundRect">
            <a:avLst/>
          </a:prstGeom>
          <a:solidFill>
            <a:srgbClr val="F1F5F9"/>
          </a:solidFill>
          <a:ln>
            <a:solidFill>
              <a:srgbClr val="246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975104" y="4663440"/>
            <a:ext cx="811987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63A0"/>
                </a:solidFill>
                <a:latin typeface="Aptos"/>
              </a:rPr>
              <a:t>No free lunch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75104" y="4928616"/>
            <a:ext cx="8119871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You cannot make a window arbitrarily narrow in time and simultaneously arbitrarily narrow in frequency.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Frequency view of the window trade-off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RESOLUTION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0:34–0:39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pic>
        <p:nvPicPr>
          <p:cNvPr id="7" name="Picture 6" descr="stft_window_tradeo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6766560" cy="32461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635240" y="1508760"/>
            <a:ext cx="3657600" cy="2011680"/>
          </a:xfrm>
          <a:prstGeom prst="roundRect">
            <a:avLst/>
          </a:prstGeom>
          <a:solidFill>
            <a:srgbClr val="F1F5F9"/>
          </a:solidFill>
          <a:ln>
            <a:solidFill>
              <a:srgbClr val="2488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81544" y="1600200"/>
            <a:ext cx="33649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Interpretation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81544" y="1865376"/>
            <a:ext cx="3364992" cy="1563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At one time frame, longer windows produce sharper frequency localization. But they average over a longer interval of the chirp.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79" y="406908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D67D35"/>
                </a:solidFill>
                <a:latin typeface="Aptos"/>
              </a:rPr>
              <a:t>Resolution is not the same as FFT display density.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Hop size and overlap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STFT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0:39–0:43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25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6253E"/>
                </a:solidFill>
                <a:latin typeface="Aptos"/>
              </a:rPr>
              <a:t>Hop R = number of new samples between adjacent frames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94560"/>
            <a:ext cx="10241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Small R → many overlapping frames and a dense time grid.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Large R → fewer frames, less computation, coarser time sampling.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Overlap does not undo the fundamental window resolution trade-off.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For reconstruction, window/hop choices must also satisfy overlap-add conditions.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20240" y="5074920"/>
            <a:ext cx="8229600" cy="990954"/>
          </a:xfrm>
          <a:prstGeom prst="roundRect">
            <a:avLst/>
          </a:prstGeom>
          <a:solidFill>
            <a:srgbClr val="F1F5F9"/>
          </a:solidFill>
          <a:ln>
            <a:solidFill>
              <a:srgbClr val="2488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066544" y="5166359"/>
            <a:ext cx="79369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Common choice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66544" y="5431536"/>
            <a:ext cx="7936992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For analysis with Hann windows, 50–75% overlap is common, but the application should set the hop.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Spectrogram = squared STFT magnitude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SPECTROGRAM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0:43–0:49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46304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463A0"/>
                </a:solidFill>
                <a:latin typeface="Aptos"/>
              </a:rPr>
              <a:t>Spectrogram(r,ω) = |X(r,ω)|²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60320"/>
            <a:ext cx="65836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Discard phase and visualize local energy/power-like content.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Often displayed in decibels: 10 log₁₀(power + ε).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Color scaling strongly affects what patterns are visible.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One-sided display is common for real-valued signals.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26679" y="1645920"/>
            <a:ext cx="3566160" cy="1828800"/>
          </a:xfrm>
          <a:prstGeom prst="roundRect">
            <a:avLst/>
          </a:prstGeom>
          <a:solidFill>
            <a:srgbClr val="F1F5F9"/>
          </a:solidFill>
          <a:ln>
            <a:solidFill>
              <a:srgbClr val="D67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72983" y="1737360"/>
            <a:ext cx="32735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67D35"/>
                </a:solidFill>
                <a:latin typeface="Aptos"/>
              </a:rPr>
              <a:t>Important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72983" y="2002536"/>
            <a:ext cx="3273552" cy="1380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A spectrogram is not just a pretty picture—it is a numerical matrix whose axes and normalization matter.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How to read a spectrogram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SPECTROGRAM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0:49–0:55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pic>
        <p:nvPicPr>
          <p:cNvPr id="7" name="Picture 6" descr="chirp_spectro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34440"/>
            <a:ext cx="6858000" cy="35204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26679" y="1325880"/>
            <a:ext cx="34290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91E26"/>
                </a:solidFill>
                <a:latin typeface="Aptos"/>
              </a:defRPr>
            </a:pPr>
            <a:r>
              <a:t>• Horizontal ridge → sustained tone.</a:t>
            </a:r>
          </a:p>
          <a:p>
            <a:pPr>
              <a:spcAft>
                <a:spcPts val="700"/>
              </a:spcAft>
              <a:defRPr sz="1800">
                <a:solidFill>
                  <a:srgbClr val="191E26"/>
                </a:solidFill>
                <a:latin typeface="Aptos"/>
              </a:defRPr>
            </a:pPr>
            <a:r>
              <a:t>• Vertical stripe → broadband transient.</a:t>
            </a:r>
          </a:p>
          <a:p>
            <a:pPr>
              <a:spcAft>
                <a:spcPts val="700"/>
              </a:spcAft>
              <a:defRPr sz="1800">
                <a:solidFill>
                  <a:srgbClr val="191E26"/>
                </a:solidFill>
                <a:latin typeface="Aptos"/>
              </a:defRPr>
            </a:pPr>
            <a:r>
              <a:t>• Sloped ridge → chirp or changing pitch.</a:t>
            </a:r>
          </a:p>
          <a:p>
            <a:pPr>
              <a:spcAft>
                <a:spcPts val="700"/>
              </a:spcAft>
              <a:defRPr sz="1800">
                <a:solidFill>
                  <a:srgbClr val="191E26"/>
                </a:solidFill>
                <a:latin typeface="Aptos"/>
              </a:defRPr>
            </a:pPr>
            <a:r>
              <a:t>• Harmonic stacks → periodic voiced or rotating behavior.</a:t>
            </a:r>
          </a:p>
          <a:p>
            <a:pPr>
              <a:spcAft>
                <a:spcPts val="700"/>
              </a:spcAft>
              <a:defRPr sz="1800">
                <a:solidFill>
                  <a:srgbClr val="191E26"/>
                </a:solidFill>
                <a:latin typeface="Aptos"/>
              </a:defRPr>
            </a:pPr>
            <a:r>
              <a:t>• Diffuse background → broadband noise.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799" y="5029200"/>
            <a:ext cx="8702749" cy="768096"/>
          </a:xfrm>
          <a:prstGeom prst="roundRect">
            <a:avLst/>
          </a:prstGeom>
          <a:solidFill>
            <a:srgbClr val="F1F5F9"/>
          </a:solidFill>
          <a:ln>
            <a:solidFill>
              <a:srgbClr val="2488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975104" y="5120640"/>
            <a:ext cx="79369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Ask students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6642" y="5373767"/>
            <a:ext cx="8623997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dirty="0">
                <a:solidFill>
                  <a:srgbClr val="191E26"/>
                </a:solidFill>
                <a:latin typeface="Aptos"/>
              </a:rPr>
              <a:t>What time-domain event would create a narrow vertical stripe across many frequencies?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Concept check: two close tones that switch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CONCEPT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0:55–0:58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7160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6253E"/>
                </a:solidFill>
                <a:latin typeface="Aptos"/>
              </a:rPr>
              <a:t>A signal contains 500 Hz for the first 50 ms and 550 Hz for the next 50 ms.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402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2463A0"/>
                </a:solidFill>
                <a:latin typeface="Aptos"/>
              </a:rPr>
              <a:t>Would you begin with a very short or very long STFT window?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80160" y="3291840"/>
            <a:ext cx="9601200" cy="1463040"/>
          </a:xfrm>
          <a:prstGeom prst="roundRect">
            <a:avLst/>
          </a:prstGeom>
          <a:solidFill>
            <a:srgbClr val="F1F5F9"/>
          </a:solidFill>
          <a:ln>
            <a:solidFill>
              <a:srgbClr val="2488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426463" y="3383280"/>
            <a:ext cx="93085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Good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26463" y="3648456"/>
            <a:ext cx="9308592" cy="101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Neither extreme. The window must be long enough to distinguish 50-Hz-separated tones but short enough not to smear the 50-ms transition. The problem is inherently a time–frequency trade-off.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Spectrograms as CNN inputs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ML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0:58–1:04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pic>
        <p:nvPicPr>
          <p:cNvPr id="7" name="Picture 6" descr="spectrogram_ml_examp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6766560" cy="2560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98079" y="1280160"/>
            <a:ext cx="3840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91E26"/>
                </a:solidFill>
                <a:latin typeface="Aptos"/>
              </a:defRPr>
            </a:pPr>
            <a:r>
              <a:t>• Frequency bins behave like a vertical spatial axis.</a:t>
            </a:r>
          </a:p>
          <a:p>
            <a:pPr>
              <a:spcAft>
                <a:spcPts val="700"/>
              </a:spcAft>
              <a:defRPr sz="1800">
                <a:solidFill>
                  <a:srgbClr val="191E26"/>
                </a:solidFill>
                <a:latin typeface="Aptos"/>
              </a:defRPr>
            </a:pPr>
            <a:r>
              <a:t>• Time frames behave like a horizontal spatial axis.</a:t>
            </a:r>
          </a:p>
          <a:p>
            <a:pPr>
              <a:spcAft>
                <a:spcPts val="700"/>
              </a:spcAft>
              <a:defRPr sz="1800">
                <a:solidFill>
                  <a:srgbClr val="191E26"/>
                </a:solidFill>
                <a:latin typeface="Aptos"/>
              </a:defRPr>
            </a:pPr>
            <a:r>
              <a:t>• Local 2-D filters can learn ridges, transients, harmonic patterns, and modulations.</a:t>
            </a:r>
          </a:p>
          <a:p>
            <a:pPr>
              <a:spcAft>
                <a:spcPts val="700"/>
              </a:spcAft>
              <a:defRPr sz="1800">
                <a:solidFill>
                  <a:srgbClr val="191E26"/>
                </a:solidFill>
                <a:latin typeface="Aptos"/>
              </a:defRPr>
            </a:pPr>
            <a:r>
              <a:t>• Typical tensor shape: [batch, channel, frequency, time].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4572000"/>
            <a:ext cx="348641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dirty="0">
                <a:solidFill>
                  <a:srgbClr val="24888E"/>
                </a:solidFill>
                <a:latin typeface="Aptos"/>
              </a:rPr>
              <a:t>Example: [32, 1, 257, 101]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Magnitude scaling and normalization before 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ML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1:04–1:08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6858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Use magnitude or power consistently.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Log compression reduces extreme dynamic range and often makes weak structure more visible.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Normalize using training-set statistics, not statistics from the test set.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Keep sample rate, STFT parameters, and frequency range fixed across examples.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Avoid data leakage when computing normalization or augmentations.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1554480"/>
            <a:ext cx="3474720" cy="2011680"/>
          </a:xfrm>
          <a:prstGeom prst="roundRect">
            <a:avLst/>
          </a:prstGeom>
          <a:solidFill>
            <a:srgbClr val="F1F5F9"/>
          </a:solidFill>
          <a:ln>
            <a:solidFill>
              <a:srgbClr val="D67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64424" y="1645920"/>
            <a:ext cx="31821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67D35"/>
                </a:solidFill>
                <a:latin typeface="Aptos"/>
              </a:rPr>
              <a:t>Pipeline reproducibility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64424" y="1911095"/>
            <a:ext cx="3182112" cy="1563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The STFT is part of the model input definition. Changing window length or hop changes the feature space just like changing a network layer.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PyTorch: from waveform to image tensor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ML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1:08–1:11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6253E"/>
                </a:solidFill>
                <a:latin typeface="Aptos"/>
              </a:rPr>
              <a:t>waveform [B,N] → STFT → magnitude → log → [B,1,F,T] → Conv2d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317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463A0"/>
                </a:solidFill>
                <a:latin typeface="Aptos"/>
              </a:rPr>
              <a:t>Z = torch.stft(x, n_fft=512, hop_length=128, window=win, return_complex=True)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175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4888E"/>
                </a:solidFill>
                <a:latin typeface="Aptos"/>
              </a:rPr>
              <a:t>S = torch.log1p(torch.abs(Z)**2).unsqueeze(1)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20240" y="4251960"/>
            <a:ext cx="8229600" cy="1143000"/>
          </a:xfrm>
          <a:prstGeom prst="roundRect">
            <a:avLst/>
          </a:prstGeom>
          <a:solidFill>
            <a:srgbClr val="F1F5F9"/>
          </a:solidFill>
          <a:ln>
            <a:solidFill>
              <a:srgbClr val="2488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066544" y="4343400"/>
            <a:ext cx="79369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Why Conv2d?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66544" y="4608576"/>
            <a:ext cx="7936992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The model can exploit local patterns jointly across neighboring times and neighboring frequencies.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When not to treat the spectrogram as a generic image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ML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1:11–1:13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66751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Time and frequency axes are not interchangeable.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A one-bin translation in frequency may have a different physical meaning at different scales.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Image augmentations such as arbitrary rotation or vertical flipping are usually physically nonsensical.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DSP-informed augmentations should preserve plausible signal behavior.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26679" y="1600200"/>
            <a:ext cx="3566160" cy="2057400"/>
          </a:xfrm>
          <a:prstGeom prst="roundRect">
            <a:avLst/>
          </a:prstGeom>
          <a:solidFill>
            <a:srgbClr val="F1F5F9"/>
          </a:solidFill>
          <a:ln>
            <a:solidFill>
              <a:srgbClr val="D67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872983" y="1691640"/>
            <a:ext cx="32735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67D35"/>
                </a:solidFill>
                <a:latin typeface="Aptos"/>
              </a:rPr>
              <a:t>Good ML habit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72983" y="1956816"/>
            <a:ext cx="3273552" cy="1609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Use domain knowledge to decide which invariances the model should learn rather than importing image tricks blindly.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Lecture 20 wrap-up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1:13–1:15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7406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A global transform loses when frequency content occurs.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The STFT computes local windowed spectra over time.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Window duration trades time resolution against frequency resolution.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The spectrogram is |STFT|² and is a structured time–frequency matrix.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Spectrograms create a direct bridge from DSP to 2-D CNNs.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40" y="1554480"/>
            <a:ext cx="3063240" cy="2011680"/>
          </a:xfrm>
          <a:prstGeom prst="roundRect">
            <a:avLst/>
          </a:prstGeom>
          <a:solidFill>
            <a:srgbClr val="F1F5F9"/>
          </a:solidFill>
          <a:ln>
            <a:solidFill>
              <a:srgbClr val="D67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67344" y="1645920"/>
            <a:ext cx="27706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67D35"/>
                </a:solidFill>
                <a:latin typeface="Aptos"/>
              </a:rPr>
              <a:t>Exit ticket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67344" y="1911095"/>
            <a:ext cx="2770632" cy="1563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A transient lasts 8 ms. Why might a 200-ms STFT window be a poor choice even if it gives excellent frequency resolution?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1352</Words>
  <Application>Microsoft Office PowerPoint</Application>
  <PresentationFormat>Widescreen</PresentationFormat>
  <Paragraphs>166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Peter Mathys</cp:lastModifiedBy>
  <cp:revision>3</cp:revision>
  <dcterms:created xsi:type="dcterms:W3CDTF">2013-01-27T09:14:16Z</dcterms:created>
  <dcterms:modified xsi:type="dcterms:W3CDTF">2026-09-30T19:49:28Z</dcterms:modified>
  <cp:category/>
</cp:coreProperties>
</file>