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5" r:id="rId12"/>
    <p:sldId id="266" r:id="rId13"/>
    <p:sldId id="267" r:id="rId14"/>
    <p:sldId id="275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14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to Week 6: decimation requires filtering before downsampling. Today we do the same input-output operation, but reorganize it to avoid wasted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question: If only every Mth filtered sample survives, why compute the other M−1 outputs at 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0:02–0:03. Emphasize exact equivalence, not a new filter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0:03–0:10. Work M=3 with h={1,…,8}: e0={1,4,7}, e1={2,5,8}, e2={3,6}. Ask students to identify phases before showing the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0:10–0:16. Derive by writing n=rM+k. This index substitution is the heart of the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0:16–0:20. This catches indexing errors before the efficient-decimator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F16F-41AC-2D8B-9DB0-02776776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F9A28-A5D2-2DEE-BA81-B83F74D04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16507-BAB1-68D6-B0B0-EB3351CFF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0:16–0:20. This catches indexing errors before the efficient-decimator derivation.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B6B05-DB50-B5AB-E36F-A16809AA6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4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Transition: polyphase is valuable because decimation already contains a downsampler.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0:20–0:28. Give a concrete number: N=32, M=4. Naive ≈32Fs multiplies/s; efficient ≈8Fs multiplies/s. Same filter, same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0:28–0:36. This is a critical precision point. The phrase “move the filter through the downsampler” is dangerous unless students remember the z^M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0:36–0:45. The branch input includes phase offsets/delays; do not imply all branches receive x[::M] identically. The implementation is often drawn with a commutator that distributes input samples by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0:45–0:51. The polyphase algorithm still uses roughly N taps per output sample, but there are only Fs/M output samples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0:51–0:55. Accept “6× savings” if they explain the rate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B9CD-B96D-45F9-6584-CA3E8B94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8580C-A7DF-DD9F-1650-6872DA061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ADEF-062D-526D-3543-B48ED6C42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0:51–0:55. Accept “6× savings” if they explain the rate argument.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25D3E-3060-06B9-F0A8-572F4C5D6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20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Bridge carefully: analogy, not equivalence.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0:55–1:03. Mention MobileNet-style depthwise separable convolution as an example of factorizing spatial filtering and channel mixing. Do not claim it is a polyphase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1:03–1:10. This comparison is worth making explicit because students otherwise overgeneralize the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1:10–1:14. A fast live demo works better than a long algebraic derivation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1:14–1:15. This exit question targets the most dangerous misconception in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• POLYPHASE STRUCTURES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EC4D3"/>
          </a:solidFill>
          <a:ln w="12700">
            <a:solidFill>
              <a:srgbClr val="4EC4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● LECTURE 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Decomposition and Efficient Decimation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Reorganize the same FIR computation so we never calculate samples that will be discarded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0" y="1051560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325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 = Σ z⁻ᵏ Eₖ(zᴹ)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909560" y="2487168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92440" y="27614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↓M + polyphase = low-rate arithmetic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60167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§4.7–4.8  |  Raschka: convolutional architectures / efficient ML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decomposition → Noble identity → efficient decimator → ML structured parallelism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008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an FIR impulse response into M polyphase subsequences.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exactly where the M-fold decimation savings comes from.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first Noble Identity correctly—and know when it does not apply.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polyphase time-phase partitioning from grouped/channel convolution in ML.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1389888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1389888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36408" y="153619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36408" y="1865376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concept and index bookkeeping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635240" y="2697480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35240" y="269748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36408" y="284378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20–55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36408" y="3172968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vs efficient decimation + Noble identity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635240" y="4005072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4005072"/>
            <a:ext cx="73152" cy="1097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415137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55–75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36408" y="4480560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convolutions / edge efficiency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polyphase concept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FIR taps by their index modulo M. Nothing is approximated; this is an exact algebraic rearrangement.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ordinary FIR filter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h[n], separate taps whose indices have the same remainder modulo 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484632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371600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eₖ[r] = h[rM + k],   k = 0,1,…,M−1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157984"/>
            <a:ext cx="484632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2231136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Eₖ(z) = Σᵣ eₖ[r] z⁻ʳ</a:t>
            </a:r>
            <a:endParaRPr lang="en-US" sz="2200" dirty="0"/>
          </a:p>
        </p:txBody>
      </p:sp>
      <p:pic>
        <p:nvPicPr>
          <p:cNvPr id="8" name="Image 0" descr="/mnt/data/week7_polyphase/assets/polyphase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170432"/>
            <a:ext cx="534924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3200400"/>
            <a:ext cx="4846320" cy="107899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73152" cy="107899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78408" y="334670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" y="367588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k contains the FIR taps at indices k, k+M, k+2M, …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77240" y="4498848"/>
            <a:ext cx="4846320" cy="107899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77240" y="4498848"/>
            <a:ext cx="7315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78408" y="4645152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helps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" y="4974336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phase structure lines up naturally with keeping every Mth output sample.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decomposition in the z-domain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the M residue classes of tap indices.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89888"/>
            <a:ext cx="10607040" cy="7315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63040"/>
            <a:ext cx="10460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 = E₀(zᴹ) + z⁻¹E₁(zᴹ) + … + z⁻(ᴹ⁻¹)Eᴹ₋₁(zᴹ)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74520" y="2395728"/>
            <a:ext cx="8412480" cy="68580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47672" y="2468880"/>
            <a:ext cx="8266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 = Σₖ₌₀ᴹ⁻¹ z⁻ᵏ Eₖ(zᴹ)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401568"/>
            <a:ext cx="97840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Eₖ operates on every Mth FIR coefficient.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delays z⁻ᵏ restore the original tap offsets when branches are recombined.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coefficients are changed and no output samples are changed.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0" y="5166360"/>
            <a:ext cx="850392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5166360"/>
            <a:ext cx="73152" cy="6858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9968" y="5312664"/>
            <a:ext cx="8156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29968" y="5641848"/>
            <a:ext cx="81564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= “group coefficients by n mod M, then express the slow-time branch with zᴹ.”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 = 4, which FIR taps belong to phase E₂?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00152-F3F5-4A40-4385-C07EC980A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9334B8-4565-A8B3-CFCA-1D8199E6EB6E}"/>
              </a:ext>
            </a:extLst>
          </p:cNvPr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27AA03-6DF7-98FD-EF28-8BDC2AB64B74}"/>
              </a:ext>
            </a:extLst>
          </p:cNvPr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5EE5DA-BA03-FB73-76A5-1D57B88F3C9C}"/>
              </a:ext>
            </a:extLst>
          </p:cNvPr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 = 4, which FIR taps belong to phase E₂?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2FDE33-3604-6829-A7BB-E28138B0C22B}"/>
              </a:ext>
            </a:extLst>
          </p:cNvPr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7F8516-1624-59C6-8C3A-060901F36B8C}"/>
              </a:ext>
            </a:extLst>
          </p:cNvPr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 indices n = 2, 6, 10, 14, … because they satisfy n = 4r + 2. Equivalently, e₂[r] = h[4r+2].</a:t>
            </a:r>
            <a:endParaRPr lang="en-US" sz="17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FE12A81-8F42-4BFF-1933-31765E9421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2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decimation and Noble identities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computation to the slow side of the rate changer—but only when the structure permits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naive decimator wastes most FIR outputs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at Fₛ, then ↓M keeps only v[0], v[M], v[2M], …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9743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2603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7175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0050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2910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7482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0357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32170" y="1417320"/>
            <a:ext cx="14744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77890" y="1490472"/>
            <a:ext cx="13830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pic>
        <p:nvPicPr>
          <p:cNvPr id="15" name="Image 0" descr="/mnt/data/week7_polyphase/assets/decimation_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34440"/>
            <a:ext cx="3886200" cy="2743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4400" y="2514600"/>
            <a:ext cx="630936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552" y="2587752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v[n] = Σₖ h[k]x[n−k]     →     y[m] = v[mM]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14400" y="3429000"/>
            <a:ext cx="63093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14400" y="3429000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15568" y="357530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intuition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15568" y="3904488"/>
            <a:ext cx="5961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N-tap FIR evaluates about N multiplies for every input sample, even though only 1/M of the outputs remain.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914400" y="4754880"/>
            <a:ext cx="10515600" cy="777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14400" y="4754880"/>
            <a:ext cx="73152" cy="7772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15568" y="4901184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5230368"/>
            <a:ext cx="10168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exactly the same y[m], but evaluate only the convolution sums associated with n = mM.</a:t>
            </a:r>
            <a:endParaRPr lang="en-US" sz="12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Noble Identity: the precise statement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rate changer commutes with a filter only after the filter has the required zᴹ structure.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3167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6027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0599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G(zᴹ)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7754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0614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186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2341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5201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773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81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≡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235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0095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4667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1822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4682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9254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6409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9269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3841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2743200"/>
            <a:ext cx="4754880" cy="1188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" y="2743200"/>
            <a:ext cx="73152" cy="11887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5568" y="2889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" y="3218688"/>
            <a:ext cx="4407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right, G(z) runs at the lower sampling rate Fₛ/M.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355080" y="2743200"/>
            <a:ext cx="4754880" cy="1188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080" y="2743200"/>
            <a:ext cx="73152" cy="11887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56248" y="2889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NOT work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56248" y="3218688"/>
            <a:ext cx="4407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cannot commute ↓M through an arbitrary G(z) and expect the same system.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1965960" y="4343400"/>
            <a:ext cx="8229600" cy="68580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39112" y="4416552"/>
            <a:ext cx="80832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G(zᴹ) → ↓M   ≡   ↓M → G(z)</a:t>
            </a:r>
            <a:endParaRPr lang="en-US" sz="2300" dirty="0"/>
          </a:p>
        </p:txBody>
      </p:sp>
      <p:sp>
        <p:nvSpPr>
          <p:cNvPr id="37" name="Shape 35"/>
          <p:cNvSpPr/>
          <p:nvPr/>
        </p:nvSpPr>
        <p:spPr>
          <a:xfrm>
            <a:off x="1965960" y="5257800"/>
            <a:ext cx="822960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965960" y="5257800"/>
            <a:ext cx="73152" cy="6583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67128" y="540410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polyphase matters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67128" y="5733288"/>
            <a:ext cx="78821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branch in H(z)=Σz⁻ᵏEₖ(zᴹ) contains exactly the form needed by the Noble Identity.</a:t>
            </a:r>
            <a:endParaRPr lang="en-US" sz="12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polyphase decimator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H(z), then move each Eₖ through the downsampler so it runs at the output rate.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261872"/>
            <a:ext cx="1033272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335024"/>
            <a:ext cx="10186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y[m] = Σₖ Σᵣ eₖ[r] · x[(m−r)M − k]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2219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41401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214884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22219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241401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214884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2221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E0(z)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241401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97180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0449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31720" y="323697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0" y="297180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88920" y="30449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200" y="323697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297180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43400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E1(z)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97880" y="323697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379476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867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31720" y="405993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0" y="379476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88920" y="38679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86200" y="405993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97680" y="379476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4340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E2(z)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897880" y="405993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2960" y="4617720"/>
            <a:ext cx="150876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46908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M−1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331720" y="488289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0" y="4617720"/>
            <a:ext cx="11430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88920" y="46908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86200" y="4882896"/>
            <a:ext cx="36576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97680" y="4617720"/>
            <a:ext cx="1600200" cy="530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343400" y="46908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Eᴹ₋₁(z)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897880" y="4882896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00800" y="3154680"/>
            <a:ext cx="114300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46520" y="322783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43800" y="3483864"/>
            <a:ext cx="50292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092440" y="3154680"/>
            <a:ext cx="155448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138160" y="3227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y[m]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921240" y="2148840"/>
            <a:ext cx="15087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921240" y="2148840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122408" y="229514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122408" y="2624328"/>
            <a:ext cx="11612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Eₖ filters execute at Fₛ/M, not Fₛ.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9921240" y="3794760"/>
            <a:ext cx="15087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921240" y="3794760"/>
            <a:ext cx="73152" cy="1325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122408" y="394106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math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122408" y="4270248"/>
            <a:ext cx="11612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 are phase-selective views of the same original convolution.</a:t>
            </a:r>
            <a:endParaRPr lang="en-US" sz="122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M-fold savings comes from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multiplies per retained output is not smaller; the number of unnecessary outputs is.</a:t>
            </a:r>
            <a:endParaRPr lang="en-US" sz="1150" dirty="0"/>
          </a:p>
        </p:txBody>
      </p:sp>
      <p:pic>
        <p:nvPicPr>
          <p:cNvPr id="4" name="Image 0" descr="/mnt/data/week7_polyphase/assets/decimator_equi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669280" cy="3886200"/>
          </a:xfrm>
          <a:prstGeom prst="rect">
            <a:avLst/>
          </a:prstGeom>
        </p:spPr>
      </p:pic>
      <p:pic>
        <p:nvPicPr>
          <p:cNvPr id="5" name="Image 1" descr="/mnt/data/week7_polyphase/assets/decimation_sav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371600"/>
            <a:ext cx="420624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12280" y="4480560"/>
            <a:ext cx="2011680" cy="54864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85432" y="45537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naive ≈ N·Fₛ mult/s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9006840" y="4480560"/>
            <a:ext cx="2286000" cy="54864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079992" y="455371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polyphase ≈ (N/M)·Fₛ mult/s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12280" y="5257800"/>
            <a:ext cx="448056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812280" y="5257800"/>
            <a:ext cx="73152" cy="6583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013448" y="540410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013448" y="5733288"/>
            <a:ext cx="413308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arithmetic saving ≈ M for long FIRs and steady-state streaming.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N = 48 tap FIR decimator reduces the rate by M = 6. Roughly how many FIR multiplications per input sample are needed after polyphase reorganization?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AF61-5436-0DC5-5B92-52A28965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9D9414-B415-D6D7-D382-E3D1B66B78DF}"/>
              </a:ext>
            </a:extLst>
          </p:cNvPr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67B010-9BF3-2984-606A-149C1ECD063A}"/>
              </a:ext>
            </a:extLst>
          </p:cNvPr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8385AF-D1B1-A5CA-DFB3-715ACF51281C}"/>
              </a:ext>
            </a:extLst>
          </p:cNvPr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N = 48 tap FIR decimator reduces the rate by M = 6. Roughly how many FIR multiplications per input sample are needed after polyphase reorganization?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19D57A-D0DE-16A9-A99B-DF66515EDDF1}"/>
              </a:ext>
            </a:extLst>
          </p:cNvPr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53E698-8D66-3CB5-F67D-61446340F1A3}"/>
              </a:ext>
            </a:extLst>
          </p:cNvPr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N/M = 8 multiplications per input sample on average, versus about 48 for filtering every full-rate output first.</a:t>
            </a:r>
            <a:endParaRPr lang="en-US" sz="17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8F22A6D-C29E-346F-2E70-DB032EE69F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83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context: grouped convolutions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ideas partition a large computation into structured independent branches—but along different axes.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Conv1d: channel partitioning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groups restrict which input channels can contribute to which output channels.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61872"/>
            <a:ext cx="649224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35024"/>
            <a:ext cx="6345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Conv1d(Cᵢₙ, Cₒᵤₜ, kernel_size=K, groups=G)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176272"/>
            <a:ext cx="31089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3152" cy="1325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32257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convolution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2651760"/>
            <a:ext cx="2761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output channel can mix all input channels.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160520" y="2176272"/>
            <a:ext cx="31089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60520" y="2176272"/>
            <a:ext cx="73152" cy="13258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61688" y="232257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61688" y="2651760"/>
            <a:ext cx="2761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are split into G independent convolution groups.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98080" y="2176272"/>
            <a:ext cx="310896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0" y="2176272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99248" y="232257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Depthwise convolution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99248" y="2651760"/>
            <a:ext cx="2761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= Cᵢₙ: each channel is filtered independently before later mixing.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98755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cross-channel connections → fewer parameters and MACs.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following 1×1 / pointwise convolution can restore channel mixing.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structured factorization is a common edge-deployment idea.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versus grouped convolution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analogy: partition → parallel low-cost branches → recombine. Important difference: what is partitioned?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92040" cy="3611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73152" cy="3611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56362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DSP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892808"/>
            <a:ext cx="454456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 sample/tap phases modulo M.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exact multirate equivalence while moving arithmetic to a lower sample rate.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 are determined by the rate-change factor.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892040" cy="3611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73152" cy="36118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01968" y="156362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CNN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01968" y="1892808"/>
            <a:ext cx="454456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 feature channels.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constrain connectivity and reduce learnable computation.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are an architectural choice and weights are learned.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1965960" y="5349240"/>
            <a:ext cx="822960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9112" y="5422392"/>
            <a:ext cx="8083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shared principle: exploit structure instead of computing a dense operation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demo: prove the equivalences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notebook to compare outputs and perturbation paths.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66751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h[n] into e₀,…,eᴹ₋₁ and reconstruct it exactly.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filter→↓M with scipy.signal.upfirdn(..., down=M).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Numerically verify the First Noble Identity for G(zᴹ).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Perturb one input channel of a grouped Conv1d and observe that only outputs in its group change.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1417320"/>
            <a:ext cx="3246120" cy="1051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19288" y="156362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19288" y="1892808"/>
            <a:ext cx="2898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which outputs should match before running each cell.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818120" y="2743200"/>
            <a:ext cx="3246120" cy="1051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18120" y="2743200"/>
            <a:ext cx="73152" cy="1051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19288" y="288950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 habit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19288" y="3218688"/>
            <a:ext cx="2898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Noble-identity test fails, check whether the filter actually has zᴹ spacing.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818120" y="4069080"/>
            <a:ext cx="3246120" cy="1051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18120" y="4069080"/>
            <a:ext cx="73152" cy="1051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19288" y="421538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19288" y="4544568"/>
            <a:ext cx="2898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Week7_Polyphase_DSP_ML_Demos.ipynb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does not change the filter—it changes where and when the arithmetic happens.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74066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H(z)=Σ z⁻ᵏEₖ(zᴹ) groups FIR taps by phase.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naive decimator computes outputs that ↓M immediately discards.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Noble Identity moves Eₖ filters to the low-rate side because they arise as Eₖ(zᴹ).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arithmetic savings are approximately M.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convolution is a structural parallelism analogy, not the same decomposition.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0"/>
            <a:ext cx="2560320" cy="1828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49640" y="137160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50808" y="15179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50808" y="1847088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it incorrect to say “a downsampler can always be moved before a filter”?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549640" y="3520440"/>
            <a:ext cx="256032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49640" y="3520440"/>
            <a:ext cx="73152" cy="1600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50808" y="36667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50808" y="3995928"/>
            <a:ext cx="22128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Noble Identity only permits the move for the special G(zᴹ) structure; arbitrary filters do not commute with ↓M.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• Lecture 13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98755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§4.7: polyphase structures and multirate implementations.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neural-network architectures.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Week7_Polyphase_DSP_ML_Demos.ipynb.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Week7_Polyphase_Homework_Quiz_Solutions.docx.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1977</Words>
  <Application>Microsoft Office PowerPoint</Application>
  <PresentationFormat>Widescreen</PresentationFormat>
  <Paragraphs>227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Polyphase Decomposition and Efficient Decimation</dc:title>
  <dc:subject>Week 7 Polyphase Structures - DSP and ML</dc:subject>
  <dc:creator>OpenAI</dc:creator>
  <cp:lastModifiedBy>Peter Mathys</cp:lastModifiedBy>
  <cp:revision>2</cp:revision>
  <dcterms:created xsi:type="dcterms:W3CDTF">2026-09-05T20:54:40Z</dcterms:created>
  <dcterms:modified xsi:type="dcterms:W3CDTF">2026-09-15T21:43:28Z</dcterms:modified>
</cp:coreProperties>
</file>