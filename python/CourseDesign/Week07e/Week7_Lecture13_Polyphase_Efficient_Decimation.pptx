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0:00–0:02. Connect to Week 6: decimation requires filtering before downsampling. Today we do the same input-output operation, but reorganize it to avoid wasted arithmetic.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question: If only every Mth filtered sample survives, why compute the other M−1 outputs at all?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0:02–0:03. Emphasize exact equivalence, not a new filter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0:03–0:10. Work M=3 with h={1,…,8}: e0={1,4,7}, e1={2,5,8}, e2={3,6}. Ask students to identify phases before showing the plot.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0:10–0:16. Derive by writing n=rM+k. This index substitution is the heart of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0:16–0:20. This catches indexing errors before the efficient-decimator derivation.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0:20. Transition: polyphase is valuable because decimation already contains a downsampler.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0:20–0:28. Give a concrete number: N=32, M=4. Naive ≈32Fs multiplies/s; efficient ≈8Fs multiplies/s. Same filter, same output.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0:28–0:36. This is a critical precision point. The phrase “move the filter through the downsampler” is dangerous unless students remember the z^M condition.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0:36–0:45. The branch input includes phase offsets/delays; do not imply all branches receive x[::M] identically. The implementation is often drawn with a commutator that distributes input samples by phase.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0:45–0:51. The polyphase algorithm still uses roughly N taps per output sample, but there are only Fs/M output samples per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0:51–0:55. Accept “6× savings” if they explain the rate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Bridge carefully: analogy, not equivalence.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0:55–1:03. Mention MobileNet-style depthwise separable convolution as an example of factorizing spatial filtering and channel mixing. Do not claim it is a polyphase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1:03–1:10. This comparison is worth making explicit because students otherwise overgeneralize the analogy.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1:10–1:14. A fast live demo works better than a long algebraic derivation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1:14–1:15. This exit question targets the most dangerous misconception in the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for course-site distribution.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52881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7 • POLYPHASE STRUCTURES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835640" y="652881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DSP + ML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642823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EC4D3"/>
          </a:solidFill>
          <a:ln w="12700">
            <a:solidFill>
              <a:srgbClr val="4EC4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7132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DC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13232" y="1234440"/>
            <a:ext cx="6858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Decomposition and Efficient Decimation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Reorganize the same FIR computation so we never calculate samples that will be discarded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909560" y="1051560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92440" y="1325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H(z) = Σ z⁻ᵏ Eₖ(zᴹ)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909560" y="2487168"/>
            <a:ext cx="3337560" cy="1143000"/>
          </a:xfrm>
          <a:prstGeom prst="roundRect">
            <a:avLst/>
          </a:prstGeom>
          <a:solidFill>
            <a:srgbClr val="214866"/>
          </a:solidFill>
          <a:ln w="12700">
            <a:solidFill>
              <a:srgbClr val="376A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92440" y="276148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↓M + polyphase = low-rate arithmetic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60167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8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 §4.7–4.8  |  Raschka: convolutional architectures / efficient 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and learning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decomposition → Noble identity → efficient decimator → ML structured parallelism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6400800" cy="4023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Decompose an FIR impulse response into M polyphase subsequences.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exactly where the M-fold decimation savings comes from.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first Noble Identity correctly—and know when it does not apply.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Distinguish polyphase time-phase partitioning from grouped/channel convolution in ML.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35240" y="1389888"/>
            <a:ext cx="3611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35240" y="1389888"/>
            <a:ext cx="73152" cy="10972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36408" y="1536192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0–20 min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36408" y="1865376"/>
            <a:ext cx="3264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concept and index bookkeeping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7635240" y="2697480"/>
            <a:ext cx="3611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35240" y="2697480"/>
            <a:ext cx="73152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36408" y="284378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20–55 min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36408" y="3172968"/>
            <a:ext cx="3264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vs efficient decimation + Noble identity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7635240" y="4005072"/>
            <a:ext cx="361188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5240" y="4005072"/>
            <a:ext cx="73152" cy="10972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36408" y="4151376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55–75 min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836408" y="4480560"/>
            <a:ext cx="32644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convolutions / edge efficiency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polyphase concept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 FIR taps by their index modulo M. Nothing is approximated; this is an exact algebraic rearrangement.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one ordinary FIR filter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h[n], separate taps whose indices have the same remainder modulo M.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298448"/>
            <a:ext cx="484632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371600"/>
            <a:ext cx="4700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eₖ[r] = h[rM + k],   k = 0,1,…,M−1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77240" y="2157984"/>
            <a:ext cx="484632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231136"/>
            <a:ext cx="4700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Eₖ(z) = Σᵣ eₖ[r] z⁻ʳ</a:t>
            </a:r>
            <a:endParaRPr lang="en-US" sz="2200" dirty="0"/>
          </a:p>
        </p:txBody>
      </p:sp>
      <p:pic>
        <p:nvPicPr>
          <p:cNvPr id="8" name="Image 0" descr="/mnt/data/week7_polyphase/assets/polyphase_decomposi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70432"/>
            <a:ext cx="5349240" cy="40690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" y="3200400"/>
            <a:ext cx="4846320" cy="107899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3200400"/>
            <a:ext cx="73152" cy="107899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3346704"/>
            <a:ext cx="4498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78408" y="3675888"/>
            <a:ext cx="4498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k contains the FIR taps at indices k, k+M, k+2M, …</a:t>
            </a:r>
            <a:endParaRPr lang="en-US" sz="1220" dirty="0"/>
          </a:p>
        </p:txBody>
      </p:sp>
      <p:sp>
        <p:nvSpPr>
          <p:cNvPr id="13" name="Shape 10"/>
          <p:cNvSpPr/>
          <p:nvPr/>
        </p:nvSpPr>
        <p:spPr>
          <a:xfrm>
            <a:off x="777240" y="4498848"/>
            <a:ext cx="4846320" cy="1078992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77240" y="4498848"/>
            <a:ext cx="73152" cy="10789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78408" y="4645152"/>
            <a:ext cx="4498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helps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78408" y="4974336"/>
            <a:ext cx="4498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phase structure lines up naturally with keeping every Mth output sample.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decomposition in the z-domain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 the M residue classes of tap indices.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389888"/>
            <a:ext cx="10607040" cy="73152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" y="1463040"/>
            <a:ext cx="104607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H(z) = E₀(zᴹ) + z⁻¹E₁(zᴹ) + … + z⁻(ᴹ⁻¹)Eᴹ₋₁(zᴹ)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874520" y="2395728"/>
            <a:ext cx="8412480" cy="68580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47672" y="2468880"/>
            <a:ext cx="8266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H(z) = Σₖ₌₀ᴹ⁻¹ z⁻ᵏ Eₖ(zᴹ)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3401568"/>
            <a:ext cx="978408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Eₖ operates on every Mth FIR coefficient.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delays z⁻ᵏ restore the original tap offsets when branches are recombined.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coefficients are changed and no output samples are changed.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828800" y="5166360"/>
            <a:ext cx="8503920" cy="6858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8800" y="5166360"/>
            <a:ext cx="73152" cy="68580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29968" y="5312664"/>
            <a:ext cx="8156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aid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29968" y="5641848"/>
            <a:ext cx="8156448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= “group coefficients by n mod M, then express the slow-time branch with zᴹ.”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61320" cy="187452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78992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8992" y="2084832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M = 4, which FIR taps belong to phase E₂?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78992" y="3767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78992" y="4096512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Tap indices n = 2, 6, 10, 14, … because they satisfy n = 4r + 2. Equivalently, e₂[r] = h[4r+2].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decimation and Noble identities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computation to the slow side of the rate changer—but only when the structure permits 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naive decimator wastes most FIR outputs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at Fₛ, then ↓M keeps only v[0], v[M], v[2M], …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4744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90472"/>
            <a:ext cx="13830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9743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26030" y="1417320"/>
            <a:ext cx="14744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1750" y="1490472"/>
            <a:ext cx="13830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H(z)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050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29100" y="1417320"/>
            <a:ext cx="14744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74820" y="1490472"/>
            <a:ext cx="13830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70357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932170" y="1417320"/>
            <a:ext cx="14744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77890" y="1490472"/>
            <a:ext cx="13830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y[m]</a:t>
            </a:r>
            <a:endParaRPr lang="en-US" sz="1400" dirty="0"/>
          </a:p>
        </p:txBody>
      </p:sp>
      <p:pic>
        <p:nvPicPr>
          <p:cNvPr id="15" name="Image 0" descr="/mnt/data/week7_polyphase/assets/decimation_sav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234440"/>
            <a:ext cx="3886200" cy="27432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14400" y="2514600"/>
            <a:ext cx="630936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87552" y="2587752"/>
            <a:ext cx="6163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v[n] = Σₖ h[k]x[n−k]     →     y[m] = v[mM]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914400" y="3429000"/>
            <a:ext cx="6309360" cy="10972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14400" y="3429000"/>
            <a:ext cx="73152" cy="10972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15568" y="3575304"/>
            <a:ext cx="5961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intuition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15568" y="3904488"/>
            <a:ext cx="59618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N-tap FIR evaluates about N multiplies for every input sample, even though only 1/M of the outputs remain.</a:t>
            </a:r>
            <a:endParaRPr lang="en-US" sz="1220" dirty="0"/>
          </a:p>
        </p:txBody>
      </p:sp>
      <p:sp>
        <p:nvSpPr>
          <p:cNvPr id="22" name="Shape 19"/>
          <p:cNvSpPr/>
          <p:nvPr/>
        </p:nvSpPr>
        <p:spPr>
          <a:xfrm>
            <a:off x="914400" y="4754880"/>
            <a:ext cx="10515600" cy="77724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4400" y="4754880"/>
            <a:ext cx="73152" cy="77724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115568" y="4901184"/>
            <a:ext cx="10168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115568" y="523036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exactly the same y[m], but evaluate only the convolution sums associated with n = mM.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Noble Identity: the precise statement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rate changer commutes with a filter only after the filter has the required zᴹ structure.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3167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6027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0599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G(zᴹ)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7754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0614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186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2341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5201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773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y[m]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14813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≡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635508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x[n]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235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0095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4667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61822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84682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254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G(z)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864090" y="1746504"/>
            <a:ext cx="201168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92690" y="1417320"/>
            <a:ext cx="101727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38410" y="1490472"/>
            <a:ext cx="9258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y[m]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" y="2743200"/>
            <a:ext cx="4754880" cy="118872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4400" y="2743200"/>
            <a:ext cx="73152" cy="118872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2889504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15568" y="3218688"/>
            <a:ext cx="4407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right, G(z) runs at the lower sampling rate Fₛ/M.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6355080" y="2743200"/>
            <a:ext cx="4754880" cy="118872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5080" y="2743200"/>
            <a:ext cx="73152" cy="118872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56248" y="2889504"/>
            <a:ext cx="4407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does NOT work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56248" y="3218688"/>
            <a:ext cx="44074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cannot commute ↓M through an arbitrary G(z) and expect the same system.</a:t>
            </a:r>
            <a:endParaRPr lang="en-US" sz="1220" dirty="0"/>
          </a:p>
        </p:txBody>
      </p:sp>
      <p:sp>
        <p:nvSpPr>
          <p:cNvPr id="35" name="Shape 33"/>
          <p:cNvSpPr/>
          <p:nvPr/>
        </p:nvSpPr>
        <p:spPr>
          <a:xfrm>
            <a:off x="1965960" y="4343400"/>
            <a:ext cx="8229600" cy="68580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039112" y="4416552"/>
            <a:ext cx="80832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G(zᴹ) → ↓M   ≡   ↓M → G(z)</a:t>
            </a:r>
            <a:endParaRPr lang="en-US" sz="2300" dirty="0"/>
          </a:p>
        </p:txBody>
      </p:sp>
      <p:sp>
        <p:nvSpPr>
          <p:cNvPr id="37" name="Shape 35"/>
          <p:cNvSpPr/>
          <p:nvPr/>
        </p:nvSpPr>
        <p:spPr>
          <a:xfrm>
            <a:off x="1965960" y="5257800"/>
            <a:ext cx="8229600" cy="65836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65960" y="5257800"/>
            <a:ext cx="73152" cy="65836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67128" y="5404104"/>
            <a:ext cx="7882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polyphase matters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67128" y="5733288"/>
            <a:ext cx="788212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branch in H(z)=Σz⁻ᵏEₖ(zᴹ) contains exactly the form needed by the Noble Identity.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polyphase decimator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Decompose H(z), then move each Eₖ through the downsampler so it runs at the output rate.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68680" y="1261872"/>
            <a:ext cx="10332720" cy="658368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335024"/>
            <a:ext cx="101864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y[m] = Σₖ Σᵣ eₖ[r] · x[(m−r)M − k]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2148840"/>
            <a:ext cx="150876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B5C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31720" y="241401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743200" y="2148840"/>
            <a:ext cx="11430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8920" y="222199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886200" y="241401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97680" y="2148840"/>
            <a:ext cx="16002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3400" y="222199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E0(z)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97880" y="2414016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22960" y="2971800"/>
            <a:ext cx="150876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B5C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04495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331720" y="323697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43200" y="2971800"/>
            <a:ext cx="11430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304495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886200" y="323697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297680" y="2971800"/>
            <a:ext cx="16002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43400" y="30449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E1(z)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97880" y="3236976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22960" y="3794760"/>
            <a:ext cx="150876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B5C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386791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2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331720" y="405993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743200" y="3794760"/>
            <a:ext cx="11430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88920" y="38679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886200" y="405993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297680" y="3794760"/>
            <a:ext cx="16002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43400" y="38679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E2(z)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897880" y="4059936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22960" y="4617720"/>
            <a:ext cx="150876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B5C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6908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phase M−1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331720" y="488289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43200" y="4617720"/>
            <a:ext cx="11430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88920" y="469087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↓ M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886200" y="4882896"/>
            <a:ext cx="36576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297680" y="4617720"/>
            <a:ext cx="1600200" cy="53035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F7A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43400" y="46908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Eᴹ₋₁(z)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897880" y="4882896"/>
            <a:ext cx="41148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400800" y="3154680"/>
            <a:ext cx="114300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F855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3227832"/>
            <a:ext cx="1051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Σ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543800" y="3483864"/>
            <a:ext cx="502920" cy="0"/>
          </a:xfrm>
          <a:prstGeom prst="line">
            <a:avLst/>
          </a:prstGeom>
          <a:noFill/>
          <a:ln w="2159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8092440" y="3154680"/>
            <a:ext cx="1554480" cy="658368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F855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38160" y="322783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y[m]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921240" y="2148840"/>
            <a:ext cx="1508760" cy="1325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921240" y="2148840"/>
            <a:ext cx="73152" cy="13258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22408" y="2295144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result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0122408" y="2624328"/>
            <a:ext cx="11612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Eₖ filters execute at Fₛ/M, not Fₛ.</a:t>
            </a:r>
            <a:endParaRPr lang="en-US" sz="1220" dirty="0"/>
          </a:p>
        </p:txBody>
      </p:sp>
      <p:sp>
        <p:nvSpPr>
          <p:cNvPr id="51" name="Shape 49"/>
          <p:cNvSpPr/>
          <p:nvPr/>
        </p:nvSpPr>
        <p:spPr>
          <a:xfrm>
            <a:off x="9921240" y="3794760"/>
            <a:ext cx="1508760" cy="1325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921240" y="3794760"/>
            <a:ext cx="73152" cy="13258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122408" y="3941064"/>
            <a:ext cx="116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math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0122408" y="4270248"/>
            <a:ext cx="11612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Branches are phase-selective views of the same original convolution.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M-fold savings comes from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number of multiplies per retained output is not smaller; the number of unnecessary outputs is.</a:t>
            </a:r>
            <a:endParaRPr lang="en-US" sz="1150" dirty="0"/>
          </a:p>
        </p:txBody>
      </p:sp>
      <p:pic>
        <p:nvPicPr>
          <p:cNvPr id="4" name="Image 0" descr="/mnt/data/week7_polyphase/assets/decimator_equival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34440"/>
            <a:ext cx="5669280" cy="3886200"/>
          </a:xfrm>
          <a:prstGeom prst="rect">
            <a:avLst/>
          </a:prstGeom>
        </p:spPr>
      </p:pic>
      <p:pic>
        <p:nvPicPr>
          <p:cNvPr id="5" name="Image 1" descr="/mnt/data/week7_polyphase/assets/decimation_sav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371600"/>
            <a:ext cx="4206240" cy="28346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812280" y="4480560"/>
            <a:ext cx="2011680" cy="54864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885432" y="4553712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naive ≈ N·Fₛ mult/s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9006840" y="4480560"/>
            <a:ext cx="2286000" cy="54864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079992" y="4553712"/>
            <a:ext cx="21396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polyphase ≈ (N/M)·Fₛ mult/s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12280" y="5257800"/>
            <a:ext cx="4480560" cy="658368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812280" y="5257800"/>
            <a:ext cx="73152" cy="658368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013448" y="540410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Ratio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013448" y="5733288"/>
            <a:ext cx="4133088" cy="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arithmetic saving ≈ M for long FIRs and steady-state streaming.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17320"/>
            <a:ext cx="10561320" cy="1874520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FED7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78992" y="16642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 CHECK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78992" y="2084832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N = 48 tap FIR decimator reduces the rate by M = 6. Roughly how many FIR multiplications per input sample are needed after polyphase reorganization?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78992" y="3767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5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78992" y="4096512"/>
            <a:ext cx="9784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N/M = 8 multiplications per input sample on average, versus about 48 for filtering every full-rate output first.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97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8D6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8745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context: grouped convolutions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76656" y="30175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A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ideas partition a large computation into structured independent branches—but along different axes.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Conv1d: channel partitioning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PyTorch groups restrict which input channels can contribute to which output channels.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261872"/>
            <a:ext cx="6492240" cy="621792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1335024"/>
            <a:ext cx="63459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Conv1d(Cᵢₙ, Cₒᵤₜ, kernel_size=K, groups=G)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176272"/>
            <a:ext cx="3108960" cy="1325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76272"/>
            <a:ext cx="73152" cy="13258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322576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convolution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24128" y="2651760"/>
            <a:ext cx="2761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output channel can mix all input channels.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4160520" y="2176272"/>
            <a:ext cx="3108960" cy="1325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0520" y="2176272"/>
            <a:ext cx="73152" cy="132588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61688" y="2322576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convolution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361688" y="2651760"/>
            <a:ext cx="2761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Channels are split into G independent convolution groups.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7498080" y="2176272"/>
            <a:ext cx="3108960" cy="1325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0" y="2176272"/>
            <a:ext cx="73152" cy="132588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99248" y="2322576"/>
            <a:ext cx="2761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Depthwise convolution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699248" y="2651760"/>
            <a:ext cx="276148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 = Cᵢₙ: each channel is filtered independently before later mixing.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914400" y="3977640"/>
            <a:ext cx="987552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Fewer cross-channel connections → fewer parameters and MACs.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following 1×1 / pointwise convolution can restore channel mixing.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structured factorization is a common edge-deployment idea.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versus grouped convolution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analogy: partition → parallel low-cost branches → recombine. Important difference: what is partitioned?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4892040" cy="3611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73152" cy="36118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563624"/>
            <a:ext cx="4544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DSP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892808"/>
            <a:ext cx="4544568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Partitions sample/tap phases modulo M.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 exact multirate equivalence while moving arithmetic to a lower sample rate.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Branches are determined by the rate-change factor.</a:t>
            </a:r>
            <a:endParaRPr lang="en-US" sz="1220" dirty="0"/>
          </a:p>
        </p:txBody>
      </p:sp>
      <p:sp>
        <p:nvSpPr>
          <p:cNvPr id="8" name="Shape 6"/>
          <p:cNvSpPr/>
          <p:nvPr/>
        </p:nvSpPr>
        <p:spPr>
          <a:xfrm>
            <a:off x="6400800" y="1417320"/>
            <a:ext cx="4892040" cy="361188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417320"/>
            <a:ext cx="73152" cy="3611880"/>
          </a:xfrm>
          <a:prstGeom prst="rect">
            <a:avLst/>
          </a:prstGeom>
          <a:solidFill>
            <a:srgbClr val="6B5CA5"/>
          </a:solidFill>
          <a:ln w="12700">
            <a:solidFill>
              <a:srgbClr val="6B5C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01968" y="1563624"/>
            <a:ext cx="4544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CNN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01968" y="1892808"/>
            <a:ext cx="4544568" cy="3008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Partitions feature channels.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Goal: constrain connectivity and reduce learnable computation.</a:t>
            </a:r>
            <a:endParaRPr lang="en-US" sz="1220" dirty="0"/>
          </a:p>
          <a:p>
            <a:pPr indent="0" marL="0">
              <a:buNone/>
            </a:pP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Groups are an architectural choice and weights are learned.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1965960" y="5349240"/>
            <a:ext cx="8229600" cy="594360"/>
          </a:xfrm>
          <a:prstGeom prst="roundRect">
            <a:avLst/>
          </a:prstGeom>
          <a:solidFill>
            <a:srgbClr val="EEF7F9"/>
          </a:solidFill>
          <a:ln w="12700">
            <a:solidFill>
              <a:srgbClr val="B7DD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39112" y="5422392"/>
            <a:ext cx="80832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dirty="0">
                <a:solidFill>
                  <a:srgbClr val="17324D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shared principle: exploit structure instead of computing a dense operation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Coding demo: prove the equivalences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notebook to compare outputs and perturbation paths.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822960" y="1353312"/>
            <a:ext cx="667512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Decompose h[n] into e₀,…,eᴹ₋₁ and reconstruct it exactly.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filter→↓M with scipy.signal.upfirdn(..., down=M).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Numerically verify the First Noble Identity for G(zᴹ).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Perturb one input channel of a grouped Conv1d and observe that only outputs in its group change.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818120" y="1417320"/>
            <a:ext cx="3246120" cy="105156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18120" y="1417320"/>
            <a:ext cx="73152" cy="10515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19288" y="156362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first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19288" y="1892808"/>
            <a:ext cx="28986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students which outputs should match before running each cell.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7818120" y="2743200"/>
            <a:ext cx="3246120" cy="105156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2743200"/>
            <a:ext cx="73152" cy="105156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288950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Debugging habit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19288" y="3218688"/>
            <a:ext cx="28986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a Noble-identity test fails, check whether the filter actually has zᴹ spacing.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7818120" y="4069080"/>
            <a:ext cx="3246120" cy="105156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18120" y="4069080"/>
            <a:ext cx="73152" cy="105156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19288" y="4215384"/>
            <a:ext cx="2898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19288" y="4544568"/>
            <a:ext cx="28986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Week7_Polyphase_DSP_ML_Demos.ipynb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13 wrap-up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Polyphase does not change the filter—it changes where and when the arithmetic happens.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777240" y="1298448"/>
            <a:ext cx="7406640" cy="4297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H(z)=Σ z⁻ᵏEₖ(zᴹ) groups FIR taps by phase.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naive decimator computes outputs that ↓M immediately discards.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Noble Identity moves Eₖ filters to the low-rate side because they arise as Eₖ(zᴹ).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arithmetic savings are approximately M.</a:t>
            </a:r>
            <a:endParaRPr lang="en-US" sz="1700" dirty="0"/>
          </a:p>
          <a:p>
            <a:pPr marL="228600" indent="-228600"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Grouped convolution is a structural parallelism analogy, not the same decomposition.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549640" y="1371600"/>
            <a:ext cx="2560320" cy="18288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49640" y="1371600"/>
            <a:ext cx="73152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50808" y="151790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QUESTION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50808" y="1847088"/>
            <a:ext cx="22128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is it incorrect to say “a downsampler can always be moved before a filter”?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8549640" y="3520440"/>
            <a:ext cx="2560320" cy="1600200"/>
          </a:xfrm>
          <a:prstGeom prst="roundRect">
            <a:avLst/>
          </a:prstGeom>
          <a:solidFill>
            <a:srgbClr val="F6F8FB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49640" y="3520440"/>
            <a:ext cx="73152" cy="160020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50808" y="3666744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answer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750808" y="3995928"/>
            <a:ext cx="221284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Noble Identity only permits the move for the special G(zᴹ) structure; arbitrary filters do not commute with ↓M.</a:t>
            </a:r>
            <a:endParaRPr lang="en-US" sz="12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18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7324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References and instructor resources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85216" y="795528"/>
            <a:ext cx="1074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7 • Lecture 13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914400" y="1417320"/>
            <a:ext cx="987552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Oppenheim &amp; Schafer, Discrete-Time Signal Processing, §4.7: polyphase structures and multirate implementations.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Raschka et al., Machine Learning with PyTorch and Scikit-Learn: convolutional neural-network architectures.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Accompanying notebook: Week7_Polyphase_DSP_ML_Demos.ipynb.</a:t>
            </a:r>
            <a:endParaRPr lang="en-US" sz="1600" dirty="0"/>
          </a:p>
          <a:p>
            <a:pPr marL="228600" indent="-228600">
              <a:buSzPct val="100000"/>
              <a:buChar char="•"/>
            </a:pPr>
            <a:r>
              <a:rPr lang="en-US" sz="16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Homework and weekly quiz: Week7_Polyphase_Homework_Quiz_Solutions.docx.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50040" y="6519672"/>
            <a:ext cx="201168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13: Polyphase Decomposition and Efficient Decimation</dc:title>
  <dc:subject>Week 7 Polyphase Structures - DSP and ML</dc:subject>
  <dc:creator>OpenAI</dc:creator>
  <cp:lastModifiedBy>OpenAI</cp:lastModifiedBy>
  <cp:revision>1</cp:revision>
  <dcterms:created xsi:type="dcterms:W3CDTF">2026-09-05T20:54:40Z</dcterms:created>
  <dcterms:modified xsi:type="dcterms:W3CDTF">2026-09-05T20:54:40Z</dcterms:modified>
</cp:coreProperties>
</file>