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0:00–0:02. Connect to Lecture 12: interpolation inserts L−1 zeros. Today we exploit that structure instead of multiplying all those zeros by FIR coefficients.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question: Can the same phase decomposition that accelerated decimation also construct high-rate outputs without doing work on inserted zeros?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0:02–0:03. Recall ↑L creates L output phases; polyphase makes those phases explicit.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0:03–0:10. Reuse the decomposition from Lecture 13, but now M is replaced by the interpolation factor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0:10–0:17. Numerical proof is in the notebook. This is the dual of the First Noble Identity.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0:17–0:27. This equation is highly intuitive: phase k produces all output indices congruent to k modulo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0:27–0:32. Connect back to Week 6: rate-change theory is unchanged; only implementation is reorganized.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0:32–0:35. Do not require exact endpoint/transient operation counts.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0:35. This is the conceptual extension from rate conversion to multiple parallel bands.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0:35–0:43. Use audio example: low band carries slow spectral structure; high band carries transients/detail.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0:43–0:48. Perfect reconstruction usually allows a scale c and pure delay d; the important requirement is no distortion beyond those trivial effects.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0:48–0:53. Treat equations as enrichment for first-year students, core material for seniors.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0:53–0:55. This pairwise form avoids indexing distractions and makes exact reconstruction obvious. It is also an orthonormal transform, so energy is preserved.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Bridge from signal representation to feature engineering.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0:55–1:03. Clarify that Mel filter banks often operate on a magnitude/power spectrum rather than being implemented as time-domain PR filter banks. The common idea is fixed frequency partitioning.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1:03–1:09. Avoid claiming learned conv filters automatically form a perfect-reconstruction bank. PR requires explicit architectural/filter constraints.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1:09–1:14. The accompanying notebook runs both scikit-learn and PyTorch variants. Ask whether the fixed bank would still be optimal if class frequencies changed.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1:14–1:15. A stronger answer distinguishes “don’t compute discarded outputs” for decimation from “don’t multiply inserted zeros” for interpolation.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slide for course-site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528816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7 • POLYPHASE STRUCTURES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0835640" y="652881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 + ML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642823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EC4D3"/>
          </a:solidFill>
          <a:ln w="12700">
            <a:solidFill>
              <a:srgbClr val="4EC4D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7132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EDC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14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13232" y="123444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Efficient Interpolation and Filter Banks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31520" y="27432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A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Polyphase synthesis, perfect reconstruction, and fixed/learned subband front ends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909560" y="1051560"/>
            <a:ext cx="3337560" cy="1143000"/>
          </a:xfrm>
          <a:prstGeom prst="roundRect">
            <a:avLst/>
          </a:prstGeom>
          <a:solidFill>
            <a:srgbClr val="214866"/>
          </a:solidFill>
          <a:ln w="12700">
            <a:solidFill>
              <a:srgbClr val="376A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92440" y="1325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↑L + polyphase = no zero multiplies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7909560" y="2487168"/>
            <a:ext cx="3337560" cy="1143000"/>
          </a:xfrm>
          <a:prstGeom prst="roundRect">
            <a:avLst/>
          </a:prstGeom>
          <a:solidFill>
            <a:srgbClr val="214866"/>
          </a:solidFill>
          <a:ln w="12700">
            <a:solidFill>
              <a:srgbClr val="376A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92440" y="276148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analysis → subbands → synthesis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731520" y="601675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FC8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Oppenheim &amp; Schafer §4.7–4.8  |  Raschka: convolutional architectures / efficient ML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 and learning objectives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74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75 minutes • efficient interpolation → two-channel banks → ML subband front 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6492240" cy="4023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Second Noble Identity correctly in an interpolator.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why polyphase interpolation saves about a factor L in arithmetic.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analysis, decimation, synthesis, and perfect reconstruction in a two-channel bank.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Relate fixed DSP filter banks to compact feature extractors and learned front ends.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635240" y="1389888"/>
            <a:ext cx="3611880" cy="109728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35240" y="1389888"/>
            <a:ext cx="73152" cy="109728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36408" y="1536192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0–35 min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36408" y="1865376"/>
            <a:ext cx="32644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Efficient interpolation + Noble identity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7635240" y="2697480"/>
            <a:ext cx="3611880" cy="109728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35240" y="2697480"/>
            <a:ext cx="73152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36408" y="2843784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35–55 min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836408" y="3172968"/>
            <a:ext cx="32644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Two-channel analysis / synthesis banks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7635240" y="4005072"/>
            <a:ext cx="3611880" cy="109728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35240" y="4005072"/>
            <a:ext cx="73152" cy="109728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36408" y="4151376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55–75 min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836408" y="4480560"/>
            <a:ext cx="32644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and learned filter-bank features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97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8D6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8745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Efficient interpolation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76656" y="30175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A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 low-rate branch outputs first, then interleave them onto the high-rate grid.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naive interpolation wastes arithmetic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74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 insertion creates L−1 zeros between input samples, then a full-rate FIR multiplies them anyway.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22960" y="1371600"/>
            <a:ext cx="1428750" cy="6583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7A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444752"/>
            <a:ext cx="13373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x[n]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51710" y="1700784"/>
            <a:ext cx="201168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480310" y="1371600"/>
            <a:ext cx="1428750" cy="6583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26030" y="1444752"/>
            <a:ext cx="13373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↑ 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909060" y="1700784"/>
            <a:ext cx="201168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137660" y="1371600"/>
            <a:ext cx="1428750" cy="6583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7A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83380" y="1444752"/>
            <a:ext cx="13373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H(z)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566410" y="1700784"/>
            <a:ext cx="201168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795010" y="1371600"/>
            <a:ext cx="1428750" cy="6583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7A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40730" y="1444752"/>
            <a:ext cx="13373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y[n]</a:t>
            </a:r>
            <a:endParaRPr lang="en-US" sz="1400" dirty="0"/>
          </a:p>
        </p:txBody>
      </p:sp>
      <p:pic>
        <p:nvPicPr>
          <p:cNvPr id="15" name="Image 0" descr="/mnt/data/week7_polyphase/assets/interpolation_sav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1234440"/>
            <a:ext cx="3840480" cy="274320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68680" y="2487168"/>
            <a:ext cx="6309360" cy="109728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" y="2487168"/>
            <a:ext cx="73152" cy="109728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69848" y="2633472"/>
            <a:ext cx="5961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Naive viewpoint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69848" y="2962656"/>
            <a:ext cx="59618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 runs at L·Fₛ even though most values entering it are known zeros.</a:t>
            </a:r>
            <a:endParaRPr lang="en-US" sz="1220" dirty="0"/>
          </a:p>
        </p:txBody>
      </p:sp>
      <p:sp>
        <p:nvSpPr>
          <p:cNvPr id="20" name="Shape 17"/>
          <p:cNvSpPr/>
          <p:nvPr/>
        </p:nvSpPr>
        <p:spPr>
          <a:xfrm>
            <a:off x="868680" y="3840480"/>
            <a:ext cx="6309360" cy="109728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" y="3840480"/>
            <a:ext cx="73152" cy="109728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69848" y="3986784"/>
            <a:ext cx="5961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Polyphase viewpoint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69848" y="4315968"/>
            <a:ext cx="59618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of the L output phases is a low-rate convolution of x[n] with one phase Eₖ(z).</a:t>
            </a:r>
            <a:endParaRPr lang="en-US" sz="1220" dirty="0"/>
          </a:p>
        </p:txBody>
      </p:sp>
      <p:sp>
        <p:nvSpPr>
          <p:cNvPr id="24" name="Shape 21"/>
          <p:cNvSpPr/>
          <p:nvPr/>
        </p:nvSpPr>
        <p:spPr>
          <a:xfrm>
            <a:off x="2103120" y="5349240"/>
            <a:ext cx="7863840" cy="59436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176272" y="5422392"/>
            <a:ext cx="77175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H(z)=Σₖ₌₀ᴸ⁻¹ z⁻ᵏ Eₖ(zᴸ)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 Noble Identity: the interpolation counterpart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74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Again, the commuting filter must have a special zᴸ structure.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914400" y="1417320"/>
            <a:ext cx="1017270" cy="6583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7A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490472"/>
            <a:ext cx="9258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x[n]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931670" y="1746504"/>
            <a:ext cx="201168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160270" y="1417320"/>
            <a:ext cx="1017270" cy="6583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05990" y="1490472"/>
            <a:ext cx="9258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↑ 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177540" y="1746504"/>
            <a:ext cx="201168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406140" y="1417320"/>
            <a:ext cx="1017270" cy="6583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7A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51860" y="1490472"/>
            <a:ext cx="9258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G(zᴸ)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23410" y="1746504"/>
            <a:ext cx="201168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652010" y="1417320"/>
            <a:ext cx="1017270" cy="6583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7A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97730" y="1490472"/>
            <a:ext cx="9258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y[n]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669280" y="14813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≡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6355080" y="1417320"/>
            <a:ext cx="1017270" cy="6583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7A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1490472"/>
            <a:ext cx="9258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x[n]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72350" y="1746504"/>
            <a:ext cx="201168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00950" y="1417320"/>
            <a:ext cx="1017270" cy="6583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7A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46670" y="1490472"/>
            <a:ext cx="9258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G(z)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618220" y="1746504"/>
            <a:ext cx="201168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846820" y="1417320"/>
            <a:ext cx="1017270" cy="6583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92540" y="1490472"/>
            <a:ext cx="9258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↑ L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864090" y="1746504"/>
            <a:ext cx="201168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0092690" y="1417320"/>
            <a:ext cx="1017270" cy="6583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7A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38410" y="1490472"/>
            <a:ext cx="9258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y[n]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828800" y="2788920"/>
            <a:ext cx="8503920" cy="676656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01952" y="2862072"/>
            <a:ext cx="83576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↑L → G(zᴸ)   ≡   G(z) → ↑L</a:t>
            </a:r>
            <a:endParaRPr lang="en-US" sz="2300" dirty="0"/>
          </a:p>
        </p:txBody>
      </p:sp>
      <p:sp>
        <p:nvSpPr>
          <p:cNvPr id="29" name="Shape 27"/>
          <p:cNvSpPr/>
          <p:nvPr/>
        </p:nvSpPr>
        <p:spPr>
          <a:xfrm>
            <a:off x="914400" y="3886200"/>
            <a:ext cx="4754880" cy="109728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" y="3886200"/>
            <a:ext cx="73152" cy="109728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15568" y="4032504"/>
            <a:ext cx="4407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Efficiency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115568" y="4361688"/>
            <a:ext cx="44074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the right, G(z) executes at the lower input rate.</a:t>
            </a:r>
            <a:endParaRPr lang="en-US" sz="1220" dirty="0"/>
          </a:p>
        </p:txBody>
      </p:sp>
      <p:sp>
        <p:nvSpPr>
          <p:cNvPr id="33" name="Shape 31"/>
          <p:cNvSpPr/>
          <p:nvPr/>
        </p:nvSpPr>
        <p:spPr>
          <a:xfrm>
            <a:off x="6355080" y="3886200"/>
            <a:ext cx="4754880" cy="109728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55080" y="3886200"/>
            <a:ext cx="73152" cy="1097280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56248" y="4032504"/>
            <a:ext cx="4407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Caution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556248" y="4361688"/>
            <a:ext cx="44074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arbitrary G(z) cannot be commuted across ↑L.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Polyphase interpolator: L low-rate filters generate L output phases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74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 first at Fₛ, then a commutator interleaves branch samples.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1280160" y="1828800"/>
            <a:ext cx="1508760" cy="56692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7A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25880" y="190195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E0(z)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254203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9000" y="1828800"/>
            <a:ext cx="1508760" cy="56692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7A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190195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E1(z)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29000" y="254203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577840" y="1828800"/>
            <a:ext cx="1508760" cy="56692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7A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23560" y="190195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E2(z)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577840" y="254203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26680" y="1828800"/>
            <a:ext cx="1508760" cy="56692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7A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90195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Eᴸ₋₁(z)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26680" y="254203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L−1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2880360"/>
            <a:ext cx="1005840" cy="594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732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4088" y="2953512"/>
            <a:ext cx="9144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x[n]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664208" y="3182112"/>
            <a:ext cx="8229600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738360" y="2880360"/>
            <a:ext cx="1234440" cy="594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84080" y="2953512"/>
            <a:ext cx="11430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interleave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0972800" y="3182112"/>
            <a:ext cx="411480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1384280" y="2971800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y[n]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1737360" y="4160520"/>
            <a:ext cx="8503920" cy="658368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10512" y="4233672"/>
            <a:ext cx="8357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output phase k:  y[mL+k] = (eₖ * x)[m]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828800" y="5166360"/>
            <a:ext cx="8321040" cy="68580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28800" y="5166360"/>
            <a:ext cx="73152" cy="68580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029968" y="5312664"/>
            <a:ext cx="7973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idea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029968" y="5641848"/>
            <a:ext cx="7973568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branch ever multiplies an inserted zero. Each branch computes only the samples assigned to its output phase.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L-fold savings and exact equivalence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74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Polyphase changes the schedule, not the interpolation result.</a:t>
            </a:r>
            <a:endParaRPr lang="en-US" sz="1150" dirty="0"/>
          </a:p>
        </p:txBody>
      </p:sp>
      <p:pic>
        <p:nvPicPr>
          <p:cNvPr id="4" name="Image 0" descr="/mnt/data/week7_polyphase/assets/interpolation_sav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34440"/>
            <a:ext cx="5074920" cy="30632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217920" y="1371600"/>
            <a:ext cx="457200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Naive: roughly N·L·Fₛ coefficient multiplies/s for an N-tap full-rate FIR.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Polyphase: roughly N·Fₛ multiplies/s total across all phases.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steady-state saving ≈ L.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scipy.signal.upfirdn implements this multirate idea efficiently.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914400" y="4800600"/>
            <a:ext cx="9966960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14400" y="4800600"/>
            <a:ext cx="73152" cy="7498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115568" y="4946904"/>
            <a:ext cx="9619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Amplitude reminder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15568" y="5276088"/>
            <a:ext cx="9619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Efficiency does not replace interpolation design: the anti-imaging filter still needs the appropriate cutoff and gain L.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17320"/>
            <a:ext cx="10561320" cy="1874520"/>
          </a:xfrm>
          <a:prstGeom prst="roundRect">
            <a:avLst/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78992" y="16642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CONCEPT CHECK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78992" y="2084832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36-tap FIR interpolates by L = 4. Compared with a naive zero-stuff + full-rate FIR implementation, what ideal arithmetic saving should polyphase give?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78992" y="376732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answer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78992" y="4096512"/>
            <a:ext cx="9784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Approximately a factor of 4. The polyphase branches collectively perform about 36·Fₛ multiplies/s instead of about 36·4·Fₛ.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97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8D6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8745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Two-channel filter banks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76656" y="30175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A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 the signal into subbands, reduce each rate, then combine them again.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Analysis bank: separate frequency content, then decimate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74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subband occupies less bandwidth, so each branch can often be represented at a lower sample rate.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94360" y="2743200"/>
            <a:ext cx="960120" cy="594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732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816352"/>
            <a:ext cx="868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x[n]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554480" y="3044952"/>
            <a:ext cx="457200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057400" y="1508760"/>
            <a:ext cx="1600200" cy="594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7A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03120" y="1581912"/>
            <a:ext cx="1508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H₀(z) LPF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057400" y="3886200"/>
            <a:ext cx="1600200" cy="594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03120" y="3959352"/>
            <a:ext cx="1508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H₁(z) HPF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0" y="1810512"/>
            <a:ext cx="457200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657600" y="4187952"/>
            <a:ext cx="457200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160520" y="1508760"/>
            <a:ext cx="1097280" cy="594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0" y="1581912"/>
            <a:ext cx="1005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 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60520" y="3886200"/>
            <a:ext cx="1097280" cy="594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0" y="3959352"/>
            <a:ext cx="1005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 2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257800" y="1810512"/>
            <a:ext cx="457200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257800" y="4187952"/>
            <a:ext cx="457200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760720" y="1508760"/>
            <a:ext cx="1828800" cy="594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7A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06440" y="1581912"/>
            <a:ext cx="1737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 subband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760720" y="3886200"/>
            <a:ext cx="1828800" cy="594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06440" y="3959352"/>
            <a:ext cx="1737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 subband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046720" y="1417320"/>
            <a:ext cx="3154680" cy="123444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0" y="1417320"/>
            <a:ext cx="73152" cy="123444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47888" y="1563624"/>
            <a:ext cx="2807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Critical sampling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47888" y="1892808"/>
            <a:ext cx="280720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branches at half-rate contain the same total sample rate as the original.</a:t>
            </a:r>
            <a:endParaRPr lang="en-US" sz="1220" dirty="0"/>
          </a:p>
        </p:txBody>
      </p:sp>
      <p:sp>
        <p:nvSpPr>
          <p:cNvPr id="27" name="Shape 25"/>
          <p:cNvSpPr/>
          <p:nvPr/>
        </p:nvSpPr>
        <p:spPr>
          <a:xfrm>
            <a:off x="8046720" y="2926080"/>
            <a:ext cx="3154680" cy="123444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46720" y="2926080"/>
            <a:ext cx="73152" cy="123444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47888" y="3072384"/>
            <a:ext cx="2807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filtering first?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247888" y="3401568"/>
            <a:ext cx="280720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 in decimation, each branch needs bandlimiting before ↓2.</a:t>
            </a:r>
            <a:endParaRPr lang="en-US" sz="1220" dirty="0"/>
          </a:p>
        </p:txBody>
      </p:sp>
      <p:sp>
        <p:nvSpPr>
          <p:cNvPr id="31" name="Shape 29"/>
          <p:cNvSpPr/>
          <p:nvPr/>
        </p:nvSpPr>
        <p:spPr>
          <a:xfrm>
            <a:off x="8046720" y="4434840"/>
            <a:ext cx="3154680" cy="91440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46720" y="4434840"/>
            <a:ext cx="73152" cy="91440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47888" y="4581144"/>
            <a:ext cx="2807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247888" y="4910328"/>
            <a:ext cx="2807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Compression, coding, denoising, subband features.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Synthesis bank: upsample, filter, and add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74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synthesis filters cancel alias components and restore the desired signal response.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1554480" cy="594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7A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27632"/>
            <a:ext cx="1463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 subband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3794760"/>
            <a:ext cx="1554480" cy="594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867912"/>
            <a:ext cx="1463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 subband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148840" y="1856232"/>
            <a:ext cx="411480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148840" y="4096512"/>
            <a:ext cx="411480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606040" y="1554480"/>
            <a:ext cx="1097280" cy="594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1627632"/>
            <a:ext cx="1005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↑ 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606040" y="3794760"/>
            <a:ext cx="1097280" cy="594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51760" y="3867912"/>
            <a:ext cx="1005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↑ 2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703320" y="1856232"/>
            <a:ext cx="411480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03320" y="4096512"/>
            <a:ext cx="411480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160520" y="1554480"/>
            <a:ext cx="1600200" cy="594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7A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1627632"/>
            <a:ext cx="1508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F₀(z)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160520" y="3794760"/>
            <a:ext cx="1600200" cy="594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06240" y="3867912"/>
            <a:ext cx="1508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F₁(z)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760720" y="1856232"/>
            <a:ext cx="914400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760720" y="4096512"/>
            <a:ext cx="914400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766560" y="2606040"/>
            <a:ext cx="1143000" cy="640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F855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679192"/>
            <a:ext cx="1051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Σ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909560" y="2926080"/>
            <a:ext cx="548640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549640" y="2606040"/>
            <a:ext cx="1920240" cy="640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F855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95360" y="2679192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x̂[n]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011680" y="4983480"/>
            <a:ext cx="7772400" cy="621792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84832" y="5056632"/>
            <a:ext cx="7626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perfect reconstruction:  x̂[n] = c · x[n−d]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Perfect reconstruction has two simultaneous requirements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74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condition cancels aliasing; the other preserves the desired signal path.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22960" y="1353312"/>
            <a:ext cx="10424160" cy="64008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1426464"/>
            <a:ext cx="102778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alias term:  F₀(z)H₀(−z) + F₁(z)H₁(−z) = 0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822960" y="2331720"/>
            <a:ext cx="10424160" cy="64008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404872"/>
            <a:ext cx="102778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distortion term:  ½[F₀(z)H₀(z)+F₁(z)H₁(z)] = c z⁻ᵈ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914400" y="3337560"/>
            <a:ext cx="4800600" cy="132588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337560"/>
            <a:ext cx="73152" cy="132588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5568" y="3483864"/>
            <a:ext cx="4453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 cancellation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15568" y="3813048"/>
            <a:ext cx="44531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Downsampling creates spectral folding in each branch; synthesis combines branches so those alias terms cancel.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6400800" y="3337560"/>
            <a:ext cx="4800600" cy="132588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0" y="3337560"/>
            <a:ext cx="73152" cy="132588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01968" y="3483864"/>
            <a:ext cx="4453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Desired path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01968" y="3813048"/>
            <a:ext cx="44531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remaining transfer function should be only a scale and delay—not frequency-dependent distortion.</a:t>
            </a:r>
            <a:endParaRPr lang="en-US" sz="1220" dirty="0"/>
          </a:p>
        </p:txBody>
      </p:sp>
      <p:sp>
        <p:nvSpPr>
          <p:cNvPr id="16" name="Shape 14"/>
          <p:cNvSpPr/>
          <p:nvPr/>
        </p:nvSpPr>
        <p:spPr>
          <a:xfrm>
            <a:off x="1828800" y="5074920"/>
            <a:ext cx="8412480" cy="65836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828800" y="5074920"/>
            <a:ext cx="73152" cy="6583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29968" y="5221224"/>
            <a:ext cx="8065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Mixed-level strategy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029968" y="5550408"/>
            <a:ext cx="8065008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First-year students can understand “split → downsample → upsample → recombine”; seniors can use the z-domain conditions above.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Haar bank: the simplest perfect-reconstruction example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74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Pairs become an average-like lowpass coefficient and a difference-like highpass coefficient.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22960" y="1298448"/>
            <a:ext cx="4846320" cy="59436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1371600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a[m] = (x[2m] + x[2m+1]) / √2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4846320" cy="59436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221992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d[m] = (x[2m] − x[2m+1]) / √2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3246120"/>
            <a:ext cx="4846320" cy="59436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6112" y="3319272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x[2m] = (a[m]+d[m]) / √2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4050792"/>
            <a:ext cx="4846320" cy="59436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4123944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x[2m+1] = (a[m]−d[m]) / √2</a:t>
            </a:r>
            <a:endParaRPr lang="en-US" sz="1800" dirty="0"/>
          </a:p>
        </p:txBody>
      </p:sp>
      <p:pic>
        <p:nvPicPr>
          <p:cNvPr id="12" name="Image 0" descr="/mnt/data/week7_polyphase/assets/haar_reconstru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261872"/>
            <a:ext cx="507492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97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8D6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8745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ML context: fixed and learned filter banks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76656" y="30175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A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Subband structure can be engineered, frozen, or learned—depending on data, compute, and robustness needs.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subband features can be an efficient front end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74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 → summarize each band → feed a small classifier.</a:t>
            </a:r>
            <a:endParaRPr lang="en-US" sz="1150" dirty="0"/>
          </a:p>
        </p:txBody>
      </p:sp>
      <p:pic>
        <p:nvPicPr>
          <p:cNvPr id="4" name="Image 0" descr="/mnt/data/week7_polyphase/assets/fixed_filterba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207008"/>
            <a:ext cx="5715000" cy="4069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720840" y="1325880"/>
            <a:ext cx="4343400" cy="114300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720840" y="1325880"/>
            <a:ext cx="73152" cy="114300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922008" y="1472184"/>
            <a:ext cx="3995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922008" y="1801368"/>
            <a:ext cx="39959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Mel filter-bank energies, wavelet coefficients, scattering-style fixed transforms, hand-designed subbands.</a:t>
            </a:r>
            <a:endParaRPr lang="en-US" sz="1220" dirty="0"/>
          </a:p>
        </p:txBody>
      </p:sp>
      <p:sp>
        <p:nvSpPr>
          <p:cNvPr id="9" name="Shape 6"/>
          <p:cNvSpPr/>
          <p:nvPr/>
        </p:nvSpPr>
        <p:spPr>
          <a:xfrm>
            <a:off x="6720840" y="2724912"/>
            <a:ext cx="4343400" cy="114300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720840" y="2724912"/>
            <a:ext cx="73152" cy="114300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22008" y="2871216"/>
            <a:ext cx="3995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useful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922008" y="3200400"/>
            <a:ext cx="39959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Few trainable parameters, predictable spectral behavior, potentially lower data and compute requirements.</a:t>
            </a:r>
            <a:endParaRPr lang="en-US" sz="1220" dirty="0"/>
          </a:p>
        </p:txBody>
      </p:sp>
      <p:sp>
        <p:nvSpPr>
          <p:cNvPr id="13" name="Shape 10"/>
          <p:cNvSpPr/>
          <p:nvPr/>
        </p:nvSpPr>
        <p:spPr>
          <a:xfrm>
            <a:off x="6720840" y="4123944"/>
            <a:ext cx="4343400" cy="114300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720840" y="4123944"/>
            <a:ext cx="73152" cy="1143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22008" y="4270248"/>
            <a:ext cx="3995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Tradeoff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22008" y="4599432"/>
            <a:ext cx="39959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fixed front end cannot adapt its filters to every task; useful information may be discarded.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Learned filter banks: let the data choose the subbands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74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Conv1d kernels can act as a trainable analysis bank, optionally with stride / pooling for rate reduction.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22960" y="1325880"/>
            <a:ext cx="4983480" cy="621792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1399032"/>
            <a:ext cx="48371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feature channel k:  yₖ[n] = (hₖ * x)[n]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126480" y="1325880"/>
            <a:ext cx="4754880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bank: interpretable, cheap, stable prior.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Learned bank: task-adaptive but needs data, training, and regularization.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Hybrid: initialize from DSP filters, then fine-tune.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Edge pattern: fixed or depthwise front end + small pointwise / linear classifier.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68680" y="2331720"/>
            <a:ext cx="4846320" cy="123444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" y="2331720"/>
            <a:ext cx="73152" cy="123444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478024"/>
            <a:ext cx="4498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Connection to Week 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69848" y="2807208"/>
            <a:ext cx="449884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Any stride/downsampling in the learned analysis bank still raises the anti-aliasing questions from multirate DSP.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868680" y="3886200"/>
            <a:ext cx="4846320" cy="123444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8680" y="3886200"/>
            <a:ext cx="73152" cy="1234440"/>
          </a:xfrm>
          <a:prstGeom prst="rect">
            <a:avLst/>
          </a:prstGeom>
          <a:solidFill>
            <a:srgbClr val="6B5CA5"/>
          </a:solidFill>
          <a:ln w="12700">
            <a:solidFill>
              <a:srgbClr val="6B5C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" y="4032504"/>
            <a:ext cx="4498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Connection to polyphase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69848" y="4361688"/>
            <a:ext cx="449884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Efficient implementations exploit structure to avoid dense redundant computation.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Scikit-Learn/PyTorch demo: four fixed bands, tiny classifier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74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compact DSP feature vector can make a simple classification problem nearly linearly separable.</a:t>
            </a:r>
            <a:endParaRPr lang="en-US" sz="1150" dirty="0"/>
          </a:p>
        </p:txBody>
      </p:sp>
      <p:pic>
        <p:nvPicPr>
          <p:cNvPr id="4" name="Image 0" descr="/mnt/data/week7_polyphase/assets/subband_feature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80160"/>
            <a:ext cx="5074920" cy="3429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217920" y="1325880"/>
            <a:ext cx="457200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 noisy low-, mid-, and high-frequency signal classes.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four fixed FIR bands.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log subband energy as a 4-D feature vector.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 logistic regression—or a 4→3 PyTorch linear layer.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with a learned raw-waveform front end as an extension.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914400" y="5010912"/>
            <a:ext cx="10058400" cy="65836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14400" y="5010912"/>
            <a:ext cx="73152" cy="658368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115568" y="5157216"/>
            <a:ext cx="9710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Teaching point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15568" y="5486400"/>
            <a:ext cx="9710928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engineering can move complexity from the learned model into a known, efficient signal-processing transform.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14 wrap-up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74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Polyphase is the implementation engine; filter banks turn the idea into parallel signal representations.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77240" y="1280160"/>
            <a:ext cx="73152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 Noble Identity moves G(z) to the low-rate side of ↑L when the high-rate form is G(zᴸ).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Polyphase interpolation computes output phases directly and avoids zero multiplies.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Two-channel analysis/synthesis banks split, decimate, interpolate, and recombine subbands.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Perfect reconstruction requires alias cancellation plus an undistorted desired path.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or learned subband front ends provide a natural bridge to lightweight ML.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8503920" y="1371600"/>
            <a:ext cx="2651760" cy="182880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0" y="1371600"/>
            <a:ext cx="73152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05088" y="1517904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QUESTION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05088" y="1847088"/>
            <a:ext cx="230428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is the key computational idea shared by efficient decimation and efficient interpolation?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8503920" y="3520440"/>
            <a:ext cx="2651760" cy="173736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03920" y="3520440"/>
            <a:ext cx="73152" cy="173736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3666744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answer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705088" y="3995928"/>
            <a:ext cx="230428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polyphase structure so filtering happens at the low rate and only samples that actually matter are computed.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 and instructor resources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74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7 • Lecture 14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914400" y="1417320"/>
            <a:ext cx="987552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Oppenheim &amp; Schafer, Discrete-Time Signal Processing, §4.7–4.8: polyphase structures and filter banks.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Raschka et al., Machine Learning with PyTorch and Scikit-Learn: CNN architectures and feature-learning workflow.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Accompanying notebook: Week7_Polyphase_DSP_ML_Demos.ipynb.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Homework and weekly quiz: Week7_Polyphase_Homework_Quiz_Solutions.docx.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14: Efficient Interpolation and Filter Banks</dc:title>
  <dc:subject>Week 7 Polyphase Structures - DSP and ML</dc:subject>
  <dc:creator>OpenAI</dc:creator>
  <cp:lastModifiedBy>OpenAI</cp:lastModifiedBy>
  <cp:revision>1</cp:revision>
  <dcterms:created xsi:type="dcterms:W3CDTF">2026-09-05T20:54:40Z</dcterms:created>
  <dcterms:modified xsi:type="dcterms:W3CDTF">2026-09-05T20:54:40Z</dcterms:modified>
</cp:coreProperties>
</file>