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Frame the transition: deterministic DSP asks “what is this signal?” Random-signal DSP asks “what properties are predictable across realizations or time?”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question: What can we estimate reliably from one finite realization, and under what assumptions does that estimate represent the process?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0:02–0:03. Keep notation light: X[n] is a random variable at each n; x[n] is one realized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0:03–0:10. Example: microphone noise recorded six times under nominally identical conditions. Each recording is a realization. The process is the probabilistic source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0:10–0:15. Introduce ergodicity only as a preview. This distinction prevents a common misconception.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0:15. Motivate: without some stability assumption, every n could need a different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0:15–0:22. “≍” means equal in distribution. Avoid spending too long on joint-CDF notation unless the cohort is mathematically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0:22–0:30. Stress that WSS is not “signal looks flat.” It is a statement about first and second moments.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0:30–0:35. Let students answer in pairs. Good answer must mention variance / autocorrelation at lag zero, not just “it changes.”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0:35. Move from definitions to things students can estimate and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0:35–0:42. Connect rxx[0] to average signal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0:42–0:49. Explain that “uncorrelated at nonzero lags” is a second-order statement; it does not automatically imply independence unless special distributions such as jointly Gaussian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0:49–0:55. This convention choice matters in Lecture 16. The user outline had a reversed h formula inconsistent with this definition; the next lecture explicitly reconciles the two conventions.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0:55–1:00. Derive PSD property from E{|a^H x|^2} ≥ 0. This connects directly to PCA/covariance matrices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1:00–1:03. This is a high-value bridge to linear algebra and ML covariance matrices.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1:03. Ask students why a classifier might fail when the same waveform arrives at different offsets.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1:03–1:11. Example: machinery impulse appears at variable trigger delay. Aligning before extracting RMS, spectral, or learned features reduces irrelevant timing variability.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1:11–1:14. Use this as a mini-lab or exit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1:14–1:15. Collect one-sentence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• RANDOM SIGNALS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EC4D3"/>
          </a:solidFill>
          <a:ln w="12700">
            <a:solidFill>
              <a:srgbClr val="4EC4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13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2344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Characterizing Random Signals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individual waveforms to ensembles, stationarity, and correlation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09560" y="1051560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3533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μₓ = E{x[n]}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909560" y="2487168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27614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rₓₓ[m] = E{x[n]x[n+m]}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60167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• Random signals and LTI systems  |  Raschka • preprocessing / PyTorch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and learning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stochastic-process vocabulary → WSS → correlation → ML alignment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64008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a random variable, a random process, an ensemble, and one realization.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strict-sense stationarity (SSS) and wide-sense stationarity (WSS).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/ interpret mean, autocorrelation, cross-correlation, and correlation matrices.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correlation as a feature-alignment and template-matching operation before ML.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1389888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1389888"/>
            <a:ext cx="73152" cy="11887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36408" y="153619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0–15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36408" y="1865376"/>
            <a:ext cx="3264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Stochastic processes and ensembles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635240" y="27432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0" y="2743200"/>
            <a:ext cx="73152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36408" y="288950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15–35 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36408" y="3218688"/>
            <a:ext cx="3264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SSS vs WSS; what “stationary” buys us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635240" y="4096512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4096512"/>
            <a:ext cx="73152" cy="11887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424281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35–60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36408" y="4572000"/>
            <a:ext cx="3264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Mean, correlation, matrices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635240" y="5449824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5449824"/>
            <a:ext cx="73152" cy="65836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36408" y="559612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60–75 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36408" y="5925312"/>
            <a:ext cx="32644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bridge: alignment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random variable to a random process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value is random; a whole sequence of random variables is a stochastic process.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process = indexed family of random variables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each time index n, X[n] has a distribution; a realization picks one value at every 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57200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90472"/>
            <a:ext cx="44256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X[n] : random variable at each 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57200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313432"/>
            <a:ext cx="44256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xᵢ[n] : the i-th realization (sample path)</a:t>
            </a:r>
            <a:endParaRPr lang="en-US" sz="2000" dirty="0"/>
          </a:p>
        </p:txBody>
      </p:sp>
      <p:pic>
        <p:nvPicPr>
          <p:cNvPr id="8" name="Image 0" descr="/mnt/data/week8_random_signals/assets/ensemble_realiz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207008"/>
            <a:ext cx="548640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3246120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246120"/>
            <a:ext cx="73152" cy="9144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3392424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24128" y="3721608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set of all possible realizations generated by the same probabilistic mechanism.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822960" y="4389120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389120"/>
            <a:ext cx="7315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535424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realization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24128" y="4864608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 sensor normally gives us: one finite sample path, not the whole ensemble.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average vs time average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 is defined over the ensemble; experiments often estimate it from time samples.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11480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490472"/>
            <a:ext cx="3968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μₓ[n] = E{X[n]}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11480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404872"/>
            <a:ext cx="3968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time estimate:  μ̂ = (1/N) Σₙ x[n]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32120" y="1417320"/>
            <a:ext cx="530352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not automatically the same thing.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Stationarity removes explicit dependence on n for key statistics.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Ergodicity is the additional idea that lets time averages estimate ensemble averages.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532120" y="43434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4343400"/>
            <a:ext cx="73152" cy="10058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3288" y="4489704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nuance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33288" y="4818888"/>
            <a:ext cx="4956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say “WSS means time averages equal expectations.” That is ergodicity, not stationarity.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Stationarity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process statistics be treated as unchanged when we shift the time origin?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Strict-sense stationarity (SSS)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joint probability distribution is invariant to a common time shift.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41248" y="1325880"/>
            <a:ext cx="10149840" cy="65836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99032"/>
            <a:ext cx="10003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(X[n₁],…,X[nₖ])  ≍  (X[n₁+ℓ],…,X[nₖ+ℓ])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common stationarity definition.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constrains all orders of statistics, not just the mean and variance.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Powerful mathematically, but often more than a DSP design actually needs.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55080" y="2359152"/>
            <a:ext cx="4434840" cy="118872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2359152"/>
            <a:ext cx="73152" cy="11887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6248" y="2505456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56248" y="2834640"/>
            <a:ext cx="4087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identically distributed Gaussian noise with fixed mean and variance is SSS.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355080" y="3794760"/>
            <a:ext cx="4434840" cy="118872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3794760"/>
            <a:ext cx="73152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3941064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Non-example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56248" y="4270248"/>
            <a:ext cx="4087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process whose variance grows with n is not stationary.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Wide-sense stationarity (WSS)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linear DSP analysis only needs first- and second-order statistics.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66344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99032"/>
            <a:ext cx="4517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E{X[n]} = μₓ  (constant)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66344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21992"/>
            <a:ext cx="4517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rₓₓ[n₁,n₂] = rₓₓ[n₂−n₁]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0" y="1261872"/>
            <a:ext cx="51206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second moment.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does not depend on absolute time.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Autocorrelation depends only on lag, not on where the pair occurs.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 the structure needed for correlation, power, and LTI-system analysis.</a:t>
            </a:r>
            <a:endParaRPr lang="en-US" sz="1700" dirty="0"/>
          </a:p>
        </p:txBody>
      </p:sp>
      <p:pic>
        <p:nvPicPr>
          <p:cNvPr id="9" name="Image 0" descr="/mnt/data/week8_random_signals/assets/stationarity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63240"/>
            <a:ext cx="4709160" cy="24231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0" y="48006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0" y="4800600"/>
            <a:ext cx="73152" cy="8229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4946904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ML cares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70448" y="527608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preprocessing statistics and lag features are much easier to learn from when the data distribution is approximately stationary.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process has constant mean but variance σ²[n] = 1 + 0.01n. Is it WSS?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78992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4096512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WSS requires the second-order statistics to be time-shift invariant. A variance that changes with n violates that requirement even though the mean is constant.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Time-domain statistics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describes level; correlation describes similarity across lag.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and variance: what fluctuates around what?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WSS, these do not depend on 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280160"/>
            <a:ext cx="4114800" cy="56692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53312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μₓ = E{X[n]}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4114800" cy="56692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130552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σₓ² = E{|X[n]−μₓ|²}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4114800" cy="68580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907792"/>
            <a:ext cx="3968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rₓₓ[0] = E{|X[n]|²} = σₓ² + |μₓ|²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532120" y="12801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32120" y="1280160"/>
            <a:ext cx="73152" cy="11430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33288" y="1426464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33288" y="1755648"/>
            <a:ext cx="48646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= DC / baseline level. Variance = average squared fluctuation around that level.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532120" y="269748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2697480"/>
            <a:ext cx="73152" cy="11430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2843784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Zero-mean case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33288" y="3172968"/>
            <a:ext cx="48646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μₓ = 0, then rₓₓ[0] = σₓ². This is why white-noise autocorrelation is often written σ²δ[m].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532120" y="41148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4114800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33288" y="4261104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data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33288" y="4590288"/>
            <a:ext cx="48646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sample estimates, but remember they are random quantities with bias/variance of their own.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Autocorrelation: how similar is the process to a delayed copy?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the convention used here: rₓₓ[m] = E{X[n]X*[n+m]}.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484632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07592"/>
            <a:ext cx="4700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rₓₓ[m] = E{X[n] X*[n+m]}</a:t>
            </a:r>
            <a:endParaRPr lang="en-US" sz="2200" dirty="0"/>
          </a:p>
        </p:txBody>
      </p:sp>
      <p:pic>
        <p:nvPicPr>
          <p:cNvPr id="6" name="Image 0" descr="/mnt/data/week8_random_signals/assets/acf_white_a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188720"/>
            <a:ext cx="557784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103120"/>
            <a:ext cx="43891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|rₓₓ[m]| means samples m apart are statistically related.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noise: correlation collapses to lag 0.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 / filtered processes keep correlation over several lags.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real WSS processes, rₓₓ[m] = rₓₓ[−m].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Cross-correlation: similarity between two signals as a function of lag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convention: rₓᵧ[m] = E{X[n]Y*[n+m]}.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466344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53312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rₓᵧ[m] = E{X[n] Y*[n+m]}</a:t>
            </a:r>
            <a:endParaRPr lang="en-US" sz="2200" dirty="0"/>
          </a:p>
        </p:txBody>
      </p:sp>
      <p:pic>
        <p:nvPicPr>
          <p:cNvPr id="6" name="Image 0" descr="/mnt/data/week8_random_signals/assets/template_mat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234440"/>
            <a:ext cx="580644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148840"/>
            <a:ext cx="41605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lag estimates relative delay / alignment.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synchronization, matched-template detection, and feature registration.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conventions differ across books/software; define the convention before deriving formulas.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autocorrelation matrix packages many lags at once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finite vector of WSS samples has a Toeplitz covariance/correlation structure.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389120" cy="56692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07592"/>
            <a:ext cx="4242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Rₓ[i,j] = rₓₓ[j−i]</a:t>
            </a:r>
            <a:endParaRPr lang="en-US" sz="2100" dirty="0"/>
          </a:p>
        </p:txBody>
      </p:sp>
      <p:pic>
        <p:nvPicPr>
          <p:cNvPr id="6" name="Image 0" descr="/mnt/data/week8_random_signals/assets/autocorr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143000"/>
            <a:ext cx="42062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057400"/>
            <a:ext cx="466344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Hermitian / symmetric for complex / real processes.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Toeplitz for WSS: entries depend only on lag.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semidefinite: aᴴRₓa ≥ 0 for every vector a.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Eigenvalues cannot be negative (up to numerical roundoff).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must an autocorrelation matrix be positive semidefinite?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78992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4096512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any coefficients a, the quadratic form aᴴRₓa equals the expected squared magnitude E{|Σ aₖ*X[k]|²}. A squared magnitude cannot have negative expectation.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bridge: alignment before prediction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can turn “same event at different times” into aligned features.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matching as preprocessing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converts unknown time shift into an estimated alignment parameter.</a:t>
            </a:r>
            <a:endParaRPr lang="en-US" sz="1150" dirty="0"/>
          </a:p>
        </p:txBody>
      </p:sp>
      <p:pic>
        <p:nvPicPr>
          <p:cNvPr id="4" name="Image 0" descr="/mnt/data/week8_random_signals/assets/template_mat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58521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234440"/>
            <a:ext cx="429768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correlation between an observation and a known template.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lag with the largest correlation score.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/ crop the example into a common coordinate system.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compute features and feed fixed-size vectors to a Scikit-Learn model.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903720" y="4709160"/>
            <a:ext cx="4297680" cy="786384"/>
          </a:xfrm>
          <a:prstGeom prst="roundRect">
            <a:avLst>
              <a:gd name="adj" fmla="val 9302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4709160"/>
            <a:ext cx="73152" cy="78638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04888" y="485546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04888" y="5184648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is not a classifier by itself; here it is an alignment / feature-engineering step.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prompt: estimate lag from noisy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first; then run the notebook.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7A8C"/>
                </a:solidFill>
              </a:rPr>
              <a:t>1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417320" y="1353312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353312"/>
            <a:ext cx="73152" cy="10515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18488" y="149961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18488" y="1828800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a known pulse / waveform at an unknown offset inside noise.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7A8C"/>
                </a:solidFill>
              </a:rPr>
              <a:t>2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1417320" y="2633472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2633472"/>
            <a:ext cx="73152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18488" y="277977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18488" y="3108960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scipy.signal.correlate(observation, template).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686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7A8C"/>
                </a:solidFill>
              </a:rPr>
              <a:t>3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1417320" y="3913632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3913632"/>
            <a:ext cx="73152" cy="10515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18488" y="405993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18488" y="4389120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argmax gives the best candidate alignment under this simple model.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492240" y="1417320"/>
            <a:ext cx="4206240" cy="3611880"/>
          </a:xfrm>
          <a:prstGeom prst="roundRect">
            <a:avLst>
              <a:gd name="adj" fmla="val 2025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417320"/>
            <a:ext cx="73152" cy="3611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15636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discuss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93408" y="1892808"/>
            <a:ext cx="385876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SNR change the peak? What if the template amplitude changes? What if the signal is stretched, not merely shifted? Why might normalized correlation be preferable?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15 wrap-up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stochastic framework lets us describe what is repeatable even when individual samples are unpredictable.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65836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random process is an ensemble; a sensor usually provides one realization.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WSS means constant mean and lag-only autocorrelation.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Autocorrelation measures memory; cross-correlation measures lagged similarity.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matrices are symmetric/Hermitian, Toeplitz (for WSS), and positive semidefinite.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can align examples before ML feature extraction.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14173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417320"/>
            <a:ext cx="73152" cy="19202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19288" y="156362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19288" y="1892808"/>
            <a:ext cx="28986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process has constant mean and rₓₓ[n₁,n₂] = exp(−0.2|n₂−n₁|). What property makes it WSS?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818120" y="365760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3657600"/>
            <a:ext cx="73152" cy="15087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9288" y="380390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19288" y="4133088"/>
            <a:ext cx="28986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mean is constant and its autocorrelation depends only on lag n₂−n₁, not absolute time.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68680" y="1463040"/>
            <a:ext cx="996696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Processing: random signals, correlation, and LTI systems.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preprocessing and PyTorch workflows.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Week8_Random_Signals_DSP_ML_Demos.ipynb.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Week8_Random_Signals_Homework_Quiz_Solutions.docx.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15: Characterizing Random Signals</dc:title>
  <dc:subject>Week 8 Random Signals - DSP and ML</dc:subject>
  <dc:creator>OpenAI</dc:creator>
  <cp:lastModifiedBy>OpenAI</cp:lastModifiedBy>
  <cp:revision>1</cp:revision>
  <dcterms:created xsi:type="dcterms:W3CDTF">2026-09-05T20:17:27Z</dcterms:created>
  <dcterms:modified xsi:type="dcterms:W3CDTF">2026-09-05T20:17:27Z</dcterms:modified>
</cp:coreProperties>
</file>