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Reframe LTI analysis: for a random input we rarely know x[n] exactly, but WSS lets us predict mean, correlation, variance, and spectrum.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question: Which output properties can be computed from h[n] and the input second-order statistics alone?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0:02–0:03. Start from y[n] = Σ h[k]X[n−k].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0:03–0:11. Example h={1/2,1/2}: DC gain 1, so mean unchanged. Difference h={1,-1}: DC gain 0, so output mean is zero even if input mean is nonzero.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0:11–0:14. Good answer should mention DC gain, not just arithmetic.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0:14–0:20. For the mixed cohort, present the double sum as an interpretation rather than a derivation. Matrix form: var(a^T x)=a^T C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0:20. Pause to state the correlation convention before any derivation.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0:20–0:27. This slide intentionally resolves a common sign/reversal ambiguity. The deck uses the Lecture 15 convention consistently.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0:27–0:35. For real signals, drop conjugates to match the course’s earlier notation.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0:35–0:43. Connect to the frequency-domain result Syy = Sxx |H|^2, which students will encounter with PSDs.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0:43–0:47. Ask students to reason without equations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0:47–0:50. Keep this as a conceptual bridge, not a matrix-algebra detour.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Transition to the cleanest random-input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0:50–0:56. Correct a common misconception: whiteness is about autocorrelation / PSD; Gaussian describes the amplitude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0:56–1:02. Have students predict output variance for h={1/2,1/2}: σy²=σ²(1/4+1/4)=σ²/2.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1:02–1:05. This is a preview if PSD is covered next; keep it intuitive if students have not yet formally defined PSD.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1:05. Connect noise statistics to realistic data augmentation.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1:05–1:11. Example: microphone / sensor noise is often colored, so white-only augmentation may be an unrealistic prior.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1:11–1:14. Notebook includes NumPy/SciPy and PyTorch versions.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1:14–1:15. Collect a numerical answer plus one sentence of interpretation.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8 • RANDOM SIGNALS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835640" y="65288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EC4D3"/>
          </a:solidFill>
          <a:ln w="12700">
            <a:solidFill>
              <a:srgbClr val="4EC4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713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D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2344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LTI Systems with Random Inputs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output statistics without predicting the exact waveform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09560" y="1051560"/>
            <a:ext cx="3337560" cy="1143000"/>
          </a:xfrm>
          <a:prstGeom prst="roundRect">
            <a:avLst/>
          </a:prstGeom>
          <a:solidFill>
            <a:srgbClr val="214866"/>
          </a:solidFill>
          <a:ln w="12700">
            <a:solidFill>
              <a:srgbClr val="376A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3533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μᵧ = μₓ Σ h[k]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909560" y="2487168"/>
            <a:ext cx="3337560" cy="1143000"/>
          </a:xfrm>
          <a:prstGeom prst="roundRect">
            <a:avLst/>
          </a:prstGeom>
          <a:solidFill>
            <a:srgbClr val="214866"/>
          </a:solidFill>
          <a:ln w="12700">
            <a:solidFill>
              <a:srgbClr val="376A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276148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rᵧᵧ = rₓₓ * h * h_rev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31520" y="60167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• Random signals and LTI systems  |  Raschka • preprocessing / PyTorch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and learning 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minutes • mean → input/output correlation → white-noise coloring → augmentation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4008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Propagate the mean of a WSS process through an LTI system.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input-output and output autocorrelation relationships under a stated correlation convention.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output variance from the input covariance / autocorrelation.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an LTI filter turns white noise into colored noise.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controlled noise models for PyTorch data augmentation.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680960" y="1389888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1389888"/>
            <a:ext cx="73152" cy="105156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82128" y="1536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0–20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82128" y="1865376"/>
            <a:ext cx="32186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and variance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680960" y="2670048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2670048"/>
            <a:ext cx="73152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82128" y="281635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20–50 min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82128" y="3145536"/>
            <a:ext cx="32186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 dynamics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680960" y="3950208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3950208"/>
            <a:ext cx="73152" cy="10515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82128" y="409651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50–65 min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82128" y="4425696"/>
            <a:ext cx="32186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 noise → colored noise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7680960" y="5230368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5230368"/>
            <a:ext cx="73152" cy="74980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82128" y="53766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65–75 min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82128" y="5705856"/>
            <a:ext cx="3218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PyTorch augmentation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and variance through an LTI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Linearity lets expectation pass through convolution.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mean is controlled by the DC gain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WSS input, E{X[n−k]} = μₓ for every 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493776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261872"/>
            <a:ext cx="47914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Y[n] = Σₖ h[k] X[n−k]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4937760" cy="68580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084832"/>
            <a:ext cx="47914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μᵧ = E{Y[n]} = μₓ Σₖ h[k] = μₓ H(eʲ⁰)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80760" y="123444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1234440"/>
            <a:ext cx="73152" cy="114300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1928" y="1380744"/>
            <a:ext cx="4361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gain =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81928" y="1709928"/>
            <a:ext cx="43616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passes through unchanged.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080760" y="269748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2697480"/>
            <a:ext cx="73152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2843784"/>
            <a:ext cx="4361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gain = 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81928" y="3172968"/>
            <a:ext cx="43616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constant mean is removed; e.g., a difference / highpass filter.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080760" y="41605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4160520"/>
            <a:ext cx="73152" cy="11430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4306824"/>
            <a:ext cx="4361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gain &gt; 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81928" y="4636008"/>
            <a:ext cx="43616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mean is amplified by the same gain.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10561320" cy="18745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" y="20848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X[n] has mean 3. The filter is h[n] = {1, −1}. What is μᵧ?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78992" y="3767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78992" y="4096512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μᵧ = 3(1−1) = 0. The first-difference filter has zero DC gain, so it removes the constant mean component.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 needs second-order information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alone is not enough to predict random fluctuations at the output.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80160"/>
            <a:ext cx="438912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53312"/>
            <a:ext cx="42428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σᵧ² = E{|Y[n]−μᵧ|²}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4389120" cy="65836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76272"/>
            <a:ext cx="4242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σᵧ² = Σₖ Σₗ h[k] h*[l] cₓₓ[k−l]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532120" y="13258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cₓₓ[m] is the input autocovariance (mean removed).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Correlated input samples can add constructively or destructively through the filter.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white noise, all off-zero covariance lags vanish, giving a much simpler result.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532120" y="44348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0" y="4434840"/>
            <a:ext cx="73152" cy="9144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33288" y="4581144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White-noise special case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33288" y="4910328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σᵧ² = σₓ² Σₖ |h[k]|²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Input-output correlation dynamics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 of waveforms becomes convolution of correlation sequences.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 convention: define it before using reversal formulas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texts/software place the lag on different arguments.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303520" cy="64008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07592"/>
            <a:ext cx="5157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This lecture:  rₓᵧ[m] = E{X[n] Y*[n+m]}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5303520" cy="64008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30552"/>
            <a:ext cx="5157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Then:  rₓᵧ[m] = (rₓₓ * h*)[m]   for y = h*x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72200" y="1234440"/>
            <a:ext cx="4892040" cy="64008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45352" y="1307592"/>
            <a:ext cx="4745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Alternate:  r̃ₓᵧ[m] = E{X[n+m]Y*[n]}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4892040" cy="64008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5352" y="2130552"/>
            <a:ext cx="4745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Then:  r̃ₓᵧ[m] = (rₓₓ * h_rev*)[m]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77240" y="3154680"/>
            <a:ext cx="10241280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154680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00984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8408" y="3630168"/>
            <a:ext cx="98938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user-facing formula rₓᵧ = rₓₓ*h[−m] is correct under the alternate lag convention, but not under the Lecture 15 definition rₓᵧ[m] = E{X[n]Y[n+m]}. Keep one convention consistent throughout.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77240" y="4663440"/>
            <a:ext cx="10241280" cy="822960"/>
          </a:xfrm>
          <a:prstGeom prst="roundRect">
            <a:avLst>
              <a:gd name="adj" fmla="val 8889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63440"/>
            <a:ext cx="73152" cy="82296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4809744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8408" y="5138928"/>
            <a:ext cx="9893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real-valued filters, h* = h. Define h_rev[m] = h[−m].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Deriving rₓᵧ[m] with the Lecture 15 convention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expectation through the deterministic sum.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5029200" cy="56692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216152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Y[n+m] = Σₖ h[k] X[n+m−k]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5029200" cy="56692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947672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rₓᵧ[m] = E{X[n]Y*[n+m]}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5029200" cy="56692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679192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Σₖ h*[k] rₓₓ[m−k]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3337560"/>
            <a:ext cx="5029200" cy="56692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410712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(rₓₓ * h*)[m]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172200" y="1234440"/>
            <a:ext cx="4526280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234440"/>
            <a:ext cx="73152" cy="123444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380744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73368" y="1709928"/>
            <a:ext cx="41788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smears the input autocorrelation by the same impulse response that filters the signal.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172200" y="2743200"/>
            <a:ext cx="4526280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743200"/>
            <a:ext cx="73152" cy="12344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2889504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Sanity check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73368" y="3218688"/>
            <a:ext cx="41788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h[n] = δ[n], then rₓᵧ[m] = rₓₓ[m].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72200" y="4251960"/>
            <a:ext cx="4526280" cy="109728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4251960"/>
            <a:ext cx="7315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4398264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signals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73368" y="4727448"/>
            <a:ext cx="4178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conjugation follows from the correlation definition.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autocorrelation: filter once on each side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output contains two filtered copies inside the second-order product.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577840" cy="65836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53312"/>
            <a:ext cx="5431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rᵧᵧ[m] = rₓₓ[m] * h[m] * h_rev*[m]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5577840" cy="65836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221992"/>
            <a:ext cx="5431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rₕₕ[m] = h[m] * h_rev*[m]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5577840" cy="65836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3090672"/>
            <a:ext cx="5431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Therefore:  rᵧᵧ[m] = rₓₓ[m] * rₕₕ[m]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29400" y="1371600"/>
            <a:ext cx="4297680" cy="3154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real h[n], h_rev*[m] = h[−m].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rₕₕ is deterministic autocorrelation of the impulse response.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m = 0, rᵧᵧ[0] gives average output power; subtract |μᵧ|² for variance.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10561320" cy="18745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8992" y="20848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h[n] = δ[n] + 0.5δ[n−1], does a white-noise input remain white?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78992" y="3767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78992" y="4096512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Adjacent output samples share one of the same input samples, so they become correlated. The filter “colors” the white noise.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matrix view: filtering transforms covariance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bridge to linear algebra and ML.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280160"/>
            <a:ext cx="347472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353312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Hx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347472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221992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Cᵧ = H Cₓ Hᴴ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846320" y="1325880"/>
            <a:ext cx="585216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Cₓ = σ²I (white), then Cᵧ = σ²HHᴴ.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Filtering creates off-diagonal covariance unless H is trivial / orthogonal in a special way.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same covariance propagation idea used in estimation, Kalman filtering, and uncertainty-aware ML.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846320" y="4572000"/>
            <a:ext cx="5852160" cy="822960"/>
          </a:xfrm>
          <a:prstGeom prst="roundRect">
            <a:avLst>
              <a:gd name="adj" fmla="val 8889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4572000"/>
            <a:ext cx="73152" cy="82296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7488" y="4718304"/>
            <a:ext cx="5504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47488" y="5047488"/>
            <a:ext cx="5504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scalar correlation formulas are the Toeplitz / infinite-length version of Cᵧ = H Cₓ Hᴴ.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 noise and filtering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“White” means flat second-order spectrum / zero correlation away from lag 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 noise: uncorrelated across nonzero lags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Zero-mean white noise has one nonzero autocorrelation sample.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4297680" cy="658368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07592"/>
            <a:ext cx="4151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rₓₓ[m] = σ² δ[m]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48056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rₓₓ[0] = σ²: finite average power.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rₓₓ[m] = 0 for m ≠ 0: no linear second-order memory.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“White” does not mean Gaussian. Gaussian white noise is one important special case.</a:t>
            </a:r>
            <a:endParaRPr lang="en-US" sz="1650" dirty="0"/>
          </a:p>
        </p:txBody>
      </p:sp>
      <p:pic>
        <p:nvPicPr>
          <p:cNvPr id="7" name="Image 0" descr="/mnt/data/week8_random_signals/assets/acf_white_a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234440"/>
            <a:ext cx="5212080" cy="3794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Filtering white noise creates colored noise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output autocorrelation becomes a scaled autocorrelation of h[n].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097280"/>
            <a:ext cx="4251960" cy="59436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70432"/>
            <a:ext cx="41056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rᵧᵧ[m] = σ² rₕₕ[m]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49808" y="1874520"/>
            <a:ext cx="4251960" cy="64008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47672"/>
            <a:ext cx="4105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σᵧ² = rᵧᵧ[0] = σ² Σₖ |h[k]|²</a:t>
            </a:r>
            <a:endParaRPr lang="en-US" sz="1900" dirty="0"/>
          </a:p>
        </p:txBody>
      </p:sp>
      <p:pic>
        <p:nvPicPr>
          <p:cNvPr id="8" name="Image 0" descr="/mnt/data/week8_random_signals/assets/white_noise_colo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005840"/>
            <a:ext cx="5715000" cy="4206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278892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788920"/>
            <a:ext cx="73152" cy="105156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8408" y="293522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 of “colored”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78408" y="3264408"/>
            <a:ext cx="38130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filter introduces correlation across time, so some frequencies become stronger than others.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777240" y="416052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4160520"/>
            <a:ext cx="73152" cy="10515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8408" y="430682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8408" y="4636008"/>
            <a:ext cx="38130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moving-average lowpass makes neighboring output samples similar and suppresses high-frequency noise.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Frequency-domain preview: the filter shapes the noise PSD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Second-order time-domain convolution becomes multiplication in frequency.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5074920" cy="64008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216152"/>
            <a:ext cx="4928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Sᵧᵧ(eʲω) = Sₓₓ(eʲω) |H(eʲω)|²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074920" cy="640080"/>
          </a:xfrm>
          <a:prstGeom prst="roundRect">
            <a:avLst/>
          </a:prstGeom>
          <a:solidFill>
            <a:srgbClr val="EEF7F9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039112"/>
            <a:ext cx="4928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32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white input:  Sₓₓ(eʲω) = σ²</a:t>
            </a:r>
            <a:endParaRPr lang="en-US" sz="2000" dirty="0"/>
          </a:p>
        </p:txBody>
      </p:sp>
      <p:pic>
        <p:nvPicPr>
          <p:cNvPr id="8" name="Image 0" descr="/mnt/data/week8_random_signals/assets/noise_psd_colo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097280"/>
            <a:ext cx="5303520" cy="3886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297180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971800"/>
            <a:ext cx="73152" cy="123444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311810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24128" y="3447288"/>
            <a:ext cx="44531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lowpass H makes low-frequency noise survive and high-frequency noise shrink. The output is no longer spectrally flat.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8D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bridge: noise augmentation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injection is a modeling decision, not just “add random numbers.”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noise augmentation in PyTorch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the nuisance process you expect the model to encounter.</a:t>
            </a:r>
            <a:endParaRPr lang="en-US" sz="1150" dirty="0"/>
          </a:p>
        </p:txBody>
      </p:sp>
      <p:pic>
        <p:nvPicPr>
          <p:cNvPr id="4" name="Image 0" descr="/mnt/data/week8_random_signals/assets/noise_augmen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6035040" cy="4069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0880" y="1280160"/>
            <a:ext cx="402336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 Gaussian noise: simple baseline; independent samples.</a:t>
            </a:r>
            <a:endParaRPr lang="en-US" sz="1630" dirty="0"/>
          </a:p>
          <a:p>
            <a:pPr marL="228600" indent="-228600">
              <a:buSzPct val="100000"/>
              <a:buChar char="•"/>
            </a:pPr>
            <a:r>
              <a:rPr lang="en-US" sz="16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Colored noise: filter white noise to create temporal correlation.</a:t>
            </a:r>
            <a:endParaRPr lang="en-US" sz="1630" dirty="0"/>
          </a:p>
          <a:p>
            <a:pPr marL="228600" indent="-228600">
              <a:buSzPct val="100000"/>
              <a:buChar char="•"/>
            </a:pPr>
            <a:r>
              <a:rPr lang="en-US" sz="16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noise by target SNR or by a random severity range.</a:t>
            </a:r>
            <a:endParaRPr lang="en-US" sz="1630" dirty="0"/>
          </a:p>
          <a:p>
            <a:pPr marL="228600" indent="-228600">
              <a:buSzPct val="100000"/>
              <a:buChar char="•"/>
            </a:pPr>
            <a:r>
              <a:rPr lang="en-US" sz="16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augmentation only to training data, not validation/test data.</a:t>
            </a:r>
            <a:endParaRPr lang="en-US" sz="1630" dirty="0"/>
          </a:p>
        </p:txBody>
      </p:sp>
      <p:sp>
        <p:nvSpPr>
          <p:cNvPr id="6" name="Shape 3"/>
          <p:cNvSpPr/>
          <p:nvPr/>
        </p:nvSpPr>
        <p:spPr>
          <a:xfrm>
            <a:off x="7040880" y="475488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0880" y="4754880"/>
            <a:ext cx="73152" cy="804672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42048" y="490118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principle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242048" y="523036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Augmentation should preserve the label while varying nuisance factors the deployed model will face.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 prompt: white vs colored augmentation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clean waveform and the same noise RMS.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73152" cy="123444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472184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• White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801368"/>
            <a:ext cx="28986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= torch.randn_like(x)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4480560" y="1325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325880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472184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• Colored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81728" y="1801368"/>
            <a:ext cx="28986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white noise, then filter it with a stable FIR/IIR.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325880"/>
            <a:ext cx="73152" cy="12344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472184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• Compare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9328" y="1801368"/>
            <a:ext cx="28986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 ACF / PSD and listen or inspect waveforms.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960120" y="3063240"/>
            <a:ext cx="996696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RMS equal: differences then come from correlation / spectrum, not total power.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a small classifier with each augmentation and compare robustness to matched and mismatched test noise.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whether the augmentation distribution is physically plausible for the sensing problem.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16 wrap-up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LTI system transforms second-order statistics in a predictable way.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658368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is multiplied by the filter DC gain Σh[k].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variance depends on the input covariance and the filter energy / structure.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rₓᵧ[m] = E{X[n]Y[n+m]}, rₓᵧ = rₓₓ*h for real h.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autocorrelation is rᵧᵧ = rₓₓ*h*h_rev.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Filtering white noise creates correlated, spectrally colored noise.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augmentation should encode realistic nuisance statistics.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818120" y="13716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371600"/>
            <a:ext cx="73152" cy="182880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19288" y="1517904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19288" y="1847088"/>
            <a:ext cx="28986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 noise with variance 4 drives h[n] = {1/2, 1/2}. What is the output variance?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818120" y="347472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F6F8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3474720"/>
            <a:ext cx="73152" cy="15544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19288" y="3621024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answer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19288" y="3950208"/>
            <a:ext cx="28986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σᵧ² = 4[(1/2)²+(1/2)²] = 2. The lowpass reduces total noise variance while introducing correlation.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instructor resources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68680" y="1463040"/>
            <a:ext cx="996696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Schafer, Discrete-Time Signal Processing: random signals, correlation, and LTI systems.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Raschka et al., Machine Learning with PyTorch and Scikit-Learn: preprocessing, tensors, and training workflows.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Accompanying notebook: Week8_Random_Signals_DSP_ML_Demos.ipynb.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and weekly quiz: Week8_Random_Signals_Homework_Quiz_Solutions.docx.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16: LTI Systems with Random Inputs</dc:title>
  <dc:subject>Week 8 Random Signals - DSP and ML</dc:subject>
  <dc:creator>OpenAI</dc:creator>
  <cp:lastModifiedBy>OpenAI</cp:lastModifiedBy>
  <cp:revision>1</cp:revision>
  <dcterms:created xsi:type="dcterms:W3CDTF">2026-09-05T20:17:27Z</dcterms:created>
  <dcterms:modified xsi:type="dcterms:W3CDTF">2026-09-05T20:17:27Z</dcterms:modified>
</cp:coreProperties>
</file>