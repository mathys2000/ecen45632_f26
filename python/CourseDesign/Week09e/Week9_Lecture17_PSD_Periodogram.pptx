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9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Power Spectral Density and the Periodogram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From second-order statistics to finite-data spectral estimates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Random processes / spectral analysis  |  Raschka • ML feature pipelines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91E26"/>
                </a:solidFill>
                <a:latin typeface="Aptos"/>
              </a:defRPr>
            </a:pPr>
            <a:r>
              <a:t>Connect autocorrelation and PSD through the Wiener–Khinchin theorem.</a:t>
            </a:r>
          </a:p>
          <a:p>
            <a:pPr>
              <a:spcAft>
                <a:spcPts val="800"/>
              </a:spcAft>
              <a:defRPr sz="2200">
                <a:solidFill>
                  <a:srgbClr val="191E26"/>
                </a:solidFill>
                <a:latin typeface="Aptos"/>
              </a:defRPr>
            </a:pPr>
            <a:r>
              <a:t>Predict how an LTI filter reshapes the PSD of a WSS input.</a:t>
            </a:r>
          </a:p>
          <a:p>
            <a:pPr>
              <a:spcAft>
                <a:spcPts val="800"/>
              </a:spcAft>
              <a:defRPr sz="2200">
                <a:solidFill>
                  <a:srgbClr val="191E26"/>
                </a:solidFill>
                <a:latin typeface="Aptos"/>
              </a:defRPr>
            </a:pPr>
            <a:r>
              <a:t>Compute and interpret a finite-record periodogram.</a:t>
            </a:r>
          </a:p>
          <a:p>
            <a:pPr>
              <a:spcAft>
                <a:spcPts val="800"/>
              </a:spcAft>
              <a:defRPr sz="2200">
                <a:solidFill>
                  <a:srgbClr val="191E26"/>
                </a:solidFill>
                <a:latin typeface="Aptos"/>
              </a:defRPr>
            </a:pPr>
            <a:r>
              <a:t>Explain why a raw periodogram is noisy even when N is large.</a:t>
            </a:r>
          </a:p>
          <a:p>
            <a:pPr>
              <a:spcAft>
                <a:spcPts val="800"/>
              </a:spcAft>
              <a:defRPr sz="2200">
                <a:solidFill>
                  <a:srgbClr val="191E26"/>
                </a:solidFill>
                <a:latin typeface="Aptos"/>
              </a:defRPr>
            </a:pPr>
            <a:r>
              <a:t>Separate frequency-grid refinement from statistical variance reduction.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82712" y="1572768"/>
            <a:ext cx="3328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712" y="1847088"/>
            <a:ext cx="332841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What can one finite realization tell us about the underlying distribution of signal power over frequency?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PSD: “where does the average power live?”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WIENER–KHINCHIN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For a WSS process, the autocorrelation depends only on lag 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63A0"/>
                </a:solidFill>
                <a:latin typeface="Aptos"/>
              </a:rPr>
              <a:t>rₓₓ[m] = E{x[n] x*[n+m]}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The power spectral density is its DTFT: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73552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888E"/>
                </a:solidFill>
                <a:latin typeface="Aptos"/>
              </a:rPr>
              <a:t>Sₓₓ(eʲω) = Σₘ rₓₓ[m] e⁻ʲωᵐ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508760"/>
            <a:ext cx="384048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54112" y="1618488"/>
            <a:ext cx="3511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1892807"/>
            <a:ext cx="351129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Correlation describes similarity across time lag. The PSD describes the same second-order information organized by frequency.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Wiener–Khinchin in both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WIENER–KHINCHIN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0:09–0:14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A6676"/>
                </a:solidFill>
                <a:latin typeface="Aptos"/>
              </a:rPr>
              <a:t>Forward transform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63A0"/>
                </a:solidFill>
                <a:latin typeface="Aptos"/>
              </a:rPr>
              <a:t>Sₓₓ(eʲω) = DTFT{rₓₓ[m]}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A6676"/>
                </a:solidFill>
                <a:latin typeface="Aptos"/>
              </a:rPr>
              <a:t>Inverse transform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rₓₓ[m] = (1/2π) ∫₋π^π Sₓₓ(eʲω)eʲωᵐ dω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463040"/>
            <a:ext cx="3977639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71231" y="1572768"/>
            <a:ext cx="3648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At m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1847088"/>
            <a:ext cx="364845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rₓₓ[0] = E{|x[n]|²} = average power = area under the PSD / 2π.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474720"/>
            <a:ext cx="3977639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71231" y="3584448"/>
            <a:ext cx="3648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Units matter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3858768"/>
            <a:ext cx="364845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PSD is power per unit frequency. Changing from rad/sample to Hz changes the numerical scaling.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Example: white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WIENER–KHINCHIN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0:14–0:20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pic>
        <p:nvPicPr>
          <p:cNvPr id="7" name="Picture 6" descr="white_auto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5394960" cy="2743200"/>
          </a:xfrm>
          <a:prstGeom prst="rect">
            <a:avLst/>
          </a:prstGeom>
        </p:spPr>
      </p:pic>
      <p:pic>
        <p:nvPicPr>
          <p:cNvPr id="8" name="Picture 7" descr="white_period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39496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6253E"/>
                </a:solidFill>
                <a:latin typeface="Aptos"/>
              </a:rPr>
              <a:t>Theory: rₓₓ[m] = σ²δ[m]  ⇔  Sₓₓ(eʲω) = σ²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4892039"/>
            <a:ext cx="9235440" cy="1024979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27632" y="5001768"/>
            <a:ext cx="8906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Important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5276088"/>
            <a:ext cx="8906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A flat theoretical PSD does not mean a single periodogram will look flat. The estimator itself has large random fluctuations.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PSD through an LTI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0:20–0:27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63A0"/>
                </a:solidFill>
                <a:latin typeface="Aptos"/>
              </a:rPr>
              <a:t>y[n] = h[n] * x[n]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For a WSS input and stable LTI system: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888E"/>
                </a:solidFill>
                <a:latin typeface="Aptos"/>
              </a:rPr>
              <a:t>Sᵧᵧ(eʲω) = Sₓₓ(eʲω) |H(eʲω)|²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6400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The filter multiplies amplitude spectra by H.</a:t>
            </a:r>
          </a:p>
          <a:p>
            <a:pPr>
              <a:spcAft>
                <a:spcPts val="8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Power is proportional to squared magnitude, hence |H|².</a:t>
            </a:r>
          </a:p>
          <a:p>
            <a:pPr>
              <a:spcAft>
                <a:spcPts val="8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Phase affects waveform relationships, but the output PSD depends on |H|².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554480"/>
            <a:ext cx="3749039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99831" y="1664207"/>
            <a:ext cx="34198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White-noise special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1" y="1938528"/>
            <a:ext cx="341985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If Sₓₓ = σ², then Sᵧᵧ = σ²|H|². Filtering “colors” white noise.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Numerical check: filtering colors white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0:27–0:35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pic>
        <p:nvPicPr>
          <p:cNvPr id="7" name="Picture 6" descr="filter_p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40080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508760"/>
            <a:ext cx="38404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62671" y="1618488"/>
            <a:ext cx="3511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What to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1" y="1892807"/>
            <a:ext cx="3511296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random estimate fluctuates around the deterministic shape |H|². The filter imposes spectral structure on otherwise white input noise.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840480"/>
            <a:ext cx="384048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62671" y="3950208"/>
            <a:ext cx="3511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Concept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1" y="4224528"/>
            <a:ext cx="35112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If H has a deep notch at ω₀, what should happen to Sᵧᵧ at ω₀?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52303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6"/>
                </a:solidFill>
                <a:latin typeface="Aptos"/>
              </a:rPr>
              <a:t>Good answer: the output PSD should also have a deep notch, scaled by the input PSD.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From theory to finite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PERIODOGRAM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0:35–0:39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91E26"/>
                </a:solidFill>
                <a:latin typeface="Aptos"/>
              </a:rPr>
              <a:t>Theory assumes ensemble statistics such as E{·}.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91E26"/>
                </a:solidFill>
                <a:latin typeface="Aptos"/>
              </a:rPr>
              <a:t>In practice we often have one finite record: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63A0"/>
                </a:solidFill>
                <a:latin typeface="Aptos"/>
              </a:rPr>
              <a:t>x[0], x[1], …, x[N−1]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53E"/>
                </a:solidFill>
                <a:latin typeface="Aptos"/>
              </a:rPr>
              <a:t>Question: how do we estimate Sₓₓ from those N samples?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554480"/>
            <a:ext cx="384048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62671" y="1664207"/>
            <a:ext cx="3511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Key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1" y="1938528"/>
            <a:ext cx="351129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PSD is a property of the stochastic process. A spectral estimate is a random quantity computed from finite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The periodogram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PERIODOGRAM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0:39–0:45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Compute a finite-length Fourier transform and square its magnitude: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5740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2463A0"/>
                </a:solidFill>
                <a:latin typeface="Aptos"/>
              </a:rPr>
              <a:t>I(ω) = (1/N) | Σₙ₌₀ᴺ⁻¹ x[n] e⁻ʲωⁿ |²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FFT evaluates this expression efficiently on a frequency grid.</a:t>
            </a:r>
          </a:p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Normalization conventions differ: always check one-sided/two-sided and density/spectrum scaling.</a:t>
            </a:r>
          </a:p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For real data, plotting only 0…Fₛ/2 is common.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3834" y="5184648"/>
            <a:ext cx="8138160" cy="1014984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76272" y="5276088"/>
            <a:ext cx="7808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Mental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5550408"/>
            <a:ext cx="7808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Periodogram = squared magnitude of a finite-record spectrum, normalized to estimate power.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Why a tone leaks into nearby bins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PERIODOGRAM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0:45–0:50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pic>
        <p:nvPicPr>
          <p:cNvPr id="7" name="Picture 6" descr="window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4008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417320"/>
            <a:ext cx="384048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62671" y="1527048"/>
            <a:ext cx="3511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Finite record = windowing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1" y="1801368"/>
            <a:ext cx="351129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Observing only N samples multiplies the infinite process by a finite window. In frequency, that becomes convolution with the window spectrum.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657600"/>
            <a:ext cx="384048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62671" y="3767328"/>
            <a:ext cx="3511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Trade-off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1" y="4041648"/>
            <a:ext cx="351129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Tapered windows reduce sidelobes (leakage) but widen the main lobe, reducing the ability to separate nearby tones.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Resolution: what increasing N really improves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PERIODOGRAM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0:50–0:55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FFT-bin spacing for N samples at Fₛ: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463A0"/>
                </a:solidFill>
                <a:latin typeface="Aptos"/>
              </a:rPr>
              <a:t>Δf = Fₛ /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67665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Longer records give a finer frequency grid.</a:t>
            </a:r>
          </a:p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Longer observation also narrows the rectangular-window main lobe.</a:t>
            </a:r>
          </a:p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But a raw periodogram does not become statistically smooth just because N is large.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6118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91271" y="1664207"/>
            <a:ext cx="32826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Common misconception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1938528"/>
            <a:ext cx="328269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“More FFT points” can mean zero-padding, which only interpolates the plotted spectrum. It does not create new information.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Why the raw periodogram is inconsistent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STATISTICAL FLAW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0:55–1:03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Consistency requires the estimator variance to vanish as N → ∞.</a:t>
            </a:r>
          </a:p>
        </p:txBody>
      </p:sp>
      <p:pic>
        <p:nvPicPr>
          <p:cNvPr id="8" name="Picture 7" descr="periodogram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6217920" cy="3154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1783080"/>
            <a:ext cx="4114800" cy="22402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88352" y="1892807"/>
            <a:ext cx="3785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White Gaussian noise intuition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2167128"/>
            <a:ext cx="3785615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At a non-DC Fourier bin, the DFT coefficient remains random. Its squared magnitude is approximately exponential, so relative scatter stays large.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389120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For an idealized white-noise bin:  E{I} ≈ σ²,  Var{I} ≈ σ⁴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5074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67D35"/>
                </a:solidFill>
                <a:latin typeface="Aptos"/>
              </a:rPr>
              <a:t>Coefficient of variation ≈ 1 — it does not shrink with 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What “inconsistent” does—and does not—mean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STATISTICAL FLAW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1:03–1:08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72768"/>
            <a:ext cx="49743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It does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raw periodogram at a fixed frequency remains noisy across repeated realizations; its variance does not generally tend to zero.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572768"/>
            <a:ext cx="4882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It does not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847088"/>
            <a:ext cx="48828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periodogram is useless. It can reveal strong tones, and it is the building block for lower-variance estimators such as Bartlett and Welch.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A6676"/>
                </a:solidFill>
                <a:latin typeface="Aptos"/>
              </a:rPr>
              <a:t>Estimator design question: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53E"/>
                </a:solidFill>
                <a:latin typeface="Aptos"/>
              </a:rPr>
              <a:t>Can we trade some frequency resolution for lower variance by averaging?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463A0"/>
                </a:solidFill>
                <a:latin typeface="Aptos"/>
              </a:rPr>
              <a:t>That is exactly what Lecture 18 does.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Concept check: two records of the same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1:08–1:12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Two long records come from the same zero-mean WSS process. Their raw periodograms look noticeably different.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63A0"/>
                </a:solidFill>
                <a:latin typeface="Aptos"/>
              </a:rPr>
              <a:t>Is that evidence that the process PSD changed?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291840"/>
            <a:ext cx="97840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53312" y="3401568"/>
            <a:ext cx="9454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Good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675888"/>
            <a:ext cx="945489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Not necessarily. A periodogram is itself random and has high variance. We need averaging or confidence reasoning before attributing differences to the underlying process.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Coding demo: four things to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1:12–1:14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1. Estimate white-noise autocorrelation and compare its PSD with a flat theoretical spectrum.</a:t>
            </a:r>
          </a:p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2. Filter white noise and verify Syy follows |H|².</a:t>
            </a:r>
          </a:p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3. Repeat many periodograms and observe that the scatter remains large as N grows.</a:t>
            </a:r>
          </a:p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4. Change only the FFT zero-padding and distinguish smoother plotting from true resolution.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4800600"/>
            <a:ext cx="9601200" cy="1137684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44751" y="4910328"/>
            <a:ext cx="9272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1" y="5184648"/>
            <a:ext cx="92720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Week9_Spectral_Estimation_DSP_ML_Demos.ipynb reproduces these experiments with NumPy/SciPy.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Lecture 17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1:14–1:15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Wiener–Khinchin: PSD and autocorrelation are a DTFT pair.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LTI systems reshape PSD by |H|².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A periodogram is a finite-record PSD estimate based on |FFT|².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Longer records improve frequency detail, but raw-periodogram variance remains high.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Averaging periodograms is the next step.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508760"/>
            <a:ext cx="320040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618488"/>
            <a:ext cx="2871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1892807"/>
            <a:ext cx="287121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Why does a longer record not automatically make a raw periodogram a low-variance PSD estimator?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1313</Words>
  <Application>Microsoft Office PowerPoint</Application>
  <PresentationFormat>Widescreen</PresentationFormat>
  <Paragraphs>154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Mathys</cp:lastModifiedBy>
  <cp:revision>3</cp:revision>
  <cp:lastPrinted>2026-09-29T22:40:18Z</cp:lastPrinted>
  <dcterms:created xsi:type="dcterms:W3CDTF">2013-01-27T09:14:16Z</dcterms:created>
  <dcterms:modified xsi:type="dcterms:W3CDTF">2026-09-29T22:40:26Z</dcterms:modified>
  <cp:category/>
</cp:coreProperties>
</file>