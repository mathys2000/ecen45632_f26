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47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5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85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solidFill>
                  <a:srgbClr val="24888E"/>
                </a:solidFill>
                <a:latin typeface="Aptos"/>
              </a:rPr>
              <a:t>WEEK 9 ● </a:t>
            </a:r>
            <a:r>
              <a:rPr sz="1400" b="1" dirty="0">
                <a:solidFill>
                  <a:srgbClr val="24888E"/>
                </a:solidFill>
                <a:latin typeface="Aptos"/>
              </a:rPr>
              <a:t>LECTURE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5156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Non-Parametric Spectral Estimation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7889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7E1EE"/>
                </a:solidFill>
                <a:latin typeface="Aptos"/>
              </a:rPr>
              <a:t>Bartlett, Welch, and the resolution–variance trade-off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8978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ECCDD"/>
                </a:solidFill>
                <a:latin typeface="Aptos"/>
              </a:rPr>
              <a:t>Oppenheim &amp; Schafer • Random processes / spectral analysis  |  Raschka • ML feature pipelines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6253E"/>
                </a:solidFill>
                <a:latin typeface="Aptos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8778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0:00–0:03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9 • SPECTRAL ESTIMATION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6766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91E26"/>
                </a:solidFill>
                <a:latin typeface="Aptos"/>
              </a:defRPr>
            </a:pPr>
            <a:r>
              <a:t>Explain how averaging periodograms reduces estimator variance.</a:t>
            </a:r>
          </a:p>
          <a:p>
            <a:pPr>
              <a:spcAft>
                <a:spcPts val="800"/>
              </a:spcAft>
              <a:defRPr sz="2200">
                <a:solidFill>
                  <a:srgbClr val="191E26"/>
                </a:solidFill>
                <a:latin typeface="Aptos"/>
              </a:defRPr>
            </a:pPr>
            <a:r>
              <a:t>Construct Bartlett and Welch PSD estimates from finite data.</a:t>
            </a:r>
          </a:p>
          <a:p>
            <a:pPr>
              <a:spcAft>
                <a:spcPts val="800"/>
              </a:spcAft>
              <a:defRPr sz="2200">
                <a:solidFill>
                  <a:srgbClr val="191E26"/>
                </a:solidFill>
                <a:latin typeface="Aptos"/>
              </a:defRPr>
            </a:pPr>
            <a:r>
              <a:t>Explain what segmentation, window choice, and overlap each change.</a:t>
            </a:r>
          </a:p>
          <a:p>
            <a:pPr>
              <a:spcAft>
                <a:spcPts val="800"/>
              </a:spcAft>
              <a:defRPr sz="2200">
                <a:solidFill>
                  <a:srgbClr val="191E26"/>
                </a:solidFill>
                <a:latin typeface="Aptos"/>
              </a:defRPr>
            </a:pPr>
            <a:r>
              <a:t>Reason quantitatively about resolution versus variance.</a:t>
            </a:r>
          </a:p>
          <a:p>
            <a:pPr>
              <a:spcAft>
                <a:spcPts val="800"/>
              </a:spcAft>
              <a:defRPr sz="2200">
                <a:solidFill>
                  <a:srgbClr val="191E26"/>
                </a:solidFill>
                <a:latin typeface="Aptos"/>
              </a:defRPr>
            </a:pPr>
            <a:r>
              <a:t>Convert Welch PSDs into stable features for classical ML.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463040"/>
            <a:ext cx="3657600" cy="1920240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82712" y="1572768"/>
            <a:ext cx="33284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Core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82712" y="1847088"/>
            <a:ext cx="3328416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How much frequency detail are we willing to trade for a PSD estimate that is statistically more stable?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6253E"/>
                </a:solidFill>
                <a:latin typeface="Aptos"/>
              </a:rPr>
              <a:t>The central trick: average noisy estimates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BARTLETT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8778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0:03–0:08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9 • SPECTRAL ESTIMATION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801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5A6676"/>
                </a:solidFill>
                <a:latin typeface="Aptos"/>
              </a:rPr>
              <a:t>One periodogram: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D67D35"/>
                </a:solidFill>
                <a:latin typeface="Aptos"/>
              </a:rPr>
              <a:t>high frequency detail + high variance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51760"/>
            <a:ext cx="6675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91E26"/>
                </a:solidFill>
                <a:latin typeface="Aptos"/>
              </a:rPr>
              <a:t>Average K approximately independent periodograms: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46120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4888E"/>
                </a:solidFill>
                <a:latin typeface="Aptos"/>
              </a:rPr>
              <a:t>variance roughly decreases like 1/K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1508760"/>
            <a:ext cx="3886200" cy="2194560"/>
          </a:xfrm>
          <a:prstGeom prst="roundRect">
            <a:avLst/>
          </a:prstGeom>
          <a:solidFill>
            <a:srgbClr val="F1F5F9"/>
          </a:solidFill>
          <a:ln>
            <a:solidFill>
              <a:srgbClr val="24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16952" y="1618488"/>
            <a:ext cx="35570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63A0"/>
                </a:solidFill>
                <a:latin typeface="Aptos"/>
              </a:rPr>
              <a:t>But where do K estimates come from?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16952" y="1892807"/>
            <a:ext cx="3557016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Split one long record into shorter segments. That gains averaging at the cost of shorter observation length per estimate.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6253E"/>
                </a:solidFill>
                <a:latin typeface="Aptos"/>
              </a:rPr>
              <a:t>Bartlett’s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BARTLETT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8778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0:08–0:15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9 • SPECTRAL ESTIMATION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91E26"/>
                </a:solidFill>
                <a:latin typeface="Aptos"/>
              </a:rPr>
              <a:t>1. Split N samples into K non-overlapping segments of length L = N/K.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91E26"/>
                </a:solidFill>
                <a:latin typeface="Aptos"/>
              </a:rPr>
              <a:t>2. Compute a periodogram Iₖ(f) for each segment.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060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91E26"/>
                </a:solidFill>
                <a:latin typeface="Aptos"/>
              </a:rPr>
              <a:t>3. Average them: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154680"/>
            <a:ext cx="6949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463A0"/>
                </a:solidFill>
                <a:latin typeface="Aptos"/>
              </a:rPr>
              <a:t>Ŝ_B(f) = (1/K) Σₖ₌₀ᴷ⁻¹ Iₖ(f)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88720" y="4343400"/>
            <a:ext cx="9692640" cy="1097280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53312" y="4453128"/>
            <a:ext cx="93634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Trade-off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3312" y="4727448"/>
            <a:ext cx="9363456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L smaller → more segments K → lower variance, but coarser frequency resolution.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6253E"/>
                </a:solidFill>
                <a:latin typeface="Aptos"/>
              </a:rPr>
              <a:t>Bartlett: count the arithmetic and the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BARTLETT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8778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0:15–0:20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9 • SPECTRAL ESTIMATION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6253E"/>
                </a:solidFill>
                <a:latin typeface="Aptos"/>
              </a:rPr>
              <a:t>Example: N = 4096 samples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2463A0"/>
                </a:solidFill>
                <a:latin typeface="Aptos"/>
              </a:rPr>
              <a:t>K = 8  ⇒  L = 512 samples per segment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88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91E26"/>
                </a:solidFill>
                <a:latin typeface="Aptos"/>
              </a:rPr>
              <a:t>At Fₛ = 1000 Hz: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3756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4888E"/>
                </a:solidFill>
                <a:latin typeface="Aptos"/>
              </a:rPr>
              <a:t>nominal bin spacing = Fₛ/L ≈ 1.95 Hz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1463040"/>
            <a:ext cx="4069080" cy="2286000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88352" y="1572768"/>
            <a:ext cx="37398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Compare with full record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88352" y="1847088"/>
            <a:ext cx="3739896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The 4096-sample periodogram has ~0.244 Hz bin spacing. Bartlett gives up that fine grid to obtain 8 estimates to average.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6253E"/>
                </a:solidFill>
                <a:latin typeface="Aptos"/>
              </a:rPr>
              <a:t>Periodogram vs. Bartlett vs. Welch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METHOD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8778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0:20–0:24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9 • SPECTRAL ESTIMATION</a:t>
            </a:r>
          </a:p>
        </p:txBody>
      </p:sp>
      <p:pic>
        <p:nvPicPr>
          <p:cNvPr id="7" name="Picture 6" descr="methods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6629400" cy="33832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43800" y="1508760"/>
            <a:ext cx="3749039" cy="2057400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08392" y="1618488"/>
            <a:ext cx="34198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What changes?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08392" y="1892807"/>
            <a:ext cx="3419856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Periodogram is detailed but jagged. Bartlett is smoother. Welch adds tapering and overlap, typically yielding a stable practical estimate.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41605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D67D35"/>
                </a:solidFill>
                <a:latin typeface="Aptos"/>
              </a:rPr>
              <a:t>Do not interpret “smoother” as automatically “more accurate” at every frequency.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6253E"/>
                </a:solidFill>
                <a:latin typeface="Aptos"/>
              </a:rPr>
              <a:t>Why Welch improves on Bartlett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WELCH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8778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0:24–0:30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9 • SPECTRAL ESTIMATION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6492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191E26"/>
                </a:solidFill>
                <a:latin typeface="Aptos"/>
              </a:defRPr>
            </a:pPr>
            <a:r>
              <a:t>Use overlapping segments instead of disjoint segments.</a:t>
            </a:r>
          </a:p>
          <a:p>
            <a:pPr>
              <a:spcAft>
                <a:spcPts val="800"/>
              </a:spcAft>
              <a:defRPr sz="2100">
                <a:solidFill>
                  <a:srgbClr val="191E26"/>
                </a:solidFill>
                <a:latin typeface="Aptos"/>
              </a:defRPr>
            </a:pPr>
            <a:r>
              <a:t>Apply a tapering window to each segment before the FFT.</a:t>
            </a:r>
          </a:p>
          <a:p>
            <a:pPr>
              <a:spcAft>
                <a:spcPts val="800"/>
              </a:spcAft>
              <a:defRPr sz="2100">
                <a:solidFill>
                  <a:srgbClr val="191E26"/>
                </a:solidFill>
                <a:latin typeface="Aptos"/>
              </a:defRPr>
            </a:pPr>
            <a:r>
              <a:t>Normalize for window power so the PSD scale remains meaningful.</a:t>
            </a:r>
          </a:p>
          <a:p>
            <a:pPr>
              <a:spcAft>
                <a:spcPts val="800"/>
              </a:spcAft>
              <a:defRPr sz="2100">
                <a:solidFill>
                  <a:srgbClr val="191E26"/>
                </a:solidFill>
                <a:latin typeface="Aptos"/>
              </a:defRPr>
            </a:pPr>
            <a:r>
              <a:t>Average the modified periodograms.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508760"/>
            <a:ext cx="3657600" cy="2057400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54112" y="1618488"/>
            <a:ext cx="33284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Two goals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54112" y="1892807"/>
            <a:ext cx="3328416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Windowing controls leakage. Overlap recovers more averaging opportunities after tapering discards weight near segment edges.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6253E"/>
                </a:solidFill>
                <a:latin typeface="Aptos"/>
              </a:rPr>
              <a:t>Welch’s estimator: algorithm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WELCH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8778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0:30–0:36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9 • SPECTRAL ESTIMATION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801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91E26"/>
                </a:solidFill>
                <a:latin typeface="Aptos"/>
              </a:rPr>
              <a:t>For segment k with window w[n]: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47088"/>
            <a:ext cx="6949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2463A0"/>
                </a:solidFill>
                <a:latin typeface="Aptos"/>
              </a:rPr>
              <a:t>Xₖ(f) = Σₙ w[n] xₖ[n] e⁻ʲ2πfn/Fₛ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432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91E26"/>
                </a:solidFill>
                <a:latin typeface="Aptos"/>
              </a:rPr>
              <a:t>Modified periodogram: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46120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24888E"/>
                </a:solidFill>
                <a:latin typeface="Aptos"/>
              </a:rPr>
              <a:t>Iₖ(f) ∝ |Xₖ(f)|² / Σₙ w²[n]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160520"/>
            <a:ext cx="6492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6253E"/>
                </a:solidFill>
                <a:latin typeface="Aptos"/>
              </a:rPr>
              <a:t>Then average Iₖ(f) across segments.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1554480"/>
            <a:ext cx="365760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99831" y="1664207"/>
            <a:ext cx="33284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Implementation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9831" y="1938528"/>
            <a:ext cx="3328416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scipy.signal.welch handles window normalization, one-sided scaling, overlap, and FFT details.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6253E"/>
                </a:solidFill>
                <a:latin typeface="Aptos"/>
              </a:rPr>
              <a:t>Window choice: leakage versus resolution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WELCH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8778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0:36–0:42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9 • SPECTRAL ESTIMATION</a:t>
            </a:r>
          </a:p>
        </p:txBody>
      </p:sp>
      <p:pic>
        <p:nvPicPr>
          <p:cNvPr id="7" name="Picture 6" descr="window_leak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6583680" cy="33832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52360" y="1417320"/>
            <a:ext cx="3840480" cy="1600200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16952" y="1527048"/>
            <a:ext cx="35112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Rectangular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16952" y="1801368"/>
            <a:ext cx="3511296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Narrower main lobe, but high sidelobes. Good resolution for bin-centered tones; poor leakage behavior otherwise.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3383280"/>
            <a:ext cx="3840480" cy="1645920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16952" y="3493008"/>
            <a:ext cx="35112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Hann / Hamming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16952" y="3767328"/>
            <a:ext cx="351129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Lower sidelobes and better leakage control, but wider main lobes. Nearby spectral features can blur together.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6253E"/>
                </a:solidFill>
                <a:latin typeface="Aptos"/>
              </a:rPr>
              <a:t>Overlap: more segments, not more independent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WELCH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8778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0:42–0:47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9 • SPECTRAL ESTIMATION</a:t>
            </a:r>
          </a:p>
        </p:txBody>
      </p:sp>
      <p:pic>
        <p:nvPicPr>
          <p:cNvPr id="7" name="Picture 6" descr="overlap_vari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25880"/>
            <a:ext cx="5852160" cy="3246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949440" y="1417320"/>
            <a:ext cx="429768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91E26"/>
                </a:solidFill>
                <a:latin typeface="Aptos"/>
              </a:defRPr>
            </a:pPr>
            <a:r>
              <a:t>0% overlap: fewer, more nearly independent segments.</a:t>
            </a:r>
          </a:p>
          <a:p>
            <a:pPr>
              <a:spcAft>
                <a:spcPts val="800"/>
              </a:spcAft>
              <a:defRPr sz="1800">
                <a:solidFill>
                  <a:srgbClr val="191E26"/>
                </a:solidFill>
                <a:latin typeface="Aptos"/>
              </a:defRPr>
            </a:pPr>
            <a:r>
              <a:t>50% overlap: common with Hann; reuses samples while shifting the window support.</a:t>
            </a:r>
          </a:p>
          <a:p>
            <a:pPr>
              <a:spcAft>
                <a:spcPts val="800"/>
              </a:spcAft>
              <a:defRPr sz="1800">
                <a:solidFill>
                  <a:srgbClr val="191E26"/>
                </a:solidFill>
                <a:latin typeface="Aptos"/>
              </a:defRPr>
            </a:pPr>
            <a:r>
              <a:t>75% overlap: even more estimates, but substantial correlation between neighboring segments.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95160" y="4297679"/>
            <a:ext cx="4160520" cy="1321627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59752" y="4407408"/>
            <a:ext cx="383133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Key nuance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59752" y="4681728"/>
            <a:ext cx="3831335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Variance reduction is not exactly 1/K when segments overlap because the estimates are correlated.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6253E"/>
                </a:solidFill>
                <a:latin typeface="Aptos"/>
              </a:rPr>
              <a:t>Segment length controls the main trade-off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RESOLUTION vs VARIANCE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8778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0:47–0:53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9 • SPECTRAL ESTIMATION</a:t>
            </a:r>
          </a:p>
        </p:txBody>
      </p:sp>
      <p:pic>
        <p:nvPicPr>
          <p:cNvPr id="7" name="Picture 6" descr="segment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6583680" cy="33832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98079" y="1417320"/>
            <a:ext cx="3794760" cy="1600200"/>
          </a:xfrm>
          <a:prstGeom prst="roundRect">
            <a:avLst/>
          </a:prstGeom>
          <a:solidFill>
            <a:srgbClr val="F1F5F9"/>
          </a:solidFill>
          <a:ln>
            <a:solidFill>
              <a:srgbClr val="24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62671" y="1527048"/>
            <a:ext cx="34655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63A0"/>
                </a:solidFill>
                <a:latin typeface="Aptos"/>
              </a:rPr>
              <a:t>Long segments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62671" y="1801368"/>
            <a:ext cx="3465576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Sharper peaks and finer frequency detail, but fewer averages → higher estimator variance.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3429000"/>
            <a:ext cx="3794760" cy="1645920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62671" y="3538728"/>
            <a:ext cx="34655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Short segments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62671" y="3813048"/>
            <a:ext cx="346557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More averages and smoother PSD, but broad peaks and reduced ability to separate nearby components.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6253E"/>
                </a:solidFill>
                <a:latin typeface="Aptos"/>
              </a:rPr>
              <a:t>A quantitative design recipe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RESOLUTION vs VARIANCE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8778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0:53–0:58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9 • SPECTRAL ESTIMATION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53E"/>
                </a:solidFill>
                <a:latin typeface="Aptos"/>
              </a:rPr>
              <a:t>Start from the frequency detail you need.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91E26"/>
                </a:solidFill>
                <a:latin typeface="Aptos"/>
              </a:rPr>
              <a:t>Choose segment length L so Fₛ/L is comfortably smaller than the separation of important features.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88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53E"/>
                </a:solidFill>
                <a:latin typeface="Aptos"/>
              </a:rPr>
              <a:t>Then choose a window and overlap.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3756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Window: leakage suppression versus main-lobe width.</a:t>
            </a:r>
          </a:p>
          <a:p>
            <a:pPr>
              <a:spcAft>
                <a:spcPts val="8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Overlap: number of averaged segments versus correlation/computation.</a:t>
            </a:r>
          </a:p>
          <a:p>
            <a:pPr>
              <a:spcAft>
                <a:spcPts val="8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Validate on repeated records, not just one aesthetically smooth PSD.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5257799"/>
            <a:ext cx="8321040" cy="1089837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084832" y="5367528"/>
            <a:ext cx="79918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Rule of thumb, not law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84832" y="5641848"/>
            <a:ext cx="7991856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50% overlap with a Hann window is a strong default, but the signal and objective should determine the final design.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6253E"/>
                </a:solidFill>
                <a:latin typeface="Aptos"/>
              </a:rPr>
              <a:t>Concept check: two close tones in noise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CONCEPT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8778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0:58–1:02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9 • SPECTRAL ESTIMATION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7160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6253E"/>
                </a:solidFill>
                <a:latin typeface="Aptos"/>
              </a:rPr>
              <a:t>You must distinguish tones at 120 Hz and 126 Hz in noisy data sampled at 1 kHz.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463A0"/>
                </a:solidFill>
                <a:latin typeface="Aptos"/>
              </a:rPr>
              <a:t>Which change is most likely to help?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26080"/>
            <a:ext cx="58521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191E26"/>
                </a:solidFill>
                <a:latin typeface="Aptos"/>
              </a:defRPr>
            </a:pPr>
            <a:r>
              <a:t>A. Shorter Welch segments</a:t>
            </a:r>
          </a:p>
          <a:p>
            <a:pPr>
              <a:spcAft>
                <a:spcPts val="800"/>
              </a:spcAft>
              <a:defRPr sz="2100">
                <a:solidFill>
                  <a:srgbClr val="191E26"/>
                </a:solidFill>
                <a:latin typeface="Aptos"/>
              </a:defRPr>
            </a:pPr>
            <a:r>
              <a:t>B. Longer Welch segments</a:t>
            </a:r>
          </a:p>
          <a:p>
            <a:pPr>
              <a:spcAft>
                <a:spcPts val="800"/>
              </a:spcAft>
              <a:defRPr sz="2100">
                <a:solidFill>
                  <a:srgbClr val="191E26"/>
                </a:solidFill>
                <a:latin typeface="Aptos"/>
              </a:defRPr>
            </a:pPr>
            <a:r>
              <a:t>C. More zero-padding only</a:t>
            </a:r>
          </a:p>
          <a:p>
            <a:pPr>
              <a:spcAft>
                <a:spcPts val="800"/>
              </a:spcAft>
              <a:defRPr sz="2100">
                <a:solidFill>
                  <a:srgbClr val="191E26"/>
                </a:solidFill>
                <a:latin typeface="Aptos"/>
              </a:defRPr>
            </a:pPr>
            <a:r>
              <a:t>D. Heavier smoothing across frequency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2880359"/>
            <a:ext cx="3840480" cy="1936189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79792" y="2990088"/>
            <a:ext cx="35112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Good answer: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79792" y="3264408"/>
            <a:ext cx="3511296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Longer segments provide narrower spectral main lobes and better true frequency resolution. Zero-padding alone only samples the same spectral estimate more densely.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6253E"/>
                </a:solidFill>
                <a:latin typeface="Aptos"/>
              </a:rPr>
              <a:t>PSD as an ML feature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ML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8778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1:02–1:07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9 • SPECTRAL ESTIMATION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16253E"/>
                </a:solidFill>
                <a:latin typeface="Aptos"/>
              </a:rPr>
              <a:t>Raw waveform → Welch PSD → band powers / spectral shape → classifier</a:t>
            </a:r>
          </a:p>
        </p:txBody>
      </p:sp>
      <p:pic>
        <p:nvPicPr>
          <p:cNvPr id="8" name="Picture 7" descr="ml_bandpo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148840"/>
            <a:ext cx="5669280" cy="3154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12280" y="2194560"/>
            <a:ext cx="42519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91E26"/>
                </a:solidFill>
                <a:latin typeface="Aptos"/>
              </a:defRPr>
            </a:pPr>
            <a:r>
              <a:t>Welch features average away nuisance sample-to-sample randomness.</a:t>
            </a:r>
          </a:p>
          <a:p>
            <a:pPr>
              <a:spcAft>
                <a:spcPts val="800"/>
              </a:spcAft>
              <a:defRPr sz="1800">
                <a:solidFill>
                  <a:srgbClr val="191E26"/>
                </a:solidFill>
                <a:latin typeface="Aptos"/>
              </a:defRPr>
            </a:pPr>
            <a:r>
              <a:t>Bandpower compresses hundreds of PSD bins into interpretable features.</a:t>
            </a:r>
          </a:p>
          <a:p>
            <a:pPr>
              <a:spcAft>
                <a:spcPts val="800"/>
              </a:spcAft>
              <a:defRPr sz="1800">
                <a:solidFill>
                  <a:srgbClr val="191E26"/>
                </a:solidFill>
                <a:latin typeface="Aptos"/>
              </a:defRPr>
            </a:pPr>
            <a:r>
              <a:t>StandardScaler + SVM or Random Forest can then operate on stable vectors.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12280" y="4800599"/>
            <a:ext cx="4251960" cy="1616149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76872" y="4910328"/>
            <a:ext cx="39227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Caution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76872" y="5184648"/>
            <a:ext cx="392277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PSD features intentionally discard phase and precise time localization. That may be desirable—or fatal—depending on the task.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6253E"/>
                </a:solidFill>
                <a:latin typeface="Aptos"/>
              </a:rPr>
              <a:t>Example ML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ML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8778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1:07–1:11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9 • SPECTRAL ESTIMATION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34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5A6676"/>
                </a:solidFill>
                <a:latin typeface="Aptos"/>
              </a:rPr>
              <a:t>For each record: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7040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1. Compute Welch PSD with a fixed analysis configuration.</a:t>
            </a:r>
          </a:p>
          <a:p>
            <a:pPr>
              <a:spcAft>
                <a:spcPts val="8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2. Integrate power in physically meaningful frequency bands.</a:t>
            </a:r>
          </a:p>
          <a:p>
            <a:pPr>
              <a:spcAft>
                <a:spcPts val="8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3. Optionally add spectral centroid, roll-off, or log-band powers.</a:t>
            </a:r>
          </a:p>
          <a:p>
            <a:pPr>
              <a:spcAft>
                <a:spcPts val="8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4. Standardize features using training data only.</a:t>
            </a:r>
          </a:p>
          <a:p>
            <a:pPr>
              <a:spcAft>
                <a:spcPts val="8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5. Train SVM / logistic regression / random forest and cross-validate.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783080"/>
            <a:ext cx="3154680" cy="2406148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57031" y="1892807"/>
            <a:ext cx="28254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Leakage in ML can be literal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57031" y="2167128"/>
            <a:ext cx="2825496" cy="1856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Never compute normalization statistics using the test set. Signal-processing leakage and data-set leakage are different problems—but both invalidate conclusions.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6253E"/>
                </a:solidFill>
                <a:latin typeface="Aptos"/>
              </a:rPr>
              <a:t>Coding demo: design Welch instead of just calling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8778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1:11–1:14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9 • SPECTRAL ESTIMATION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6766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191E26"/>
                </a:solidFill>
                <a:latin typeface="Aptos"/>
              </a:defRPr>
            </a:pPr>
            <a:r>
              <a:t>Compare custom Bartlett and scipy.signal.welch.</a:t>
            </a:r>
          </a:p>
          <a:p>
            <a:pPr>
              <a:spcAft>
                <a:spcPts val="800"/>
              </a:spcAft>
              <a:defRPr sz="2100">
                <a:solidFill>
                  <a:srgbClr val="191E26"/>
                </a:solidFill>
                <a:latin typeface="Aptos"/>
              </a:defRPr>
            </a:pPr>
            <a:r>
              <a:t>Sweep nperseg and observe peak separation versus smoothness.</a:t>
            </a:r>
          </a:p>
          <a:p>
            <a:pPr>
              <a:spcAft>
                <a:spcPts val="800"/>
              </a:spcAft>
              <a:defRPr sz="2100">
                <a:solidFill>
                  <a:srgbClr val="191E26"/>
                </a:solidFill>
                <a:latin typeface="Aptos"/>
              </a:defRPr>
            </a:pPr>
            <a:r>
              <a:t>Sweep overlap and measure repeated-estimate variability.</a:t>
            </a:r>
          </a:p>
          <a:p>
            <a:pPr>
              <a:spcAft>
                <a:spcPts val="800"/>
              </a:spcAft>
              <a:defRPr sz="2100">
                <a:solidFill>
                  <a:srgbClr val="191E26"/>
                </a:solidFill>
                <a:latin typeface="Aptos"/>
              </a:defRPr>
            </a:pPr>
            <a:r>
              <a:t>Build Welch bandpower features and train an SVM/Random Forest.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508760"/>
            <a:ext cx="356616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36992" y="1618488"/>
            <a:ext cx="32369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Student prediction first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36992" y="1892807"/>
            <a:ext cx="3236976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Before running each cell, ask which curve should be smoother, which should resolve the tones better, and why.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34340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16253E"/>
                </a:solidFill>
                <a:latin typeface="Aptos"/>
              </a:rPr>
              <a:t>The goal is estimator reasoning—not memorizing one “best” Welch configuration.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6253E"/>
                </a:solidFill>
                <a:latin typeface="Aptos"/>
              </a:rPr>
              <a:t>Lecture 18 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8778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1:14–1:15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9 • SPECTRAL ESTIMATION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7406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191E26"/>
                </a:solidFill>
                <a:latin typeface="Aptos"/>
              </a:defRPr>
            </a:pPr>
            <a:r>
              <a:t>Bartlett reduces variance by averaging non-overlapping periodograms.</a:t>
            </a:r>
          </a:p>
          <a:p>
            <a:pPr>
              <a:spcAft>
                <a:spcPts val="800"/>
              </a:spcAft>
              <a:defRPr sz="2100">
                <a:solidFill>
                  <a:srgbClr val="191E26"/>
                </a:solidFill>
                <a:latin typeface="Aptos"/>
              </a:defRPr>
            </a:pPr>
            <a:r>
              <a:t>Welch adds windows and overlap for better leakage control and practical averaging.</a:t>
            </a:r>
          </a:p>
          <a:p>
            <a:pPr>
              <a:spcAft>
                <a:spcPts val="800"/>
              </a:spcAft>
              <a:defRPr sz="2100">
                <a:solidFill>
                  <a:srgbClr val="191E26"/>
                </a:solidFill>
                <a:latin typeface="Aptos"/>
              </a:defRPr>
            </a:pPr>
            <a:r>
              <a:t>Segment length is the primary resolution–variance knob.</a:t>
            </a:r>
          </a:p>
          <a:p>
            <a:pPr>
              <a:spcAft>
                <a:spcPts val="800"/>
              </a:spcAft>
              <a:defRPr sz="2100">
                <a:solidFill>
                  <a:srgbClr val="191E26"/>
                </a:solidFill>
                <a:latin typeface="Aptos"/>
              </a:defRPr>
            </a:pPr>
            <a:r>
              <a:t>Overlap helps, but overlapping segments are correlated.</a:t>
            </a:r>
          </a:p>
          <a:p>
            <a:pPr>
              <a:spcAft>
                <a:spcPts val="800"/>
              </a:spcAft>
              <a:defRPr sz="2100">
                <a:solidFill>
                  <a:srgbClr val="191E26"/>
                </a:solidFill>
                <a:latin typeface="Aptos"/>
              </a:defRPr>
            </a:pPr>
            <a:r>
              <a:t>Stable PSD summaries can be strong classical-ML features.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1554480"/>
            <a:ext cx="306324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85632" y="1664207"/>
            <a:ext cx="27340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Exit ticket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85632" y="1938528"/>
            <a:ext cx="2734056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If a Welch PSD looks too noisy, name one change that reduces variance and state the price you pay.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1293</Words>
  <Application>Microsoft Office PowerPoint</Application>
  <PresentationFormat>Widescreen</PresentationFormat>
  <Paragraphs>166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Peter Mathys</cp:lastModifiedBy>
  <cp:revision>3</cp:revision>
  <cp:lastPrinted>2026-09-29T22:30:51Z</cp:lastPrinted>
  <dcterms:created xsi:type="dcterms:W3CDTF">2013-01-27T09:14:16Z</dcterms:created>
  <dcterms:modified xsi:type="dcterms:W3CDTF">2026-09-29T22:41:10Z</dcterms:modified>
  <cp:category/>
</cp:coreProperties>
</file>