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888E"/>
                </a:solidFill>
                <a:latin typeface="Aptos"/>
              </a:rPr>
              <a:t>LECTURE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Non-Parametric Spectral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Bartlett, Welch, and the resolution–variance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Random processes / spectral analysis  |  Raschka • ML feature pipelines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766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Explain how averaging periodograms reduces estimator variance.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Construct Bartlett and Welch PSD estimates from finite data.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Explain what segmentation, window choice, and overlap each change.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Reason quantitatively about resolution versus variance.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Convert Welch PSDs into stable features for classical ML.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192024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572768"/>
            <a:ext cx="33284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1847088"/>
            <a:ext cx="3328416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How much frequency detail are we willing to trade for a PSD estimate that is statistically more stable?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The central trick: average noisy estimates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BARTLETT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A6676"/>
                </a:solidFill>
                <a:latin typeface="Aptos"/>
              </a:rPr>
              <a:t>One periodogram: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D67D35"/>
                </a:solidFill>
                <a:latin typeface="Aptos"/>
              </a:rPr>
              <a:t>high frequency detail + high variance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Average K approximately independent periodograms: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4888E"/>
                </a:solidFill>
                <a:latin typeface="Aptos"/>
              </a:rPr>
              <a:t>variance roughly decreases like 1/K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508760"/>
            <a:ext cx="388620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2" y="1618488"/>
            <a:ext cx="35570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But where do K estimates come from?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1892807"/>
            <a:ext cx="3557016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Split one long record into shorter segments. That gains averaging at the cost of shorter observation length per estimate.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Bartlett’s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BARTLETT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0:08–0:15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1. Split N samples into K non-overlapping segments of length L = N/K.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2. Compute a periodogram Iₖ(f) for each segment.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3. Average them: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54680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63A0"/>
                </a:solidFill>
                <a:latin typeface="Aptos"/>
              </a:rPr>
              <a:t>Ŝ_B(f) = (1/K) Σₖ₌₀ᴷ⁻¹ Iₖ(f)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4343400"/>
            <a:ext cx="969264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453128"/>
            <a:ext cx="93634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Trade-off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4727448"/>
            <a:ext cx="936345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L smaller → more segments K → lower variance, but coarser frequency resolution.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Bartlett: count the arithmetic and the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BARTLETT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0:15–0:20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6253E"/>
                </a:solidFill>
                <a:latin typeface="Aptos"/>
              </a:rPr>
              <a:t>Example: N = 4096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63A0"/>
                </a:solidFill>
                <a:latin typeface="Aptos"/>
              </a:rPr>
              <a:t>K = 8  ⇒  L = 512 samples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At Fₛ = 1000 Hz: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4888E"/>
                </a:solidFill>
                <a:latin typeface="Aptos"/>
              </a:rPr>
              <a:t>nominal bin spacing = Fₛ/L ≈ 1.95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069080" cy="22860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88352" y="1572768"/>
            <a:ext cx="3739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Compare with full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8352" y="1847088"/>
            <a:ext cx="3739896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4096-sample periodogram has ~0.244 Hz bin spacing. Bartlett gives up that fine grid to obtain 8 estimates to average.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Periodogram vs. Bartlett vs. Welch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METHOD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0:20–0:24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method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6629400" cy="3383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508760"/>
            <a:ext cx="3749039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8392" y="1618488"/>
            <a:ext cx="34198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What changes?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1892807"/>
            <a:ext cx="341985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Periodogram is detailed but jagged. Bartlett is smoother. Welch adds tapering and overlap, typically yielding a stable practical estimate.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41605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67D35"/>
                </a:solidFill>
                <a:latin typeface="Aptos"/>
              </a:rPr>
              <a:t>Do not interpret “smoother” as automatically “more accurate” at every frequency.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Why Welch improves on Bartlett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WELCH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0:24–0:30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Use overlapping segments instead of disjoint segments.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Apply a tapering window to each segment before the FFT.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Normalize for window power so the PSD scale remains meaningful.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Average the modified periodograms.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08760"/>
            <a:ext cx="365760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54112" y="1618488"/>
            <a:ext cx="33284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Two goals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4112" y="1892807"/>
            <a:ext cx="332841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Windowing controls leakage. Overlap recovers more averaging opportunities after tapering discards weight near segment edges.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Welch’s estimator: algorithm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WELCH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0:30–0:36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For segment k with window w[n]: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47088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63A0"/>
                </a:solidFill>
                <a:latin typeface="Aptos"/>
              </a:rPr>
              <a:t>Xₖ(f) = Σₙ w[n] xₖ[n] e⁻ʲ2πfn/Fₛ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Modified periodogram: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888E"/>
                </a:solidFill>
                <a:latin typeface="Aptos"/>
              </a:rPr>
              <a:t>Iₖ(f) ∝ |Xₖ(f)|² / Σₙ w²[n]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6253E"/>
                </a:solidFill>
                <a:latin typeface="Aptos"/>
              </a:rPr>
              <a:t>Then average Iₖ(f) across segments.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554480"/>
            <a:ext cx="365760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9831" y="1664207"/>
            <a:ext cx="33284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9831" y="1938528"/>
            <a:ext cx="33284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scipy.signal.welch handles window normalization, one-sided scaling, overlap, and FFT details.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Window choice: leakage versus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WELCH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0:36–0:42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window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6583680" cy="3383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417320"/>
            <a:ext cx="38404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6952" y="152704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1129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Narrower main lobe, but high sidelobes. Good resolution for bin-centered tones; poor leakage behavior otherwise.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383280"/>
            <a:ext cx="384048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16952" y="349300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Hann / Hamming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767328"/>
            <a:ext cx="35112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Lower sidelobes and better leakage control, but wider main lobes. Nearby spectral features can blur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Overlap: more segments, not more independent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WELCH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0:42–0:47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overlap_var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585216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1417320"/>
            <a:ext cx="429768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0% overlap: fewer, more nearly independent segments.</a:t>
            </a:r>
          </a:p>
          <a:p>
            <a:pPr>
              <a:spcAft>
                <a:spcPts val="8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50% overlap: common with Hann; reuses samples while shifting the window support.</a:t>
            </a:r>
          </a:p>
          <a:p>
            <a:pPr>
              <a:spcAft>
                <a:spcPts val="8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75% overlap: even more estimates, but substantial correlation between neighboring segments.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4297680"/>
            <a:ext cx="416052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9752" y="4407408"/>
            <a:ext cx="383133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Key nuance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9752" y="4681728"/>
            <a:ext cx="3831335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Variance reduction is not exactly 1/K when segments overlap because the estimates are correlated.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Segment length controls the main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RESOLUTION vs 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0:47–0:53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seg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6583680" cy="3383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417320"/>
            <a:ext cx="379476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527048"/>
            <a:ext cx="34655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Long segments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2671" y="1801368"/>
            <a:ext cx="346557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Sharper peaks and finer frequency detail, but fewer averages → higher estimator variance.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429000"/>
            <a:ext cx="379476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3538728"/>
            <a:ext cx="34655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Short segments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1" y="3813048"/>
            <a:ext cx="346557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More averages and smoother PSD, but broad peaks and reduced ability to separate nearby components.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A quantitative design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RESOLUTION vs 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0:53–0:58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53E"/>
                </a:solidFill>
                <a:latin typeface="Aptos"/>
              </a:rPr>
              <a:t>Start from the frequency detail you need.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Choose segment length L so Fₛ/L is comfortably smaller than the separation of important features.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53E"/>
                </a:solidFill>
                <a:latin typeface="Aptos"/>
              </a:rPr>
              <a:t>Then choose a window and overlap.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Window: leakage suppression versus main-lobe width.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Overlap: number of averaged segments versus correlation/computation.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Validate on repeated records, not just one aesthetically smooth PSD.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5257800"/>
            <a:ext cx="8321040" cy="6858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2" y="5367528"/>
            <a:ext cx="79918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Rule of thumb, not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2" y="5641848"/>
            <a:ext cx="7991856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50% overlap with a Hann window is a strong default, but the signal and objective should determine the final design.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Concept check: two close tones in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0:58–1:02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You must distinguish tones at 120 Hz and 126 Hz in noisy data sampled at 1 kHz.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463A0"/>
                </a:solidFill>
                <a:latin typeface="Aptos"/>
              </a:rPr>
              <a:t>Which change is most likely to help?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A. Shorter Welch segments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B. Longer Welch segments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C. More zero-padding only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D. Heavier smoothing across frequency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880360"/>
            <a:ext cx="38404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299008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answer: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264408"/>
            <a:ext cx="351129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Longer segments provide narrower spectral main lobes and better true frequency resolution. Zero-padding alone only samples the same spectral estimate more densely.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PSD as an ML feature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1:02–1:07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6253E"/>
                </a:solidFill>
                <a:latin typeface="Aptos"/>
              </a:rPr>
              <a:t>Raw waveform → Welch PSD → band powers / spectral shape → classifier</a:t>
            </a:r>
          </a:p>
        </p:txBody>
      </p:sp>
      <p:pic>
        <p:nvPicPr>
          <p:cNvPr id="8" name="Picture 7" descr="ml_band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669280" cy="3154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12280" y="2194560"/>
            <a:ext cx="4251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Welch features average away nuisance sample-to-sample randomness.</a:t>
            </a:r>
          </a:p>
          <a:p>
            <a:pPr>
              <a:spcAft>
                <a:spcPts val="8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Bandpower compresses hundreds of PSD bins into interpretable features.</a:t>
            </a:r>
          </a:p>
          <a:p>
            <a:pPr>
              <a:spcAft>
                <a:spcPts val="8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StandardScaler + SVM or Random Forest can then operate on stable vectors.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4800600"/>
            <a:ext cx="425196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76872" y="4910328"/>
            <a:ext cx="39227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Caution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5184648"/>
            <a:ext cx="39227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PSD features intentionally discard phase and precise time localization. That may be desirable—or fatal—depending on the task.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Example ML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1:07–1:11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A6676"/>
                </a:solidFill>
                <a:latin typeface="Aptos"/>
              </a:rPr>
              <a:t>For each record: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7040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1. Compute Welch PSD with a fixed analysis configuration.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2. Integrate power in physically meaningful frequency bands.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3. Optionally add spectral centroid, roll-off, or log-band powers.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4. Standardize features using training data only.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5. Train SVM / logistic regression / random forest and cross-validate.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783080"/>
            <a:ext cx="3154680" cy="23317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1892807"/>
            <a:ext cx="28254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Leakage in ML can be literal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2167128"/>
            <a:ext cx="2825496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Never compute normalization statistics using the test set. Signal-processing leakage and data-set leakage are different problems—but both invalidate conclusions.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Coding demo: design Welch instead of just calling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1:11–1:14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6766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Compare custom Bartlett and scipy.signal.welch.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Sweep nperseg and observe peak separation versus smoothness.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Sweep overlap and measure repeated-estimate variability.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Build Welch bandpower features and train an SVM/Random Forest.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50876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618488"/>
            <a:ext cx="3236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Student prediction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6992" y="1892807"/>
            <a:ext cx="323697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Before running each cell, ask which curve should be smoother, which should resolve the tones better, and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>
                <a:solidFill>
                  <a:srgbClr val="16253E"/>
                </a:solidFill>
                <a:latin typeface="Aptos"/>
              </a:rPr>
              <a:t>The goal is estimator reasoning—not memorizing one “best” Welch configuration.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Lecture 18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1:14–1:15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7406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Bartlett reduces variance by averaging non-overlapping periodograms.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Welch adds windows and overlap for better leakage control and practical averaging.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Segment length is the primary resolution–variance knob.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Overlap helps, but overlapping segments are correlated.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Stable PSD summaries can be strong classical-ML features.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554480"/>
            <a:ext cx="306324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1664207"/>
            <a:ext cx="2734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1938528"/>
            <a:ext cx="273405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If a Welch PSD looks too noisy, name one change that reduces variance and state the price you pay.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