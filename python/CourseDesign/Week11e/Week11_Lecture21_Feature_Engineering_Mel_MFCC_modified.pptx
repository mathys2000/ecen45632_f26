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640080"/>
            <a:ext cx="146304" cy="5394960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0972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Feature Engineering</a:t>
            </a:r>
          </a:p>
          <a:p>
            <a:pPr>
              <a:defRPr sz="2300">
                <a:solidFill>
                  <a:srgbClr val="C6DAE7"/>
                </a:solidFill>
                <a:latin typeface="Aptos"/>
              </a:defRPr>
            </a:pPr>
            <a:r>
              <a:t>From Physics to Perception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306324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5ECF2"/>
                </a:solidFill>
              </a:defRPr>
            </a:pPr>
            <a:r>
              <a:t>STFT → Mel filterbanks → log compression → MFCCs → fixed-size ML 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983480"/>
            <a:ext cx="3840480" cy="50292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WEEK 11 • LECTURE 21 • 75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Week 11 changes the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THE TRANSITION FROM DSP ANALYSIS TO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00–15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Classical DSP asks: can we represent, filter, or reconstruct the signal faithfully?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ML asks: which representation makes the decision boundary easiest to learn?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A feature may intentionally discard information that is irrelevant to the task.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But discarded information cannot be recovered later—feature engineering encodes assumptions.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828800"/>
            <a:ext cx="3566160" cy="123444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Preserve what matters for the label; compress what does not.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657600"/>
            <a:ext cx="3566160" cy="132588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Feature engineering = physics + perception + task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167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5E6875"/>
                </a:solidFill>
              </a:defRPr>
            </a:pPr>
            <a:r>
              <a:t>Instructor cue: Ask for one task where perfect reconstruction is unnecessary: siren detection, keyword spotting, bearing-fault classification.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BY THE END OF LECTURE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00–15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Explain why linear-Hz STFT bins are not always the most efficient coordinates for audio classification.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Construct a Mel-spectrogram conceptually as a weighted sum of STFT power bins.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Explain log compression and the DCT step used to form MFCCs.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Standardize waveform geometry: channels, sample rate, duration, and feature shape.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Choose between Mel-spectrograms, MFCC matrices, and summarized MFCC vectors for different model families.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The problem with linear frequency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THE STFT IS PHYSICALLY NATURAL, NOT PERCEPTUALLY UNIFORM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00–15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4</a:t>
            </a:r>
          </a:p>
        </p:txBody>
      </p:sp>
      <p:pic>
        <p:nvPicPr>
          <p:cNvPr id="8" name="Picture 7" descr="stft_vs_m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22376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14173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62D"/>
                </a:solidFill>
                <a:latin typeface="Aptos"/>
              </a:defRPr>
            </a:pPr>
            <a:r>
              <a:t>• At 22.05 kHz with n_fft=2048, the one-sided STFT has 1025 frequency bins.</a:t>
            </a:r>
          </a:p>
          <a:p>
            <a:pPr>
              <a:spcAft>
                <a:spcPts val="800"/>
              </a:spcAft>
              <a:defRPr sz="1400">
                <a:solidFill>
                  <a:srgbClr val="22262D"/>
                </a:solidFill>
                <a:latin typeface="Aptos"/>
              </a:defRPr>
            </a:pPr>
            <a:r>
              <a:t>• For many audio tasks, fine resolution at the top of the band is less useful than fine resolution at low frequencies.</a:t>
            </a:r>
          </a:p>
          <a:p>
            <a:pPr>
              <a:spcAft>
                <a:spcPts val="800"/>
              </a:spcAft>
              <a:defRPr sz="1400">
                <a:solidFill>
                  <a:srgbClr val="22262D"/>
                </a:solidFill>
                <a:latin typeface="Aptos"/>
              </a:defRPr>
            </a:pPr>
            <a:r>
              <a:t>• Mel filterbanks pool neighboring bins nonuniformly, reducing dimension while keeping time 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09160"/>
            <a:ext cx="1042416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2253F"/>
                </a:solidFill>
                <a:latin typeface="Cambria Math"/>
              </a:defRPr>
            </a:pPr>
            <a:r>
              <a:t>STFT power P[k,m]  →  Mel power S_mel[b,m]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167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5E6875"/>
                </a:solidFill>
              </a:defRPr>
            </a:pPr>
            <a:r>
              <a:t>Instructor cue: Phrase “human hearing is logarithmic” carefully: Mel is a perceptual warping, not a universal law of hearing.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Physics coordinates vs perception-oriented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SAME SOUND, DIFFERENT REPRESENTATIONS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00–15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2560320" cy="192024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Linear Hz / STFT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Equal-width frequency bins</a:t>
            </a:r>
            <a:br/>
            <a:r>
              <a:t>Direct physical meaning</a:t>
            </a:r>
            <a:br/>
            <a:r>
              <a:t>Filter-analysis friendly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508760"/>
            <a:ext cx="2560320" cy="192024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Mel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More low-frequency detail</a:t>
            </a:r>
            <a:br/>
            <a:r>
              <a:t>Broader high-frequency bands</a:t>
            </a:r>
            <a:br/>
            <a:r>
              <a:t>Compact audio front 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08760"/>
            <a:ext cx="2560320" cy="1920240"/>
          </a:xfrm>
          <a:prstGeom prst="roundRect">
            <a:avLst/>
          </a:prstGeom>
          <a:solidFill>
            <a:srgbClr val="E3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MFCC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DCT of log-Mel</a:t>
            </a:r>
            <a:br/>
            <a:r>
              <a:t>Compact spectral envelope</a:t>
            </a:r>
            <a:br/>
            <a:r>
              <a:t>Classical baseline friendly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508760"/>
            <a:ext cx="2148840" cy="1920240"/>
          </a:xfrm>
          <a:prstGeom prst="roundRect">
            <a:avLst/>
          </a:prstGeom>
          <a:solidFill>
            <a:srgbClr val="B9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CNN input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Keep full 2D map</a:t>
            </a:r>
            <a:br/>
            <a:r>
              <a:t>Learn local patterns</a:t>
            </a:r>
            <a:br/>
            <a:r>
              <a:t>Next week: CNNs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51960"/>
            <a:ext cx="8412480" cy="914400"/>
          </a:xfrm>
          <a:prstGeom prst="round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 representation is free: every compression trades detail for invariance or efficiency.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The Mel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ONE COMMON MAPPING FROM HZ TO A PERCEPTUAL-LIKE COORDINATE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15–35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6</a:t>
            </a:r>
          </a:p>
        </p:txBody>
      </p:sp>
      <p:pic>
        <p:nvPicPr>
          <p:cNvPr id="8" name="Picture 7" descr="mel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217920" cy="3474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0" y="1600200"/>
            <a:ext cx="420624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2253F"/>
                </a:solidFill>
                <a:latin typeface="Cambria Math"/>
              </a:defRPr>
            </a:pPr>
            <a:r>
              <a:t>m = 2595 log10(1 + f/700)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743200"/>
            <a:ext cx="4297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62D"/>
                </a:solidFill>
                <a:latin typeface="Aptos"/>
              </a:defRPr>
            </a:pPr>
            <a:r>
              <a:t>• The formula shown is the common HTK-style mapping.</a:t>
            </a:r>
          </a:p>
          <a:p>
            <a:pPr>
              <a:spcAft>
                <a:spcPts val="800"/>
              </a:spcAft>
              <a:defRPr sz="1400">
                <a:solidFill>
                  <a:srgbClr val="22262D"/>
                </a:solidFill>
                <a:latin typeface="Aptos"/>
              </a:defRPr>
            </a:pPr>
            <a:r>
              <a:t>• librosa defaults to a Slaney-style Mel definition; set htk=True for the HTK convention.</a:t>
            </a:r>
          </a:p>
          <a:p>
            <a:pPr>
              <a:spcAft>
                <a:spcPts val="800"/>
              </a:spcAft>
              <a:defRPr sz="1400">
                <a:solidFill>
                  <a:srgbClr val="22262D"/>
                </a:solidFill>
                <a:latin typeface="Aptos"/>
              </a:defRPr>
            </a:pPr>
            <a:r>
              <a:t>• The important idea is frequency warping—not memorizing one constant.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167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5E6875"/>
                </a:solidFill>
              </a:defRPr>
            </a:pPr>
            <a:r>
              <a:t>Instructor cue: Use 100→200 Hz versus 10,000→10,100 Hz as intuition; avoid claiming an exact perceptual 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Mel filterbanks are weighted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TRIANGULAR BANDS COMPRESS FREQUENCY WITHOUT DESTROYING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15–35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7</a:t>
            </a:r>
          </a:p>
        </p:txBody>
      </p:sp>
      <p:pic>
        <p:nvPicPr>
          <p:cNvPr id="8" name="Picture 7" descr="mel_filter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85800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6679" y="150876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Each filter H_b[k] assigns weights to neighboring FFT bins.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Low-frequency filters are relatively narrow; high-frequency filters cover more Hz.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Overlapping filters provide smooth transitions between bands.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937760"/>
            <a:ext cx="996696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2253F"/>
                </a:solidFill>
                <a:latin typeface="Cambria Math"/>
              </a:defRPr>
            </a:pPr>
            <a:r>
              <a:t>S_mel[b,m] = Σ_k H_b[k] |X[m,k]|²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Matrix view: Mel features are a linear map of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A BRIDGE BACK TO LINEAR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15–35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920240" cy="100584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STFT power</a:t>
            </a:r>
            <a:br/>
            <a:r>
              <a:t>[K × 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828800"/>
            <a:ext cx="1920240" cy="100584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Mel bank</a:t>
            </a:r>
            <a:br/>
            <a:r>
              <a:t>[B × K]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28800"/>
            <a:ext cx="2743200" cy="1005840"/>
          </a:xfrm>
          <a:prstGeom prst="roundRect">
            <a:avLst/>
          </a:prstGeom>
          <a:solidFill>
            <a:srgbClr val="E3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S_mel = H P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Mel power</a:t>
            </a:r>
            <a:br/>
            <a:r>
              <a:t>[B × T]</a:t>
            </a:r>
          </a:p>
        </p:txBody>
      </p:sp>
      <p:sp>
        <p:nvSpPr>
          <p:cNvPr id="11" name="Chevron 10"/>
          <p:cNvSpPr/>
          <p:nvPr/>
        </p:nvSpPr>
        <p:spPr>
          <a:xfrm>
            <a:off x="2834640" y="2084831"/>
            <a:ext cx="594360" cy="411480"/>
          </a:xfrm>
          <a:prstGeom prst="chevron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hevron 11"/>
          <p:cNvSpPr/>
          <p:nvPr/>
        </p:nvSpPr>
        <p:spPr>
          <a:xfrm>
            <a:off x="5669280" y="2084831"/>
            <a:ext cx="594360" cy="411480"/>
          </a:xfrm>
          <a:prstGeom prst="chevron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70332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Frequency compression happens independently in every time frame.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Time resolution is inherited from the STFT hop length.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Choosing n_mels controls the frequency-feature dimension.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librosa: compute a Mel-spectrogram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CODE SHOULD MIRROR THE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15–35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3931920"/>
          </a:xfrm>
          <a:prstGeom prst="roundRect">
            <a:avLst/>
          </a:prstGeom>
          <a:solidFill>
            <a:srgbClr val="1F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400">
                <a:solidFill>
                  <a:srgbClr val="E8EDF3"/>
                </a:solidFill>
                <a:latin typeface="Consolas"/>
              </a:defRPr>
            </a:pPr>
            <a:r>
              <a:t>M = librosa.feature.melspectrogram(</a:t>
            </a:r>
            <a:br/>
            <a:r>
              <a:t>    y=y, sr=22050,</a:t>
            </a:r>
            <a:br/>
            <a:r>
              <a:t>    n_fft=2048, hop_length=512,</a:t>
            </a:r>
            <a:br/>
            <a:r>
              <a:t>    n_mels=64,</a:t>
            </a:r>
            <a:br/>
            <a:r>
              <a:t>    power=2.0,</a:t>
            </a:r>
            <a:br/>
            <a:r>
              <a:t>)</a:t>
            </a:r>
            <a:br/>
            <a:r>
              <a:t>M_db = librosa.power_to_db(M, ref=np.max)</a:t>
            </a:r>
            <a:br/>
            <a:br/>
            <a:r>
              <a:t>print(M.shape)      # (64, time_frames)</a:t>
            </a:r>
            <a:br/>
            <a:r>
              <a:t>print(M_db.max())   # 0 dB relative to peak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167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5E6875"/>
                </a:solidFill>
              </a:defRPr>
            </a:pPr>
            <a:r>
              <a:t>Instructor cue: Ask students to predict the first dimension. power=2 means power; power_to_db therefore uses 10 log10.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Why take the logarithm?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DYNAMIC RANGE COMPRESSION IS PART OF FEATURE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15–35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493776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2253F"/>
                </a:solidFill>
                <a:latin typeface="Cambria Math"/>
              </a:defRPr>
            </a:pPr>
            <a:r>
              <a:t>S_dB = 10 log10(S / S_ref)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Spectral power can span orders of magnitude.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Log compression turns ratios into differences and makes weak structure more visible.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For power quantities use 10 log10(·); for amplitude ratios use 20 log10(·).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A floor is required numerically because log(0) is undefined.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828800"/>
            <a:ext cx="4023360" cy="91440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100× power ratio → +20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246120"/>
            <a:ext cx="4023360" cy="91440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0.01× power ratio → −20 dB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MFCC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A COMPACT DESCRIPTION OF SPECTRAL-ENVELOPE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35–55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1417320" cy="73152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Waveform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874519"/>
            <a:ext cx="1417320" cy="73152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STFT power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74519"/>
            <a:ext cx="1417320" cy="73152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Mel bank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874519"/>
            <a:ext cx="1417320" cy="731520"/>
          </a:xfrm>
          <a:prstGeom prst="roundRect">
            <a:avLst/>
          </a:prstGeom>
          <a:solidFill>
            <a:srgbClr val="E3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log /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874519"/>
            <a:ext cx="1417320" cy="731520"/>
          </a:xfrm>
          <a:prstGeom prst="roundRect">
            <a:avLst/>
          </a:prstGeom>
          <a:solidFill>
            <a:srgbClr val="B9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49840" y="1874519"/>
            <a:ext cx="1417320" cy="731520"/>
          </a:xfrm>
          <a:prstGeom prst="round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MFCCs</a:t>
            </a:r>
          </a:p>
        </p:txBody>
      </p:sp>
      <p:sp>
        <p:nvSpPr>
          <p:cNvPr id="14" name="Chevron 13"/>
          <p:cNvSpPr/>
          <p:nvPr/>
        </p:nvSpPr>
        <p:spPr>
          <a:xfrm>
            <a:off x="1993392" y="2039112"/>
            <a:ext cx="310896" cy="384048"/>
          </a:xfrm>
          <a:prstGeom prst="chevron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4096512" y="2039112"/>
            <a:ext cx="310896" cy="384048"/>
          </a:xfrm>
          <a:prstGeom prst="chevron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hevron 15"/>
          <p:cNvSpPr/>
          <p:nvPr/>
        </p:nvSpPr>
        <p:spPr>
          <a:xfrm>
            <a:off x="6245352" y="2039112"/>
            <a:ext cx="310896" cy="384048"/>
          </a:xfrm>
          <a:prstGeom prst="chevron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evron 16"/>
          <p:cNvSpPr/>
          <p:nvPr/>
        </p:nvSpPr>
        <p:spPr>
          <a:xfrm>
            <a:off x="8229600" y="2039112"/>
            <a:ext cx="310896" cy="384048"/>
          </a:xfrm>
          <a:prstGeom prst="chevron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hevron 17"/>
          <p:cNvSpPr/>
          <p:nvPr/>
        </p:nvSpPr>
        <p:spPr>
          <a:xfrm>
            <a:off x="9802368" y="2039112"/>
            <a:ext cx="310896" cy="384048"/>
          </a:xfrm>
          <a:prstGeom prst="chevron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88720" y="3977639"/>
            <a:ext cx="9784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2253F"/>
                </a:solidFill>
                <a:latin typeface="Cambria Math"/>
              </a:defRPr>
            </a:pPr>
            <a:r>
              <a:t>C[n,m] = DCT_b{ log S_mel[b,m]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749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Many classical pipelines retain roughly the first 13–40 coefficients.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Coefficient 0 largely tracks overall log-energy; higher indices encode faster variation across Mel bands.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What does the DCT buy 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APPROXIMATE DECORRELATION AND ENERGY COMPACTION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35–55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12</a:t>
            </a:r>
          </a:p>
        </p:txBody>
      </p:sp>
      <p:pic>
        <p:nvPicPr>
          <p:cNvPr id="8" name="Picture 7" descr="de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22376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09560" y="141732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62D"/>
                </a:solidFill>
                <a:latin typeface="Aptos"/>
              </a:defRPr>
            </a:pPr>
            <a:r>
              <a:t>• Neighboring Mel bands overlap, so their log energies are correlated.</a:t>
            </a:r>
          </a:p>
          <a:p>
            <a:pPr>
              <a:spcAft>
                <a:spcPts val="800"/>
              </a:spcAft>
              <a:defRPr sz="1400">
                <a:solidFill>
                  <a:srgbClr val="22262D"/>
                </a:solidFill>
                <a:latin typeface="Aptos"/>
              </a:defRPr>
            </a:pPr>
            <a:r>
              <a:t>• The DCT rotates those coordinates into cosine-basis directions.</a:t>
            </a:r>
          </a:p>
          <a:p>
            <a:pPr>
              <a:spcAft>
                <a:spcPts val="800"/>
              </a:spcAft>
              <a:defRPr sz="1400">
                <a:solidFill>
                  <a:srgbClr val="22262D"/>
                </a:solidFill>
                <a:latin typeface="Aptos"/>
              </a:defRPr>
            </a:pPr>
            <a:r>
              <a:t>• Low-order coefficients often concentrate useful smooth spectral-envelope information.</a:t>
            </a:r>
          </a:p>
          <a:p>
            <a:pPr>
              <a:spcAft>
                <a:spcPts val="800"/>
              </a:spcAft>
              <a:defRPr sz="1400">
                <a:solidFill>
                  <a:srgbClr val="22262D"/>
                </a:solidFill>
                <a:latin typeface="Aptos"/>
              </a:defRPr>
            </a:pPr>
            <a:r>
              <a:t>• “Decorrelates” is approximate and data-dependent—not a universal guarantee.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167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5E6875"/>
                </a:solidFill>
              </a:defRPr>
            </a:pPr>
            <a:r>
              <a:t>Instructor cue: Connect to older Gaussian/diagonal-covariance models. The DCT is not magic statistical independence.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How should students interpret MFCC indices?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USE QUALITATIVE INTUITION, NOT ONE-TO-ONE PHYSICAL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35–55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13</a:t>
            </a:r>
          </a:p>
        </p:txBody>
      </p:sp>
      <p:pic>
        <p:nvPicPr>
          <p:cNvPr id="8" name="Picture 7" descr="mf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309360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50876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Low-order coefficients: broad spectral-envelope / tilt information.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Higher-order coefficients: progressively finer variation across Mel bands.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MFCCs intentionally discard much detailed harmonic structure.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That compression can help a classical classifier—or hurt a task needing fine time–frequency detail.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Mel-spectrogram or MFCC?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CHOOSE THE REPRESENTATION TO MATCH THE MODEL AND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35–55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383280" cy="201168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Mel-spectrogram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2D time–frequency geometry</a:t>
            </a:r>
            <a:br/>
            <a:r>
              <a:t>Natural CNN input</a:t>
            </a:r>
            <a:br/>
            <a:r>
              <a:t>More local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201168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MFCC matrix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Compact spectral-envelope view</a:t>
            </a:r>
            <a:br/>
            <a:r>
              <a:t>Still has time frames</a:t>
            </a:r>
            <a:br/>
            <a:r>
              <a:t>Classical baseline friendly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383280" cy="2011680"/>
          </a:xfrm>
          <a:prstGeom prst="roundRect">
            <a:avLst/>
          </a:prstGeom>
          <a:solidFill>
            <a:srgbClr val="E3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MFCC summary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Mean/std over time</a:t>
            </a:r>
            <a:br/>
            <a:r>
              <a:t>Fixed vector</a:t>
            </a:r>
            <a:br/>
            <a:r>
              <a:t>Temporal order destroyed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4754880"/>
            <a:ext cx="7498079" cy="777240"/>
          </a:xfrm>
          <a:prstGeom prst="round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 universally “best” feature: representation creates an inductive bias.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Standardizing waveform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BEFORE FEATURES, MAKE EXAMPLES COMPARABLE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55–75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502920" cy="50292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234440"/>
            <a:ext cx="9601200" cy="658368"/>
          </a:xfrm>
          <a:prstGeom prst="roundRect">
            <a:avLst/>
          </a:prstGeom>
          <a:solidFill>
            <a:srgbClr val="667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Channels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Stereo → mono or a defined multi-channel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76272"/>
            <a:ext cx="502920" cy="50292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2176272"/>
            <a:ext cx="9601200" cy="658368"/>
          </a:xfrm>
          <a:prstGeom prst="roundRect">
            <a:avLst/>
          </a:prstGeom>
          <a:solidFill>
            <a:srgbClr val="667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Sample rate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Resample every clip to 22.05 kHz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18104"/>
            <a:ext cx="502920" cy="50292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3118104"/>
            <a:ext cx="9601200" cy="658368"/>
          </a:xfrm>
          <a:prstGeom prst="roundRect">
            <a:avLst/>
          </a:prstGeom>
          <a:solidFill>
            <a:srgbClr val="667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Duration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Pad/truncate to exactly 4.0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59935"/>
            <a:ext cx="502920" cy="50292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4059935"/>
            <a:ext cx="9601200" cy="658368"/>
          </a:xfrm>
          <a:prstGeom prst="roundRect">
            <a:avLst/>
          </a:prstGeom>
          <a:solidFill>
            <a:srgbClr val="667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Amplitude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Use a consistent numeric range; do not erase meaningful level without justification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001768"/>
            <a:ext cx="502920" cy="50292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5001768"/>
            <a:ext cx="9601200" cy="658368"/>
          </a:xfrm>
          <a:prstGeom prst="roundRect">
            <a:avLst/>
          </a:prstGeom>
          <a:solidFill>
            <a:srgbClr val="667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Features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Same n_fft, hop, n_mels, and n_mfcc for every clip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Downmixing stereo to mono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A CHANNEL DECISION IS PART OF THE MEASUREMENT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55–75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512064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2253F"/>
                </a:solidFill>
                <a:latin typeface="Cambria Math"/>
              </a:defRPr>
            </a:pPr>
            <a:r>
              <a:t>y_mono[n] = 0.5(y_L[n] + y_R[n])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Simple averaging is common when spatial information is irrelevant.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Do not downmix blindly if direction or spatial cues are part of the label.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librosa.load(..., mono=True) can downmix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828800"/>
            <a:ext cx="4389120" cy="1463040"/>
          </a:xfrm>
          <a:prstGeom prst="roundRect">
            <a:avLst/>
          </a:prstGeom>
          <a:solidFill>
            <a:srgbClr val="B9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Feature engineering begins with deciding what information you are willing to throw away.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Resampling: one physical frequency grid for every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22.05 KHZ BECOMES THE COURSE CONVENTION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55–75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64008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2253F"/>
                </a:solidFill>
                <a:latin typeface="Cambria Math"/>
              </a:defRPr>
            </a:pPr>
            <a:r>
              <a:t>N_samples = duration × f_s = 4.0 × 22050 = 88,200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6583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A fixed sample rate makes FFT-bin frequencies and Mel bands comparable across files.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Always use an anti-aliased resampler; naive sample dropping is not resampling.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22.05 kHz implies Nyquist = 11.025 kHz—acceptable only if the task does not need higher-frequency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383280" cy="109728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DSP prerequisite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Week 2 still matters: bad rate conversion can create aliases.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Padding and truncation: force a fixed tensor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SAME DURATION → SAME NUMBER OF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55–75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577840" cy="3474720"/>
          </a:xfrm>
          <a:prstGeom prst="roundRect">
            <a:avLst/>
          </a:prstGeom>
          <a:solidFill>
            <a:srgbClr val="1F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400">
                <a:solidFill>
                  <a:srgbClr val="E8EDF3"/>
                </a:solidFill>
                <a:latin typeface="Consolas"/>
              </a:defRPr>
            </a:pPr>
            <a:r>
              <a:t>target_len = int(4.0 * 22050)   # 88,200 samples</a:t>
            </a:r>
            <a:br/>
            <a:br/>
            <a:r>
              <a:t>if len(y) &lt; target_len:</a:t>
            </a:r>
            <a:br/>
            <a:r>
              <a:t>    y = np.pad(y, (0, target_len - len(y)))</a:t>
            </a:r>
            <a:br/>
            <a:r>
              <a:t>else:</a:t>
            </a:r>
            <a:br/>
            <a:r>
              <a:t>    y = y[:target_len]</a:t>
            </a:r>
            <a:br/>
            <a:br/>
            <a:r>
              <a:t>assert y.shape == (target_len,)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60020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Padding location is a design choice: right, left, or centered.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Truncation can remove events—random crops or multiple crops may be better during training.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For this week, deterministic right-padding/right-truncation keeps the baseline easy to debug.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Shape bookkeeping: predict dimensions before running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A POWERFUL DEBUGGING HABIT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55–75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2011680" cy="77724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Waveform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[88,200]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554480"/>
            <a:ext cx="2011680" cy="77724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STFT power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[1025, ~173]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554480"/>
            <a:ext cx="2011680" cy="77724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Mel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[64, ~173]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554480"/>
            <a:ext cx="2011680" cy="777240"/>
          </a:xfrm>
          <a:prstGeom prst="roundRect">
            <a:avLst/>
          </a:prstGeom>
          <a:solidFill>
            <a:srgbClr val="E3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MFCC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[20, ~173]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554480"/>
            <a:ext cx="1645920" cy="777240"/>
          </a:xfrm>
          <a:prstGeom prst="round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Mean+std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[40]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Exact frame count depends on STFT centering/padding conventions.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Flattening 20×173 MFCCs gives 3460 features; mean+std gives only 40.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Dimensionality reduction is useful—but every reduction throws away structure.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Live code-along: one UrbanSound8K clip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MAKE EVERY PREPROCESSING DECISION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55–75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698480" cy="4251960"/>
          </a:xfrm>
          <a:prstGeom prst="roundRect">
            <a:avLst/>
          </a:prstGeom>
          <a:solidFill>
            <a:srgbClr val="1F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320">
                <a:solidFill>
                  <a:srgbClr val="E8EDF3"/>
                </a:solidFill>
                <a:latin typeface="Consolas"/>
              </a:defRPr>
            </a:pPr>
            <a:r>
              <a:t>y, sr0 = librosa.load(path, sr=None, mono=True)</a:t>
            </a:r>
            <a:br/>
            <a:r>
              <a:t>y = librosa.resample(y, orig_sr=sr0, target_sr=22050)</a:t>
            </a:r>
            <a:br/>
            <a:r>
              <a:t>y = fix_length(y, int(4.0 * 22050))</a:t>
            </a:r>
            <a:br/>
            <a:br/>
            <a:r>
              <a:t>mel = librosa.feature.melspectrogram(</a:t>
            </a:r>
            <a:br/>
            <a:r>
              <a:t>    y=y, sr=22050, n_fft=2048,</a:t>
            </a:r>
            <a:br/>
            <a:r>
              <a:t>    hop_length=512, n_mels=64, power=2.0)</a:t>
            </a:r>
            <a:br/>
            <a:r>
              <a:t>mel_db = librosa.power_to_db(mel, ref=np.max)</a:t>
            </a:r>
            <a:br/>
            <a:r>
              <a:t>mfcc = librosa.feature.mfcc(S=mel_db, n_mfcc=20)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167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5E6875"/>
                </a:solidFill>
              </a:defRPr>
            </a:pPr>
            <a:r>
              <a:t>Instructor cue: Pause after every line: what invariant did we establish, and what information might we have discarded?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Concept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REASON ABOUT REPRESENTATION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9875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A. Increasing n_mels always improves classification accuracy.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B. Converting stereo to mono is harmless for every audio task.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C. Mean MFCCs reduce dimensionality but remove temporal ordering.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D. Converting power to dB restores information lost by Mel pooling.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7D379-AA58-7CD7-FD5F-D37A8DC8D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D76C2C-EFCA-1381-6199-B8F3617840C7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18E416-187B-9323-A170-C68B6C8EA1F1}"/>
              </a:ext>
            </a:extLst>
          </p:cNvPr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Concept check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7C7A3-8571-E30E-9674-C3D4FFD3E5E0}"/>
              </a:ext>
            </a:extLst>
          </p:cNvPr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REASON ABOUT REPRESENTATION CHOICES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47007-8CD3-2C1A-EF37-7B7BC0B5DF58}"/>
              </a:ext>
            </a:extLst>
          </p:cNvPr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E6001-C578-06E8-25EB-701EC0B2578D}"/>
              </a:ext>
            </a:extLst>
          </p:cNvPr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ACA54-821D-9FCD-443D-4837D15DE7B5}"/>
              </a:ext>
            </a:extLst>
          </p:cNvPr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F21EDE-5701-8410-C943-E83747430FFF}"/>
              </a:ext>
            </a:extLst>
          </p:cNvPr>
          <p:cNvSpPr txBox="1"/>
          <p:nvPr/>
        </p:nvSpPr>
        <p:spPr>
          <a:xfrm>
            <a:off x="914400" y="1554480"/>
            <a:ext cx="9875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A. Increasing n_mels always improves classification accuracy.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B. Converting stereo to mono is harmless for every audio task.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C. Mean MFCCs reduce dimensionality but remove temporal ordering.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D. Converting power to dB restores information lost by Mel pooling.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33430DA-23C1-DCDF-A688-ACE79002EDF8}"/>
              </a:ext>
            </a:extLst>
          </p:cNvPr>
          <p:cNvSpPr/>
          <p:nvPr/>
        </p:nvSpPr>
        <p:spPr>
          <a:xfrm>
            <a:off x="3886200" y="4434840"/>
            <a:ext cx="4114800" cy="731520"/>
          </a:xfrm>
          <a:prstGeom prst="roundRect">
            <a:avLst/>
          </a:prstGeom>
          <a:solidFill>
            <a:srgbClr val="38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Correct: 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A6F1D6-DB5F-D039-D8EC-B805E4B399AE}"/>
              </a:ext>
            </a:extLst>
          </p:cNvPr>
          <p:cNvSpPr txBox="1"/>
          <p:nvPr/>
        </p:nvSpPr>
        <p:spPr>
          <a:xfrm>
            <a:off x="1234440" y="5349240"/>
            <a:ext cx="9235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62D"/>
                </a:solidFill>
                <a:latin typeface="Aptos"/>
              </a:defRPr>
            </a:pPr>
            <a:r>
              <a:t>• A, B, and D are not guaranteed. Each preprocessing choice encodes an assumption about which information matters.</a:t>
            </a:r>
          </a:p>
        </p:txBody>
      </p:sp>
    </p:spTree>
    <p:extLst>
      <p:ext uri="{BB962C8B-B14F-4D97-AF65-F5344CB8AC3E}">
        <p14:creationId xmlns:p14="http://schemas.microsoft.com/office/powerpoint/2010/main" val="3080617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Lecture 21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FROM WAVEFORM PHYSICS TO ML-READY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645920" cy="64008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417320"/>
            <a:ext cx="1645920" cy="64008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Mel pooling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417320"/>
            <a:ext cx="1645920" cy="640080"/>
          </a:xfrm>
          <a:prstGeom prst="roundRect">
            <a:avLst/>
          </a:prstGeom>
          <a:solidFill>
            <a:srgbClr val="E3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log /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417320"/>
            <a:ext cx="1645920" cy="640080"/>
          </a:xfrm>
          <a:prstGeom prst="roundRect">
            <a:avLst/>
          </a:prstGeom>
          <a:solidFill>
            <a:srgbClr val="B9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417320"/>
            <a:ext cx="2194560" cy="640080"/>
          </a:xfrm>
          <a:prstGeom prst="round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MFCC / Mel</a:t>
            </a:r>
          </a:p>
        </p:txBody>
      </p:sp>
      <p:sp>
        <p:nvSpPr>
          <p:cNvPr id="13" name="Chevron 12"/>
          <p:cNvSpPr/>
          <p:nvPr/>
        </p:nvSpPr>
        <p:spPr>
          <a:xfrm>
            <a:off x="2331720" y="1581912"/>
            <a:ext cx="274320" cy="320040"/>
          </a:xfrm>
          <a:prstGeom prst="chevron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evron 13"/>
          <p:cNvSpPr/>
          <p:nvPr/>
        </p:nvSpPr>
        <p:spPr>
          <a:xfrm>
            <a:off x="4572000" y="1581912"/>
            <a:ext cx="274320" cy="320040"/>
          </a:xfrm>
          <a:prstGeom prst="chevron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6629400" y="1581912"/>
            <a:ext cx="274320" cy="320040"/>
          </a:xfrm>
          <a:prstGeom prst="chevron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hevron 15"/>
          <p:cNvSpPr/>
          <p:nvPr/>
        </p:nvSpPr>
        <p:spPr>
          <a:xfrm>
            <a:off x="8549640" y="1581912"/>
            <a:ext cx="274320" cy="320040"/>
          </a:xfrm>
          <a:prstGeom prst="chevron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88036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Mel features compress frequency according to a perceptual warping.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MFCCs further rotate/compress log-Mel information for compact classical features.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Fixed channels, rate, duration, and feature parameters give the model consistent geometry.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Next lecture: feature matrices become X, labels become y, and evaluation discipline becomes central.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2364</Words>
  <Application>Microsoft Office PowerPoint</Application>
  <PresentationFormat>Widescreen</PresentationFormat>
  <Paragraphs>256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2</cp:revision>
  <dcterms:created xsi:type="dcterms:W3CDTF">2013-01-27T09:14:16Z</dcterms:created>
  <dcterms:modified xsi:type="dcterms:W3CDTF">2026-08-23T19:30:08Z</dcterms:modified>
  <cp:category/>
</cp:coreProperties>
</file>