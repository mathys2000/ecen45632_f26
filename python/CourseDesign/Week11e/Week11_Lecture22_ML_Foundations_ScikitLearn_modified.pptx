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640080"/>
            <a:ext cx="146304" cy="5394960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0972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 Display"/>
              </a:defRPr>
            </a:pPr>
            <a:r>
              <a:t>Machine Learning Foundations</a:t>
            </a:r>
          </a:p>
          <a:p>
            <a:pPr>
              <a:defRPr sz="2300">
                <a:solidFill>
                  <a:srgbClr val="C6DAE7"/>
                </a:solidFill>
                <a:latin typeface="Aptos"/>
              </a:defRPr>
            </a:pPr>
            <a:r>
              <a:t>Supervised Learning, Data Splits, and Scikit-Learn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3063240"/>
            <a:ext cx="9784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5ECF2"/>
                </a:solidFill>
              </a:defRPr>
            </a:pPr>
            <a:r>
              <a:t>Features X + labels y → fit a model → evaluate honestly → understand failure modes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4983480"/>
            <a:ext cx="3840480" cy="5029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WEEK 11 • LECTURE 22 • 75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BY THE END OF LECTURE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00–20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Write the supervised-learning problem as a mapping from feature vectors to labels.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Explain the distinct roles of training, validation, and test data.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Recognize source-level leakage in segmented audio datasets.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Convert time-varying MFCC matrices into fixed-length vectors for classical models.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Train and evaluate a baseline classifier using the scikit-learn estimator API and a confusion matrix.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From rules to learned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SUPERVISED LEARNING CHANGES WHO WRITES THE DECISION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00–20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2971800" cy="196596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Traditional program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Engineer writes rules</a:t>
            </a:r>
            <a:br/>
            <a:r>
              <a:t>Input + rules → output</a:t>
            </a:r>
            <a:br/>
            <a:r>
              <a:t>Useful when rules are explicit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554480"/>
            <a:ext cx="2971800" cy="196596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Supervised ML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Provide labeled examples</a:t>
            </a:r>
            <a:br/>
            <a:r>
              <a:t>Algorithm estimates θ</a:t>
            </a:r>
            <a:br/>
            <a:r>
              <a:t>Generalize to unseen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554480"/>
            <a:ext cx="2971800" cy="196596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Audio example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x = audio features</a:t>
            </a:r>
            <a:br/>
            <a:r>
              <a:t>y = class label</a:t>
            </a:r>
            <a:br/>
            <a:r>
              <a:t>ŷ = predicted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800600"/>
            <a:ext cx="530352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ŷ = f(x ; 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Feature matrix X and target vector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SCIKIT-LEARN USES A TABULAR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00–20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100584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X ∈ R^(N×D)      y ∈ {1,…,C}^N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880360"/>
            <a:ext cx="2194560" cy="7315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number of clips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880360"/>
            <a:ext cx="2194560" cy="73152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features per clip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2880360"/>
            <a:ext cx="2194560" cy="73152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number of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Every row X[i,:] must have the same length D.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y[i] is the label paired with exactly that row.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For 20-MFCC mean+std features, D = 40.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What is a “feature”?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A COORDINATE CHOSEN TO MAKE PREDICTION EASIER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00–20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6400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Raw waveform sample: physically direct, but high dimensional and alignment sensitive.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Mel bin at one time frame: localized perceptual-frequency energy.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MFCC coefficient: compact combination of log-Mel bands.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Time-mean MFCC: one number summarizing a whole clip.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Feature engineering chooses which invariances the model gets for free.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920240"/>
            <a:ext cx="3566160" cy="169164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Invariance example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Time averaging makes the representation less sensitive to WHEN a sound occurs—but it also hides temporal order.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Train, validation, and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THREE DIFFERENT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20–40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200400" cy="219456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Fit model parameters</a:t>
            </a:r>
            <a:br/>
            <a:r>
              <a:t>Fit data-dependent preprocessing</a:t>
            </a:r>
            <a:br/>
            <a:r>
              <a:t>Seen throughout development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63040"/>
            <a:ext cx="3200400" cy="219456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VALIDATION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Choose hyperparameters</a:t>
            </a:r>
            <a:br/>
            <a:r>
              <a:t>Compare feature/model choices</a:t>
            </a:r>
            <a:br/>
            <a:r>
              <a:t>May guide development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63040"/>
            <a:ext cx="3200400" cy="2194560"/>
          </a:xfrm>
          <a:prstGeom prst="round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TEST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Final unbiased estimate</a:t>
            </a:r>
            <a:br/>
            <a:r>
              <a:t>Do not tune against it</a:t>
            </a:r>
            <a:br/>
            <a:r>
              <a:t>Open after choices are fixed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4937760"/>
            <a:ext cx="73152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Test set ≠ another validation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The golden rule for audio: split by source, not just by clip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SEGMENTS FROM ONE PHYSICAL RECORDING ARE CORRELATED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20–40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663440" cy="54864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Source recording A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2423160"/>
            <a:ext cx="914400" cy="502920"/>
          </a:xfrm>
          <a:prstGeom prst="roundRect">
            <a:avLst/>
          </a:prstGeom>
          <a:solidFill>
            <a:srgbClr val="6E8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9112" y="2423160"/>
            <a:ext cx="914400" cy="502920"/>
          </a:xfrm>
          <a:prstGeom prst="roundRect">
            <a:avLst/>
          </a:prstGeom>
          <a:solidFill>
            <a:srgbClr val="6E8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clip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8104" y="2423160"/>
            <a:ext cx="914400" cy="502920"/>
          </a:xfrm>
          <a:prstGeom prst="roundRect">
            <a:avLst/>
          </a:prstGeom>
          <a:solidFill>
            <a:srgbClr val="6E8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clip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7096" y="2423160"/>
            <a:ext cx="914400" cy="502920"/>
          </a:xfrm>
          <a:prstGeom prst="roundRect">
            <a:avLst/>
          </a:prstGeom>
          <a:solidFill>
            <a:srgbClr val="6E8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clip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4663440" cy="54864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Source recording B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46520" y="2423160"/>
            <a:ext cx="914400" cy="502920"/>
          </a:xfrm>
          <a:prstGeom prst="roundRect">
            <a:avLst/>
          </a:prstGeom>
          <a:solidFill>
            <a:srgbClr val="6E8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clip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5512" y="2423160"/>
            <a:ext cx="914400" cy="502920"/>
          </a:xfrm>
          <a:prstGeom prst="roundRect">
            <a:avLst/>
          </a:prstGeom>
          <a:solidFill>
            <a:srgbClr val="6E8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clip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04504" y="2423160"/>
            <a:ext cx="914400" cy="502920"/>
          </a:xfrm>
          <a:prstGeom prst="roundRect">
            <a:avLst/>
          </a:prstGeom>
          <a:solidFill>
            <a:srgbClr val="6E8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clip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83496" y="2423160"/>
            <a:ext cx="914400" cy="502920"/>
          </a:xfrm>
          <a:prstGeom prst="roundRect">
            <a:avLst/>
          </a:prstGeom>
          <a:solidFill>
            <a:srgbClr val="6E8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clip 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03320"/>
            <a:ext cx="4663440" cy="914400"/>
          </a:xfrm>
          <a:prstGeom prst="round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BAD: random clips can place A1 in train and A2 in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703320"/>
            <a:ext cx="4663440" cy="914400"/>
          </a:xfrm>
          <a:prstGeom prst="roundRect">
            <a:avLst/>
          </a:prstGeom>
          <a:solidFill>
            <a:srgbClr val="38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GOOD: all clips from a source stay in one split/fold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167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E6875"/>
                </a:solidFill>
              </a:defRPr>
            </a:pPr>
            <a:r>
              <a:t>Instructor cue: Use the siren-segmentation story as a hypothetical. The central problem is source identity leaking across splits.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UrbanSound8K: honor the predefined folds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FOLD IDENTITY IS METADATA, NOT A NUISANCE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20–40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766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Use the dataset-provided fold assignments instead of blindly calling train_test_split on excerpts.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For one course baseline, a simple convention is folds 1–8 train, 9 validation, 10 test.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For stronger estimates, rotate held-out folds and report cross-validation results.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Keep the split rule fixed while comparing feature representations.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920240"/>
            <a:ext cx="2834640" cy="59436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Course split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1–8  TRAIN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2834640"/>
            <a:ext cx="2834640" cy="59436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 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49039"/>
            <a:ext cx="2834640" cy="594360"/>
          </a:xfrm>
          <a:prstGeom prst="round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 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Leakage can occur in preprocessing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FIT STATISTICS ON TRAINING DATA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20–40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56692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z_j = (x_j − μ_j,train) / σ_j,train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If μ and σ are computed using test clips, information from the test distribution leaks into training.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scikit-learn Pipeline helps fit transformers only on the training fold during model fitting.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Random forests do not require standard scaling, but SVM/logistic models often benefit from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600200"/>
            <a:ext cx="4389120" cy="3017520"/>
          </a:xfrm>
          <a:prstGeom prst="roundRect">
            <a:avLst/>
          </a:prstGeom>
          <a:solidFill>
            <a:srgbClr val="1F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300">
                <a:solidFill>
                  <a:srgbClr val="E8EDF3"/>
                </a:solidFill>
                <a:latin typeface="Consolas"/>
              </a:defRPr>
            </a:pPr>
            <a:r>
              <a:t>pipe = Pipeline([</a:t>
            </a:r>
            <a:br/>
            <a:r>
              <a:t>    ('scale', StandardScaler()),</a:t>
            </a:r>
            <a:br/>
            <a:r>
              <a:t>    ('clf', SVC(kernel='rbf')),</a:t>
            </a:r>
            <a:br/>
            <a:r>
              <a:t>])</a:t>
            </a:r>
            <a:br/>
            <a:r>
              <a:t>pipe.fit(X_train, y_train)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2D audio features meet 1D classical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WE MUST CHOOSE HOW TO REMOVE THE TIME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40–55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011680" cy="73152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MFCC matrix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[20 × 173]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508760"/>
            <a:ext cx="2011680" cy="731520"/>
          </a:xfrm>
          <a:prstGeom prst="round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Flatten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[3460]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508760"/>
            <a:ext cx="2011680" cy="73152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Mean only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[20]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508760"/>
            <a:ext cx="2011680" cy="73152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Mean + std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[40]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49840" y="1508760"/>
            <a:ext cx="1463040" cy="73152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CNN later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keep 2D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718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Flatten: keeps frame order but creates many coordinates and assumes fixed alignment.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Mean: very compact but ignores temporal ordering and dynamics.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Mean + standard deviation: simple compromise for a classical baseline.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CNNs can consume the 2D map and learn local time–frequency patterns.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Time averaging is a model assumption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WHAT INVARIANCE DID WE JUST HARD-CODE?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40–55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417320"/>
            <a:ext cx="49377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c̄[b] = (1/T) Σ_t C[b,t]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The average keeps “how much” of each coefficient occurred.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It discards “when,” “in what order,” and “how long each pattern persisted.”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A rising siren and a falling siren can have similar averages.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This is exactly the kind of ceiling that motivates sequence models and CNNs.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011680"/>
            <a:ext cx="3931920" cy="1143000"/>
          </a:xfrm>
          <a:prstGeom prst="roundRect">
            <a:avLst/>
          </a:prstGeom>
          <a:solidFill>
            <a:srgbClr val="B9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Compression buys simplicity by spending 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The scikit-learn estimator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SAME MENTAL MODEL ACROSS MANY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486400" cy="3840480"/>
          </a:xfrm>
          <a:prstGeom prst="roundRect">
            <a:avLst/>
          </a:prstGeom>
          <a:solidFill>
            <a:srgbClr val="1F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DF3"/>
                </a:solidFill>
                <a:latin typeface="Consolas"/>
              </a:defRPr>
            </a:pPr>
            <a:r>
              <a:t>clf = RandomForestClassifier(</a:t>
            </a:r>
            <a:br/>
            <a:r>
              <a:t>    n_estimators=300,</a:t>
            </a:r>
            <a:br/>
            <a:r>
              <a:t>    random_state=42,</a:t>
            </a:r>
            <a:br/>
            <a:r>
              <a:t>    n_jobs=-1,</a:t>
            </a:r>
            <a:br/>
            <a:r>
              <a:t>)</a:t>
            </a:r>
            <a:br/>
            <a:br/>
            <a:r>
              <a:t>clf.fit(X_train, y_train)</a:t>
            </a:r>
            <a:br/>
            <a:r>
              <a:t>y_pred = clf.predict(X_test)</a:t>
            </a:r>
            <a:br/>
            <a:r>
              <a:t>accuracy = clf.score(X_test, y_test)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480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Instantiate: choose model family and hyperparameters.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fit: estimate model from training data.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predict: produce labels for unseen feature vectors.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score/metrics: quantify performance—then inspect errors.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Why Random Forest is a useful first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NOT NECESSARILY BEST—EXCELLENT FOR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Handles nonlinear decision boundaries without feature scaling.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Works naturally with compact tabular summary features.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Fast to train compared with a deep network.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Provides a sanity check: are the engineered features carrying class information at all?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Its accuracy is dataset/split/feature dependent—do not promise a fixed 60–65% ceiling.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828800"/>
            <a:ext cx="3566160" cy="173736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Baseline ≠ target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A baseline should be reproducible, interpretable, and difficult to accidentally leak—not artificially impressive.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Confusion matrix: accuracy with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WHICH CLASSES ARE BEING CONFUSED WITH WHICH?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14</a:t>
            </a:r>
          </a:p>
        </p:txBody>
      </p:sp>
      <p:pic>
        <p:nvPicPr>
          <p:cNvPr id="8" name="Picture 7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502920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554480"/>
            <a:ext cx="52120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Rows: true classes; columns: predicted classes in the displayed convention.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Diagonal cells: correct classifications.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Off-diagonal cells reveal systematic confusions.</a:t>
            </a:r>
          </a:p>
          <a:p>
            <a:pPr>
              <a:spcAft>
                <a:spcPts val="800"/>
              </a:spcAft>
              <a:defRPr sz="1500">
                <a:solidFill>
                  <a:srgbClr val="22262D"/>
                </a:solidFill>
                <a:latin typeface="Aptos"/>
              </a:defRPr>
            </a:pPr>
            <a:r>
              <a:t>• The example shown is synthetic only—it validates the workflow, not UrbanSound8K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Accuracy is not the whole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USE CLASS-SENSITIVE METRICS AND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6576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12253F"/>
                </a:solidFill>
                <a:latin typeface="Cambria Math"/>
              </a:defRPr>
            </a:pPr>
            <a:r>
              <a:t>accuracy = (# correct) / 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463040"/>
            <a:ext cx="1920240" cy="64008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463040"/>
            <a:ext cx="1920240" cy="64008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463040"/>
            <a:ext cx="1920240" cy="64008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Macro-F1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Class imbalance can make overall accuracy misleading.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Macro-averaging gives each class equal weight.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Inspect representative false positives and false negatives in the original audio.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Ask whether errors come from the model, the feature representation, or preprocessing.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Live demo: build X and y without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METADATA DRIVES THE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698480" cy="4206240"/>
          </a:xfrm>
          <a:prstGeom prst="roundRect">
            <a:avLst/>
          </a:prstGeom>
          <a:solidFill>
            <a:srgbClr val="1F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300">
                <a:solidFill>
                  <a:srgbClr val="E8EDF3"/>
                </a:solidFill>
                <a:latin typeface="Consolas"/>
              </a:defRPr>
            </a:pPr>
            <a:r>
              <a:t>meta = pd.read_csv(root / 'metadata' / 'UrbanSound8K.csv')</a:t>
            </a:r>
            <a:br/>
            <a:br/>
            <a:r>
              <a:t>train = meta[meta['fold'].isin(range(1, 9))]</a:t>
            </a:r>
            <a:br/>
            <a:r>
              <a:t>valid = meta[meta['fold'].eq(9)]</a:t>
            </a:r>
            <a:br/>
            <a:r>
              <a:t>test  = meta[meta['fold'].eq(10)]</a:t>
            </a:r>
            <a:br/>
            <a:br/>
            <a:r>
              <a:t>X_train, y_train = featurize_rows(train, root)</a:t>
            </a:r>
            <a:br/>
            <a:r>
              <a:t>X_valid, y_valid = featurize_rows(valid, root)</a:t>
            </a:r>
            <a:br/>
            <a:r>
              <a:t>X_test,  y_test  = featurize_rows(test, root)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16752"/>
            <a:ext cx="106070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5E6875"/>
                </a:solidFill>
              </a:defRPr>
            </a:pPr>
            <a:r>
              <a:t>Instructor cue: Ask why splitting metadata first is safer than extracting all clips and shuffling later.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A robust baseline feature: MFCC mean + standard deviation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SMALL D, FAST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5303520" cy="3383280"/>
          </a:xfrm>
          <a:prstGeom prst="roundRect">
            <a:avLst/>
          </a:prstGeom>
          <a:solidFill>
            <a:srgbClr val="1F2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64592" tIns="109728" rtlCol="0" anchor="ctr"/>
          <a:lstStyle/>
          <a:p>
            <a:pPr algn="ctr">
              <a:defRPr sz="1400">
                <a:solidFill>
                  <a:srgbClr val="E8EDF3"/>
                </a:solidFill>
                <a:latin typeface="Consolas"/>
              </a:defRPr>
            </a:pPr>
            <a:r>
              <a:t>mfcc = librosa.feature.mfcc(S=mel_db, n_mfcc=20)</a:t>
            </a:r>
            <a:br/>
            <a:r>
              <a:t>feat = np.concatenate([</a:t>
            </a:r>
            <a:br/>
            <a:r>
              <a:t>    mfcc.mean(axis=1),</a:t>
            </a:r>
            <a:br/>
            <a:r>
              <a:t>    mfcc.std(axis=1),</a:t>
            </a:r>
            <a:br/>
            <a:r>
              <a:t>])</a:t>
            </a:r>
            <a:br/>
            <a:r>
              <a:t># feat.shape == (40,)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Mean captures typical spectral-envelope coordinates.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Std captures how much those coordinates vary over time.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Still destroys sequence order, but usually stronger than mean alone.</a:t>
            </a:r>
          </a:p>
          <a:p>
            <a:pPr>
              <a:spcAft>
                <a:spcPts val="800"/>
              </a:spcAft>
              <a:defRPr sz="1600">
                <a:solidFill>
                  <a:srgbClr val="22262D"/>
                </a:solidFill>
                <a:latin typeface="Aptos"/>
              </a:defRPr>
            </a:pPr>
            <a:r>
              <a:t>• A clean baseline lets next week’s CNN earn its complexity.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Reproducibility is part of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A BASELINE SHOULD BE RERUNNABLE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Freeze the split policy and record feature parameters.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Set random_state for stochastic estimators.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Cache extracted features when iteration becomes slow.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Report class labels, fold assignments, and metrics alongside accuracy.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Never tune on the test fold because “it is only a classroom project.”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828800"/>
            <a:ext cx="3474720" cy="256032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Reproducibility checklist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sample rate</a:t>
            </a:r>
            <a:br/>
            <a:r>
              <a:t>duration</a:t>
            </a:r>
            <a:br/>
            <a:r>
              <a:t>n_fft / hop</a:t>
            </a:r>
            <a:br/>
            <a:r>
              <a:t>n_mels / n_mfcc</a:t>
            </a:r>
            <a:br/>
            <a:r>
              <a:t>split folds</a:t>
            </a:r>
            <a:br/>
            <a:r>
              <a:t>model seed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Error analysis: listen to your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THE CONFUSION MATRIX TELLS YOU WHERE TO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55–75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6583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Find high-confidence wrong predictions.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Listen to the clip and inspect its Mel-spectrogram.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Check label ambiguity, background sounds, clipping, silence, and preprocessing artifacts.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Compare two representation choices on the same failed example.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A better feature may fix the problem more cheaply than a bigger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28800"/>
            <a:ext cx="3657600" cy="155448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ML engineering loop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t>measure → inspect → hypothesize → change one thing → remeasure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Why can a classical baseline hit a ceiling?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REPRESENTATION MAY BE THE BOTTLENECK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2377440" cy="685800"/>
          </a:xfrm>
          <a:prstGeom prst="roundRect">
            <a:avLst/>
          </a:prstGeom>
          <a:solidFill>
            <a:srgbClr val="E39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Mean MFCC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560320" cy="685800"/>
          </a:xfrm>
          <a:prstGeom prst="round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554480"/>
            <a:ext cx="2103120" cy="685800"/>
          </a:xfrm>
          <a:prstGeom prst="roundRect">
            <a:avLst/>
          </a:prstGeom>
          <a:solidFill>
            <a:srgbClr val="2B5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Decision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3246120" y="1737360"/>
            <a:ext cx="320040" cy="320040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6355080" y="1737360"/>
            <a:ext cx="320040" cy="320040"/>
          </a:xfrm>
          <a:prstGeom prst="chevron">
            <a:avLst/>
          </a:prstGeom>
          <a:solidFill>
            <a:srgbClr val="5E6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Time averaging removes trajectories, modulation patterns, and event shape.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Flattening keeps order but makes the model sensitive to exact alignment and creates thousands of coordinates.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A CNN can treat the Mel-spectrogram as a 2D field and learn local patterns that repeat at different times.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5440680"/>
            <a:ext cx="5577840" cy="59436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Next week: preserve the picture, learn the filters.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151D7-A404-AA8E-706F-629E6D88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5CA0F8-CAEA-933C-D738-B447F95D34BD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0E304-5FC8-C653-C7F5-DDAD81FC90BC}"/>
              </a:ext>
            </a:extLst>
          </p:cNvPr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Concept check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6C1776-3F5D-B9F5-967D-5852693B409B}"/>
              </a:ext>
            </a:extLst>
          </p:cNvPr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WHICH EVALUATION IS TRUSTWORTHY?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004D2-9E65-C9D6-590E-17531D47A7C6}"/>
              </a:ext>
            </a:extLst>
          </p:cNvPr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1346B-0E7A-4995-2362-2AB9F90C69DB}"/>
              </a:ext>
            </a:extLst>
          </p:cNvPr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17CA92-B2EE-8870-610E-FB01F9B85135}"/>
              </a:ext>
            </a:extLst>
          </p:cNvPr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E35C5-B370-5F44-D4FD-309A69883F09}"/>
              </a:ext>
            </a:extLst>
          </p:cNvPr>
          <p:cNvSpPr txBox="1"/>
          <p:nvPr/>
        </p:nvSpPr>
        <p:spPr>
          <a:xfrm>
            <a:off x="868680" y="150876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A. Randomly split all segmented clips, then standardize using the full dataset.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B. Use source-aware predefined folds; fit preprocessing and model on training only; test once at the end.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C. Tune hyperparameters until test accuracy stops improving.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D. Report only training accuracy because the labels are known to be correct.</a:t>
            </a:r>
          </a:p>
        </p:txBody>
      </p:sp>
    </p:spTree>
    <p:extLst>
      <p:ext uri="{BB962C8B-B14F-4D97-AF65-F5344CB8AC3E}">
        <p14:creationId xmlns:p14="http://schemas.microsoft.com/office/powerpoint/2010/main" val="843507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Concept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WHICH EVALUATION IS TRUSTWORTHY?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9875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A. Randomly split all segmented clips, then standardize using the full dataset.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B. Use source-aware predefined folds; fit preprocessing and model on training only; test once at the end.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C. Tune hyperparameters until test accuracy stops improving.</a:t>
            </a:r>
          </a:p>
          <a:p>
            <a:pPr>
              <a:spcAft>
                <a:spcPts val="800"/>
              </a:spcAft>
              <a:defRPr sz="1800">
                <a:solidFill>
                  <a:srgbClr val="22262D"/>
                </a:solidFill>
                <a:latin typeface="Aptos"/>
              </a:defRPr>
            </a:pPr>
            <a:r>
              <a:t>• D. Report only training accuracy because the labels are known to be correct.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4617720"/>
            <a:ext cx="4114800" cy="731520"/>
          </a:xfrm>
          <a:prstGeom prst="roundRect">
            <a:avLst/>
          </a:prstGeom>
          <a:solidFill>
            <a:srgbClr val="38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Correct: 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8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53F"/>
                </a:solidFill>
                <a:latin typeface="Aptos Display"/>
              </a:defRPr>
            </a:pPr>
            <a:r>
              <a:t>Lecture 22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96112"/>
            <a:ext cx="8686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48487"/>
                </a:solidFill>
                <a:latin typeface="Aptos"/>
              </a:defRPr>
            </a:pPr>
            <a:r>
              <a:t>A TRUSTWORTHY BASELINE IS A SCIENTIFIC INSTRUMENT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88696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5E6875"/>
                </a:solidFill>
                <a:latin typeface="Aptos"/>
              </a:defRPr>
            </a:pPr>
            <a: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5E6875"/>
                </a:solidFill>
              </a:defRPr>
            </a:pPr>
            <a:r>
              <a:t>DSP + ML  •  Week 11  •  Oppenheim &amp; Schafer → Raschka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10528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E6875"/>
                </a:solidFill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Supervised learning learns f(x;θ) from labeled feature vectors.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Data splitting is part of the model: leakage can make an invalid system look excellent.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Classical models need fixed-length vectors, forcing an explicit choice about time structure.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scikit-learn makes model APIs consistent; honest evaluation still depends on us.</a:t>
            </a:r>
          </a:p>
          <a:p>
            <a:pPr>
              <a:spcAft>
                <a:spcPts val="800"/>
              </a:spcAft>
              <a:defRPr sz="1700">
                <a:solidFill>
                  <a:srgbClr val="22262D"/>
                </a:solidFill>
                <a:latin typeface="Aptos"/>
              </a:defRPr>
            </a:pPr>
            <a:r>
              <a:t>• The baseline establishes what compact hand-engineered features can do before CNNs see the full 2D representation.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303520"/>
            <a:ext cx="8503920" cy="685800"/>
          </a:xfrm>
          <a:prstGeom prst="roundRect">
            <a:avLst/>
          </a:prstGeom>
          <a:solidFill>
            <a:srgbClr val="12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Exit ticket: Why can a more accurate random clip split be a worse scientific result?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2356</Words>
  <Application>Microsoft Office PowerPoint</Application>
  <PresentationFormat>Widescreen</PresentationFormat>
  <Paragraphs>263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2</cp:revision>
  <cp:lastPrinted>2026-08-23T19:58:21Z</cp:lastPrinted>
  <dcterms:created xsi:type="dcterms:W3CDTF">2013-01-27T09:14:16Z</dcterms:created>
  <dcterms:modified xsi:type="dcterms:W3CDTF">2026-08-23T19:58:33Z</dcterms:modified>
  <cp:category/>
</cp:coreProperties>
</file>