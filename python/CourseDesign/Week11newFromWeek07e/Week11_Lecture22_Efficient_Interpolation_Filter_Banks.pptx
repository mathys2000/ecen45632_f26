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943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to Lecture 12: interpolation inserts L−1 zeros. Today we exploit that structure instead of multiplying all those zeros by FIR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question: Can the same phase decomposition that accelerated decimation also construct high-rate outputs without doing work on inserted zeros?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0:02–0:03. Recall ↑L creates L output phases; polyphase makes those phases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0:03–0:10. Reuse the decomposition from Lecture 13, but now M is replaced by the interpolation factor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0:10–0:17. Numerical proof is in the notebook. This is the dual of the First Noble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0:17–0:27. This equation is highly intuitive: phase k produces all output indices congruent to k modulo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0:27–0:32. Connect back to Week 6: rate-change theory is unchanged; only implementation is reorganized.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0:32–0:35. Do not require exact endpoint/transient operation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ED10-AFE7-D4EB-AFB8-3A65224D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104C6-F2C9-0E8C-BC19-CE3ABA5D4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603B9-DCC2-FB28-FE1A-0AD9BD07D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0:32–0:35. Do not require exact endpoint/transient operation counts.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5B316-CAF7-C462-B4DF-E3CA66564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06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This is the conceptual extension from rate conversion to multiple parallel 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0:35–0:43. Use audio example: low band carries slow spectral structure; high band carries transients/detail.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0:43–0:48. Perfect reconstruction usually allows a scale c and pure delay d; the important requirement is no distortion beyond those trivial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0:48–0:53. Treat equations as enrichment for first-year students, core material for seniors.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0:53–0:55. This pairwise form avoids indexing distractions and makes exact reconstruction obvious. It is also an orthonormal transform, so energy is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Bridge from signal representation to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0:55–1:03. Clarify that Mel filter banks often operate on a magnitude/power spectrum rather than being implemented as time-domain PR filter banks. The common idea is fixed frequency partitioning.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1:03–1:09. Avoid claiming learned conv filters automatically form a perfect-reconstruction bank. PR requires explicit architectural/filter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1:09–1:14. The accompanying notebook runs both scikit-learn and PyTorch variants. Ask whether the fixed bank would still be optimal if class frequencies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1:14–1:15. A stronger answer distinguishes “don’t compute discarded outputs” for decimation from “don’t multiply inserted zeros” for interpolation.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• POLYPHASE STRUCTURES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EC4D3"/>
          </a:solidFill>
          <a:ln w="12700">
            <a:solidFill>
              <a:srgbClr val="4EC4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13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11 ● LECTURE 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Interpolation and Filter Banks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synthesis, perfect reconstruction, and fixed/learned subband front ends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09560" y="1051560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325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↑L + polyphase = no zero multiplies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909560" y="2487168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92440" y="27614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analysis → subbands → synthesis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60167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§4.7–4.8  |  Raschka: convolutional architectures / efficient ML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efficient interpolation → two-channel banks → ML subband front 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9224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Second Noble Identity correctly in an interpolator.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polyphase interpolation saves about a factor L in arithmetic.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analysis, decimation, synthesis, and perfect reconstruction in a two-channel bank.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fixed DSP filter banks to compact feature extractors and learned front ends.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1389888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1389888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36408" y="153619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0–35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36408" y="1865376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interpolation + Noble identity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635240" y="2697480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35240" y="269748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36408" y="284378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35–55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36408" y="3172968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Two-channel analysis / synthesis banks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635240" y="4005072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4005072"/>
            <a:ext cx="73152" cy="1097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415137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55–75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36408" y="4480560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and learned filter-bank features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interpolation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low-rate branch outputs first, then interleave them onto the high-rate grid.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naive interpolation wastes arithmetic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L−1 zeros between input samples, then a full-rate FIR multiplies them anyway.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42875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44752"/>
            <a:ext cx="1337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51710" y="170078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80310" y="1371600"/>
            <a:ext cx="142875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26030" y="1444752"/>
            <a:ext cx="1337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09060" y="170078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37660" y="1371600"/>
            <a:ext cx="142875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83380" y="1444752"/>
            <a:ext cx="1337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66410" y="170078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95010" y="1371600"/>
            <a:ext cx="142875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40730" y="1444752"/>
            <a:ext cx="1337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400" dirty="0"/>
          </a:p>
        </p:txBody>
      </p:sp>
      <p:pic>
        <p:nvPicPr>
          <p:cNvPr id="15" name="Image 0" descr="/mnt/data/week7_polyphase/assets/interpolation_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3840480" cy="2743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68680" y="2487168"/>
            <a:ext cx="63093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68680" y="2487168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69848" y="2633472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viewpoint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69848" y="2962656"/>
            <a:ext cx="5961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 runs at L·Fₛ even though most values entering it are known zeros.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68680" y="3840480"/>
            <a:ext cx="63093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68680" y="3840480"/>
            <a:ext cx="73152" cy="1097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69848" y="3986784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viewpoint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69848" y="4315968"/>
            <a:ext cx="5961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of the L output phases is a low-rate convolution of x[n] with one phase Eₖ(z).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2103120" y="5349240"/>
            <a:ext cx="786384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176272" y="5422392"/>
            <a:ext cx="7717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H(z)=Σₖ₌₀ᴸ⁻¹ z⁻ᵏ Eₖ(zᴸ)</a:t>
            </a:r>
            <a:endParaRPr lang="en-US" sz="2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Noble Identity: the interpolation counterpart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Again, the commuting filter must have a special zᴸ structure.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3167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6027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0599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7754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0614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186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G(zᴸ)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2341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5201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773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481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≡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235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0095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4667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G(z)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1822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4682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9254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6409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9269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3841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28800" y="2788920"/>
            <a:ext cx="8503920" cy="676656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901952" y="2862072"/>
            <a:ext cx="8357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↑L → G(zᴸ)   ≡   G(z) → ↑L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914400" y="3886200"/>
            <a:ext cx="4754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4400" y="3886200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15568" y="4032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5568" y="4361688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right, G(z) executes at the lower input rate.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355080" y="3886200"/>
            <a:ext cx="4754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55080" y="3886200"/>
            <a:ext cx="73152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56248" y="4032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56248" y="4361688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arbitrary G(z) cannot be commuted across ↑L.</a:t>
            </a:r>
            <a:endParaRPr lang="en-US" sz="12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interpolator: L low-rate filters generate L output phases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first at Fₛ, then a commutator interleaves branch samples.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150876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25880" y="19019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E0(z)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150876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9019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E1(z)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28800"/>
            <a:ext cx="150876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19019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E2(z)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26680" y="1828800"/>
            <a:ext cx="150876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0" y="19019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Eᴸ₋₁(z)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668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L−1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880360"/>
            <a:ext cx="100584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" y="2953512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664208" y="3182112"/>
            <a:ext cx="82296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738360" y="2880360"/>
            <a:ext cx="123444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84080" y="2953512"/>
            <a:ext cx="1143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interleave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0" y="318211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38428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737360" y="4160520"/>
            <a:ext cx="850392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10512" y="4233672"/>
            <a:ext cx="8357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output phase k:  y[mL+k] = (eₖ * x)[m]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828800" y="5166360"/>
            <a:ext cx="832104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5166360"/>
            <a:ext cx="73152" cy="6858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29968" y="5312664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29968" y="5641848"/>
            <a:ext cx="79735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branch ever multiplies an inserted zero. Each branch computes only the samples assigned to its output phase.</a:t>
            </a:r>
            <a:endParaRPr lang="en-US" sz="12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L-fold savings and exact equivalence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changes the schedule, not the interpolation result.</a:t>
            </a:r>
            <a:endParaRPr lang="en-US" sz="1150" dirty="0"/>
          </a:p>
        </p:txBody>
      </p:sp>
      <p:pic>
        <p:nvPicPr>
          <p:cNvPr id="4" name="Image 0" descr="/mnt/data/week7_polyphase/assets/interpolation_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507492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371600"/>
            <a:ext cx="45720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Naive: roughly N·L·Fₛ coefficient multiplies/s for an N-tap full-rate FIR.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Polyphase: roughly N·Fₛ multiplies/s total across all phases.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steady-state saving ≈ L.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scipy.signal.upfirdn implements this multirate idea efficiently.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4800600"/>
            <a:ext cx="9966960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4800600"/>
            <a:ext cx="7315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15568" y="4946904"/>
            <a:ext cx="9619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Amplitude reminder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" y="5276088"/>
            <a:ext cx="9619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does not replace interpolation design: the anti-imaging filter still needs the appropriate cutoff and gain L.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36-tap FIR interpolates by L = 4. Compared with a naive zero-stuff + full-rate FIR implementation, what ideal arithmetic saving should polyphase give?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D0207-1860-796F-8DFF-40B0A891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4596B0-2073-87F8-7BAC-F8B05ABB270C}"/>
              </a:ext>
            </a:extLst>
          </p:cNvPr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AAACCF-2609-5398-BEDB-FFC7E5B95813}"/>
              </a:ext>
            </a:extLst>
          </p:cNvPr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9E1F75-AE7D-3C92-CD4D-3D6C6D569F36}"/>
              </a:ext>
            </a:extLst>
          </p:cNvPr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36-tap FIR interpolates by L = 4. Compared with a naive zero-stuff + full-rate FIR implementation, what ideal arithmetic saving should polyphase give?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E975AD-4961-3A19-D1C1-B9B0749D5A8E}"/>
              </a:ext>
            </a:extLst>
          </p:cNvPr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806BD5-FDFF-2FD0-A084-360620FC70A5}"/>
              </a:ext>
            </a:extLst>
          </p:cNvPr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Approximately a factor of 4. The polyphase branches collectively perform about 36·Fₛ multiplies/s instead of about 36·4·Fₛ.</a:t>
            </a:r>
            <a:endParaRPr lang="en-US" sz="17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0F58D92-57EF-E2C8-6F3D-1B2533552E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3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Two-channel filter banks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the signal into subbands, reduce each rate, then combine them again.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bank: separate frequency content, then decimate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subband occupies less bandwidth, so each branch can often be represented at a lower sample rate.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96012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816352"/>
            <a:ext cx="868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54480" y="304495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57400" y="1508760"/>
            <a:ext cx="16002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3120" y="15819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H₀(z) LPF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3886200"/>
            <a:ext cx="16002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395935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H₁(z) HPF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181051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418795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60520" y="1508760"/>
            <a:ext cx="10972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158191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3886200"/>
            <a:ext cx="10972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395935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57800" y="181051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57800" y="418795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1508760"/>
            <a:ext cx="18288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158191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subband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60720" y="3886200"/>
            <a:ext cx="18288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06440" y="395935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subband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1417320"/>
            <a:ext cx="315468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46720" y="141732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47888" y="156362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sampling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47888" y="1892808"/>
            <a:ext cx="28072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branches at half-rate contain the same total sample rate as the original.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8046720" y="2926080"/>
            <a:ext cx="315468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46720" y="292608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47888" y="30723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filtering first?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3401568"/>
            <a:ext cx="28072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in decimation, each branch needs bandlimiting before ↓2.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046720" y="4434840"/>
            <a:ext cx="3154680" cy="914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0" y="4434840"/>
            <a:ext cx="73152" cy="914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47888" y="458114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47888" y="491032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Compression, coding, denoising, subband features.</a:t>
            </a:r>
            <a:endParaRPr lang="en-US" sz="12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 bank: upsample, filter, and add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synthesis filters cancel alias components and restore the desired signal response.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5544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subband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794760"/>
            <a:ext cx="15544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86791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subband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185623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48840" y="409651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10972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6276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3794760"/>
            <a:ext cx="10972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386791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03320" y="185623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03320" y="409651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60520" y="1554480"/>
            <a:ext cx="16002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0" y="162763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F₀(z)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60520" y="3794760"/>
            <a:ext cx="16002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38679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F₁(z)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1856232"/>
            <a:ext cx="9144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4096512"/>
            <a:ext cx="9144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2606040"/>
            <a:ext cx="1143000" cy="640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2280" y="2679192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09560" y="2926080"/>
            <a:ext cx="54864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49640" y="2606040"/>
            <a:ext cx="1920240" cy="640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95360" y="26791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x̂[n]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11680" y="4983480"/>
            <a:ext cx="777240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84832" y="5056632"/>
            <a:ext cx="7626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perfect reconstruction:  x̂[n] = c · x[n−d]</a:t>
            </a:r>
            <a:endParaRPr lang="en-US" sz="2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reconstruction has two simultaneous requirements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condition cancels aliasing; the other preserves the desired signal path.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53312"/>
            <a:ext cx="1042416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426464"/>
            <a:ext cx="10277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alias term:  F₀(z)H₀(−z) + F₁(z)H₁(−z) = 0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42416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277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distortion term:  ½[F₀(z)H₀(z)+F₁(z)H₁(z)] = c z⁻ᵈ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480060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73152" cy="1325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48386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 cancellation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3813048"/>
            <a:ext cx="44531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creates spectral folding in each branch; synthesis combines branches so those alias terms cancel.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400800" y="3337560"/>
            <a:ext cx="480060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3337560"/>
            <a:ext cx="73152" cy="1325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01968" y="348386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path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3813048"/>
            <a:ext cx="44531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remaining transfer function should be only a scale and delay—not frequency-dependent distortion.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828800" y="5074920"/>
            <a:ext cx="8412480" cy="6583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0" y="5074920"/>
            <a:ext cx="73152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29968" y="5221224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Mixed-level strategy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29968" y="5550408"/>
            <a:ext cx="80650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First-year students can understand “split → downsample → upsample → recombine”; seniors can use the z-domain conditions above.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Haar bank: the simplest perfect-reconstruction example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Pairs become an average-like lowpass coefficient and a difference-like highpass coefficient.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48463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71600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a[m] = (x[2m] + x[2m+1]) / √2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8463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221992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d[m] = (x[2m] − x[2m+1]) / √2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8463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3319272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x[2m] = (a[m]+d[m]) / √2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050792"/>
            <a:ext cx="48463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4123944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x[2m+1] = (a[m]−d[m]) / √2</a:t>
            </a:r>
            <a:endParaRPr lang="en-US" sz="1800" dirty="0"/>
          </a:p>
        </p:txBody>
      </p:sp>
      <p:pic>
        <p:nvPicPr>
          <p:cNvPr id="12" name="Image 0" descr="/mnt/data/week7_polyphase/assets/haar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61872"/>
            <a:ext cx="507492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context: fixed and learned filter banks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Subband structure can be engineered, frozen, or learned—depending on data, compute, and robustness needs.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subband features can be an efficient front 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→ summarize each band → feed a small classifier.</a:t>
            </a:r>
            <a:endParaRPr lang="en-US" sz="1150" dirty="0"/>
          </a:p>
        </p:txBody>
      </p:sp>
      <p:pic>
        <p:nvPicPr>
          <p:cNvPr id="4" name="Image 0" descr="/mnt/data/week7_polyphase/assets/fixed_filter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7008"/>
            <a:ext cx="57150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325880"/>
            <a:ext cx="4343400" cy="1143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720840" y="1325880"/>
            <a:ext cx="73152" cy="11430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22008" y="1472184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22008" y="1801368"/>
            <a:ext cx="3995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 filter-bank energies, wavelet coefficients, scattering-style fixed transforms, hand-designed subbands.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720840" y="2724912"/>
            <a:ext cx="4343400" cy="1143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20840" y="2724912"/>
            <a:ext cx="73152" cy="11430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22008" y="2871216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useful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22008" y="3200400"/>
            <a:ext cx="3995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 trainable parameters, predictable spectral behavior, potentially lower data and compute requirements.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720840" y="4123944"/>
            <a:ext cx="4343400" cy="1143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20840" y="4123944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22008" y="4270248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22008" y="4599432"/>
            <a:ext cx="3995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 front end cannot adapt its filters to every task; useful information may be discarded.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filter banks: let the data choose the subbands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kernels can act as a trainable analysis bank, optionally with stride / pooling for rate reduction.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98348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99032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feature channel k:  yₖ[n] = (hₖ * x)[n]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26480" y="1325880"/>
            <a:ext cx="47548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bank: interpretable, cheap, stable prior.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bank: task-adaptive but needs data, training, and regularization.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Hybrid: initialize from DSP filters, then fine-tune.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pattern: fixed or depthwise front end + small pointwise / linear classifier.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484632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9848" y="247802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Week 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2807208"/>
            <a:ext cx="4498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stride/downsampling in the learned analysis bank still raises the anti-aliasing questions from multirate DSP.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68680" y="3886200"/>
            <a:ext cx="484632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3886200"/>
            <a:ext cx="73152" cy="123444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9848" y="403250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polyphase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4361688"/>
            <a:ext cx="4498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implementations exploit structure to avoid dense redundant computation.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Scikit-Learn/PyTorch demo: four fixed bands, tiny classifier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DSP feature vector can make a simple classification problem nearly linearly separable.</a:t>
            </a:r>
            <a:endParaRPr lang="en-US" sz="1150" dirty="0"/>
          </a:p>
        </p:txBody>
      </p:sp>
      <p:pic>
        <p:nvPicPr>
          <p:cNvPr id="4" name="Image 0" descr="/mnt/data/week7_polyphase/assets/subband_featur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507492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325880"/>
            <a:ext cx="45720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noisy low-, mid-, and high-frequency signal classes.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four fixed FIR bands.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log subband energy as a 4-D feature vector.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logistic regression—or a 4→3 PyTorch linear layer.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 a learned raw-waveform front end as an extension.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5010912"/>
            <a:ext cx="10058400" cy="6583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5010912"/>
            <a:ext cx="73152" cy="6583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15568" y="5157216"/>
            <a:ext cx="9710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" y="5486400"/>
            <a:ext cx="97109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 can move complexity from the learned model into a known, efficient signal-processing transform.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22 wrap-up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is the implementation engine; filter banks turn the idea into parallel signal representations.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73152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Noble Identity moves G(z) to the low-rate side of ↑L when the high-rate form is G(zᴸ).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interpolation computes output phases directly and avoids zero multiplies.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Two-channel analysis/synthesis banks split, decimate, interpolate, and recombine subbands.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reconstruction requires alias cancellation plus an undistorted desired path.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or learned subband front ends provide a natural bridge to lightweight ML.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503920" y="1371600"/>
            <a:ext cx="2651760" cy="1828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0" y="137160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05088" y="15179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05088" y="1847088"/>
            <a:ext cx="23042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key computational idea shared by efficient decimation and efficient interpolation?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503920" y="3520440"/>
            <a:ext cx="2651760" cy="17373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0" y="3520440"/>
            <a:ext cx="73152" cy="17373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05088" y="36667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05088" y="3995928"/>
            <a:ext cx="23042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polyphase structure so filtering happens at the low rate and only samples that actually matter are computed.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11 • Lecture 22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987552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§4.7–4.8: polyphase structures and filter banks.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CNN architectures and feature-learning workflow.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Week7_Polyphase_DSP_ML_Demos.ipynb.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Week7_Polyphase_Homework_Quiz_Solutions.docx.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1991</Words>
  <Application>Microsoft Office PowerPoint</Application>
  <PresentationFormat>Widescreen</PresentationFormat>
  <Paragraphs>230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14: Efficient Interpolation and Filter Banks</dc:title>
  <dc:subject>Week 7 Polyphase Structures - DSP and ML</dc:subject>
  <dc:creator>OpenAI</dc:creator>
  <cp:lastModifiedBy>Peter Mathys</cp:lastModifiedBy>
  <cp:revision>3</cp:revision>
  <dcterms:created xsi:type="dcterms:W3CDTF">2026-09-05T20:54:40Z</dcterms:created>
  <dcterms:modified xsi:type="dcterms:W3CDTF">2026-10-22T14:31:25Z</dcterms:modified>
</cp:coreProperties>
</file>