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83095AC-658E-406A-9EA9-F48988BA137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668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9F841-9170-43E6-9270-4B94A9FA1D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671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C86113-C5CC-4391-B309-FB39351B19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</a:p>
        </p:txBody>
      </p:sp>
      <p:sp>
        <p:nvSpPr>
          <p:cNvPr id="674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36F643-C2AA-44E0-842C-4B6ABBF99F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677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ABDE63-05D4-4D12-A519-F9719BCF14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680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A9B9C4-F42A-445B-BCED-687A8E619A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683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5099AE-15BC-4F11-9C2D-C481A10C62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686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FB0750-28CB-4095-A6B4-99ACFA1204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</a:p>
        </p:txBody>
      </p:sp>
      <p:sp>
        <p:nvSpPr>
          <p:cNvPr id="689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BDD5A7-5C60-4A4C-96DD-54E89B6D1B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692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18CEB5-F43C-4A21-829E-628FADF3F1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695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D05AD0-8071-40E1-B89C-C58E6C568D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698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57926E-4D42-4517-8391-0F7357FC40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01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F8331F-115F-4886-8E3E-36D1BAE948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05BB7-D7AB-58FB-D5B4-963B9D4FA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>
            <a:extLst>
              <a:ext uri="{FF2B5EF4-FFF2-40B4-BE49-F238E27FC236}">
                <a16:creationId xmlns:a16="http://schemas.microsoft.com/office/drawing/2014/main" id="{080450B4-DF40-4CE4-287D-4AC46D012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>
            <a:extLst>
              <a:ext uri="{FF2B5EF4-FFF2-40B4-BE49-F238E27FC236}">
                <a16:creationId xmlns:a16="http://schemas.microsoft.com/office/drawing/2014/main" id="{62940DC4-454B-5CDE-7F70-1C45D40792B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01" name="PlaceHolder 3">
            <a:extLst>
              <a:ext uri="{FF2B5EF4-FFF2-40B4-BE49-F238E27FC236}">
                <a16:creationId xmlns:a16="http://schemas.microsoft.com/office/drawing/2014/main" id="{03299941-3946-A9B5-EBF2-258C418C6FCD}"/>
              </a:ext>
            </a:extLst>
          </p:cNvPr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F8331F-115F-4886-8E3E-36D1BAE948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8306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04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ECB1D2-21B4-4F6C-8375-F37186448E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07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7B4BA5-F18F-4E96-9035-A2A1C1AEA2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10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C3D95E-A8E4-4E53-8740-B67B81220C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13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6AA0BA-C83E-469A-9C52-B565C3721E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16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37FE32-B3C9-4202-8FD7-B5EF1EB2CA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19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5B4E0F-50BD-43DA-9FD0-6AC2443DA4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22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B53206-8BB5-466F-8923-71956894E7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25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A61D7D-52B7-4B6C-A1EF-A4CB3A99DF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</a:p>
        </p:txBody>
      </p:sp>
      <p:sp>
        <p:nvSpPr>
          <p:cNvPr id="728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8BE27E-5A3E-4943-9A95-F849C6827F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47388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  <a:ea typeface="Aptos"/>
              </a:rPr>
              <a:t>DSP + Machine Learning • Week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73880"/>
            <a:ext cx="3245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  <a:ea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BDDBDB7-2F86-4323-BF63-2B37C7329923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640080" y="987480"/>
            <a:ext cx="109440" cy="448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960120" y="102420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159">
                <a:solidFill>
                  <a:srgbClr val="14B8A6"/>
                </a:solidFill>
                <a:effectLst/>
                <a:uFillTx/>
                <a:latin typeface="Aptos"/>
              </a:rPr>
              <a:t>LECTURE 23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960120" y="1572840"/>
            <a:ext cx="98751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Dimensionality Reduction &amp; Maximum-Margin Classifiers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960120" y="3218760"/>
            <a:ext cx="9326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D5DEE9"/>
                </a:solidFill>
                <a:effectLst/>
                <a:uFillTx/>
                <a:latin typeface="Aptos"/>
              </a:rPr>
              <a:t>Taming high-dimensional audio features and finding robust boundaries.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960120" y="49377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75 minutes • PCA → SVM → pipeline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960120" y="562356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Senior + first-year graduate ECE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MOTIVATION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The feature vector has exploded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749880" y="1417320"/>
            <a:ext cx="107438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2 s clip with 20 ms frames can produce ~100 frames × 13 MFCCs — before adding energy, centroid, flux, roll-off, deltas, and statistics.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High dimension is not automatically “more information”: many features are correlated, noisy, or redundant.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Classification cost, sample complexity, visualization, and distance-based reasoning all become harder.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sldNum" idx="6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E1FFB62-E70A-437F-98D5-A17BC8386F4B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CURSE OF DIMENSIONALITY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Distance loses contrast in high dimensions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0" descr="/mnt/data/week12_dsp_ml/assets/distance_concentration.png"/>
          <p:cNvPicPr/>
          <p:nvPr/>
        </p:nvPicPr>
        <p:blipFill>
          <a:blip r:embed="rId3"/>
          <a:stretch/>
        </p:blipFill>
        <p:spPr>
          <a:xfrm>
            <a:off x="777240" y="1627560"/>
            <a:ext cx="6491880" cy="387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Shape 2"/>
          <p:cNvSpPr/>
          <p:nvPr/>
        </p:nvSpPr>
        <p:spPr>
          <a:xfrm>
            <a:off x="7543800" y="1572840"/>
            <a:ext cx="388584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7543800" y="1572840"/>
            <a:ext cx="72720" cy="1919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7745040" y="171000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What changes?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745040" y="2048400"/>
            <a:ext cx="353844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Nearest and farthest neighbors become less distinguishable. A distance metric can still work, but it needs more data and careful feature scaling / selection.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7543800" y="3794760"/>
            <a:ext cx="38858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7543800" y="3794760"/>
            <a:ext cx="72720" cy="1599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7745040" y="39319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Audio connection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7745040" y="4270320"/>
            <a:ext cx="35384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MFCCs, deltas, flux, energy and spectral shape often contain correlated evidence. PCA attacks redundancy, not “bad dimensions” one-by-one.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sldNum" idx="7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3029249-948F-4DB0-9051-ACDEFC61CA72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3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PCA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PCA: the engineering goal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749880" y="1417320"/>
            <a:ext cx="107438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Find orthogonal directions that capture as much variance in the standardized feature cloud as possible.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Project each clip onto the first few directions to obtain a compact set of principal-component scores.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Throw away low-variance directions only when that compression does not remove task-relevant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sldNum" idx="8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4C33B36-2D0D-44D0-94C9-2CEA5F076E04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4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PCA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Geometry first: rotate, then drop directions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 rot="1680000">
            <a:off x="822960" y="1462680"/>
            <a:ext cx="5120280" cy="3291480"/>
          </a:xfrm>
          <a:prstGeom prst="ellipse">
            <a:avLst/>
          </a:prstGeom>
          <a:solidFill>
            <a:srgbClr val="DDEAFE">
              <a:alpha val="70000"/>
            </a:srgbClr>
          </a:solidFill>
          <a:ln w="15240">
            <a:solidFill>
              <a:srgbClr val="93B4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2117520" y="366156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2224080" y="365688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2330640" y="365220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2329560" y="356688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2436120" y="356220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2542680" y="355752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2541960" y="347220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2648520" y="346752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2755080" y="346284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2754000" y="337788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2860560" y="337320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2859840" y="328788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5"/>
          <p:cNvSpPr/>
          <p:nvPr/>
        </p:nvSpPr>
        <p:spPr>
          <a:xfrm>
            <a:off x="2966400" y="328320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6"/>
          <p:cNvSpPr/>
          <p:nvPr/>
        </p:nvSpPr>
        <p:spPr>
          <a:xfrm>
            <a:off x="3072960" y="327852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3072240" y="319320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8"/>
          <p:cNvSpPr/>
          <p:nvPr/>
        </p:nvSpPr>
        <p:spPr>
          <a:xfrm>
            <a:off x="3178800" y="318852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9"/>
          <p:cNvSpPr/>
          <p:nvPr/>
        </p:nvSpPr>
        <p:spPr>
          <a:xfrm>
            <a:off x="3285000" y="318384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0"/>
          <p:cNvSpPr/>
          <p:nvPr/>
        </p:nvSpPr>
        <p:spPr>
          <a:xfrm>
            <a:off x="3284280" y="309888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1"/>
          <p:cNvSpPr/>
          <p:nvPr/>
        </p:nvSpPr>
        <p:spPr>
          <a:xfrm>
            <a:off x="3390840" y="309420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2"/>
          <p:cNvSpPr/>
          <p:nvPr/>
        </p:nvSpPr>
        <p:spPr>
          <a:xfrm>
            <a:off x="3497400" y="308952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3"/>
          <p:cNvSpPr/>
          <p:nvPr/>
        </p:nvSpPr>
        <p:spPr>
          <a:xfrm>
            <a:off x="3496680" y="300420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4"/>
          <p:cNvSpPr/>
          <p:nvPr/>
        </p:nvSpPr>
        <p:spPr>
          <a:xfrm>
            <a:off x="3603240" y="299952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5"/>
          <p:cNvSpPr/>
          <p:nvPr/>
        </p:nvSpPr>
        <p:spPr>
          <a:xfrm>
            <a:off x="3602160" y="291420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6"/>
          <p:cNvSpPr/>
          <p:nvPr/>
        </p:nvSpPr>
        <p:spPr>
          <a:xfrm>
            <a:off x="3708720" y="290952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7"/>
          <p:cNvSpPr/>
          <p:nvPr/>
        </p:nvSpPr>
        <p:spPr>
          <a:xfrm>
            <a:off x="3815280" y="290484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8"/>
          <p:cNvSpPr/>
          <p:nvPr/>
        </p:nvSpPr>
        <p:spPr>
          <a:xfrm>
            <a:off x="3814560" y="281988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9"/>
          <p:cNvSpPr/>
          <p:nvPr/>
        </p:nvSpPr>
        <p:spPr>
          <a:xfrm>
            <a:off x="3921120" y="281520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0"/>
          <p:cNvSpPr/>
          <p:nvPr/>
        </p:nvSpPr>
        <p:spPr>
          <a:xfrm>
            <a:off x="4027680" y="281052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1"/>
          <p:cNvSpPr/>
          <p:nvPr/>
        </p:nvSpPr>
        <p:spPr>
          <a:xfrm>
            <a:off x="4026600" y="272520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2"/>
          <p:cNvSpPr/>
          <p:nvPr/>
        </p:nvSpPr>
        <p:spPr>
          <a:xfrm>
            <a:off x="4133160" y="272052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3"/>
          <p:cNvSpPr/>
          <p:nvPr/>
        </p:nvSpPr>
        <p:spPr>
          <a:xfrm>
            <a:off x="4239720" y="271584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4"/>
          <p:cNvSpPr/>
          <p:nvPr/>
        </p:nvSpPr>
        <p:spPr>
          <a:xfrm>
            <a:off x="4239000" y="2630520"/>
            <a:ext cx="82080" cy="82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5"/>
          <p:cNvSpPr/>
          <p:nvPr/>
        </p:nvSpPr>
        <p:spPr>
          <a:xfrm flipV="1">
            <a:off x="1463040" y="2377440"/>
            <a:ext cx="4297680" cy="2148840"/>
          </a:xfrm>
          <a:prstGeom prst="line">
            <a:avLst/>
          </a:prstGeom>
          <a:ln w="38100">
            <a:solidFill>
              <a:srgbClr val="0F766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6"/>
          <p:cNvSpPr/>
          <p:nvPr/>
        </p:nvSpPr>
        <p:spPr>
          <a:xfrm flipH="1" flipV="1">
            <a:off x="1874520" y="1920240"/>
            <a:ext cx="1417320" cy="2880360"/>
          </a:xfrm>
          <a:prstGeom prst="line">
            <a:avLst/>
          </a:prstGeom>
          <a:ln w="31750">
            <a:solidFill>
              <a:srgbClr val="EA580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7"/>
          <p:cNvSpPr/>
          <p:nvPr/>
        </p:nvSpPr>
        <p:spPr>
          <a:xfrm>
            <a:off x="4389120" y="21031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PC1: maximum variance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8"/>
          <p:cNvSpPr/>
          <p:nvPr/>
        </p:nvSpPr>
        <p:spPr>
          <a:xfrm>
            <a:off x="685800" y="11430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PC2: next, orthogonal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9"/>
          <p:cNvSpPr/>
          <p:nvPr/>
        </p:nvSpPr>
        <p:spPr>
          <a:xfrm>
            <a:off x="6812280" y="1554480"/>
            <a:ext cx="4571640" cy="1645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40"/>
          <p:cNvSpPr/>
          <p:nvPr/>
        </p:nvSpPr>
        <p:spPr>
          <a:xfrm>
            <a:off x="6812280" y="1554480"/>
            <a:ext cx="72720" cy="1645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1"/>
          <p:cNvSpPr/>
          <p:nvPr/>
        </p:nvSpPr>
        <p:spPr>
          <a:xfrm>
            <a:off x="7013520" y="1691640"/>
            <a:ext cx="4251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Projection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2"/>
          <p:cNvSpPr/>
          <p:nvPr/>
        </p:nvSpPr>
        <p:spPr>
          <a:xfrm>
            <a:off x="7013520" y="2030040"/>
            <a:ext cx="42242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data point becomes its coordinates along PC1, PC2, … . Keeping only PC1 is the best 1-D linear least-squares reconstruction subspace.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43"/>
          <p:cNvSpPr/>
          <p:nvPr/>
        </p:nvSpPr>
        <p:spPr>
          <a:xfrm>
            <a:off x="6812280" y="3657600"/>
            <a:ext cx="457164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44"/>
          <p:cNvSpPr/>
          <p:nvPr/>
        </p:nvSpPr>
        <p:spPr>
          <a:xfrm>
            <a:off x="6812280" y="3657600"/>
            <a:ext cx="72720" cy="1508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5"/>
          <p:cNvSpPr/>
          <p:nvPr/>
        </p:nvSpPr>
        <p:spPr>
          <a:xfrm>
            <a:off x="7013520" y="3794760"/>
            <a:ext cx="4251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Not feature selection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6"/>
          <p:cNvSpPr/>
          <p:nvPr/>
        </p:nvSpPr>
        <p:spPr>
          <a:xfrm>
            <a:off x="7013520" y="4133160"/>
            <a:ext cx="4224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PC1 is usually a mixture of centroid, roll-off, MFCCs, etc. PCA creates new axes; it does not merely pick original features.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sldNum" idx="9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55BCFF6-B418-436D-A51E-719EBD4AD873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5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PCA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Step 0: standardize heterogeneous DSP features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31520" y="1325880"/>
            <a:ext cx="3200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2"/>
          <p:cNvSpPr/>
          <p:nvPr/>
        </p:nvSpPr>
        <p:spPr>
          <a:xfrm>
            <a:off x="4069080" y="1325880"/>
            <a:ext cx="713196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Centroid might be in Hz, RMS is amplitude-like, ZCR is a rate, and MFCCs have unrelated numerical scales.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Without scaling, a feature with large numerical variance can dominate the covariance matrix.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Fit mean and standard deviation on the training set only; apply the same transform to validation/test data.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777240" y="4480560"/>
            <a:ext cx="1042380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"/>
          <p:cNvSpPr/>
          <p:nvPr/>
        </p:nvSpPr>
        <p:spPr>
          <a:xfrm>
            <a:off x="777240" y="4480560"/>
            <a:ext cx="72720" cy="1005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978480" y="4617720"/>
            <a:ext cx="10103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Exception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978480" y="4956120"/>
            <a:ext cx="10076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If physical scale itself carries meaning and you intentionally want variance in those units to dominate, standardization is a modeling choice — not a universal law.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sldNum" idx="10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4995805-F3A3-4EBE-8FAD-E84698CDDE63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6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PCA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From covariance to eigenvectors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1234440"/>
            <a:ext cx="384012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5800" y="2286000"/>
            <a:ext cx="384012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85800" y="3337560"/>
            <a:ext cx="384012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Shape 2"/>
          <p:cNvSpPr/>
          <p:nvPr/>
        </p:nvSpPr>
        <p:spPr>
          <a:xfrm>
            <a:off x="4846320" y="1325880"/>
            <a:ext cx="30171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4846320" y="1325880"/>
            <a:ext cx="72720" cy="1416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5047560" y="1463040"/>
            <a:ext cx="2697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Eigenvector vₖ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5047560" y="1801440"/>
            <a:ext cx="26697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direction in feature space. Orthogonal covariance eigenvectors become the PCA axes.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8138160" y="1325880"/>
            <a:ext cx="30171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8138160" y="1325880"/>
            <a:ext cx="72720" cy="1416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8339400" y="1463040"/>
            <a:ext cx="2697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Eigenvalue λₖ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8339400" y="1801440"/>
            <a:ext cx="26697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Variance captured along that direction. Larger λ means the projected cloud spreads more.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0"/>
          <p:cNvSpPr/>
          <p:nvPr/>
        </p:nvSpPr>
        <p:spPr>
          <a:xfrm>
            <a:off x="4846320" y="3154680"/>
            <a:ext cx="630900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1"/>
          <p:cNvSpPr/>
          <p:nvPr/>
        </p:nvSpPr>
        <p:spPr>
          <a:xfrm>
            <a:off x="4846320" y="3154680"/>
            <a:ext cx="72720" cy="1462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5047560" y="3291840"/>
            <a:ext cx="5988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Scores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5047560" y="3630240"/>
            <a:ext cx="59616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For centered data, zₖ = Xvₖ. Each clip gets a coordinate along each principal direction.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sldNum" idx="11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EB35348-FE37-4B37-84B2-110F61510203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7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WORKED EXAMPLE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A 2-D PCA calculation by hand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731520" y="123444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Centered standardized feature samples give the covariance matrix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2960" y="1664280"/>
            <a:ext cx="2559960" cy="95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57600" y="1664280"/>
            <a:ext cx="3382920" cy="95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315200" y="1664280"/>
            <a:ext cx="3565800" cy="95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Shape 3"/>
          <p:cNvSpPr/>
          <p:nvPr/>
        </p:nvSpPr>
        <p:spPr>
          <a:xfrm>
            <a:off x="822960" y="3337560"/>
            <a:ext cx="51202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822960" y="3337560"/>
            <a:ext cx="72720" cy="1416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1024200" y="347472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Interpretation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1024200" y="3813120"/>
            <a:ext cx="477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PC1 is the “both features rise together” direction and captures 3/(3+1)=75% of total variance.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7"/>
          <p:cNvSpPr/>
          <p:nvPr/>
        </p:nvSpPr>
        <p:spPr>
          <a:xfrm>
            <a:off x="6217920" y="3337560"/>
            <a:ext cx="48002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8"/>
          <p:cNvSpPr/>
          <p:nvPr/>
        </p:nvSpPr>
        <p:spPr>
          <a:xfrm>
            <a:off x="6217920" y="3337560"/>
            <a:ext cx="72720" cy="1416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6419160" y="347472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DSP reading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6419160" y="3813120"/>
            <a:ext cx="4452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If the two features were centroid and roll-off, PC1 would represent their common spectral-brightness trend; PC2 measures their disagreement.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sldNum" idx="12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BA981DA-AA8B-4E8C-B88E-46364F3163E0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DSP CONNECTION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PCA vs. the DCT in MFCC processing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749880" y="1417320"/>
            <a:ext cx="107438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Both are orthogonal linear transforms that express a vector in a new basis.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The DCT basis is fixed and data-independent; PCA learns its basis from the covariance structure of the training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The DCT is chosen for useful signal-compaction properties on correlated sequences; PCA is optimal for variance capture on the observed distribution.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MFCC pipeline: mel log energies → DCT → cepstral coefficients. PCA can then operate across a larger engineered feature vector.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sldNum" idx="13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C3E69D5-5B19-42EC-B14A-4802BF59C57F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9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PCA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How many components? Use a scree plot + task validation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0" descr="/mnt/data/week12_dsp_ml/assets/scree_plot.png"/>
          <p:cNvPicPr/>
          <p:nvPr/>
        </p:nvPicPr>
        <p:blipFill>
          <a:blip r:embed="rId3"/>
          <a:stretch/>
        </p:blipFill>
        <p:spPr>
          <a:xfrm>
            <a:off x="731520" y="1510560"/>
            <a:ext cx="6811920" cy="397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Shape 2"/>
          <p:cNvSpPr/>
          <p:nvPr/>
        </p:nvSpPr>
        <p:spPr>
          <a:xfrm>
            <a:off x="7818120" y="1508760"/>
            <a:ext cx="356580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7818120" y="1508760"/>
            <a:ext cx="72720" cy="1554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8019360" y="164592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Common rule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8019360" y="1984320"/>
            <a:ext cx="32184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Choose the smallest k that retains a target fraction such as 90–95% variance — then verify downstream accuracy and stability.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6"/>
          <p:cNvSpPr/>
          <p:nvPr/>
        </p:nvSpPr>
        <p:spPr>
          <a:xfrm>
            <a:off x="7818120" y="3474720"/>
            <a:ext cx="356580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7"/>
          <p:cNvSpPr/>
          <p:nvPr/>
        </p:nvSpPr>
        <p:spPr>
          <a:xfrm>
            <a:off x="7818120" y="3474720"/>
            <a:ext cx="72720" cy="15541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8019360" y="361188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Do not say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8019360" y="3950280"/>
            <a:ext cx="32184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“95% variance means 95% classification accuracy.” Explained variance is not a class-performance metric.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sldNum" idx="14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BFDB05B-5894-46BF-89B2-65BA2A0EF0E7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10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PCA IN PRACTICE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What PCA reveals in our synthetic audio features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/mnt/data/week12_dsp_ml/assets/pca_scatter.png"/>
          <p:cNvPicPr/>
          <p:nvPr/>
        </p:nvPicPr>
        <p:blipFill>
          <a:blip r:embed="rId3"/>
          <a:stretch/>
        </p:blipFill>
        <p:spPr>
          <a:xfrm>
            <a:off x="731520" y="1433880"/>
            <a:ext cx="6903360" cy="421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Shape 2"/>
          <p:cNvSpPr/>
          <p:nvPr/>
        </p:nvSpPr>
        <p:spPr>
          <a:xfrm>
            <a:off x="7909560" y="164592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7909560" y="1645920"/>
            <a:ext cx="72720" cy="1416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8110800" y="17830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Read the plot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8110800" y="2121480"/>
            <a:ext cx="3081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Classes separate substantially along combinations of features rather than along one raw feature.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6"/>
          <p:cNvSpPr/>
          <p:nvPr/>
        </p:nvSpPr>
        <p:spPr>
          <a:xfrm>
            <a:off x="7909560" y="3474720"/>
            <a:ext cx="342864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7909560" y="3474720"/>
            <a:ext cx="72720" cy="1828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8110800" y="36118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Important caveat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8110800" y="3950280"/>
            <a:ext cx="3081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This plot is synthetic and intentionally teachable. Real audio often has overlap from room acoustics, performer, microphone, gain, and recording context.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Num" idx="15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B35FD74-FF7D-42FC-8660-00669CB4C51A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CONCEPT CHECK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Pause &amp; predict: PCA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"/>
          <p:cNvSpPr/>
          <p:nvPr/>
        </p:nvSpPr>
        <p:spPr>
          <a:xfrm>
            <a:off x="822960" y="1325880"/>
            <a:ext cx="1051524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822960" y="1325880"/>
            <a:ext cx="72720" cy="1371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1024200" y="1463040"/>
            <a:ext cx="10195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Question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1024200" y="1801440"/>
            <a:ext cx="10167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low-variance feature direction cleanly separates two classes, while high-variance directions contain performer and microphone variation. What can PCA do wrong?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sldNum" idx="16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E2148A6-A0F1-4D2A-A303-60BE05FA2F83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1ADD-A6B5-08D0-42AF-4CBA0B90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>
            <a:extLst>
              <a:ext uri="{FF2B5EF4-FFF2-40B4-BE49-F238E27FC236}">
                <a16:creationId xmlns:a16="http://schemas.microsoft.com/office/drawing/2014/main" id="{E04844AF-7033-ABDA-9660-AC4DF985834C}"/>
              </a:ext>
            </a:extLst>
          </p:cNvPr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CONCEPT CHECK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>
            <a:extLst>
              <a:ext uri="{FF2B5EF4-FFF2-40B4-BE49-F238E27FC236}">
                <a16:creationId xmlns:a16="http://schemas.microsoft.com/office/drawing/2014/main" id="{66BAF5CF-280F-B63D-2961-A564F35E57C9}"/>
              </a:ext>
            </a:extLst>
          </p:cNvPr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Pause &amp; predict: PCA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">
            <a:extLst>
              <a:ext uri="{FF2B5EF4-FFF2-40B4-BE49-F238E27FC236}">
                <a16:creationId xmlns:a16="http://schemas.microsoft.com/office/drawing/2014/main" id="{E636027B-04AC-7359-B332-3404CE44370F}"/>
              </a:ext>
            </a:extLst>
          </p:cNvPr>
          <p:cNvSpPr/>
          <p:nvPr/>
        </p:nvSpPr>
        <p:spPr>
          <a:xfrm>
            <a:off x="822960" y="1325880"/>
            <a:ext cx="1051524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">
            <a:extLst>
              <a:ext uri="{FF2B5EF4-FFF2-40B4-BE49-F238E27FC236}">
                <a16:creationId xmlns:a16="http://schemas.microsoft.com/office/drawing/2014/main" id="{B1B9D26E-5631-E6FB-1EA0-A426967D87EA}"/>
              </a:ext>
            </a:extLst>
          </p:cNvPr>
          <p:cNvSpPr/>
          <p:nvPr/>
        </p:nvSpPr>
        <p:spPr>
          <a:xfrm>
            <a:off x="822960" y="1325880"/>
            <a:ext cx="72720" cy="1371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">
            <a:extLst>
              <a:ext uri="{FF2B5EF4-FFF2-40B4-BE49-F238E27FC236}">
                <a16:creationId xmlns:a16="http://schemas.microsoft.com/office/drawing/2014/main" id="{0D900ACA-7859-E103-68BE-E143819D7A30}"/>
              </a:ext>
            </a:extLst>
          </p:cNvPr>
          <p:cNvSpPr/>
          <p:nvPr/>
        </p:nvSpPr>
        <p:spPr>
          <a:xfrm>
            <a:off x="1024200" y="1463040"/>
            <a:ext cx="10195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Question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">
            <a:extLst>
              <a:ext uri="{FF2B5EF4-FFF2-40B4-BE49-F238E27FC236}">
                <a16:creationId xmlns:a16="http://schemas.microsoft.com/office/drawing/2014/main" id="{5CA0193E-F613-E227-05C9-8731D1C852D8}"/>
              </a:ext>
            </a:extLst>
          </p:cNvPr>
          <p:cNvSpPr/>
          <p:nvPr/>
        </p:nvSpPr>
        <p:spPr>
          <a:xfrm>
            <a:off x="1024200" y="1801440"/>
            <a:ext cx="10167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low-variance feature direction cleanly separates two classes, while high-variance directions contain performer and microphone variation. What can PCA do wrong?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6">
            <a:extLst>
              <a:ext uri="{FF2B5EF4-FFF2-40B4-BE49-F238E27FC236}">
                <a16:creationId xmlns:a16="http://schemas.microsoft.com/office/drawing/2014/main" id="{D5C3717A-BBC0-2CB3-2E78-C89DDCE20288}"/>
              </a:ext>
            </a:extLst>
          </p:cNvPr>
          <p:cNvSpPr/>
          <p:nvPr/>
        </p:nvSpPr>
        <p:spPr>
          <a:xfrm>
            <a:off x="822960" y="3154680"/>
            <a:ext cx="1051524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7">
            <a:extLst>
              <a:ext uri="{FF2B5EF4-FFF2-40B4-BE49-F238E27FC236}">
                <a16:creationId xmlns:a16="http://schemas.microsoft.com/office/drawing/2014/main" id="{CD627FED-6EA9-0022-79E9-D6F03C237D36}"/>
              </a:ext>
            </a:extLst>
          </p:cNvPr>
          <p:cNvSpPr/>
          <p:nvPr/>
        </p:nvSpPr>
        <p:spPr>
          <a:xfrm>
            <a:off x="822960" y="3154680"/>
            <a:ext cx="72720" cy="1371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8">
            <a:extLst>
              <a:ext uri="{FF2B5EF4-FFF2-40B4-BE49-F238E27FC236}">
                <a16:creationId xmlns:a16="http://schemas.microsoft.com/office/drawing/2014/main" id="{81E133B8-C2A0-0AC1-1ADD-97615AB4E1E6}"/>
              </a:ext>
            </a:extLst>
          </p:cNvPr>
          <p:cNvSpPr/>
          <p:nvPr/>
        </p:nvSpPr>
        <p:spPr>
          <a:xfrm>
            <a:off x="1024200" y="3291840"/>
            <a:ext cx="10195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Good answer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9">
            <a:extLst>
              <a:ext uri="{FF2B5EF4-FFF2-40B4-BE49-F238E27FC236}">
                <a16:creationId xmlns:a16="http://schemas.microsoft.com/office/drawing/2014/main" id="{33477D5E-D465-BE92-F04D-17917041A1A2}"/>
              </a:ext>
            </a:extLst>
          </p:cNvPr>
          <p:cNvSpPr/>
          <p:nvPr/>
        </p:nvSpPr>
        <p:spPr>
          <a:xfrm>
            <a:off x="1024200" y="3630240"/>
            <a:ext cx="10167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If we keep only high-variance PCs, PCA may discard the low-variance discriminative direction. PCA optimizes reconstruction variance, not label separation.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0">
            <a:extLst>
              <a:ext uri="{FF2B5EF4-FFF2-40B4-BE49-F238E27FC236}">
                <a16:creationId xmlns:a16="http://schemas.microsoft.com/office/drawing/2014/main" id="{953A2264-4D0B-6333-EF51-5A3445DA30D2}"/>
              </a:ext>
            </a:extLst>
          </p:cNvPr>
          <p:cNvSpPr/>
          <p:nvPr/>
        </p:nvSpPr>
        <p:spPr>
          <a:xfrm>
            <a:off x="1005840" y="50749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F6B7A"/>
                </a:solidFill>
                <a:effectLst/>
                <a:uFillTx/>
                <a:latin typeface="Aptos"/>
              </a:rPr>
              <a:t>Extension: Which method would explicitly use labels?  →  supervised feature selection, LDA, or a classifier trained on the full feature set.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1">
            <a:extLst>
              <a:ext uri="{FF2B5EF4-FFF2-40B4-BE49-F238E27FC236}">
                <a16:creationId xmlns:a16="http://schemas.microsoft.com/office/drawing/2014/main" id="{C4DE13A2-8639-D608-DCE2-1C1CAD87B27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E2148A6-A0F1-4D2A-A303-60BE05FA2F83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13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137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IMPLEMENTATION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scikit-learn: scaling → PCA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777240" y="1298520"/>
            <a:ext cx="5668920" cy="429732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27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941760" y="1426320"/>
            <a:ext cx="533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7DD3FC"/>
                </a:solidFill>
                <a:effectLst/>
                <a:uFillTx/>
                <a:latin typeface="Aptos"/>
              </a:rPr>
              <a:t>Leakage-safe preprocessing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"/>
          <p:cNvSpPr/>
          <p:nvPr/>
        </p:nvSpPr>
        <p:spPr>
          <a:xfrm>
            <a:off x="941760" y="1719000"/>
            <a:ext cx="5339880" cy="376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from sklearn.pipeline import Pipeline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from sklearn.preprocessing import StandardScaler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from sklearn.decomposition import PCA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prep = Pipeline([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("scale", StandardScaler()),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("pca", PCA(n_components=0.95)),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Z_train = prep.fit_transform(X_train)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Z_test  = prep.transform(X_test)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5"/>
          <p:cNvSpPr/>
          <p:nvPr/>
        </p:nvSpPr>
        <p:spPr>
          <a:xfrm>
            <a:off x="6812280" y="1645920"/>
            <a:ext cx="438876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6"/>
          <p:cNvSpPr/>
          <p:nvPr/>
        </p:nvSpPr>
        <p:spPr>
          <a:xfrm>
            <a:off x="6812280" y="1645920"/>
            <a:ext cx="72720" cy="1599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7013520" y="1783080"/>
            <a:ext cx="406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Why a Pipeline?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7013520" y="2121480"/>
            <a:ext cx="40413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During cross-validation, each fold learns its own scaler and PCA basis from that fold’s training samples only.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9"/>
          <p:cNvSpPr/>
          <p:nvPr/>
        </p:nvSpPr>
        <p:spPr>
          <a:xfrm>
            <a:off x="6812280" y="3794760"/>
            <a:ext cx="43887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0"/>
          <p:cNvSpPr/>
          <p:nvPr/>
        </p:nvSpPr>
        <p:spPr>
          <a:xfrm>
            <a:off x="6812280" y="3794760"/>
            <a:ext cx="72720" cy="1416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7013520" y="3931920"/>
            <a:ext cx="406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Notebook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7013520" y="4270320"/>
            <a:ext cx="4041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Lecture23_PCA_SVM.ipynb includes scree plots, loadings, GridSearchCV, and a leakage-safe implementation.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sldNum" idx="17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EA1C1C5-990F-4363-B7A6-8090D54CB1B2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14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SVM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Now classify: what boundary should we trust?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749880" y="1417320"/>
            <a:ext cx="107438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linear classifier can separate classes with a hyperplane — but infinitely many separating hyperplanes may exist.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SVM asks for the separating boundary with the largest margin to the closest training examples.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Those closest examples are the support vectors: they determine the boundary.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sldNum" idx="18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02A5389-5E17-40AF-AEFB-FF42E8AB27D5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15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SVM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Maximum-margin hyperplane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31520" y="1325880"/>
            <a:ext cx="374868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31520" y="2331720"/>
            <a:ext cx="374868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Shape 2"/>
          <p:cNvSpPr/>
          <p:nvPr/>
        </p:nvSpPr>
        <p:spPr>
          <a:xfrm>
            <a:off x="5943600" y="1554480"/>
            <a:ext cx="3017520" cy="3017520"/>
          </a:xfrm>
          <a:prstGeom prst="line">
            <a:avLst/>
          </a:prstGeom>
          <a:ln w="38100">
            <a:solidFill>
              <a:srgbClr val="0F17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"/>
          <p:cNvSpPr/>
          <p:nvPr/>
        </p:nvSpPr>
        <p:spPr>
          <a:xfrm>
            <a:off x="5257800" y="1508760"/>
            <a:ext cx="3017520" cy="3017520"/>
          </a:xfrm>
          <a:prstGeom prst="line">
            <a:avLst/>
          </a:prstGeom>
          <a:ln w="2159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4"/>
          <p:cNvSpPr/>
          <p:nvPr/>
        </p:nvSpPr>
        <p:spPr>
          <a:xfrm>
            <a:off x="6629400" y="1600200"/>
            <a:ext cx="3017520" cy="3017520"/>
          </a:xfrm>
          <a:prstGeom prst="line">
            <a:avLst/>
          </a:prstGeom>
          <a:ln w="2159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5"/>
          <p:cNvSpPr/>
          <p:nvPr/>
        </p:nvSpPr>
        <p:spPr>
          <a:xfrm>
            <a:off x="4663440" y="4206240"/>
            <a:ext cx="127800" cy="127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4919400" y="4206240"/>
            <a:ext cx="127800" cy="127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7"/>
          <p:cNvSpPr/>
          <p:nvPr/>
        </p:nvSpPr>
        <p:spPr>
          <a:xfrm>
            <a:off x="5175360" y="4206240"/>
            <a:ext cx="127800" cy="127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4663440" y="3675960"/>
            <a:ext cx="127800" cy="127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9"/>
          <p:cNvSpPr/>
          <p:nvPr/>
        </p:nvSpPr>
        <p:spPr>
          <a:xfrm>
            <a:off x="4919400" y="3675960"/>
            <a:ext cx="127800" cy="127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0"/>
          <p:cNvSpPr/>
          <p:nvPr/>
        </p:nvSpPr>
        <p:spPr>
          <a:xfrm>
            <a:off x="5175360" y="3675960"/>
            <a:ext cx="127800" cy="127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4663440" y="3145680"/>
            <a:ext cx="127800" cy="127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2"/>
          <p:cNvSpPr/>
          <p:nvPr/>
        </p:nvSpPr>
        <p:spPr>
          <a:xfrm>
            <a:off x="4919400" y="3145680"/>
            <a:ext cx="127800" cy="127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3"/>
          <p:cNvSpPr/>
          <p:nvPr/>
        </p:nvSpPr>
        <p:spPr>
          <a:xfrm>
            <a:off x="5175360" y="3145680"/>
            <a:ext cx="127800" cy="127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4"/>
          <p:cNvSpPr/>
          <p:nvPr/>
        </p:nvSpPr>
        <p:spPr>
          <a:xfrm>
            <a:off x="8961120" y="2240280"/>
            <a:ext cx="127800" cy="127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9217080" y="2240280"/>
            <a:ext cx="127800" cy="127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6"/>
          <p:cNvSpPr/>
          <p:nvPr/>
        </p:nvSpPr>
        <p:spPr>
          <a:xfrm>
            <a:off x="9473040" y="2240280"/>
            <a:ext cx="127800" cy="127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7"/>
          <p:cNvSpPr/>
          <p:nvPr/>
        </p:nvSpPr>
        <p:spPr>
          <a:xfrm>
            <a:off x="8961120" y="2770560"/>
            <a:ext cx="127800" cy="127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8"/>
          <p:cNvSpPr/>
          <p:nvPr/>
        </p:nvSpPr>
        <p:spPr>
          <a:xfrm>
            <a:off x="9217080" y="2770560"/>
            <a:ext cx="127800" cy="127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9"/>
          <p:cNvSpPr/>
          <p:nvPr/>
        </p:nvSpPr>
        <p:spPr>
          <a:xfrm>
            <a:off x="9473040" y="2770560"/>
            <a:ext cx="127800" cy="127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0"/>
          <p:cNvSpPr/>
          <p:nvPr/>
        </p:nvSpPr>
        <p:spPr>
          <a:xfrm>
            <a:off x="8961120" y="3300840"/>
            <a:ext cx="127800" cy="127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1"/>
          <p:cNvSpPr/>
          <p:nvPr/>
        </p:nvSpPr>
        <p:spPr>
          <a:xfrm>
            <a:off x="9217080" y="3300840"/>
            <a:ext cx="127800" cy="127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2"/>
          <p:cNvSpPr/>
          <p:nvPr/>
        </p:nvSpPr>
        <p:spPr>
          <a:xfrm>
            <a:off x="9473040" y="3300840"/>
            <a:ext cx="127800" cy="127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3"/>
          <p:cNvSpPr/>
          <p:nvPr/>
        </p:nvSpPr>
        <p:spPr>
          <a:xfrm>
            <a:off x="6720840" y="489204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support vectors sit on / inside margin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 type="sldNum" idx="19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6BE2551-2311-459F-982B-9713326A9EBA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16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SVM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Hard margin becomes soft margin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31520" y="1325880"/>
            <a:ext cx="5211720" cy="82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31520" y="2423160"/>
            <a:ext cx="521172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Shape 2"/>
          <p:cNvSpPr/>
          <p:nvPr/>
        </p:nvSpPr>
        <p:spPr>
          <a:xfrm>
            <a:off x="6583680" y="1371600"/>
            <a:ext cx="448020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3"/>
          <p:cNvSpPr/>
          <p:nvPr/>
        </p:nvSpPr>
        <p:spPr>
          <a:xfrm>
            <a:off x="6583680" y="1371600"/>
            <a:ext cx="72720" cy="1416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6784920" y="150876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Small 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5"/>
          <p:cNvSpPr/>
          <p:nvPr/>
        </p:nvSpPr>
        <p:spPr>
          <a:xfrm>
            <a:off x="6784920" y="1847160"/>
            <a:ext cx="4132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Wider / smoother effective margin; tolerates more violations. More regularization, potentially more bias.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6"/>
          <p:cNvSpPr/>
          <p:nvPr/>
        </p:nvSpPr>
        <p:spPr>
          <a:xfrm>
            <a:off x="6583680" y="3246120"/>
            <a:ext cx="448020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7"/>
          <p:cNvSpPr/>
          <p:nvPr/>
        </p:nvSpPr>
        <p:spPr>
          <a:xfrm>
            <a:off x="6583680" y="3246120"/>
            <a:ext cx="72720" cy="1416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6784920" y="338328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Large 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6784920" y="3721680"/>
            <a:ext cx="4132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Penalizes violations strongly. Fits training labels more aggressively; can increase variance / overfit.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sldNum" idx="20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50DAB52-8E20-4585-AEF5-0D78D528F4BE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17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SVM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Support vectors: why only a few points matter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749880" y="1417320"/>
            <a:ext cx="107438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Points far from the margin can move slightly without changing the optimal boundary.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Support vectors are the training examples at or inside the margin; they carry the geometric constraint.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This gives SVMs a sparse geometric description of the boundary, even though kernel prediction may still be computationally significant.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sldNum" idx="21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3B96FC9-E9A9-4CC0-82A7-2FA643573197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SVM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When a straight line is not enough: kernels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77240" y="1325880"/>
            <a:ext cx="5394600" cy="77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Shape 2"/>
          <p:cNvSpPr/>
          <p:nvPr/>
        </p:nvSpPr>
        <p:spPr>
          <a:xfrm>
            <a:off x="822960" y="2560320"/>
            <a:ext cx="51202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"/>
          <p:cNvSpPr/>
          <p:nvPr/>
        </p:nvSpPr>
        <p:spPr>
          <a:xfrm>
            <a:off x="822960" y="2560320"/>
            <a:ext cx="72720" cy="1416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"/>
          <p:cNvSpPr/>
          <p:nvPr/>
        </p:nvSpPr>
        <p:spPr>
          <a:xfrm>
            <a:off x="1024200" y="269748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Kernel trick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1024200" y="3035880"/>
            <a:ext cx="477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Compute inner-product-like similarities corresponding to a higher-dimensional feature map without explicitly building that map.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6400800" y="1417320"/>
            <a:ext cx="46173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7"/>
          <p:cNvSpPr/>
          <p:nvPr/>
        </p:nvSpPr>
        <p:spPr>
          <a:xfrm>
            <a:off x="6400800" y="1417320"/>
            <a:ext cx="72720" cy="1416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6602040" y="155448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γ small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6602040" y="1892880"/>
            <a:ext cx="42699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Broad influence; smoother decision function. Too small can underfit.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0"/>
          <p:cNvSpPr/>
          <p:nvPr/>
        </p:nvSpPr>
        <p:spPr>
          <a:xfrm>
            <a:off x="6400800" y="3246120"/>
            <a:ext cx="46173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1"/>
          <p:cNvSpPr/>
          <p:nvPr/>
        </p:nvSpPr>
        <p:spPr>
          <a:xfrm>
            <a:off x="6400800" y="3246120"/>
            <a:ext cx="72720" cy="1416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2"/>
          <p:cNvSpPr/>
          <p:nvPr/>
        </p:nvSpPr>
        <p:spPr>
          <a:xfrm>
            <a:off x="6602040" y="338328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γ large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3"/>
          <p:cNvSpPr/>
          <p:nvPr/>
        </p:nvSpPr>
        <p:spPr>
          <a:xfrm>
            <a:off x="6602040" y="3721680"/>
            <a:ext cx="42699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Very local influence; intricate boundary. Too large can memorize local details.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sldNum" idx="22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39EE2B5-8A4D-4F20-8DEC-60BB649D091E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19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SVM IN PRACTICE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Linear vs. RBF on the same PCA coordinates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0" descr="/mnt/data/week12_dsp_ml/assets/svm_boundaries.png"/>
          <p:cNvPicPr/>
          <p:nvPr/>
        </p:nvPicPr>
        <p:blipFill>
          <a:blip r:embed="rId3"/>
          <a:stretch/>
        </p:blipFill>
        <p:spPr>
          <a:xfrm>
            <a:off x="685800" y="1983240"/>
            <a:ext cx="7406280" cy="311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Shape 2"/>
          <p:cNvSpPr/>
          <p:nvPr/>
        </p:nvSpPr>
        <p:spPr>
          <a:xfrm>
            <a:off x="8366760" y="1600200"/>
            <a:ext cx="3100454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"/>
          <p:cNvSpPr/>
          <p:nvPr/>
        </p:nvSpPr>
        <p:spPr>
          <a:xfrm>
            <a:off x="8366760" y="1600200"/>
            <a:ext cx="72720" cy="1554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8568000" y="17373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EA580C"/>
                </a:solidFill>
                <a:effectLst/>
                <a:uFillTx/>
                <a:latin typeface="Aptos"/>
              </a:rPr>
              <a:t>Do not infer too much from 2-D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8568000" y="2075760"/>
            <a:ext cx="26240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The full classifier may use more PCs. A pretty 2-D boundary is for intuition, not proof of generalization.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6"/>
          <p:cNvSpPr/>
          <p:nvPr/>
        </p:nvSpPr>
        <p:spPr>
          <a:xfrm>
            <a:off x="8366759" y="3703320"/>
            <a:ext cx="3100453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7"/>
          <p:cNvSpPr/>
          <p:nvPr/>
        </p:nvSpPr>
        <p:spPr>
          <a:xfrm>
            <a:off x="8366760" y="3703320"/>
            <a:ext cx="72720" cy="1554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8"/>
          <p:cNvSpPr/>
          <p:nvPr/>
        </p:nvSpPr>
        <p:spPr>
          <a:xfrm>
            <a:off x="8568000" y="38404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Select by validation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9"/>
          <p:cNvSpPr/>
          <p:nvPr/>
        </p:nvSpPr>
        <p:spPr>
          <a:xfrm>
            <a:off x="8568000" y="4178880"/>
            <a:ext cx="26240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Tune C, γ, and PCA dimensionality with cross-validation — then report the final held-out test result once.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sldNum" idx="23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232F84-E3EB-469E-91A8-6DACE9AAE85E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20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IMPLEMENTATION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One pipeline: PCA → SVM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"/>
          <p:cNvSpPr/>
          <p:nvPr/>
        </p:nvSpPr>
        <p:spPr>
          <a:xfrm>
            <a:off x="777240" y="1325880"/>
            <a:ext cx="5760360" cy="41144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27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"/>
          <p:cNvSpPr/>
          <p:nvPr/>
        </p:nvSpPr>
        <p:spPr>
          <a:xfrm>
            <a:off x="941760" y="1454040"/>
            <a:ext cx="5431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7DD3FC"/>
                </a:solidFill>
                <a:effectLst/>
                <a:uFillTx/>
                <a:latin typeface="Aptos"/>
              </a:rPr>
              <a:t>PCA + RBF SVM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4"/>
          <p:cNvSpPr/>
          <p:nvPr/>
        </p:nvSpPr>
        <p:spPr>
          <a:xfrm>
            <a:off x="941760" y="1746360"/>
            <a:ext cx="5431320" cy="358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from sklearn.svm import SVC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model = Pipeline([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("scale", StandardScaler()),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("pca", PCA(n_components=0.95)),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("svm", SVC(kernel="rbf", C=3, gamma="scale")),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model.fit(X_train, y_train)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print(model.score(X_test, y_test))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5"/>
          <p:cNvSpPr/>
          <p:nvPr/>
        </p:nvSpPr>
        <p:spPr>
          <a:xfrm>
            <a:off x="6858000" y="1554480"/>
            <a:ext cx="425160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Scale because both PCA and SVM depend on geometry.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Keep transforms inside the pipeline so cross-validation is honest.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Grid-search C, γ, and potentially PCA dimensionality on training folds only.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sldNum" idx="24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08E01F1-8855-4705-B852-DD6CBB20AAB1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21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WRAP-UP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Lecture 23 synthesis: what each step is buying you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"/>
          <p:cNvSpPr/>
          <p:nvPr/>
        </p:nvSpPr>
        <p:spPr>
          <a:xfrm>
            <a:off x="685800" y="1417320"/>
            <a:ext cx="342864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"/>
          <p:cNvSpPr/>
          <p:nvPr/>
        </p:nvSpPr>
        <p:spPr>
          <a:xfrm>
            <a:off x="685800" y="1417320"/>
            <a:ext cx="72720" cy="1462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4"/>
          <p:cNvSpPr/>
          <p:nvPr/>
        </p:nvSpPr>
        <p:spPr>
          <a:xfrm>
            <a:off x="887040" y="15544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Feature engineering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5"/>
          <p:cNvSpPr/>
          <p:nvPr/>
        </p:nvSpPr>
        <p:spPr>
          <a:xfrm>
            <a:off x="887040" y="1892880"/>
            <a:ext cx="3081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Inject DSP knowledge: summarize spectra, dynamics, timbre, energy.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6"/>
          <p:cNvSpPr/>
          <p:nvPr/>
        </p:nvSpPr>
        <p:spPr>
          <a:xfrm>
            <a:off x="4389120" y="1417320"/>
            <a:ext cx="342864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7"/>
          <p:cNvSpPr/>
          <p:nvPr/>
        </p:nvSpPr>
        <p:spPr>
          <a:xfrm>
            <a:off x="4389120" y="1417320"/>
            <a:ext cx="72720" cy="1462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8"/>
          <p:cNvSpPr/>
          <p:nvPr/>
        </p:nvSpPr>
        <p:spPr>
          <a:xfrm>
            <a:off x="4590360" y="15544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PCA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4590360" y="1892880"/>
            <a:ext cx="3081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Compress correlated geometry; improve visualization / conditioning; may reduce noise and compute.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0"/>
          <p:cNvSpPr/>
          <p:nvPr/>
        </p:nvSpPr>
        <p:spPr>
          <a:xfrm>
            <a:off x="8092440" y="1417320"/>
            <a:ext cx="342864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1"/>
          <p:cNvSpPr/>
          <p:nvPr/>
        </p:nvSpPr>
        <p:spPr>
          <a:xfrm>
            <a:off x="8092440" y="1417320"/>
            <a:ext cx="72720" cy="1462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2"/>
          <p:cNvSpPr/>
          <p:nvPr/>
        </p:nvSpPr>
        <p:spPr>
          <a:xfrm>
            <a:off x="8293680" y="15544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SVM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3"/>
          <p:cNvSpPr/>
          <p:nvPr/>
        </p:nvSpPr>
        <p:spPr>
          <a:xfrm>
            <a:off x="8293680" y="1892880"/>
            <a:ext cx="3081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Choose a robust margin-based decision surface; use kernels when justified.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4"/>
          <p:cNvSpPr/>
          <p:nvPr/>
        </p:nvSpPr>
        <p:spPr>
          <a:xfrm>
            <a:off x="2697480" y="3429000"/>
            <a:ext cx="1188360" cy="639720"/>
          </a:xfrm>
          <a:prstGeom prst="chevron">
            <a:avLst>
              <a:gd name="adj" fmla="val 50000"/>
            </a:avLst>
          </a:prstGeom>
          <a:solidFill>
            <a:srgbClr val="B8C4D2"/>
          </a:solidFill>
          <a:ln w="12700">
            <a:solidFill>
              <a:srgbClr val="B8C4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5"/>
          <p:cNvSpPr/>
          <p:nvPr/>
        </p:nvSpPr>
        <p:spPr>
          <a:xfrm>
            <a:off x="6400800" y="3429000"/>
            <a:ext cx="1188360" cy="639720"/>
          </a:xfrm>
          <a:prstGeom prst="chevron">
            <a:avLst>
              <a:gd name="adj" fmla="val 50000"/>
            </a:avLst>
          </a:prstGeom>
          <a:solidFill>
            <a:srgbClr val="B8C4D2"/>
          </a:solidFill>
          <a:ln w="12700">
            <a:solidFill>
              <a:srgbClr val="B8C4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6"/>
          <p:cNvSpPr/>
          <p:nvPr/>
        </p:nvSpPr>
        <p:spPr>
          <a:xfrm>
            <a:off x="1005840" y="475488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Raw audio → DSP features → scale → PCA? → classifier → validation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sldNum" idx="25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D56876B-55BA-41D4-9F90-069915BB1A9B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22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1637</Words>
  <Application>Microsoft Office PowerPoint</Application>
  <PresentationFormat>Widescreen</PresentationFormat>
  <Paragraphs>220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3</cp:revision>
  <dcterms:modified xsi:type="dcterms:W3CDTF">2026-08-24T02:40:52Z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2026-08-23T22:19:51Z</dcterms:created>
  <dc:creator>OpenAI</dc:creator>
  <dc:description/>
  <dc:language>en-US</dc:language>
  <cp:lastModifiedBy>OpenAI</cp:lastModifiedBy>
  <dcterms:modified xsi:type="dcterms:W3CDTF">2026-08-23T22:19:51Z</dcterms:modified>
  <cp:revision>1</cp:revision>
  <dc:subject>DSP + ML Week 12: PCA, SVM, Trees, Random Forests</dc:subject>
  <dc:title>Week 12 — Dimensionality Reduction, Maximum-Margin Classifiers, and Tree Ensembles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On-screen Show (16:9)</vt:lpwstr>
  </property>
  <property fmtid="{D5CDD505-2E9C-101B-9397-08002B2CF9AE}" pid="4" name="Slides">
    <vt:r8>52</vt:r8>
  </property>
</Properties>
</file>