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3095AC-658E-406A-9EA9-F48988BA137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3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F1726C-356D-4C63-927B-D0D744C4DE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3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DFE739-5DF5-4AE5-A7EC-1ABAD21724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3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F31D17-1428-4EF6-8561-E127873AEA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4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277C8-D5CD-4525-B0F2-95896C0582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4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62739-3714-421D-85A9-3B7C95AA9D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4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BC9604-044C-4A64-A021-DBB2C3FC9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4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49CEB-F484-4C77-93D0-F61D5A15A0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5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B2E001-0EBB-4F24-B56B-DC457AE3AD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5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C0211-9017-4FF8-B8F2-9239CD65C0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5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A9E02-7BF7-43E5-86D7-96AFFE442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6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2C8D43-E75A-41F9-A485-EEE2CD5291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6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9B670F-BA79-4251-A318-67F45414ED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67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FF455B-25C2-4CE7-8304-8F10812292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70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7770F3-0506-4CFA-8926-D9DAB44090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73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CCB44-0D7E-4A8D-B6C2-EB5E144FFB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</a:p>
        </p:txBody>
      </p:sp>
      <p:sp>
        <p:nvSpPr>
          <p:cNvPr id="776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8BC29-8472-4E1D-AD11-BC134DD2A7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79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8931A4-DC8C-4505-AFED-F7F873DEBF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82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AC7DE2-5877-448E-8559-AA67811170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85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544D4-A288-44C3-BD5D-678D5D4CED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</a:t>
            </a:r>
          </a:p>
        </p:txBody>
      </p:sp>
      <p:sp>
        <p:nvSpPr>
          <p:cNvPr id="788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218A0-431F-4316-83B7-08CDD25C85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7388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DSP + Machine Learning • Week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7388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DDBDB7-2F86-4323-BF63-2B37C732992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640080" y="987480"/>
            <a:ext cx="109440" cy="448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"/>
          <p:cNvSpPr/>
          <p:nvPr/>
        </p:nvSpPr>
        <p:spPr>
          <a:xfrm>
            <a:off x="960120" y="102420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159">
                <a:solidFill>
                  <a:srgbClr val="14B8A6"/>
                </a:solidFill>
                <a:effectLst/>
                <a:uFillTx/>
                <a:latin typeface="Aptos"/>
              </a:rPr>
              <a:t>LECTURE 24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960120" y="1572840"/>
            <a:ext cx="9875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Tree-Based Models &amp; Ensemble Learning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960120" y="321876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D5DEE9"/>
                </a:solidFill>
                <a:effectLst/>
                <a:uFillTx/>
                <a:latin typeface="Aptos"/>
              </a:rPr>
              <a:t>Nonlinear decision rules, overfitting, bagging, and feature importance.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960120" y="4937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75 minutes • Trees → pruning → forests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960120" y="562356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Senior + first-year graduate ECE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INTUITION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Whiteboard exercise: classify by rules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731520" y="1325880"/>
            <a:ext cx="50745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731520" y="1325880"/>
            <a:ext cx="72720" cy="1416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932760" y="146304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Prompt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932760" y="1801440"/>
            <a:ext cx="4727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How would you distinguish trumpet vs. piano using only engineered audio features? Build a human-readable flowchart.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6126480" y="1325880"/>
            <a:ext cx="50745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6126480" y="132588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6327720" y="146304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Possible first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6327720" y="1801440"/>
            <a:ext cx="4727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Is spectral flux high? A piano attack may be transient, while a sustained trumpet frame may have lower flux.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731520" y="3246120"/>
            <a:ext cx="50745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731520" y="324612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932760" y="33832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Possible second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3"/>
          <p:cNvSpPr/>
          <p:nvPr/>
        </p:nvSpPr>
        <p:spPr>
          <a:xfrm>
            <a:off x="932760" y="3721680"/>
            <a:ext cx="4727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Is harmonic structure / spectral envelope consistent with a sustained source? Use MFCCs or spectral shape next.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6126480" y="3246120"/>
            <a:ext cx="50745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5"/>
          <p:cNvSpPr/>
          <p:nvPr/>
        </p:nvSpPr>
        <p:spPr>
          <a:xfrm>
            <a:off x="6126480" y="324612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6327720" y="33832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Teaching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7"/>
          <p:cNvSpPr/>
          <p:nvPr/>
        </p:nvSpPr>
        <p:spPr>
          <a:xfrm>
            <a:off x="6327720" y="3721680"/>
            <a:ext cx="4727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decision tree formalizes “if feature j &lt; threshold, go left; else go right” and learns the thresholds from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2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AF77C9-F21C-4B0D-96E1-78B9D33924BA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DECISION TREES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 decision tree is a recursive partition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At each node, choose one feature and one threshold that makes the child nodes “purer” in class labels.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Each root-to-leaf path is an AND of threshold rules.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In 2-D, repeated threshold splits carve the plane into axis-aligned rectangles.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sldNum" idx="27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C6B9600-9F11-4B75-91CE-85AB89436009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DECISION TREES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Gini impurity: probability of class mixing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1520" y="1325880"/>
            <a:ext cx="356580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Shape 2"/>
          <p:cNvSpPr/>
          <p:nvPr/>
        </p:nvSpPr>
        <p:spPr>
          <a:xfrm>
            <a:off x="4754880" y="1371600"/>
            <a:ext cx="283428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4754880" y="1371600"/>
            <a:ext cx="72720" cy="1325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4956120" y="15087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Pure node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956120" y="1847160"/>
            <a:ext cx="2486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[30, 0, 0] → G = 0. One class only.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6"/>
          <p:cNvSpPr/>
          <p:nvPr/>
        </p:nvSpPr>
        <p:spPr>
          <a:xfrm>
            <a:off x="7955280" y="137160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7955280" y="1371600"/>
            <a:ext cx="72720" cy="1325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8156520" y="15087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Balanced 3-class node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8156520" y="1847160"/>
            <a:ext cx="2898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[10, 10, 10] → G = 1 − 3(1/3)² = 2/3.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914400" y="3337560"/>
            <a:ext cx="98751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Candidate splits are scored by weighted child impurity.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Choose the threshold that produces the largest impurity decrease.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Num" idx="28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249E6B-8F5E-41B0-B784-2B1469A1E9CB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DECISION TREES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Entropy and information gain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1520" y="1234440"/>
            <a:ext cx="4388760" cy="74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1520" y="2331720"/>
            <a:ext cx="585180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Shape 2"/>
          <p:cNvSpPr/>
          <p:nvPr/>
        </p:nvSpPr>
        <p:spPr>
          <a:xfrm>
            <a:off x="7040880" y="1325880"/>
            <a:ext cx="41144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7040880" y="1325880"/>
            <a:ext cx="72720" cy="1599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"/>
          <p:cNvSpPr/>
          <p:nvPr/>
        </p:nvSpPr>
        <p:spPr>
          <a:xfrm>
            <a:off x="7242120" y="146304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Gini vs entropy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7242120" y="1801440"/>
            <a:ext cx="3767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They usually choose similar splits. Gini is slightly cheaper; entropy has a direct information-theoretic interpretation.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7040880" y="3429000"/>
            <a:ext cx="41144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7"/>
          <p:cNvSpPr/>
          <p:nvPr/>
        </p:nvSpPr>
        <p:spPr>
          <a:xfrm>
            <a:off x="7040880" y="342900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8"/>
          <p:cNvSpPr/>
          <p:nvPr/>
        </p:nvSpPr>
        <p:spPr>
          <a:xfrm>
            <a:off x="7242120" y="356616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Engineering habit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9"/>
          <p:cNvSpPr/>
          <p:nvPr/>
        </p:nvSpPr>
        <p:spPr>
          <a:xfrm>
            <a:off x="7242120" y="3904560"/>
            <a:ext cx="3767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Focus on the weighted decrease in impurity — not on memorizing which criterion is “better.” Validate performance.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sldNum" idx="29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D368277-0C94-4509-AD9A-C5A77AF019EF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DECISION TREES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Worked split: does this threshold help?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822960" y="12344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Parent: 20 kick, 20 cymbal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77240" y="1664280"/>
            <a:ext cx="44802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3"/>
          <p:cNvSpPr/>
          <p:nvPr/>
        </p:nvSpPr>
        <p:spPr>
          <a:xfrm>
            <a:off x="822960" y="25603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Candidate split: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4"/>
          <p:cNvSpPr/>
          <p:nvPr/>
        </p:nvSpPr>
        <p:spPr>
          <a:xfrm>
            <a:off x="1005840" y="297180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Left: 18 kick, 2 cymbal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Right: 2 kick, 18 cymbal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71640" y="2365393"/>
            <a:ext cx="566892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572000" y="3211033"/>
            <a:ext cx="566892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71640" y="4045764"/>
            <a:ext cx="393156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Shape 5"/>
          <p:cNvSpPr/>
          <p:nvPr/>
        </p:nvSpPr>
        <p:spPr>
          <a:xfrm>
            <a:off x="822960" y="4948393"/>
            <a:ext cx="1024092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6"/>
          <p:cNvSpPr/>
          <p:nvPr/>
        </p:nvSpPr>
        <p:spPr>
          <a:xfrm>
            <a:off x="822960" y="4939573"/>
            <a:ext cx="72720" cy="822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7"/>
          <p:cNvSpPr/>
          <p:nvPr/>
        </p:nvSpPr>
        <p:spPr>
          <a:xfrm>
            <a:off x="1005840" y="5029200"/>
            <a:ext cx="9920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F766E"/>
                </a:solidFill>
                <a:effectLst/>
                <a:uFillTx/>
                <a:latin typeface="Aptos"/>
              </a:rPr>
              <a:t>Interpretation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1005840" y="5350873"/>
            <a:ext cx="9893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72033"/>
                </a:solidFill>
                <a:effectLst/>
                <a:uFillTx/>
                <a:latin typeface="Aptos"/>
              </a:rPr>
              <a:t>Large impurity decrease: the threshold creates two much purer children.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sldNum" idx="30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A1A0D3-1BCF-47C5-899A-83E4D419AF48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VISUALIZING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How a tree partitions audio-feature space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Image 0" descr="/mnt/data/week12_dsp_ml/assets/tree_partition.png"/>
          <p:cNvPicPr/>
          <p:nvPr/>
        </p:nvPicPr>
        <p:blipFill>
          <a:blip r:embed="rId3"/>
          <a:stretch/>
        </p:blipFill>
        <p:spPr>
          <a:xfrm>
            <a:off x="685800" y="1405800"/>
            <a:ext cx="6994800" cy="42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Shape 2"/>
          <p:cNvSpPr/>
          <p:nvPr/>
        </p:nvSpPr>
        <p:spPr>
          <a:xfrm>
            <a:off x="8001000" y="1600200"/>
            <a:ext cx="3200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3"/>
          <p:cNvSpPr/>
          <p:nvPr/>
        </p:nvSpPr>
        <p:spPr>
          <a:xfrm>
            <a:off x="8001000" y="1600200"/>
            <a:ext cx="72720" cy="1554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8202240" y="173736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Axis-aligned boundaries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8202240" y="2075760"/>
            <a:ext cx="28526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Each split is perpendicular to one feature axis. Nonlinear overall regions emerge from many rectangular pieces.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6"/>
          <p:cNvSpPr/>
          <p:nvPr/>
        </p:nvSpPr>
        <p:spPr>
          <a:xfrm>
            <a:off x="8001000" y="3657600"/>
            <a:ext cx="32000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7"/>
          <p:cNvSpPr/>
          <p:nvPr/>
        </p:nvSpPr>
        <p:spPr>
          <a:xfrm>
            <a:off x="8001000" y="365760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8202240" y="379476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Interpretability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8202240" y="4133160"/>
            <a:ext cx="2852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shallow path can be read as a rule: centroid &lt; τ₁ AND flux ≥ τ₂ → class.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sldNum" idx="3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5AA5B0A-82EC-43E7-A311-ACE43FEB598C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DECISION TREES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Trees do not need feature standardization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split depends on ordering: x_j &lt; threshold. Monotonic rescaling preserves the ordering of samples.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Therefore standardizing Hz, energy, and MFCC values is not necessary for a standard decision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But missing values, outliers, categorical encodings, and leakage still require careful preprocessing.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1"/>
          <p:cNvSpPr>
            <a:spLocks noGrp="1"/>
          </p:cNvSpPr>
          <p:nvPr>
            <p:ph type="sldNum" idx="32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BD2E344-C4BA-4C2F-8C87-0F1F2FE52FF1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OVERFITTING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The danger: a deep tree can memorize the room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Image 0" descr="/mnt/data/week12_dsp_ml/assets/tree_overfit.png"/>
          <p:cNvPicPr/>
          <p:nvPr/>
        </p:nvPicPr>
        <p:blipFill>
          <a:blip r:embed="rId3"/>
          <a:stretch/>
        </p:blipFill>
        <p:spPr>
          <a:xfrm>
            <a:off x="731520" y="1506960"/>
            <a:ext cx="6903360" cy="40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Shape 2"/>
          <p:cNvSpPr/>
          <p:nvPr/>
        </p:nvSpPr>
        <p:spPr>
          <a:xfrm>
            <a:off x="7955280" y="1600200"/>
            <a:ext cx="3245760" cy="17827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"/>
          <p:cNvSpPr/>
          <p:nvPr/>
        </p:nvSpPr>
        <p:spPr>
          <a:xfrm>
            <a:off x="7955280" y="1600200"/>
            <a:ext cx="72720" cy="1782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"/>
          <p:cNvSpPr/>
          <p:nvPr/>
        </p:nvSpPr>
        <p:spPr>
          <a:xfrm>
            <a:off x="8156520" y="1737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Audio-specific overfit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8156520" y="2075760"/>
            <a:ext cx="2898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deep tree may split on microphone hiss, room noise, gain, performer, or recording-session artifacts rather than instrument identity.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7955280" y="388620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7"/>
          <p:cNvSpPr/>
          <p:nvPr/>
        </p:nvSpPr>
        <p:spPr>
          <a:xfrm>
            <a:off x="7955280" y="3886200"/>
            <a:ext cx="72720" cy="1325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8156520" y="4023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Symptom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8156520" y="4361760"/>
            <a:ext cx="2898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Training accuracy keeps rising while validation/test accuracy stalls or drops.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sldNum" idx="33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1BCA24-A249-424A-B0F7-32ADAA0EF434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REGULARIZATION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Control tree complexity before it controls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`max_depth`: maximum number of decision levels.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`min_samples_leaf`: require evidence before creating a tiny leaf.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`min_samples_split`: require enough samples to attempt a split.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`max_leaf_nodes`: cap the number of terminal regions.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`ccp_alpha`: post-prune branches using cost-complexity pruning.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 type="sldNum" idx="34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EA67097-01B6-4DA8-BD5B-7C6CC52D10E1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REGULARIZATION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Cost-complexity pruning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77240" y="1280160"/>
            <a:ext cx="3840120" cy="7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Image 1" descr="/mnt/data/week12_dsp_ml/assets/pruning_curve.png"/>
          <p:cNvPicPr/>
          <p:nvPr/>
        </p:nvPicPr>
        <p:blipFill>
          <a:blip r:embed="rId4"/>
          <a:stretch/>
        </p:blipFill>
        <p:spPr>
          <a:xfrm>
            <a:off x="4754880" y="1447920"/>
            <a:ext cx="6400440" cy="37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Shape 2"/>
          <p:cNvSpPr/>
          <p:nvPr/>
        </p:nvSpPr>
        <p:spPr>
          <a:xfrm>
            <a:off x="822960" y="2468880"/>
            <a:ext cx="338292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822960" y="2468880"/>
            <a:ext cx="72720" cy="1096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1024200" y="26060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α = 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1024200" y="2944440"/>
            <a:ext cx="303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No complexity penalty; retain the fully grown candidate tree.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822960" y="3886200"/>
            <a:ext cx="338292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822960" y="3886200"/>
            <a:ext cx="72720" cy="1325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1024200" y="40233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Larger 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1024200" y="4361760"/>
            <a:ext cx="3035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Pay more for extra leaves; prune branches that add too little reduction in error / impurity.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Num" idx="35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0FC7B4-6549-4F79-B8F3-DDF7A739E665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ENSEMBLES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Bagging: average unstable learners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"/>
          <p:cNvSpPr/>
          <p:nvPr/>
        </p:nvSpPr>
        <p:spPr>
          <a:xfrm>
            <a:off x="914400" y="182880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1298520" y="182880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"/>
          <p:cNvSpPr/>
          <p:nvPr/>
        </p:nvSpPr>
        <p:spPr>
          <a:xfrm>
            <a:off x="1682640" y="182880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5"/>
          <p:cNvSpPr/>
          <p:nvPr/>
        </p:nvSpPr>
        <p:spPr>
          <a:xfrm>
            <a:off x="914400" y="235908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1298520" y="235908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1682640" y="2359080"/>
            <a:ext cx="164160" cy="164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777240" y="30175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training set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9"/>
          <p:cNvSpPr/>
          <p:nvPr/>
        </p:nvSpPr>
        <p:spPr>
          <a:xfrm>
            <a:off x="2423160" y="150876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3337560" y="1234440"/>
            <a:ext cx="21484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1"/>
          <p:cNvSpPr/>
          <p:nvPr/>
        </p:nvSpPr>
        <p:spPr>
          <a:xfrm>
            <a:off x="3520440" y="14814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bootstrap sample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(with replacement)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2"/>
          <p:cNvSpPr/>
          <p:nvPr/>
        </p:nvSpPr>
        <p:spPr>
          <a:xfrm>
            <a:off x="5623560" y="150876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3"/>
          <p:cNvSpPr/>
          <p:nvPr/>
        </p:nvSpPr>
        <p:spPr>
          <a:xfrm>
            <a:off x="6537960" y="1234440"/>
            <a:ext cx="1737000" cy="1005480"/>
          </a:xfrm>
          <a:prstGeom prst="roundRect">
            <a:avLst>
              <a:gd name="adj" fmla="val 16667"/>
            </a:avLst>
          </a:prstGeom>
          <a:solidFill>
            <a:srgbClr val="EFF8F7"/>
          </a:solidFill>
          <a:ln w="12700">
            <a:solidFill>
              <a:srgbClr val="A7D9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4"/>
          <p:cNvSpPr/>
          <p:nvPr/>
        </p:nvSpPr>
        <p:spPr>
          <a:xfrm>
            <a:off x="6812280" y="15544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tree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5"/>
          <p:cNvSpPr/>
          <p:nvPr/>
        </p:nvSpPr>
        <p:spPr>
          <a:xfrm>
            <a:off x="2423160" y="292608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6"/>
          <p:cNvSpPr/>
          <p:nvPr/>
        </p:nvSpPr>
        <p:spPr>
          <a:xfrm>
            <a:off x="3337560" y="2651760"/>
            <a:ext cx="21484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7"/>
          <p:cNvSpPr/>
          <p:nvPr/>
        </p:nvSpPr>
        <p:spPr>
          <a:xfrm>
            <a:off x="3520440" y="28987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bootstrap sample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(with replacement)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8"/>
          <p:cNvSpPr/>
          <p:nvPr/>
        </p:nvSpPr>
        <p:spPr>
          <a:xfrm>
            <a:off x="5623560" y="292608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9"/>
          <p:cNvSpPr/>
          <p:nvPr/>
        </p:nvSpPr>
        <p:spPr>
          <a:xfrm>
            <a:off x="6537960" y="2651760"/>
            <a:ext cx="1737000" cy="1005480"/>
          </a:xfrm>
          <a:prstGeom prst="roundRect">
            <a:avLst>
              <a:gd name="adj" fmla="val 16667"/>
            </a:avLst>
          </a:prstGeom>
          <a:solidFill>
            <a:srgbClr val="EFF8F7"/>
          </a:solidFill>
          <a:ln w="12700">
            <a:solidFill>
              <a:srgbClr val="A7D9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0"/>
          <p:cNvSpPr/>
          <p:nvPr/>
        </p:nvSpPr>
        <p:spPr>
          <a:xfrm>
            <a:off x="6812280" y="29718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tree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1"/>
          <p:cNvSpPr/>
          <p:nvPr/>
        </p:nvSpPr>
        <p:spPr>
          <a:xfrm>
            <a:off x="2423160" y="434340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2"/>
          <p:cNvSpPr/>
          <p:nvPr/>
        </p:nvSpPr>
        <p:spPr>
          <a:xfrm>
            <a:off x="3337560" y="4069080"/>
            <a:ext cx="21484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3"/>
          <p:cNvSpPr/>
          <p:nvPr/>
        </p:nvSpPr>
        <p:spPr>
          <a:xfrm>
            <a:off x="3520440" y="431604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bootstrap sample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(with replacement)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4"/>
          <p:cNvSpPr/>
          <p:nvPr/>
        </p:nvSpPr>
        <p:spPr>
          <a:xfrm>
            <a:off x="5623560" y="4343400"/>
            <a:ext cx="822600" cy="502560"/>
          </a:xfrm>
          <a:prstGeom prst="chevron">
            <a:avLst>
              <a:gd name="adj" fmla="val 50000"/>
            </a:avLst>
          </a:prstGeom>
          <a:solidFill>
            <a:srgbClr val="B9C3D0"/>
          </a:solidFill>
          <a:ln w="12700">
            <a:solidFill>
              <a:srgbClr val="B9C3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5"/>
          <p:cNvSpPr/>
          <p:nvPr/>
        </p:nvSpPr>
        <p:spPr>
          <a:xfrm>
            <a:off x="6537960" y="4069080"/>
            <a:ext cx="1737000" cy="1005480"/>
          </a:xfrm>
          <a:prstGeom prst="roundRect">
            <a:avLst>
              <a:gd name="adj" fmla="val 16667"/>
            </a:avLst>
          </a:prstGeom>
          <a:solidFill>
            <a:srgbClr val="EFF8F7"/>
          </a:solidFill>
          <a:ln w="12700">
            <a:solidFill>
              <a:srgbClr val="A7D9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6"/>
          <p:cNvSpPr/>
          <p:nvPr/>
        </p:nvSpPr>
        <p:spPr>
          <a:xfrm>
            <a:off x="6812280" y="43891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tree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7"/>
          <p:cNvSpPr/>
          <p:nvPr/>
        </p:nvSpPr>
        <p:spPr>
          <a:xfrm>
            <a:off x="8458200" y="2788920"/>
            <a:ext cx="822600" cy="502560"/>
          </a:xfrm>
          <a:prstGeom prst="chevron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8"/>
          <p:cNvSpPr/>
          <p:nvPr/>
        </p:nvSpPr>
        <p:spPr>
          <a:xfrm>
            <a:off x="9372600" y="2148840"/>
            <a:ext cx="2011320" cy="170014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9"/>
          <p:cNvSpPr/>
          <p:nvPr/>
        </p:nvSpPr>
        <p:spPr>
          <a:xfrm>
            <a:off x="9372600" y="2148840"/>
            <a:ext cx="72720" cy="170014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0"/>
          <p:cNvSpPr/>
          <p:nvPr/>
        </p:nvSpPr>
        <p:spPr>
          <a:xfrm>
            <a:off x="9560160" y="21488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F766E"/>
                </a:solidFill>
                <a:effectLst/>
                <a:uFillTx/>
                <a:latin typeface="Aptos"/>
              </a:rPr>
              <a:t>Vote / average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1"/>
          <p:cNvSpPr/>
          <p:nvPr/>
        </p:nvSpPr>
        <p:spPr>
          <a:xfrm>
            <a:off x="9573840" y="2624400"/>
            <a:ext cx="16639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72033"/>
                </a:solidFill>
                <a:effectLst/>
                <a:uFillTx/>
                <a:latin typeface="Aptos"/>
              </a:rPr>
              <a:t>Classification: majority vote (or averaged class probabilities). Variance falls when individual tree errors are not perfectly correlated.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1"/>
          <p:cNvSpPr>
            <a:spLocks noGrp="1"/>
          </p:cNvSpPr>
          <p:nvPr>
            <p:ph type="sldNum" idx="3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7D5E2B-0BC0-41EC-B1C4-11961895517B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RANDOM FORESTS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Random forest = bagging + random feature subsets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Each tree trains on a bootstrap sample.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At each split, only a random subset of candidate features is considered.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This prevents one dominant feature from making every tree look the same.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Averaging many de-correlated trees typically reduces variance while retaining flexible nonlinear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sldNum" idx="37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54C2C9-153E-4783-B0C8-9992A2986BB6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RANDOM FORESTS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Why averaging helps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2960" y="1325880"/>
            <a:ext cx="576036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Shape 2"/>
          <p:cNvSpPr/>
          <p:nvPr/>
        </p:nvSpPr>
        <p:spPr>
          <a:xfrm>
            <a:off x="868680" y="260604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"/>
          <p:cNvSpPr/>
          <p:nvPr/>
        </p:nvSpPr>
        <p:spPr>
          <a:xfrm>
            <a:off x="868680" y="2606040"/>
            <a:ext cx="72720" cy="1325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"/>
          <p:cNvSpPr/>
          <p:nvPr/>
        </p:nvSpPr>
        <p:spPr>
          <a:xfrm>
            <a:off x="1069920" y="27432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"/>
          <p:cNvSpPr/>
          <p:nvPr/>
        </p:nvSpPr>
        <p:spPr>
          <a:xfrm>
            <a:off x="1069920" y="3081600"/>
            <a:ext cx="2898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Number of trees. The independent part of variance shrinks roughly with 1/B.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6"/>
          <p:cNvSpPr/>
          <p:nvPr/>
        </p:nvSpPr>
        <p:spPr>
          <a:xfrm>
            <a:off x="4434840" y="260604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7"/>
          <p:cNvSpPr/>
          <p:nvPr/>
        </p:nvSpPr>
        <p:spPr>
          <a:xfrm>
            <a:off x="4434840" y="2606040"/>
            <a:ext cx="72720" cy="1325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8"/>
          <p:cNvSpPr/>
          <p:nvPr/>
        </p:nvSpPr>
        <p:spPr>
          <a:xfrm>
            <a:off x="4636080" y="27432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9"/>
          <p:cNvSpPr/>
          <p:nvPr/>
        </p:nvSpPr>
        <p:spPr>
          <a:xfrm>
            <a:off x="4636080" y="3081600"/>
            <a:ext cx="2898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Correlation between tree errors. If trees make the same mistakes, averaging cannot remove them.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0"/>
          <p:cNvSpPr/>
          <p:nvPr/>
        </p:nvSpPr>
        <p:spPr>
          <a:xfrm>
            <a:off x="8001000" y="260604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1"/>
          <p:cNvSpPr/>
          <p:nvPr/>
        </p:nvSpPr>
        <p:spPr>
          <a:xfrm>
            <a:off x="8001000" y="2606040"/>
            <a:ext cx="72720" cy="1325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2"/>
          <p:cNvSpPr/>
          <p:nvPr/>
        </p:nvSpPr>
        <p:spPr>
          <a:xfrm>
            <a:off x="8202240" y="27432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Design implication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3"/>
          <p:cNvSpPr/>
          <p:nvPr/>
        </p:nvSpPr>
        <p:spPr>
          <a:xfrm>
            <a:off x="8202240" y="3081600"/>
            <a:ext cx="2898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Bootstrap samples + random feature subsets aim to keep trees strong but less correlated.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sldNum" idx="38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FE619A-3F74-4793-8460-FED023AFDC3A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RANDOM FORESTS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As the forest grows, predictions stabilize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0" descr="/mnt/data/week12_dsp_ml/assets/forest_convergence.png"/>
          <p:cNvPicPr/>
          <p:nvPr/>
        </p:nvPicPr>
        <p:blipFill>
          <a:blip r:embed="rId3"/>
          <a:stretch/>
        </p:blipFill>
        <p:spPr>
          <a:xfrm>
            <a:off x="777240" y="152028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Shape 2"/>
          <p:cNvSpPr/>
          <p:nvPr/>
        </p:nvSpPr>
        <p:spPr>
          <a:xfrm>
            <a:off x="7955280" y="1600200"/>
            <a:ext cx="324576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"/>
          <p:cNvSpPr/>
          <p:nvPr/>
        </p:nvSpPr>
        <p:spPr>
          <a:xfrm>
            <a:off x="7955280" y="1600200"/>
            <a:ext cx="72720" cy="1599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8156520" y="1737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More trees usually do not overfit like more depth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5"/>
          <p:cNvSpPr/>
          <p:nvPr/>
        </p:nvSpPr>
        <p:spPr>
          <a:xfrm>
            <a:off x="8156520" y="2075760"/>
            <a:ext cx="28983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Increasing B mainly reduces Monte Carlo variance; training each tree more deeply is a different complexity choice.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7955280" y="3703320"/>
            <a:ext cx="32457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7"/>
          <p:cNvSpPr/>
          <p:nvPr/>
        </p:nvSpPr>
        <p:spPr>
          <a:xfrm>
            <a:off x="7955280" y="370332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8"/>
          <p:cNvSpPr/>
          <p:nvPr/>
        </p:nvSpPr>
        <p:spPr>
          <a:xfrm>
            <a:off x="8156520" y="38404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Cost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9"/>
          <p:cNvSpPr/>
          <p:nvPr/>
        </p:nvSpPr>
        <p:spPr>
          <a:xfrm>
            <a:off x="8156520" y="4178880"/>
            <a:ext cx="2898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More trees increase memory and inference / training time. Stop when validation performance and uncertainty stabilize.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1"/>
          <p:cNvSpPr>
            <a:spLocks noGrp="1"/>
          </p:cNvSpPr>
          <p:nvPr>
            <p:ph type="sldNum" idx="39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06E473F-523E-4B9F-826D-10E2D58CD7D4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RANDOM FORESTS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Out-of-bag (OOB) evaluation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bootstrap sample leaves out roughly 36.8% of the training examples for a given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For each training example, predict using only trees that did not train on that example.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Aggregate those predictions to obtain an internal generalization estimate without a separate validation split.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sldNum" idx="40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754A90-C879-488D-8D0D-65926314F25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INTERPRETABILITY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Feature importance: useful, but ask “importance for what?”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/mnt/data/week12_dsp_ml/assets/feature_importance.png"/>
          <p:cNvPicPr/>
          <p:nvPr/>
        </p:nvPicPr>
        <p:blipFill>
          <a:blip r:embed="rId3"/>
          <a:stretch/>
        </p:blipFill>
        <p:spPr>
          <a:xfrm>
            <a:off x="731520" y="1296720"/>
            <a:ext cx="7040520" cy="449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Shape 2"/>
          <p:cNvSpPr/>
          <p:nvPr/>
        </p:nvSpPr>
        <p:spPr>
          <a:xfrm>
            <a:off x="8092440" y="1417320"/>
            <a:ext cx="315432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"/>
          <p:cNvSpPr/>
          <p:nvPr/>
        </p:nvSpPr>
        <p:spPr>
          <a:xfrm>
            <a:off x="8092440" y="1417320"/>
            <a:ext cx="72720" cy="1462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"/>
          <p:cNvSpPr/>
          <p:nvPr/>
        </p:nvSpPr>
        <p:spPr>
          <a:xfrm>
            <a:off x="8293680" y="15544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MDI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"/>
          <p:cNvSpPr/>
          <p:nvPr/>
        </p:nvSpPr>
        <p:spPr>
          <a:xfrm>
            <a:off x="8293680" y="1892880"/>
            <a:ext cx="2806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Mean decrease in impurity: how much tree splits using a feature reduce impurity across the forest.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6"/>
          <p:cNvSpPr/>
          <p:nvPr/>
        </p:nvSpPr>
        <p:spPr>
          <a:xfrm>
            <a:off x="8092440" y="3246120"/>
            <a:ext cx="315432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7"/>
          <p:cNvSpPr/>
          <p:nvPr/>
        </p:nvSpPr>
        <p:spPr>
          <a:xfrm>
            <a:off x="8092440" y="3246120"/>
            <a:ext cx="72720" cy="1462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8293680" y="33832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Permutation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9"/>
          <p:cNvSpPr/>
          <p:nvPr/>
        </p:nvSpPr>
        <p:spPr>
          <a:xfrm>
            <a:off x="8293680" y="3721680"/>
            <a:ext cx="2806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Shuffle one feature on held-out data; measure how much prediction degrades.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0"/>
          <p:cNvSpPr/>
          <p:nvPr/>
        </p:nvSpPr>
        <p:spPr>
          <a:xfrm>
            <a:off x="8092440" y="4983480"/>
            <a:ext cx="315432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1"/>
          <p:cNvSpPr/>
          <p:nvPr/>
        </p:nvSpPr>
        <p:spPr>
          <a:xfrm>
            <a:off x="8092440" y="4983480"/>
            <a:ext cx="72720" cy="685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2"/>
          <p:cNvSpPr/>
          <p:nvPr/>
        </p:nvSpPr>
        <p:spPr>
          <a:xfrm>
            <a:off x="8293680" y="51206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Caution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3"/>
          <p:cNvSpPr/>
          <p:nvPr/>
        </p:nvSpPr>
        <p:spPr>
          <a:xfrm>
            <a:off x="8293680" y="5459040"/>
            <a:ext cx="28069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4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Correlated features can share or mask importance. High importance is not causality.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1"/>
          <p:cNvSpPr>
            <a:spLocks noGrp="1"/>
          </p:cNvSpPr>
          <p:nvPr>
            <p:ph type="sldNum" idx="4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71A433-9C4E-40BC-8B8D-1996DE9D7804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MODEL COMPARISON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Tree vs. forest vs. SVM: choose by structure, not fashion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"/>
          <p:cNvSpPr/>
          <p:nvPr/>
        </p:nvSpPr>
        <p:spPr>
          <a:xfrm>
            <a:off x="640080" y="1508760"/>
            <a:ext cx="324576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"/>
          <p:cNvSpPr/>
          <p:nvPr/>
        </p:nvSpPr>
        <p:spPr>
          <a:xfrm>
            <a:off x="640080" y="1508760"/>
            <a:ext cx="72720" cy="320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4"/>
          <p:cNvSpPr/>
          <p:nvPr/>
        </p:nvSpPr>
        <p:spPr>
          <a:xfrm>
            <a:off x="841320" y="1645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Single tree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5"/>
          <p:cNvSpPr/>
          <p:nvPr/>
        </p:nvSpPr>
        <p:spPr>
          <a:xfrm>
            <a:off x="841320" y="1984320"/>
            <a:ext cx="289836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Readable rules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Fast inference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High variance unless regularized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Axis-aligned regions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6"/>
          <p:cNvSpPr/>
          <p:nvPr/>
        </p:nvSpPr>
        <p:spPr>
          <a:xfrm>
            <a:off x="4160520" y="1508760"/>
            <a:ext cx="324576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7"/>
          <p:cNvSpPr/>
          <p:nvPr/>
        </p:nvSpPr>
        <p:spPr>
          <a:xfrm>
            <a:off x="4160520" y="1508760"/>
            <a:ext cx="72720" cy="320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8"/>
          <p:cNvSpPr/>
          <p:nvPr/>
        </p:nvSpPr>
        <p:spPr>
          <a:xfrm>
            <a:off x="4361760" y="1645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Random forest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9"/>
          <p:cNvSpPr/>
          <p:nvPr/>
        </p:nvSpPr>
        <p:spPr>
          <a:xfrm>
            <a:off x="4361760" y="1984320"/>
            <a:ext cx="289836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Flexible nonlinear model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Robust average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Good default on tabular features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Less transparent than one tree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0"/>
          <p:cNvSpPr/>
          <p:nvPr/>
        </p:nvSpPr>
        <p:spPr>
          <a:xfrm>
            <a:off x="7680960" y="1508760"/>
            <a:ext cx="324576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1"/>
          <p:cNvSpPr/>
          <p:nvPr/>
        </p:nvSpPr>
        <p:spPr>
          <a:xfrm>
            <a:off x="7680960" y="1508760"/>
            <a:ext cx="72720" cy="320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2"/>
          <p:cNvSpPr/>
          <p:nvPr/>
        </p:nvSpPr>
        <p:spPr>
          <a:xfrm>
            <a:off x="7882200" y="1645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Scaled SVM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3"/>
          <p:cNvSpPr/>
          <p:nvPr/>
        </p:nvSpPr>
        <p:spPr>
          <a:xfrm>
            <a:off x="7882200" y="1984320"/>
            <a:ext cx="289836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Margin-based geometry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Excellent in moderate/high dimension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Scaling essential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RBF needs C/γ tuning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4"/>
          <p:cNvSpPr/>
          <p:nvPr/>
        </p:nvSpPr>
        <p:spPr>
          <a:xfrm>
            <a:off x="960120" y="521208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Best engineering answer: compare candidates with the same leakage-safe cross-validation protocol and inspect failure modes.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sldNum" idx="42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D2E72A8-AF2E-4469-BABC-8F7C5C64C15E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IMPLEMENTATION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scikit-learn: tree and forest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"/>
          <p:cNvSpPr/>
          <p:nvPr/>
        </p:nvSpPr>
        <p:spPr>
          <a:xfrm>
            <a:off x="777240" y="1325880"/>
            <a:ext cx="5668920" cy="420588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27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"/>
          <p:cNvSpPr/>
          <p:nvPr/>
        </p:nvSpPr>
        <p:spPr>
          <a:xfrm>
            <a:off x="941760" y="1454040"/>
            <a:ext cx="533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DD3FC"/>
                </a:solidFill>
                <a:effectLst/>
                <a:uFillTx/>
                <a:latin typeface="Aptos"/>
              </a:rPr>
              <a:t>Models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941760" y="1746360"/>
            <a:ext cx="5339880" cy="36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sklearn.tree import DecisionTreeClassifier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sklearn.ensemble import RandomForestClassifier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tree = DecisionTreeClassifier(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max_depth=4, min_samples_leaf=8, random_state=1)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forest = RandomForestClassifier(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n_estimators=300, max_features="sqrt",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min_samples_leaf=2, oob_score=True,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random_state=1, n_jobs=-1)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6812280" y="1554480"/>
            <a:ext cx="443448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6"/>
          <p:cNvSpPr/>
          <p:nvPr/>
        </p:nvSpPr>
        <p:spPr>
          <a:xfrm>
            <a:off x="6812280" y="1554480"/>
            <a:ext cx="72720" cy="1371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7"/>
          <p:cNvSpPr/>
          <p:nvPr/>
        </p:nvSpPr>
        <p:spPr>
          <a:xfrm>
            <a:off x="7013520" y="16916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No StandardScaler required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8"/>
          <p:cNvSpPr/>
          <p:nvPr/>
        </p:nvSpPr>
        <p:spPr>
          <a:xfrm>
            <a:off x="7013520" y="2030040"/>
            <a:ext cx="4087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Threshold-based splits are invariant to monotonic rescaling of each feature.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9"/>
          <p:cNvSpPr/>
          <p:nvPr/>
        </p:nvSpPr>
        <p:spPr>
          <a:xfrm>
            <a:off x="6812280" y="3474720"/>
            <a:ext cx="443448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0"/>
          <p:cNvSpPr/>
          <p:nvPr/>
        </p:nvSpPr>
        <p:spPr>
          <a:xfrm>
            <a:off x="6812280" y="3474720"/>
            <a:ext cx="72720" cy="1691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1"/>
          <p:cNvSpPr/>
          <p:nvPr/>
        </p:nvSpPr>
        <p:spPr>
          <a:xfrm>
            <a:off x="7013520" y="36118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Notebook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2"/>
          <p:cNvSpPr/>
          <p:nvPr/>
        </p:nvSpPr>
        <p:spPr>
          <a:xfrm>
            <a:off x="7013520" y="3950280"/>
            <a:ext cx="40870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Lecture24_Trees_RandomForests.ipynb includes impurity calculations, tree plots, pruning, OOB score, cross-validation, and permutation importance.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1"/>
          <p:cNvSpPr>
            <a:spLocks noGrp="1"/>
          </p:cNvSpPr>
          <p:nvPr>
            <p:ph type="sldNum" idx="43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77704F9-D01D-45C7-9EB0-75BE4DEEA54B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WRAP-UP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Lecture 24 synthesis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685800" y="132588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"/>
          <p:cNvSpPr/>
          <p:nvPr/>
        </p:nvSpPr>
        <p:spPr>
          <a:xfrm>
            <a:off x="685800" y="1325880"/>
            <a:ext cx="72720" cy="1416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887040" y="14630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Tree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887040" y="180144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Greedy hierarchical threshold rules; intuitive but unstable.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4389120" y="132588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7"/>
          <p:cNvSpPr/>
          <p:nvPr/>
        </p:nvSpPr>
        <p:spPr>
          <a:xfrm>
            <a:off x="4389120" y="132588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8"/>
          <p:cNvSpPr/>
          <p:nvPr/>
        </p:nvSpPr>
        <p:spPr>
          <a:xfrm>
            <a:off x="4590360" y="14630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Regularization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9"/>
          <p:cNvSpPr/>
          <p:nvPr/>
        </p:nvSpPr>
        <p:spPr>
          <a:xfrm>
            <a:off x="4590360" y="180144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Depth, leaf size, and pruning prevent memorizing recording artifacts.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8092440" y="132588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1"/>
          <p:cNvSpPr/>
          <p:nvPr/>
        </p:nvSpPr>
        <p:spPr>
          <a:xfrm>
            <a:off x="8092440" y="132588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2"/>
          <p:cNvSpPr/>
          <p:nvPr/>
        </p:nvSpPr>
        <p:spPr>
          <a:xfrm>
            <a:off x="8293680" y="14630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Forest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8293680" y="180144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Average many de-correlated trees to reduce variance.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1600200" y="3657600"/>
            <a:ext cx="89607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5"/>
          <p:cNvSpPr/>
          <p:nvPr/>
        </p:nvSpPr>
        <p:spPr>
          <a:xfrm>
            <a:off x="1600200" y="3657600"/>
            <a:ext cx="72720" cy="1416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6"/>
          <p:cNvSpPr/>
          <p:nvPr/>
        </p:nvSpPr>
        <p:spPr>
          <a:xfrm>
            <a:off x="1801440" y="3794760"/>
            <a:ext cx="8640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7"/>
          <p:cNvSpPr/>
          <p:nvPr/>
        </p:nvSpPr>
        <p:spPr>
          <a:xfrm>
            <a:off x="1801440" y="4133160"/>
            <a:ext cx="8613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Importance answers a predictive question, not a causal one; correlated audio features complicate attribution.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1"/>
          <p:cNvSpPr>
            <a:spLocks noGrp="1"/>
          </p:cNvSpPr>
          <p:nvPr>
            <p:ph type="sldNum" idx="44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1B9B5F-5BF1-4E5F-8AA1-3C959F05B8F0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1411</Words>
  <Application>Microsoft Office PowerPoint</Application>
  <PresentationFormat>Widescreen</PresentationFormat>
  <Paragraphs>223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3</cp:revision>
  <dcterms:modified xsi:type="dcterms:W3CDTF">2026-08-24T02:50:01Z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2026-08-23T22:19:51Z</dcterms:created>
  <dc:creator>OpenAI</dc:creator>
  <dc:description/>
  <dc:language>en-US</dc:language>
  <cp:lastModifiedBy>OpenAI</cp:lastModifiedBy>
  <dcterms:modified xsi:type="dcterms:W3CDTF">2026-08-23T22:19:51Z</dcterms:modified>
  <cp:revision>1</cp:revision>
  <dc:subject>DSP + ML Week 12: PCA, SVM, Trees, Random Forests</dc:subject>
  <dc:title>Week 12 — Dimensionality Reduction, Maximum-Margin Classifiers, and Tree Ensembles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On-screen Show (16:9)</vt:lpwstr>
  </property>
  <property fmtid="{D5CDD505-2E9C-101B-9397-08002B2CF9AE}" pid="4" name="Slides">
    <vt:r8>52</vt:r8>
  </property>
</Properties>
</file>