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9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83095AC-658E-406A-9EA9-F48988BA137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</a:t>
            </a:r>
          </a:p>
        </p:txBody>
      </p:sp>
      <p:sp>
        <p:nvSpPr>
          <p:cNvPr id="791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358F89-9044-4CBD-B15C-09CB6A5D5D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</a:t>
            </a:r>
          </a:p>
        </p:txBody>
      </p:sp>
      <p:sp>
        <p:nvSpPr>
          <p:cNvPr id="794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F16C41-A0C0-4534-B5F5-5659E7AC11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E2E758-2FDB-4DB5-92D1-376E922139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F8DD2C-C800-467A-9E87-D2E225C7D4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DE7966-4468-4ACD-BDBD-41931EADC6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C375BF-66C2-45BC-AD4D-A796DA1095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4304F1-A23B-452D-BE5F-FC48AAA27F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3B69D3-F578-430F-9B8C-1D7BB7E21A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[object Object]</a:t>
            </a:r>
          </a:p>
        </p:txBody>
      </p:sp>
      <p:sp>
        <p:nvSpPr>
          <p:cNvPr id="815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EE1388-3FD5-4B8F-9418-46D8933460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473880"/>
            <a:ext cx="4114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  <a:ea typeface="Aptos"/>
              </a:rPr>
              <a:t>DSP + Machine Learning • Week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8412480" y="6473880"/>
            <a:ext cx="32457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  <a:ea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BDDBDB7-2F86-4323-BF63-2B37C7329923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ASSESSMENT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Weekly homework — problems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2"/>
          <p:cNvSpPr/>
          <p:nvPr/>
        </p:nvSpPr>
        <p:spPr>
          <a:xfrm>
            <a:off x="685800" y="1261800"/>
            <a:ext cx="10926720" cy="516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rm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1. PCA by hand: for C = [[2,1],[1,2]], find eigenvalues/eigenvectors, explained variance, and the 1-D projection of x = [2,0]ᵀ.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2. A standardized 8-feature audio set has explained-variance ratios [0.38,0.24,0.15,0.09,0.06,0.04,0.025,0.015]. Choose k for ≥90% retention and explain one limitation of this rule.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3. SVM: explain the effect of increasing C and increasing γ (RBF). Give one underfit and one overfit scenario.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4. Compute Gini gain for parent [20,20] split into [18,2] and [2,18]. Compare with a split into [12,8] and [8,12].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5. Explain why a depth-20 audio tree can fail on a new recording room even with 100% training accuracy. Name two regularization choices.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6. Random forest: explain bootstrap sampling, random feature subsets, OOB prediction, and why correlated trees limit the benefit of averaging.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7. In the Lecture 23 notebook, compare scaled RBF SVM with and without PCA using 5-fold CV. Report mean±std and interpret.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72033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8. In the Lecture 24 notebook, compare MDI and permutation importance after adding a noisy duplicate of spectral centroid. Explain any change.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1"/>
          <p:cNvSpPr>
            <a:spLocks noGrp="1"/>
          </p:cNvSpPr>
          <p:nvPr>
            <p:ph type="sldNum" idx="45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31F4B5C-6411-4079-8131-5AAB6E63D1F8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ASSESSMENT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Weekly quiz — 10 minutes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2"/>
          <p:cNvSpPr/>
          <p:nvPr/>
        </p:nvSpPr>
        <p:spPr>
          <a:xfrm>
            <a:off x="731520" y="126180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1. PCA chooses directions that maximize: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3"/>
          <p:cNvSpPr/>
          <p:nvPr/>
        </p:nvSpPr>
        <p:spPr>
          <a:xfrm>
            <a:off x="960120" y="16642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A. class separation   B. variance   C. margin   D. entropy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4"/>
          <p:cNvSpPr/>
          <p:nvPr/>
        </p:nvSpPr>
        <p:spPr>
          <a:xfrm>
            <a:off x="731520" y="224028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2. Why must scaling/PCA be inside a CV pipeline?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5"/>
          <p:cNvSpPr/>
          <p:nvPr/>
        </p:nvSpPr>
        <p:spPr>
          <a:xfrm>
            <a:off x="960120" y="264276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A. speed   B. avoid label imbalance   C. avoid leakage   D. make trees work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6"/>
          <p:cNvSpPr/>
          <p:nvPr/>
        </p:nvSpPr>
        <p:spPr>
          <a:xfrm>
            <a:off x="731520" y="324612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3. Larger SVM C generally means: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7"/>
          <p:cNvSpPr/>
          <p:nvPr/>
        </p:nvSpPr>
        <p:spPr>
          <a:xfrm>
            <a:off x="960120" y="364860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A. cheaper violations   B. stronger penalty on violations   C. wider RBF   D. fewer features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8"/>
          <p:cNvSpPr/>
          <p:nvPr/>
        </p:nvSpPr>
        <p:spPr>
          <a:xfrm>
            <a:off x="6400800" y="126180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4. Which model does NOT require feature standardization?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9"/>
          <p:cNvSpPr/>
          <p:nvPr/>
        </p:nvSpPr>
        <p:spPr>
          <a:xfrm>
            <a:off x="6629400" y="166428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A. PCA   B. RBF SVM   C. decision tree   D. linear SVM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0"/>
          <p:cNvSpPr/>
          <p:nvPr/>
        </p:nvSpPr>
        <p:spPr>
          <a:xfrm>
            <a:off x="6400800" y="22402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5. Main purpose of random feature subsets in a forest: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1"/>
          <p:cNvSpPr/>
          <p:nvPr/>
        </p:nvSpPr>
        <p:spPr>
          <a:xfrm>
            <a:off x="6629400" y="26427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A. normalize data   B. de-correlate trees   C. eliminate bootstrapping   D. guarantee causality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12"/>
          <p:cNvSpPr/>
          <p:nvPr/>
        </p:nvSpPr>
        <p:spPr>
          <a:xfrm>
            <a:off x="6400800" y="342900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6. Short answer: Why can a highly important feature in a random forest still be non-causal?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13"/>
          <p:cNvSpPr/>
          <p:nvPr/>
        </p:nvSpPr>
        <p:spPr>
          <a:xfrm>
            <a:off x="914400" y="4892040"/>
            <a:ext cx="1024092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14"/>
          <p:cNvSpPr/>
          <p:nvPr/>
        </p:nvSpPr>
        <p:spPr>
          <a:xfrm>
            <a:off x="914400" y="4892040"/>
            <a:ext cx="72720" cy="822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15"/>
          <p:cNvSpPr/>
          <p:nvPr/>
        </p:nvSpPr>
        <p:spPr>
          <a:xfrm>
            <a:off x="1115640" y="5029200"/>
            <a:ext cx="9920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Scoring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16"/>
          <p:cNvSpPr/>
          <p:nvPr/>
        </p:nvSpPr>
        <p:spPr>
          <a:xfrm>
            <a:off x="1115640" y="5367600"/>
            <a:ext cx="9893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1 point each. For #6, accept “predictive association can arise from correlation/confounding; the model was not a causal experiment.”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1"/>
          <p:cNvSpPr>
            <a:spLocks noGrp="1"/>
          </p:cNvSpPr>
          <p:nvPr>
            <p:ph type="sldNum" idx="46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A716644-C9D9-42CA-B2E8-4ACDDECA9BB5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Text 0"/>
          <p:cNvSpPr/>
          <p:nvPr/>
        </p:nvSpPr>
        <p:spPr>
          <a:xfrm>
            <a:off x="822960" y="91440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150">
                <a:solidFill>
                  <a:srgbClr val="14B8A6"/>
                </a:solidFill>
                <a:effectLst/>
                <a:uFillTx/>
                <a:latin typeface="Aptos"/>
              </a:rPr>
              <a:t>INSTRUCTOR APPENDIX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1"/>
          <p:cNvSpPr/>
          <p:nvPr/>
        </p:nvSpPr>
        <p:spPr>
          <a:xfrm>
            <a:off x="822960" y="1645920"/>
            <a:ext cx="93265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Homework + Quiz Solutions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2"/>
          <p:cNvSpPr/>
          <p:nvPr/>
        </p:nvSpPr>
        <p:spPr>
          <a:xfrm>
            <a:off x="822960" y="283464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D5DEE9"/>
                </a:solidFill>
                <a:effectLst/>
                <a:uFillTx/>
                <a:latin typeface="Aptos"/>
              </a:rPr>
              <a:t>Hide or remove these slides before distributing a student-facing deck.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INSTRUCTOR APPENDIX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HW 1–2 solutions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2"/>
          <p:cNvSpPr/>
          <p:nvPr/>
        </p:nvSpPr>
        <p:spPr>
          <a:xfrm>
            <a:off x="731520" y="1325880"/>
            <a:ext cx="1065240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3"/>
          <p:cNvSpPr/>
          <p:nvPr/>
        </p:nvSpPr>
        <p:spPr>
          <a:xfrm>
            <a:off x="731520" y="1325880"/>
            <a:ext cx="72720" cy="1828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4"/>
          <p:cNvSpPr/>
          <p:nvPr/>
        </p:nvSpPr>
        <p:spPr>
          <a:xfrm>
            <a:off x="932760" y="1463040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1. PCA by hand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5"/>
          <p:cNvSpPr/>
          <p:nvPr/>
        </p:nvSpPr>
        <p:spPr>
          <a:xfrm>
            <a:off x="932760" y="1801440"/>
            <a:ext cx="1030500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λ₁=3 with v₁=(1/√2)[1,1]ᵀ; λ₂=1 with v₂=(1/√2)[1,−1]ᵀ. PC1 retains 75%. For x=[2,0]ᵀ, score on PC1 is v₁ᵀx=√2 (assuming x is already centered in this coordinate system).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6"/>
          <p:cNvSpPr/>
          <p:nvPr/>
        </p:nvSpPr>
        <p:spPr>
          <a:xfrm>
            <a:off x="731520" y="3611880"/>
            <a:ext cx="10652400" cy="1645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7"/>
          <p:cNvSpPr/>
          <p:nvPr/>
        </p:nvSpPr>
        <p:spPr>
          <a:xfrm>
            <a:off x="731520" y="3611880"/>
            <a:ext cx="72720" cy="1645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8"/>
          <p:cNvSpPr/>
          <p:nvPr/>
        </p:nvSpPr>
        <p:spPr>
          <a:xfrm>
            <a:off x="932760" y="3749040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2. Explained variance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9"/>
          <p:cNvSpPr/>
          <p:nvPr/>
        </p:nvSpPr>
        <p:spPr>
          <a:xfrm>
            <a:off x="932760" y="4087440"/>
            <a:ext cx="1030500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Cumulative: 0.38, 0.62, 0.77, 0.86, 0.92… Therefore k=5 for ≥90%. Limitation: variance retention is unsupervised; a low-variance direction can still carry class information.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1"/>
          <p:cNvSpPr>
            <a:spLocks noGrp="1"/>
          </p:cNvSpPr>
          <p:nvPr>
            <p:ph type="sldNum" idx="47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71EE040-E438-441F-81EE-8EAADE98D1F0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4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INSTRUCTOR APPENDIX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HW 3–4 solutions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2"/>
          <p:cNvSpPr/>
          <p:nvPr/>
        </p:nvSpPr>
        <p:spPr>
          <a:xfrm>
            <a:off x="731520" y="1325880"/>
            <a:ext cx="1065240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3"/>
          <p:cNvSpPr/>
          <p:nvPr/>
        </p:nvSpPr>
        <p:spPr>
          <a:xfrm>
            <a:off x="731520" y="1325880"/>
            <a:ext cx="72720" cy="18741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4"/>
          <p:cNvSpPr/>
          <p:nvPr/>
        </p:nvSpPr>
        <p:spPr>
          <a:xfrm>
            <a:off x="932760" y="1463040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3. SVM hyperparameters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5"/>
          <p:cNvSpPr/>
          <p:nvPr/>
        </p:nvSpPr>
        <p:spPr>
          <a:xfrm>
            <a:off x="932760" y="1801440"/>
            <a:ext cx="1030500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Increasing C raises the penalty for margin violations → typically tighter fit / lower regularization. Increasing γ makes the RBF influence more local → more intricate boundaries. Underfit: tiny C + tiny γ. Overfit: very large C + very large γ on noisy data.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6"/>
          <p:cNvSpPr/>
          <p:nvPr/>
        </p:nvSpPr>
        <p:spPr>
          <a:xfrm>
            <a:off x="731520" y="3703320"/>
            <a:ext cx="1065240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7"/>
          <p:cNvSpPr/>
          <p:nvPr/>
        </p:nvSpPr>
        <p:spPr>
          <a:xfrm>
            <a:off x="731520" y="3703320"/>
            <a:ext cx="72720" cy="1691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8"/>
          <p:cNvSpPr/>
          <p:nvPr/>
        </p:nvSpPr>
        <p:spPr>
          <a:xfrm>
            <a:off x="932760" y="3840480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4. Gini gain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9"/>
          <p:cNvSpPr/>
          <p:nvPr/>
        </p:nvSpPr>
        <p:spPr>
          <a:xfrm>
            <a:off x="932760" y="4178880"/>
            <a:ext cx="103050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Parent G=0.5. Split [18,2]/[2,18]: each child G=0.18, weighted G=0.18, gain=0.32. Split [12,8]/[8,12]: each child G=1−(0.6²+0.4²)=0.48, weighted G=0.48, gain=0.02. First split is far better.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1"/>
          <p:cNvSpPr>
            <a:spLocks noGrp="1"/>
          </p:cNvSpPr>
          <p:nvPr>
            <p:ph type="sldNum" idx="48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672BBD2-A8CC-4FA2-BFE9-C1DF287D0B40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5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INSTRUCTOR APPENDIX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HW 5–6 solutions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2"/>
          <p:cNvSpPr/>
          <p:nvPr/>
        </p:nvSpPr>
        <p:spPr>
          <a:xfrm>
            <a:off x="731520" y="1325880"/>
            <a:ext cx="10652400" cy="1691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3"/>
          <p:cNvSpPr/>
          <p:nvPr/>
        </p:nvSpPr>
        <p:spPr>
          <a:xfrm>
            <a:off x="731520" y="1325880"/>
            <a:ext cx="72720" cy="1691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4"/>
          <p:cNvSpPr/>
          <p:nvPr/>
        </p:nvSpPr>
        <p:spPr>
          <a:xfrm>
            <a:off x="932760" y="1463040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5. Overfitting tree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5"/>
          <p:cNvSpPr/>
          <p:nvPr/>
        </p:nvSpPr>
        <p:spPr>
          <a:xfrm>
            <a:off x="932760" y="1801440"/>
            <a:ext cx="103050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 depth-20 tree can split on room/microphone/noise details that correlate with labels only in the training set. Use max_depth, min_samples_leaf, max_leaf_nodes, or ccp_alpha; validate choices by CV.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6"/>
          <p:cNvSpPr/>
          <p:nvPr/>
        </p:nvSpPr>
        <p:spPr>
          <a:xfrm>
            <a:off x="731520" y="3566160"/>
            <a:ext cx="10652400" cy="19198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7"/>
          <p:cNvSpPr/>
          <p:nvPr/>
        </p:nvSpPr>
        <p:spPr>
          <a:xfrm>
            <a:off x="731520" y="3566160"/>
            <a:ext cx="72720" cy="1919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8"/>
          <p:cNvSpPr/>
          <p:nvPr/>
        </p:nvSpPr>
        <p:spPr>
          <a:xfrm>
            <a:off x="932760" y="3703320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6. Random forest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9"/>
          <p:cNvSpPr/>
          <p:nvPr/>
        </p:nvSpPr>
        <p:spPr>
          <a:xfrm>
            <a:off x="932760" y="4041720"/>
            <a:ext cx="10305000" cy="132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Each tree sees a bootstrap sample; each split sees a random subset of features. OOB prediction uses trees for which a sample was not in the bootstrap training set. Averaging reduces variance mainly when tree errors are not perfectly correlated; correlated errors survive averaging.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1"/>
          <p:cNvSpPr>
            <a:spLocks noGrp="1"/>
          </p:cNvSpPr>
          <p:nvPr>
            <p:ph type="sldNum" idx="49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30425DC-C5AF-4B64-A55A-D10F2972371C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6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INSTRUCTOR APPENDIX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HW 7–8 solutions / grading guidance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2"/>
          <p:cNvSpPr/>
          <p:nvPr/>
        </p:nvSpPr>
        <p:spPr>
          <a:xfrm>
            <a:off x="731520" y="1280160"/>
            <a:ext cx="1065240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3"/>
          <p:cNvSpPr/>
          <p:nvPr/>
        </p:nvSpPr>
        <p:spPr>
          <a:xfrm>
            <a:off x="731520" y="1280160"/>
            <a:ext cx="72720" cy="1599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4"/>
          <p:cNvSpPr/>
          <p:nvPr/>
        </p:nvSpPr>
        <p:spPr>
          <a:xfrm>
            <a:off x="932760" y="1417320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7. Notebook comparison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5"/>
          <p:cNvSpPr/>
          <p:nvPr/>
        </p:nvSpPr>
        <p:spPr>
          <a:xfrm>
            <a:off x="932760" y="1755720"/>
            <a:ext cx="103050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Accept the student’s reproducible 5-fold CV numbers. Full-credit interpretation: PCA is optional; compare mean and variability, and do not claim superiority from a tiny difference inside CV uncertainty.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6"/>
          <p:cNvSpPr/>
          <p:nvPr/>
        </p:nvSpPr>
        <p:spPr>
          <a:xfrm>
            <a:off x="731520" y="3337560"/>
            <a:ext cx="10652400" cy="178272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7"/>
          <p:cNvSpPr/>
          <p:nvPr/>
        </p:nvSpPr>
        <p:spPr>
          <a:xfrm>
            <a:off x="731520" y="3337560"/>
            <a:ext cx="72720" cy="1782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8"/>
          <p:cNvSpPr/>
          <p:nvPr/>
        </p:nvSpPr>
        <p:spPr>
          <a:xfrm>
            <a:off x="932760" y="3474720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8. Importance with correlated duplicate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9"/>
          <p:cNvSpPr/>
          <p:nvPr/>
        </p:nvSpPr>
        <p:spPr>
          <a:xfrm>
            <a:off x="932760" y="3813120"/>
            <a:ext cx="103050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Expected: importance can be divided between correlated features; MDI and permutation may respond differently. A duplicate can reduce the apparent permutation importance of either feature because the other still supplies similar information.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10"/>
          <p:cNvSpPr/>
          <p:nvPr/>
        </p:nvSpPr>
        <p:spPr>
          <a:xfrm>
            <a:off x="1097280" y="5532120"/>
            <a:ext cx="99666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Grading emphasis: reasoning &gt; matching a specific numerical importance ranking.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PlaceHolder 1"/>
          <p:cNvSpPr>
            <a:spLocks noGrp="1"/>
          </p:cNvSpPr>
          <p:nvPr>
            <p:ph type="sldNum" idx="50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D813C49-D318-40B3-883A-4DDFB6F22A9C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7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INSTRUCTOR APPENDIX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Weekly quiz solutions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2"/>
          <p:cNvSpPr/>
          <p:nvPr/>
        </p:nvSpPr>
        <p:spPr>
          <a:xfrm>
            <a:off x="777240" y="1417320"/>
            <a:ext cx="10560960" cy="1462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3"/>
          <p:cNvSpPr/>
          <p:nvPr/>
        </p:nvSpPr>
        <p:spPr>
          <a:xfrm>
            <a:off x="777240" y="1417320"/>
            <a:ext cx="72720" cy="1462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4"/>
          <p:cNvSpPr/>
          <p:nvPr/>
        </p:nvSpPr>
        <p:spPr>
          <a:xfrm>
            <a:off x="978480" y="1554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Answers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5"/>
          <p:cNvSpPr/>
          <p:nvPr/>
        </p:nvSpPr>
        <p:spPr>
          <a:xfrm>
            <a:off x="978480" y="1892880"/>
            <a:ext cx="10213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1. B — variance.  2. C — avoid leakage.  3. B — stronger penalty on margin violations.  4. C — decision tree.  5. B — de-correlate trees.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6"/>
          <p:cNvSpPr/>
          <p:nvPr/>
        </p:nvSpPr>
        <p:spPr>
          <a:xfrm>
            <a:off x="777240" y="3429000"/>
            <a:ext cx="1056096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7"/>
          <p:cNvSpPr/>
          <p:nvPr/>
        </p:nvSpPr>
        <p:spPr>
          <a:xfrm>
            <a:off x="777240" y="3429000"/>
            <a:ext cx="72720" cy="1554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8"/>
          <p:cNvSpPr/>
          <p:nvPr/>
        </p:nvSpPr>
        <p:spPr>
          <a:xfrm>
            <a:off x="978480" y="356616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6. Short answer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9"/>
          <p:cNvSpPr/>
          <p:nvPr/>
        </p:nvSpPr>
        <p:spPr>
          <a:xfrm>
            <a:off x="978480" y="3904560"/>
            <a:ext cx="102135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Feature importance measures predictive usefulness to this fitted model/data distribution. Correlation, confounding, data collection bias, or a proxy variable can make a feature predictive without being a physical cause.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10"/>
          <p:cNvSpPr/>
          <p:nvPr/>
        </p:nvSpPr>
        <p:spPr>
          <a:xfrm>
            <a:off x="777240" y="5349240"/>
            <a:ext cx="1056096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11"/>
          <p:cNvSpPr/>
          <p:nvPr/>
        </p:nvSpPr>
        <p:spPr>
          <a:xfrm>
            <a:off x="777240" y="5349240"/>
            <a:ext cx="72720" cy="685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12"/>
          <p:cNvSpPr/>
          <p:nvPr/>
        </p:nvSpPr>
        <p:spPr>
          <a:xfrm>
            <a:off x="978480" y="548640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Common misconception to correct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13"/>
          <p:cNvSpPr/>
          <p:nvPr/>
        </p:nvSpPr>
        <p:spPr>
          <a:xfrm>
            <a:off x="978480" y="5824800"/>
            <a:ext cx="1021356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4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“Important = causal” and “PCA = supervised separation” are both false.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PlaceHolder 1"/>
          <p:cNvSpPr>
            <a:spLocks noGrp="1"/>
          </p:cNvSpPr>
          <p:nvPr>
            <p:ph type="sldNum" idx="51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2A4FB06-DCF0-4667-9B33-9BF87C47029D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Text 0"/>
          <p:cNvSpPr/>
          <p:nvPr/>
        </p:nvSpPr>
        <p:spPr>
          <a:xfrm>
            <a:off x="594360" y="3200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139">
                <a:solidFill>
                  <a:srgbClr val="0F766E"/>
                </a:solidFill>
                <a:effectLst/>
                <a:uFillTx/>
                <a:latin typeface="Aptos"/>
              </a:rPr>
              <a:t>INSTRUCTOR RESOURCES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1"/>
          <p:cNvSpPr/>
          <p:nvPr/>
        </p:nvSpPr>
        <p:spPr>
          <a:xfrm>
            <a:off x="594360" y="621720"/>
            <a:ext cx="1097244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172A"/>
                </a:solidFill>
                <a:effectLst/>
                <a:uFillTx/>
                <a:latin typeface="Aptos"/>
              </a:rPr>
              <a:t>Files supplied with this week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2"/>
          <p:cNvSpPr/>
          <p:nvPr/>
        </p:nvSpPr>
        <p:spPr>
          <a:xfrm>
            <a:off x="731520" y="1325880"/>
            <a:ext cx="106066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3"/>
          <p:cNvSpPr/>
          <p:nvPr/>
        </p:nvSpPr>
        <p:spPr>
          <a:xfrm>
            <a:off x="731520" y="1325880"/>
            <a:ext cx="72720" cy="1142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4"/>
          <p:cNvSpPr/>
          <p:nvPr/>
        </p:nvSpPr>
        <p:spPr>
          <a:xfrm>
            <a:off x="932760" y="1463040"/>
            <a:ext cx="10286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PowerPoint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5"/>
          <p:cNvSpPr/>
          <p:nvPr/>
        </p:nvSpPr>
        <p:spPr>
          <a:xfrm>
            <a:off x="932760" y="1801440"/>
            <a:ext cx="10259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Week12_DSP_ML_PCA_SVM_Trees_RF.pptx — both 75-minute lectures + assessment + instructor solution appendix.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6"/>
          <p:cNvSpPr/>
          <p:nvPr/>
        </p:nvSpPr>
        <p:spPr>
          <a:xfrm>
            <a:off x="731520" y="2788920"/>
            <a:ext cx="106066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7"/>
          <p:cNvSpPr/>
          <p:nvPr/>
        </p:nvSpPr>
        <p:spPr>
          <a:xfrm>
            <a:off x="731520" y="2788920"/>
            <a:ext cx="72720" cy="1142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8"/>
          <p:cNvSpPr/>
          <p:nvPr/>
        </p:nvSpPr>
        <p:spPr>
          <a:xfrm>
            <a:off x="932760" y="2926080"/>
            <a:ext cx="10286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766E"/>
                </a:solidFill>
                <a:effectLst/>
                <a:uFillTx/>
                <a:latin typeface="Aptos"/>
              </a:rPr>
              <a:t>Lecture 23 notebook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9"/>
          <p:cNvSpPr/>
          <p:nvPr/>
        </p:nvSpPr>
        <p:spPr>
          <a:xfrm>
            <a:off x="932760" y="3264480"/>
            <a:ext cx="10259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Lecture23_PCA_SVM.ipynb — synthetic audio features, PCA, scree/loadings, linear &amp; RBF SVM, GridSearchCV, leakage-safe pipeline.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10"/>
          <p:cNvSpPr/>
          <p:nvPr/>
        </p:nvSpPr>
        <p:spPr>
          <a:xfrm>
            <a:off x="731520" y="4251960"/>
            <a:ext cx="10606680" cy="11426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0E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11"/>
          <p:cNvSpPr/>
          <p:nvPr/>
        </p:nvSpPr>
        <p:spPr>
          <a:xfrm>
            <a:off x="731520" y="4251960"/>
            <a:ext cx="72720" cy="1142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12"/>
          <p:cNvSpPr/>
          <p:nvPr/>
        </p:nvSpPr>
        <p:spPr>
          <a:xfrm>
            <a:off x="932760" y="4389120"/>
            <a:ext cx="10286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Lecture 24 notebook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13"/>
          <p:cNvSpPr/>
          <p:nvPr/>
        </p:nvSpPr>
        <p:spPr>
          <a:xfrm>
            <a:off x="932760" y="4727520"/>
            <a:ext cx="10259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72033"/>
                </a:solidFill>
                <a:effectLst/>
                <a:uFillTx/>
                <a:latin typeface="Aptos"/>
              </a:rPr>
              <a:t>Lecture24_Trees_RandomForests.ipynb — impurity, tree visualization, overfitting/pruning, forest/OOB, feature importance, CV comparison.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PlaceHolder 1"/>
          <p:cNvSpPr>
            <a:spLocks noGrp="1"/>
          </p:cNvSpPr>
          <p:nvPr>
            <p:ph type="sldNum" idx="52"/>
          </p:nvPr>
        </p:nvSpPr>
        <p:spPr>
          <a:xfrm>
            <a:off x="11685960" y="647388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D19D358-A22B-4B80-9849-5CB681067151}" type="slidenum">
              <a:rPr lang="en-US" sz="900" b="0" u="none" strike="noStrike">
                <a:solidFill>
                  <a:srgbClr val="687386"/>
                </a:solidFill>
                <a:effectLst/>
                <a:uFillTx/>
                <a:latin typeface="Aptos"/>
              </a:rPr>
              <a:t>9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1105</Words>
  <Application>Microsoft Office PowerPoint</Application>
  <PresentationFormat>Widescreen</PresentationFormat>
  <Paragraphs>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2</cp:revision>
  <dcterms:modified xsi:type="dcterms:W3CDTF">2026-08-23T23:07:22Z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2026-08-23T22:19:51Z</dcterms:created>
  <dc:creator>OpenAI</dc:creator>
  <dc:description/>
  <dc:language>en-US</dc:language>
  <cp:lastModifiedBy>OpenAI</cp:lastModifiedBy>
  <dcterms:modified xsi:type="dcterms:W3CDTF">2026-08-23T22:19:51Z</dcterms:modified>
  <cp:revision>1</cp:revision>
  <dc:subject>DSP + ML Week 12: PCA, SVM, Trees, Random Forests</dc:subject>
  <dc:title>Week 12 — Dimensionality Reduction, Maximum-Margin Classifiers, and Tree Ensembles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52</vt:r8>
  </property>
  <property fmtid="{D5CDD505-2E9C-101B-9397-08002B2CF9AE}" pid="3" name="PresentationFormat">
    <vt:lpwstr>On-screen Show (16:9)</vt:lpwstr>
  </property>
  <property fmtid="{D5CDD505-2E9C-101B-9397-08002B2CF9AE}" pid="4" name="Slides">
    <vt:r8>52</vt:r8>
  </property>
</Properties>
</file>