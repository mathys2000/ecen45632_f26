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4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2D54FE-EF92-4FC1-895F-69BCC12BED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3DD4C-6A77-4B03-B60B-0B2F293E50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827D9E-32A1-4535-A7E1-77ACFC2ABC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5459ED-B926-475C-9D74-7C6C5BC280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77C5C-680B-4C56-A855-73919D9A16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1B2AD5-F9A9-439B-8CB8-D0921B9798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5F692F-CE55-42C3-BA27-9961B4D9AE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885F58-F59D-4A6E-8499-B9861D9022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7301A4-1F48-47C2-A970-FAFB779218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B59B43-10E7-4DF2-BCA6-0AEEA6AA50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5CAC7-8E63-4A3D-B2F2-02BE224817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6C302-475C-43B8-A731-77C21A4458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F1D2B2-21FD-46F4-91EA-7A7EF364B7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7C7376-08E4-4694-A834-45D26C1087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E70518-22AD-4A9F-8CBC-A54DBEDC75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0031A7-AC2E-4737-A3A3-607F6634DA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B2E1C1-54AA-42DB-A802-132D73B934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0865D8-FB59-442E-ADB0-AA29EBD560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732FE-4B07-4907-9A46-B8326BD90D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CE581-0FD9-4C3D-87D6-63E4B60083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55FBE8-E46D-4BBF-B606-2AE78230FE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DA2522-15B8-4FA6-A9B2-37CD086F8C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DB4E3-5FF7-4773-8724-14E890E28D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7CCA33-4027-4D61-AC9F-E4982F8781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9125A2-C5A8-4D59-98FA-736AF8F9E2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70AA72-B10C-4BA0-A38E-C02844F09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542245-3687-44C4-8B41-CFBD64D495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52D60-4B79-4FC3-8D4B-DB5CA612F0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C7A964-82A8-4DA0-8CE6-FBEFBFBB46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7C5BC1-110E-4B42-9DFB-6F2EABD018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5D0DA7-90B3-4C50-A267-E211052403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B98B48-12B0-4EBB-9663-9E68C0A68E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25D30C-609E-49EC-A619-368368BAD4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2819E-7D1D-4FB4-9A6B-9B94660A70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D1490-1C85-48E3-B2F1-E5584EDCD1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13DC7B-FC80-4E94-85B3-B1744F2250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9766FE-440C-43AA-9247-7555C50A85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5CCE2BC-4F0F-447D-A11F-45EFE045D09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A98A89A-73C4-44D4-AF88-F81486B157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502920" y="6510240"/>
            <a:ext cx="11155680" cy="360"/>
          </a:xfrm>
          <a:prstGeom prst="line">
            <a:avLst/>
          </a:prstGeom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67000" y="6556320"/>
            <a:ext cx="3200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DSP + Machine Learning • Week 13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8668440" y="6556320"/>
            <a:ext cx="288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Oppenheim &amp; Schafer + Raschka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F1B6A6-ADAF-4847-9740-C01CBB80F3C0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 w="126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749880" y="8413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159">
                <a:solidFill>
                  <a:srgbClr val="67E8F9"/>
                </a:solidFill>
                <a:effectLst/>
                <a:uFillTx/>
                <a:latin typeface="Aptos"/>
              </a:rPr>
              <a:t>LECTURE 25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49880" y="1298520"/>
            <a:ext cx="804636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Tensors and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Automatic Differentiation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86240" y="2953440"/>
            <a:ext cx="6583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ptos"/>
              </a:rPr>
              <a:t>From DSP arrays to computational graphs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86240" y="37490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75 minutes  •  tensors → shapes → broadcasting → autograd → learnable FIR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786240" y="422460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Senior + first-year graduate ECE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8732520" y="2176200"/>
            <a:ext cx="1005840" cy="868680"/>
          </a:xfrm>
          <a:prstGeom prst="line">
            <a:avLst/>
          </a:prstGeom>
          <a:ln w="2556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 flipV="1">
            <a:off x="9784080" y="2496240"/>
            <a:ext cx="1005840" cy="548640"/>
          </a:xfrm>
          <a:prstGeom prst="line">
            <a:avLst/>
          </a:prstGeom>
          <a:ln w="2556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10835640" y="2496240"/>
            <a:ext cx="822960" cy="822960"/>
          </a:xfrm>
          <a:prstGeom prst="line">
            <a:avLst/>
          </a:prstGeom>
          <a:ln w="2556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8412480" y="1920240"/>
            <a:ext cx="639720" cy="511560"/>
          </a:xfrm>
          <a:prstGeom prst="ellipse">
            <a:avLst/>
          </a:prstGeom>
          <a:solidFill>
            <a:srgbClr val="1E293B"/>
          </a:solidFill>
          <a:ln w="1908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8412480" y="203904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9464040" y="2788920"/>
            <a:ext cx="639720" cy="511560"/>
          </a:xfrm>
          <a:prstGeom prst="ellipse">
            <a:avLst/>
          </a:prstGeom>
          <a:solidFill>
            <a:srgbClr val="1E293B"/>
          </a:solidFill>
          <a:ln w="1908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9464040" y="29077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tensor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10515600" y="2240280"/>
            <a:ext cx="639720" cy="511560"/>
          </a:xfrm>
          <a:prstGeom prst="ellipse">
            <a:avLst/>
          </a:prstGeom>
          <a:solidFill>
            <a:srgbClr val="1E293B"/>
          </a:solidFill>
          <a:ln w="1908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10515600" y="235908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11384280" y="3063240"/>
            <a:ext cx="639720" cy="511560"/>
          </a:xfrm>
          <a:prstGeom prst="ellipse">
            <a:avLst/>
          </a:prstGeom>
          <a:solidFill>
            <a:srgbClr val="0891B2"/>
          </a:solidFill>
          <a:ln w="19080">
            <a:solidFill>
              <a:srgbClr val="67E8F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11384280" y="318204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5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A18E7A-7E2F-4764-9950-5DD99996B3EE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ROADMAP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What changes when a DSP array becomes a tensor?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The data may be familiar; the container now knows shape, device, and gradient history.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777240" y="1965960"/>
            <a:ext cx="10652400" cy="1023840"/>
          </a:xfrm>
          <a:prstGeom prst="roundRect">
            <a:avLst>
              <a:gd name="adj" fmla="val 10714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960120" y="2130480"/>
            <a:ext cx="86832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1033200" y="2185560"/>
            <a:ext cx="722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20 min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2011680" y="21031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FROM VECTORS TO TENSORS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2011680" y="2395800"/>
            <a:ext cx="448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waveforms • spectra • spectrograms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6629400" y="223128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one object, richer metadata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777240" y="3291840"/>
            <a:ext cx="10652400" cy="1023840"/>
          </a:xfrm>
          <a:prstGeom prst="roundRect">
            <a:avLst>
              <a:gd name="adj" fmla="val 10714"/>
            </a:avLst>
          </a:prstGeom>
          <a:solidFill>
            <a:srgbClr val="EAF7EE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960120" y="3456360"/>
            <a:ext cx="86832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1033200" y="3511440"/>
            <a:ext cx="722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20 min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2011680" y="342900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 OPERATIONS FOR DSP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2011680" y="3721680"/>
            <a:ext cx="448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matmul • broadcasting • reshape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6629400" y="355716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think in shapes, not loops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777240" y="4617720"/>
            <a:ext cx="10652400" cy="1023840"/>
          </a:xfrm>
          <a:prstGeom prst="roundRect">
            <a:avLst>
              <a:gd name="adj" fmla="val 10714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960120" y="4782240"/>
            <a:ext cx="86832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1033200" y="4837320"/>
            <a:ext cx="722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35 min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2011680" y="475488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CHAIN RULE + AUTOGRAD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2011680" y="5047560"/>
            <a:ext cx="448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computational graph • backward pass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6629400" y="488304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learn parameters from a loss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841320" y="604404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Reading bridge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1993320" y="6035040"/>
            <a:ext cx="9052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Oppenheim &amp; Schafer: discrete-time signals, linear transforms, convolution/STFT context  •  Raschka: PyTorch tensor and autograd foundations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sldNum" idx="6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559516-0776-41F3-8885-DAA429424028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DSP →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Same signal, richer container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Start with objects students already know.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731520" y="1874520"/>
            <a:ext cx="2925720" cy="288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896040" y="2057400"/>
            <a:ext cx="2596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DSP notation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914400" y="2560320"/>
            <a:ext cx="2559960" cy="178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Finite waveform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 x[0], x[1], …, x[L−1]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 sequence of samples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4206240" y="1874520"/>
            <a:ext cx="2925720" cy="288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4370760" y="2057400"/>
            <a:ext cx="2596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NumPy view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389120" y="2560320"/>
            <a:ext cx="2559960" cy="178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ndarray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shape = (L,)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dtype = float32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Fast vectorized CPU math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7680960" y="1874520"/>
            <a:ext cx="2925720" cy="2880000"/>
          </a:xfrm>
          <a:prstGeom prst="roundRect">
            <a:avLst>
              <a:gd name="adj" fmla="val 3810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845480" y="2057400"/>
            <a:ext cx="2596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PyTorch view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7863840" y="2560320"/>
            <a:ext cx="2559960" cy="178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Tensor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shape = (L,)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dtype = torch.float32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device = cpu / accelerator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requires_grad = False /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841320" y="51753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Key idea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1700640" y="5139000"/>
            <a:ext cx="9417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 tensor is not inherently a neural-network object. It can represent the same waveform, spectrum, filterbank, or feature matrix used throughout DSP.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Num" idx="7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549884-A0BA-47DD-9B06-83DC303D20C2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FROM VECTORS TO TENSORS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A 1-D discrete-time signal is already tensor-shaped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The first dimension can simply be sample index.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/mnt/data/week13_lecture25/assets/waveform.png"/>
          <p:cNvPicPr/>
          <p:nvPr/>
        </p:nvPicPr>
        <p:blipFill>
          <a:blip r:embed="rId3"/>
          <a:stretch/>
        </p:blipFill>
        <p:spPr>
          <a:xfrm>
            <a:off x="658440" y="1874520"/>
            <a:ext cx="6583320" cy="22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Shape 5"/>
          <p:cNvSpPr/>
          <p:nvPr/>
        </p:nvSpPr>
        <p:spPr>
          <a:xfrm>
            <a:off x="7479720" y="1874520"/>
            <a:ext cx="3885840" cy="1416960"/>
          </a:xfrm>
          <a:prstGeom prst="roundRect">
            <a:avLst>
              <a:gd name="adj" fmla="val 7742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644240" y="2011680"/>
            <a:ext cx="3556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PyTorch representation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7644240" y="2304360"/>
            <a:ext cx="355680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 finite observation with L samples is naturally stored as shape (L,). Indexing x[n] remains the same conceptual operation as in DSP.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7479720" y="3502080"/>
            <a:ext cx="3885840" cy="1325520"/>
          </a:xfrm>
          <a:prstGeom prst="roundRect">
            <a:avLst>
              <a:gd name="adj" fmla="val 6897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7644240" y="35935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Waveform tensor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7644240" y="3867840"/>
            <a:ext cx="3556800" cy="8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x = torch.tensor(samples, dtype=torch.float32)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print(x.shape)   # torch.Size([L])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print(x.device)  # cpu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804600" y="475488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Ask: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1389960" y="4727520"/>
            <a:ext cx="5897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What extra information does the tensor carry that the mathematical sequence x[n] does not?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1389960" y="5111640"/>
            <a:ext cx="88236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Good answer: shape, dtype, device placement, and whether operations should be tracked for gradients.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sldNum" idx="8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E6BE0F-0442-43E8-9A3C-E31749DC4A2B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FROM VECTORS TO TENSORS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A spectrogram is naturally a rank-2 tensor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Frequency and frame index become two tensor dimensions.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mnt/data/week13_lecture25/assets/spectrogram.png"/>
          <p:cNvPicPr/>
          <p:nvPr/>
        </p:nvPicPr>
        <p:blipFill>
          <a:blip r:embed="rId3"/>
          <a:stretch/>
        </p:blipFill>
        <p:spPr>
          <a:xfrm>
            <a:off x="621720" y="1856160"/>
            <a:ext cx="5897520" cy="263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Image 1" descr="/mnt/data/week13_lecture25/assets/equations/stft.png"/>
          <p:cNvPicPr/>
          <p:nvPr/>
        </p:nvPicPr>
        <p:blipFill>
          <a:blip r:embed="rId4"/>
          <a:stretch/>
        </p:blipFill>
        <p:spPr>
          <a:xfrm>
            <a:off x="6784920" y="1847160"/>
            <a:ext cx="470880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Shape 5"/>
          <p:cNvSpPr/>
          <p:nvPr/>
        </p:nvSpPr>
        <p:spPr>
          <a:xfrm>
            <a:off x="6812280" y="2633400"/>
            <a:ext cx="4617360" cy="1188360"/>
          </a:xfrm>
          <a:prstGeom prst="roundRect">
            <a:avLst>
              <a:gd name="adj" fmla="val 9231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6976800" y="2770560"/>
            <a:ext cx="4288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Shape example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6976800" y="3063240"/>
            <a:ext cx="4288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With n_fft = 256, a one-sided real-input STFT has 129 frequency bins. A result might have shape (129, 32): frequency × frame.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6812280" y="4069080"/>
            <a:ext cx="4617360" cy="1096920"/>
          </a:xfrm>
          <a:prstGeom prst="roundRect">
            <a:avLst>
              <a:gd name="adj" fmla="val 10000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6976800" y="4206240"/>
            <a:ext cx="4288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Complex dtype is okay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976800" y="4498920"/>
            <a:ext cx="4288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PyTorch tensors can be complex. Magnitude, power, phase, and differentiable STFT operations can all remain inside a computational graph.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9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1311D-8F2C-4F99-9A59-05E32DC14DEA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TENSOR ANATOMY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Four properties to inspect before debugging the math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Many PyTorch errors are shape/device/dtype errors, not “ML errors.”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777240" y="1874520"/>
            <a:ext cx="5166000" cy="1261440"/>
          </a:xfrm>
          <a:prstGeom prst="roundRect">
            <a:avLst>
              <a:gd name="adj" fmla="val 8696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941760" y="2030040"/>
            <a:ext cx="1508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shape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2267640" y="201168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How many axes? What does each axis mean?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2267640" y="256932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(N, C, L)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6309360" y="1874520"/>
            <a:ext cx="5166000" cy="1261440"/>
          </a:xfrm>
          <a:prstGeom prst="roundRect">
            <a:avLst>
              <a:gd name="adj" fmla="val 8696"/>
            </a:avLst>
          </a:prstGeom>
          <a:solidFill>
            <a:srgbClr val="EAF7EE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6473880" y="2030040"/>
            <a:ext cx="1508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dtype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7799760" y="201168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float32? float64? complex64? integers?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7799760" y="256932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torch.float32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777240" y="3447360"/>
            <a:ext cx="5166000" cy="1261440"/>
          </a:xfrm>
          <a:prstGeom prst="roundRect">
            <a:avLst>
              <a:gd name="adj" fmla="val 8696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941760" y="3602880"/>
            <a:ext cx="1508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device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2267640" y="358452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Where is the memory and computation?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2267640" y="414216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cpu / cuda / mps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6309360" y="3447360"/>
            <a:ext cx="5166000" cy="1261440"/>
          </a:xfrm>
          <a:prstGeom prst="roundRect">
            <a:avLst>
              <a:gd name="adj" fmla="val 8696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6473880" y="3602880"/>
            <a:ext cx="1508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requires_grad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7799760" y="358452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Should PyTorch record operations for derivatives?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7799760" y="414216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True / False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777240" y="5239440"/>
            <a:ext cx="10698120" cy="676440"/>
          </a:xfrm>
          <a:prstGeom prst="roundRect">
            <a:avLst>
              <a:gd name="adj" fmla="val 16216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941760" y="5376600"/>
            <a:ext cx="10369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ECE habit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3"/>
          <p:cNvSpPr/>
          <p:nvPr/>
        </p:nvSpPr>
        <p:spPr>
          <a:xfrm>
            <a:off x="941760" y="5669280"/>
            <a:ext cx="103690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Print or assert shapes at subsystem boundaries. Treat tensor dimensions the way you treat units and signal conventions in DSP.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sldNum" idx="10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5CA748-C17F-49E4-BC9F-A6D05CBAFCFF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NUMPY VS. PYTORCH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Similar syntax; different responsibilities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The distinction is less “array versus tensor” than “numerics versus differentiable compute.”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786240" y="1828800"/>
            <a:ext cx="10286640" cy="566640"/>
          </a:xfrm>
          <a:prstGeom prst="rect">
            <a:avLst/>
          </a:prstGeom>
          <a:solidFill>
            <a:srgbClr val="0F172A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786240" y="1828800"/>
            <a:ext cx="360" cy="56664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3209400" y="1828800"/>
            <a:ext cx="360" cy="56664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896040" y="198432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3319200" y="198432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NumPy ndarray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7205400" y="198432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PyTorch tensor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786240" y="2395800"/>
            <a:ext cx="10286640" cy="566640"/>
          </a:xfrm>
          <a:prstGeom prst="rect">
            <a:avLst/>
          </a:prstGeom>
          <a:solidFill>
            <a:srgbClr val="FFFFFF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786240" y="2395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3209400" y="2395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896040" y="255132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Vectorized arithmetic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3319200" y="255132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Yes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7205400" y="255132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Yes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786240" y="2962800"/>
            <a:ext cx="10286640" cy="566640"/>
          </a:xfrm>
          <a:prstGeom prst="rect">
            <a:avLst/>
          </a:prstGeom>
          <a:solidFill>
            <a:srgbClr val="F2F5F9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786240" y="2962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3209400" y="2962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896040" y="311796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CPU numerical work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3319200" y="311796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Excellent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7205400" y="311796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Excellent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3"/>
          <p:cNvSpPr/>
          <p:nvPr/>
        </p:nvSpPr>
        <p:spPr>
          <a:xfrm>
            <a:off x="786240" y="3529440"/>
            <a:ext cx="10286640" cy="566640"/>
          </a:xfrm>
          <a:prstGeom prst="rect">
            <a:avLst/>
          </a:prstGeom>
          <a:solidFill>
            <a:srgbClr val="FFFFFF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786240" y="3529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5"/>
          <p:cNvSpPr/>
          <p:nvPr/>
        </p:nvSpPr>
        <p:spPr>
          <a:xfrm>
            <a:off x="3209400" y="3529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896040" y="368496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Accelerator placement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3319200" y="368496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Not its core model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8"/>
          <p:cNvSpPr/>
          <p:nvPr/>
        </p:nvSpPr>
        <p:spPr>
          <a:xfrm>
            <a:off x="7205400" y="368496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Built into tensor/device model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9"/>
          <p:cNvSpPr/>
          <p:nvPr/>
        </p:nvSpPr>
        <p:spPr>
          <a:xfrm>
            <a:off x="786240" y="4096440"/>
            <a:ext cx="10286640" cy="566640"/>
          </a:xfrm>
          <a:prstGeom prst="rect">
            <a:avLst/>
          </a:prstGeom>
          <a:solidFill>
            <a:srgbClr val="F2F5F9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0"/>
          <p:cNvSpPr/>
          <p:nvPr/>
        </p:nvSpPr>
        <p:spPr>
          <a:xfrm>
            <a:off x="786240" y="4096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1"/>
          <p:cNvSpPr/>
          <p:nvPr/>
        </p:nvSpPr>
        <p:spPr>
          <a:xfrm>
            <a:off x="3209400" y="409644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2"/>
          <p:cNvSpPr/>
          <p:nvPr/>
        </p:nvSpPr>
        <p:spPr>
          <a:xfrm>
            <a:off x="896040" y="425196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Gradient tracking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3"/>
          <p:cNvSpPr/>
          <p:nvPr/>
        </p:nvSpPr>
        <p:spPr>
          <a:xfrm>
            <a:off x="3319200" y="425196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No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4"/>
          <p:cNvSpPr/>
          <p:nvPr/>
        </p:nvSpPr>
        <p:spPr>
          <a:xfrm>
            <a:off x="7205400" y="425196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Yes, when requires_grad=True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5"/>
          <p:cNvSpPr/>
          <p:nvPr/>
        </p:nvSpPr>
        <p:spPr>
          <a:xfrm>
            <a:off x="786240" y="4663440"/>
            <a:ext cx="10286640" cy="566640"/>
          </a:xfrm>
          <a:prstGeom prst="rect">
            <a:avLst/>
          </a:prstGeom>
          <a:solidFill>
            <a:srgbClr val="FFFFFF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6"/>
          <p:cNvSpPr/>
          <p:nvPr/>
        </p:nvSpPr>
        <p:spPr>
          <a:xfrm>
            <a:off x="786240" y="4663440"/>
            <a:ext cx="360" cy="56664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7"/>
          <p:cNvSpPr/>
          <p:nvPr/>
        </p:nvSpPr>
        <p:spPr>
          <a:xfrm>
            <a:off x="3209400" y="4663440"/>
            <a:ext cx="360" cy="56664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8"/>
          <p:cNvSpPr/>
          <p:nvPr/>
        </p:nvSpPr>
        <p:spPr>
          <a:xfrm>
            <a:off x="896040" y="481896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NN layers + optimizers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9"/>
          <p:cNvSpPr/>
          <p:nvPr/>
        </p:nvSpPr>
        <p:spPr>
          <a:xfrm>
            <a:off x="3319200" y="481896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External libraries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7205400" y="481896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Integrated ecosystem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786240" y="5230440"/>
            <a:ext cx="10286640" cy="566640"/>
          </a:xfrm>
          <a:prstGeom prst="rect">
            <a:avLst/>
          </a:prstGeom>
          <a:solidFill>
            <a:srgbClr val="F2F5F9"/>
          </a:solidFill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2"/>
          <p:cNvSpPr/>
          <p:nvPr/>
        </p:nvSpPr>
        <p:spPr>
          <a:xfrm>
            <a:off x="786240" y="523008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3"/>
          <p:cNvSpPr/>
          <p:nvPr/>
        </p:nvSpPr>
        <p:spPr>
          <a:xfrm>
            <a:off x="3209400" y="5230080"/>
            <a:ext cx="360" cy="567000"/>
          </a:xfrm>
          <a:prstGeom prst="line">
            <a:avLst/>
          </a:prstGeom>
          <a:ln w="90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896040" y="5385960"/>
            <a:ext cx="2203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Interop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5"/>
          <p:cNvSpPr/>
          <p:nvPr/>
        </p:nvSpPr>
        <p:spPr>
          <a:xfrm>
            <a:off x="3319200" y="5385960"/>
            <a:ext cx="3666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—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6"/>
          <p:cNvSpPr/>
          <p:nvPr/>
        </p:nvSpPr>
        <p:spPr>
          <a:xfrm>
            <a:off x="7205400" y="5385960"/>
            <a:ext cx="3757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torch.from_numpy / .numpy() on CPU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7"/>
          <p:cNvSpPr/>
          <p:nvPr/>
        </p:nvSpPr>
        <p:spPr>
          <a:xfrm>
            <a:off x="841320" y="603504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Subtle example: torch.from_numpy(a) can share CPU memory with a NumPy array; torch.tensor(a) creates a new tensor copy.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sldNum" idx="11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A6B5C1-199E-41EB-BFD6-0E3A1C145E71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DEVICE PLACEMENT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GPU acceleration is a placement decision, not magic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Moving data has a cost; computation must be large enough to justify it.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TENSORS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868680" y="1874520"/>
            <a:ext cx="2925720" cy="2102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8366760" y="1874520"/>
            <a:ext cx="2925720" cy="2102760"/>
          </a:xfrm>
          <a:prstGeom prst="roundRect">
            <a:avLst>
              <a:gd name="adj" fmla="val 5217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1691640" y="21762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CPU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234440" y="278892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general-purpose cores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low transfer overhead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great for small problems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8805600" y="221292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ACCELERATOR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8668440" y="27889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many parallel 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large batched tensor math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transfer + memory constraints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4251960" y="2514600"/>
            <a:ext cx="3565800" cy="676440"/>
          </a:xfrm>
          <a:prstGeom prst="chevron">
            <a:avLst>
              <a:gd name="adj" fmla="val 500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4709160" y="270648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onsolas"/>
                <a:ea typeface="Consolas"/>
              </a:rPr>
              <a:t>x = x.to(device)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960120" y="4617720"/>
            <a:ext cx="10332360" cy="91404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1124640" y="4754880"/>
            <a:ext cx="10003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Important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1124640" y="5047560"/>
            <a:ext cx="10003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 tensor and the model parameters that operate on it must live on compatible devices. “Expected all tensors to be on the same device” is a shape/unit-style bookkeeping error.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sldNum" idx="12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307BD-7790-4B21-B4AF-45F4D34A89AA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CONCEPT 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Map familiar audio objects to tensor shapes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Do this before introducing any new syntax.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9281160" y="384120"/>
            <a:ext cx="21484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9354240" y="438840"/>
            <a:ext cx="200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PAUSE &amp; PREDICT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5"/>
          <p:cNvSpPr/>
          <p:nvPr/>
        </p:nvSpPr>
        <p:spPr>
          <a:xfrm>
            <a:off x="868680" y="1828800"/>
            <a:ext cx="10378080" cy="6397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005840" y="1974960"/>
            <a:ext cx="383760" cy="310680"/>
          </a:xfrm>
          <a:prstGeom prst="roundRect">
            <a:avLst>
              <a:gd name="adj" fmla="val 47059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078920" y="203004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1600200" y="201168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One mono clip, 16,000 samples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8641080" y="1993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0"/>
          <p:cNvSpPr/>
          <p:nvPr/>
        </p:nvSpPr>
        <p:spPr>
          <a:xfrm>
            <a:off x="868680" y="2670120"/>
            <a:ext cx="10378080" cy="6397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1005840" y="2816280"/>
            <a:ext cx="383760" cy="310680"/>
          </a:xfrm>
          <a:prstGeom prst="roundRect">
            <a:avLst>
              <a:gd name="adj" fmla="val 47059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1078920" y="287136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1600200" y="285300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32 stereo clips, 16,000 samples each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8641080" y="283464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868680" y="3511440"/>
            <a:ext cx="10378080" cy="6397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1005840" y="3657600"/>
            <a:ext cx="383760" cy="310680"/>
          </a:xfrm>
          <a:prstGeom prst="roundRect">
            <a:avLst>
              <a:gd name="adj" fmla="val 47059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1078920" y="371232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1600200" y="369432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One STFT with 257 bins × 101 frames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8641080" y="367596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868680" y="4352400"/>
            <a:ext cx="10378080" cy="6397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1005840" y="4498920"/>
            <a:ext cx="383760" cy="310680"/>
          </a:xfrm>
          <a:prstGeom prst="roundRect">
            <a:avLst>
              <a:gd name="adj" fmla="val 47059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1078920" y="455364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3"/>
          <p:cNvSpPr/>
          <p:nvPr/>
        </p:nvSpPr>
        <p:spPr>
          <a:xfrm>
            <a:off x="1600200" y="453528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32 one-channel spectrograms, 257 × 101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8641080" y="45172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868680" y="5440680"/>
            <a:ext cx="10378080" cy="658080"/>
          </a:xfrm>
          <a:prstGeom prst="roundRect">
            <a:avLst>
              <a:gd name="adj" fmla="val 16667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6"/>
          <p:cNvSpPr/>
          <p:nvPr/>
        </p:nvSpPr>
        <p:spPr>
          <a:xfrm>
            <a:off x="1033200" y="5577840"/>
            <a:ext cx="10049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Good answers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7"/>
          <p:cNvSpPr/>
          <p:nvPr/>
        </p:nvSpPr>
        <p:spPr>
          <a:xfrm>
            <a:off x="1033200" y="5870520"/>
            <a:ext cx="100490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A: (16000,)   •   B: (32, 2, 16000)   •   C: (257, 101)   •   D: often (32, 1, 257, 101)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sldNum" idx="13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EBCDF-2922-444E-BACB-806B1195A3A7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TENSOR OPERATIONS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Shape manipulation is part of the algorithm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The values may be correct while the axis order is wrong.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OPERATIONS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777240" y="1828800"/>
            <a:ext cx="5714640" cy="3245760"/>
          </a:xfrm>
          <a:prstGeom prst="roundRect">
            <a:avLst>
              <a:gd name="adj" fmla="val 2817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941760" y="192024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Shape operations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941760" y="2194560"/>
            <a:ext cx="5385600" cy="277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x = torch.randn(8, 4000)      # (N,L)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x = x.unsqueeze(1)            # (N,1,L)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S = torch.randn(8, 257, 101)  # (N,F,T)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S = S.unsqueeze(1)            # (N,1,F,T)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A = torch.randn(8, 20, 30)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B = A.permute(0, 2, 1)        # (8,30,20)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6812280" y="1828800"/>
            <a:ext cx="4480200" cy="1051200"/>
          </a:xfrm>
          <a:prstGeom prst="roundRect">
            <a:avLst>
              <a:gd name="adj" fmla="val 10435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6976800" y="1965960"/>
            <a:ext cx="415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unsqueeze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6976800" y="2258640"/>
            <a:ext cx="41511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Insert a length-one axis. This is how a mono batch (N,L) becomes the Conv1d convention (N,1,L).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6812280" y="3127320"/>
            <a:ext cx="4480200" cy="1051200"/>
          </a:xfrm>
          <a:prstGeom prst="roundRect">
            <a:avLst>
              <a:gd name="adj" fmla="val 10435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6976800" y="3264480"/>
            <a:ext cx="415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permute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6976800" y="3557160"/>
            <a:ext cx="41511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Reorder existing axes. The data are re-indexed logically; the semantic meaning of each dimension changes.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6812280" y="4425840"/>
            <a:ext cx="4480200" cy="1051200"/>
          </a:xfrm>
          <a:prstGeom prst="roundRect">
            <a:avLst>
              <a:gd name="adj" fmla="val 10435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6976800" y="4563000"/>
            <a:ext cx="415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reshape / 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6976800" y="4855320"/>
            <a:ext cx="41511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Change how contiguous elements are grouped. Never reshape blindly to “make the error go away”; preserve the intended axis semantics.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sldNum" idx="14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C12743-EB11-4DF5-9C3F-99038BFB8067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BATCHED AUDIO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The common Conv1d convention: batch, channel, length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This convention matters later when CNN layers arrive.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OPERATIONS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/mnt/data/week13_lecture25/assets/equations/ncl.png"/>
          <p:cNvPicPr/>
          <p:nvPr/>
        </p:nvPicPr>
        <p:blipFill>
          <a:blip r:embed="rId3"/>
          <a:stretch/>
        </p:blipFill>
        <p:spPr>
          <a:xfrm>
            <a:off x="868680" y="1828800"/>
            <a:ext cx="21484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5"/>
          <p:cNvSpPr/>
          <p:nvPr/>
        </p:nvSpPr>
        <p:spPr>
          <a:xfrm>
            <a:off x="868680" y="2788920"/>
            <a:ext cx="3337200" cy="1416960"/>
          </a:xfrm>
          <a:prstGeom prst="roundRect">
            <a:avLst>
              <a:gd name="adj" fmla="val 7742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1024200" y="294444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1600200" y="297180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1600200" y="333756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independent clips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9"/>
          <p:cNvSpPr/>
          <p:nvPr/>
        </p:nvSpPr>
        <p:spPr>
          <a:xfrm>
            <a:off x="4572000" y="2788920"/>
            <a:ext cx="3337200" cy="1416960"/>
          </a:xfrm>
          <a:prstGeom prst="roundRect">
            <a:avLst>
              <a:gd name="adj" fmla="val 7742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4727520" y="294444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C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5303520" y="297180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Channel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2"/>
          <p:cNvSpPr/>
          <p:nvPr/>
        </p:nvSpPr>
        <p:spPr>
          <a:xfrm>
            <a:off x="5303520" y="333756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mono, stereo, sensor channels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8275320" y="2788920"/>
            <a:ext cx="3337200" cy="1416960"/>
          </a:xfrm>
          <a:prstGeom prst="roundRect">
            <a:avLst>
              <a:gd name="adj" fmla="val 7742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8430840" y="294444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9006840" y="297180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Length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9006840" y="333756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time samples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7"/>
          <p:cNvSpPr/>
          <p:nvPr/>
        </p:nvSpPr>
        <p:spPr>
          <a:xfrm>
            <a:off x="868680" y="4773240"/>
            <a:ext cx="1074384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8"/>
          <p:cNvSpPr/>
          <p:nvPr/>
        </p:nvSpPr>
        <p:spPr>
          <a:xfrm>
            <a:off x="1033200" y="4910400"/>
            <a:ext cx="10414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E0EA"/>
                </a:solidFill>
                <a:effectLst/>
                <a:uFillTx/>
                <a:latin typeface="Aptos"/>
              </a:rPr>
              <a:t>Example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1033200" y="5203080"/>
            <a:ext cx="10414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32 stereo one-second clips at 16 kHz → shape (32, 2, 16000). Index x[7, 1, 250] means batch item 7, channel 1, time sample 250.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sldNum" idx="15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3285F3-058C-4DAC-8BDF-5417ECE79656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BROADCASTING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Write the shape of the parameter you mean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Broadcasting replaces many explicit loops — when the dimensions line up semantically.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OPERATIONS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Image 0" descr="/mnt/data/week13_lecture25/assets/broadcasting.png"/>
          <p:cNvPicPr/>
          <p:nvPr/>
        </p:nvPicPr>
        <p:blipFill>
          <a:blip r:embed="rId3"/>
          <a:stretch/>
        </p:blipFill>
        <p:spPr>
          <a:xfrm>
            <a:off x="685800" y="1828800"/>
            <a:ext cx="6080400" cy="248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Shape 5"/>
          <p:cNvSpPr/>
          <p:nvPr/>
        </p:nvSpPr>
        <p:spPr>
          <a:xfrm>
            <a:off x="7040880" y="1828800"/>
            <a:ext cx="4388760" cy="187416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7205400" y="192024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One gain per channel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7205400" y="2194560"/>
            <a:ext cx="4059720" cy="139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audio.shape                 # (N,C,L)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channel_gain = torch.tensor([0.5, 1.25])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channel_gain = channel_gain.view(1, C, 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y = audio * channel_gain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7040880" y="3950280"/>
            <a:ext cx="4388760" cy="10969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7205400" y="4087440"/>
            <a:ext cx="405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Why (1,C,1)?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7205400" y="4380120"/>
            <a:ext cx="4059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Dimension 0 broadcasts across the batch. Dimension 1 matches channel. Dimension 2 broadcasts across time.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841320" y="5074920"/>
            <a:ext cx="5668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debugging question: “Which physical meaning does each axis carry?”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sldNum" idx="16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51E9F-1A96-4422-A374-E058D64AEFDC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MATRIX MULTIPLICATION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A filterbank is already a tensor operation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Classical DSP linear transforms fit naturally into PyTorch.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9784080" y="384120"/>
            <a:ext cx="164556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9857160" y="43884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OPERATIONS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0" descr="/mnt/data/week13_lecture25/assets/equations/filterbank.png"/>
          <p:cNvPicPr/>
          <p:nvPr/>
        </p:nvPicPr>
        <p:blipFill>
          <a:blip r:embed="rId3"/>
          <a:stretch/>
        </p:blipFill>
        <p:spPr>
          <a:xfrm>
            <a:off x="868680" y="1810440"/>
            <a:ext cx="667476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Shape 5"/>
          <p:cNvSpPr/>
          <p:nvPr/>
        </p:nvSpPr>
        <p:spPr>
          <a:xfrm>
            <a:off x="868680" y="2761560"/>
            <a:ext cx="2057040" cy="1828440"/>
          </a:xfrm>
          <a:prstGeom prst="roundRect">
            <a:avLst>
              <a:gd name="adj" fmla="val 6000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3703320" y="2761560"/>
            <a:ext cx="2057040" cy="18284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6537960" y="2761560"/>
            <a:ext cx="2057040" cy="1828440"/>
          </a:xfrm>
          <a:prstGeom prst="roundRect">
            <a:avLst>
              <a:gd name="adj" fmla="val 60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1353240" y="3246120"/>
            <a:ext cx="1096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40 × 257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4169520" y="3246120"/>
            <a:ext cx="1096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257 × 100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0"/>
          <p:cNvSpPr/>
          <p:nvPr/>
        </p:nvSpPr>
        <p:spPr>
          <a:xfrm>
            <a:off x="7013520" y="3246120"/>
            <a:ext cx="1096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40 × 100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306324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@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592524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=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3"/>
          <p:cNvSpPr/>
          <p:nvPr/>
        </p:nvSpPr>
        <p:spPr>
          <a:xfrm>
            <a:off x="9006840" y="2761560"/>
            <a:ext cx="242280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9171360" y="2898720"/>
            <a:ext cx="2093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E0EA"/>
                </a:solidFill>
                <a:effectLst/>
                <a:uFillTx/>
                <a:latin typeface="Aptos"/>
              </a:rPr>
              <a:t>DSP 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9171360" y="3191400"/>
            <a:ext cx="209376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Each column is one time frame. The filterbank combines 257 frequency-bin powers into 40 band energies for that frame.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6"/>
          <p:cNvSpPr/>
          <p:nvPr/>
        </p:nvSpPr>
        <p:spPr>
          <a:xfrm>
            <a:off x="868680" y="5029200"/>
            <a:ext cx="7772040" cy="6854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1033200" y="512064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PyTorch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8"/>
          <p:cNvSpPr/>
          <p:nvPr/>
        </p:nvSpPr>
        <p:spPr>
          <a:xfrm>
            <a:off x="1033200" y="5394960"/>
            <a:ext cx="7443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E = W @ P    # (40,257) @ (257,100) -&gt; (40,100)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Num" idx="17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A841D5-32B5-4DC6-84AD-ABEF52C9BF77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CONCEPT 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A shape error is often a model-design clue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Predict first; run second.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9281160" y="384120"/>
            <a:ext cx="21484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"/>
          <p:cNvSpPr/>
          <p:nvPr/>
        </p:nvSpPr>
        <p:spPr>
          <a:xfrm>
            <a:off x="9354240" y="438840"/>
            <a:ext cx="2002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PAUSE &amp; PREDICT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868680" y="18288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Given: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6"/>
          <p:cNvSpPr/>
          <p:nvPr/>
        </p:nvSpPr>
        <p:spPr>
          <a:xfrm>
            <a:off x="868680" y="2212920"/>
            <a:ext cx="4983120" cy="159984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1033200" y="230436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Will this broadcast as intended?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1033200" y="2578680"/>
            <a:ext cx="465408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audio.shape = (8, 2, 1000)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gain.shape  = (2,)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y = audio * gain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6236280" y="2212920"/>
            <a:ext cx="4983120" cy="1051200"/>
          </a:xfrm>
          <a:prstGeom prst="roundRect">
            <a:avLst>
              <a:gd name="adj" fmla="val 10435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6400800" y="2350080"/>
            <a:ext cx="465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Question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6400800" y="2642760"/>
            <a:ext cx="46540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Will the operation succeed? If not, why does the last dimension cause trouble?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2"/>
          <p:cNvSpPr/>
          <p:nvPr/>
        </p:nvSpPr>
        <p:spPr>
          <a:xfrm>
            <a:off x="6236280" y="3511440"/>
            <a:ext cx="4983120" cy="1051200"/>
          </a:xfrm>
          <a:prstGeom prst="roundRect">
            <a:avLst>
              <a:gd name="adj" fmla="val 10435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3"/>
          <p:cNvSpPr/>
          <p:nvPr/>
        </p:nvSpPr>
        <p:spPr>
          <a:xfrm>
            <a:off x="6400800" y="3648600"/>
            <a:ext cx="465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Question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6400800" y="3940920"/>
            <a:ext cx="46540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What shape should gain have to mean “one gain per channel”?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5"/>
          <p:cNvSpPr/>
          <p:nvPr/>
        </p:nvSpPr>
        <p:spPr>
          <a:xfrm>
            <a:off x="868680" y="5029200"/>
            <a:ext cx="10350720" cy="712800"/>
          </a:xfrm>
          <a:prstGeom prst="roundRect">
            <a:avLst>
              <a:gd name="adj" fmla="val 15385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1033200" y="5166360"/>
            <a:ext cx="1002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Good answer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1033200" y="5459040"/>
            <a:ext cx="1002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Use gain.view(1, 2, 1). The semantic channel axis is the middle axis, not the final time axis.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sldNum" idx="18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97C947-E243-4ECB-A9FF-1C4BDF589D93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THE TRANSITION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What if the DSP coefficients are unknown?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Automatic differentiation turns a fixed signal-processing computation into a learnable one.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914400" y="2331720"/>
            <a:ext cx="2011320" cy="1142640"/>
          </a:xfrm>
          <a:prstGeom prst="roundRect">
            <a:avLst>
              <a:gd name="adj" fmla="val 96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1051560" y="26244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input x[n]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3035880" y="2660760"/>
            <a:ext cx="658080" cy="42012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8"/>
          <p:cNvSpPr/>
          <p:nvPr/>
        </p:nvSpPr>
        <p:spPr>
          <a:xfrm>
            <a:off x="3886200" y="2331720"/>
            <a:ext cx="2011320" cy="1142640"/>
          </a:xfrm>
          <a:prstGeom prst="roundRect">
            <a:avLst>
              <a:gd name="adj" fmla="val 9600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4023360" y="26244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DSP operation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parameters 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6007680" y="2660760"/>
            <a:ext cx="658080" cy="42012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6858000" y="2331720"/>
            <a:ext cx="2011320" cy="1142640"/>
          </a:xfrm>
          <a:prstGeom prst="roundRect">
            <a:avLst>
              <a:gd name="adj" fmla="val 96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6995160" y="26244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prediction ŷ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3"/>
          <p:cNvSpPr/>
          <p:nvPr/>
        </p:nvSpPr>
        <p:spPr>
          <a:xfrm>
            <a:off x="8979480" y="2660760"/>
            <a:ext cx="658080" cy="42012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9692640" y="2331720"/>
            <a:ext cx="1554120" cy="1142640"/>
          </a:xfrm>
          <a:prstGeom prst="roundRect">
            <a:avLst>
              <a:gd name="adj" fmla="val 9600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9829800" y="262440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loss 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/mnt/data/week13_lecture25/assets/equations/gradvec.png"/>
          <p:cNvPicPr/>
          <p:nvPr/>
        </p:nvPicPr>
        <p:blipFill>
          <a:blip r:embed="rId3"/>
          <a:stretch/>
        </p:blipFill>
        <p:spPr>
          <a:xfrm>
            <a:off x="2834640" y="3977640"/>
            <a:ext cx="6537600" cy="76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16"/>
          <p:cNvSpPr/>
          <p:nvPr/>
        </p:nvSpPr>
        <p:spPr>
          <a:xfrm>
            <a:off x="914400" y="501084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Question: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7"/>
          <p:cNvSpPr/>
          <p:nvPr/>
        </p:nvSpPr>
        <p:spPr>
          <a:xfrm>
            <a:off x="1700640" y="4965120"/>
            <a:ext cx="466308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How should each coefficient change to reduce the loss?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914400" y="5495400"/>
            <a:ext cx="99666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Autograd answers this by chaining local derivatives backward through the forward computation.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sldNum" idx="19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7BE6E9-CB6A-46CF-BD8A-0DBD288D36AC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CHAIN RULE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Do one derivative by hand before trusting autograd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Students should see exactly what the graph will automate.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0" descr="/mnt/data/week13_lecture25/assets/equations/chain1.png"/>
          <p:cNvPicPr/>
          <p:nvPr/>
        </p:nvPicPr>
        <p:blipFill>
          <a:blip r:embed="rId3"/>
          <a:stretch/>
        </p:blipFill>
        <p:spPr>
          <a:xfrm>
            <a:off x="841320" y="1828800"/>
            <a:ext cx="4937400" cy="71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Image 1" descr="/mnt/data/week13_lecture25/assets/equations/chain2.png"/>
          <p:cNvPicPr/>
          <p:nvPr/>
        </p:nvPicPr>
        <p:blipFill>
          <a:blip r:embed="rId4"/>
          <a:stretch/>
        </p:blipFill>
        <p:spPr>
          <a:xfrm>
            <a:off x="841320" y="2670120"/>
            <a:ext cx="576036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Shape 5"/>
          <p:cNvSpPr/>
          <p:nvPr/>
        </p:nvSpPr>
        <p:spPr>
          <a:xfrm>
            <a:off x="914400" y="3749040"/>
            <a:ext cx="5120280" cy="914040"/>
          </a:xfrm>
          <a:prstGeom prst="roundRect">
            <a:avLst>
              <a:gd name="adj" fmla="val 120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1078920" y="3886200"/>
            <a:ext cx="47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At θ =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1078920" y="4178880"/>
            <a:ext cx="479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 = 7, L = 49, and dL/dθ = 42.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2" descr="/mnt/data/week13_lecture25/assets/scalar_loss.png"/>
          <p:cNvPicPr/>
          <p:nvPr/>
        </p:nvPicPr>
        <p:blipFill>
          <a:blip r:embed="rId5"/>
          <a:stretch/>
        </p:blipFill>
        <p:spPr>
          <a:xfrm>
            <a:off x="6720840" y="1847160"/>
            <a:ext cx="466308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 8"/>
          <p:cNvSpPr/>
          <p:nvPr/>
        </p:nvSpPr>
        <p:spPr>
          <a:xfrm>
            <a:off x="6830640" y="4956120"/>
            <a:ext cx="4388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Interpretation: the gradient is the local slope of the loss with respect to the parameter.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sldNum" idx="20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67A8EA-CAB9-401F-B3CA-C42DB7F6F764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COMPUTATIONAL GRAPH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The forward pass builds a directed acyclic graph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Nodes are intermediate values; edges correspond to differentiable operations.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"/>
          <p:cNvSpPr/>
          <p:nvPr/>
        </p:nvSpPr>
        <p:spPr>
          <a:xfrm>
            <a:off x="914400" y="2743200"/>
            <a:ext cx="1416960" cy="868320"/>
          </a:xfrm>
          <a:prstGeom prst="roundRect">
            <a:avLst>
              <a:gd name="adj" fmla="val 12632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"/>
          <p:cNvSpPr/>
          <p:nvPr/>
        </p:nvSpPr>
        <p:spPr>
          <a:xfrm>
            <a:off x="987480" y="2999160"/>
            <a:ext cx="1270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θ =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7"/>
          <p:cNvSpPr/>
          <p:nvPr/>
        </p:nvSpPr>
        <p:spPr>
          <a:xfrm>
            <a:off x="3749040" y="2743200"/>
            <a:ext cx="1645560" cy="868320"/>
          </a:xfrm>
          <a:prstGeom prst="roundRect">
            <a:avLst>
              <a:gd name="adj" fmla="val 12632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8"/>
          <p:cNvSpPr/>
          <p:nvPr/>
        </p:nvSpPr>
        <p:spPr>
          <a:xfrm>
            <a:off x="3822120" y="2999160"/>
            <a:ext cx="149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u = 3θ + 1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9"/>
          <p:cNvSpPr/>
          <p:nvPr/>
        </p:nvSpPr>
        <p:spPr>
          <a:xfrm>
            <a:off x="6995160" y="2743200"/>
            <a:ext cx="1508400" cy="868320"/>
          </a:xfrm>
          <a:prstGeom prst="roundRect">
            <a:avLst>
              <a:gd name="adj" fmla="val 12632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7068240" y="2999160"/>
            <a:ext cx="1362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L = u²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1"/>
          <p:cNvSpPr/>
          <p:nvPr/>
        </p:nvSpPr>
        <p:spPr>
          <a:xfrm>
            <a:off x="2606040" y="2953440"/>
            <a:ext cx="776880" cy="43848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5806440" y="2953440"/>
            <a:ext cx="776880" cy="43848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3"/>
          <p:cNvSpPr/>
          <p:nvPr/>
        </p:nvSpPr>
        <p:spPr>
          <a:xfrm>
            <a:off x="2505600" y="21578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du/dθ =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4"/>
          <p:cNvSpPr/>
          <p:nvPr/>
        </p:nvSpPr>
        <p:spPr>
          <a:xfrm>
            <a:off x="5577840" y="2157840"/>
            <a:ext cx="1416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dL/du = 2u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5"/>
          <p:cNvSpPr/>
          <p:nvPr/>
        </p:nvSpPr>
        <p:spPr>
          <a:xfrm rot="10800000">
            <a:off x="9281520" y="2953800"/>
            <a:ext cx="959760" cy="438480"/>
          </a:xfrm>
          <a:prstGeom prst="chevron">
            <a:avLst>
              <a:gd name="adj" fmla="val 50000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6"/>
          <p:cNvSpPr/>
          <p:nvPr/>
        </p:nvSpPr>
        <p:spPr>
          <a:xfrm>
            <a:off x="9235440" y="23317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Consolas"/>
                <a:ea typeface="Consolas"/>
              </a:rPr>
              <a:t>backward()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7"/>
          <p:cNvSpPr/>
          <p:nvPr/>
        </p:nvSpPr>
        <p:spPr>
          <a:xfrm>
            <a:off x="914400" y="4645080"/>
            <a:ext cx="10332360" cy="9597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8"/>
          <p:cNvSpPr/>
          <p:nvPr/>
        </p:nvSpPr>
        <p:spPr>
          <a:xfrm>
            <a:off x="1078920" y="4782240"/>
            <a:ext cx="10003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E0EA"/>
                </a:solidFill>
                <a:effectLst/>
                <a:uFillTx/>
                <a:latin typeface="Aptos"/>
              </a:rPr>
              <a:t>Reverse pass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9"/>
          <p:cNvSpPr/>
          <p:nvPr/>
        </p:nvSpPr>
        <p:spPr>
          <a:xfrm>
            <a:off x="1078920" y="5074920"/>
            <a:ext cx="1000332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Start from dL/dL = 1 and multiply local derivatives while traversing the graph backward. Shared subexpressions contribute through the chain rule.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sldNum" idx="21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678A5-225C-4CDB-BEF1-78E3A57051A3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REVERSE-MODE AUTODIFF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Why backpropagation fits modern ML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One scalar loss may depend on millions of parameters.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868680" y="1874520"/>
            <a:ext cx="4754520" cy="310860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6"/>
          <p:cNvSpPr/>
          <p:nvPr/>
        </p:nvSpPr>
        <p:spPr>
          <a:xfrm>
            <a:off x="6537960" y="1874520"/>
            <a:ext cx="4754520" cy="3108600"/>
          </a:xfrm>
          <a:prstGeom prst="roundRect">
            <a:avLst>
              <a:gd name="adj" fmla="val 3529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1143000" y="214884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FORWARD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1143000" y="2606040"/>
            <a:ext cx="41601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Compute intermediate tensors and the scalar loss 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Record enough local information to differentiate the operations later.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6812280" y="214884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BACKWARD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0"/>
          <p:cNvSpPr/>
          <p:nvPr/>
        </p:nvSpPr>
        <p:spPr>
          <a:xfrm>
            <a:off x="6812280" y="2606040"/>
            <a:ext cx="41601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Seed the output with dL/dL = 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Propagate sensitivities backward to obtain gradients for every upstream parameter that requires them.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1"/>
          <p:cNvSpPr/>
          <p:nvPr/>
        </p:nvSpPr>
        <p:spPr>
          <a:xfrm>
            <a:off x="5806440" y="3017520"/>
            <a:ext cx="502560" cy="50256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2"/>
          <p:cNvSpPr/>
          <p:nvPr/>
        </p:nvSpPr>
        <p:spPr>
          <a:xfrm>
            <a:off x="1828800" y="5285160"/>
            <a:ext cx="8640720" cy="712800"/>
          </a:xfrm>
          <a:prstGeom prst="roundRect">
            <a:avLst>
              <a:gd name="adj" fmla="val 15385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1993320" y="5422320"/>
            <a:ext cx="8311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Why efficient?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4"/>
          <p:cNvSpPr/>
          <p:nvPr/>
        </p:nvSpPr>
        <p:spPr>
          <a:xfrm>
            <a:off x="1993320" y="5715000"/>
            <a:ext cx="8311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0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Reverse mode is well matched to “many inputs/parameters → one scalar objective.” A single backward traversal provides all components of ∇θL.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1"/>
          <p:cNvSpPr>
            <a:spLocks noGrp="1"/>
          </p:cNvSpPr>
          <p:nvPr>
            <p:ph type="sldNum" idx="22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CF55F-7521-4D56-865B-EA44EFC52A5B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VECTOR EXAMPLE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A scalar loss can depend on a whole parameter vector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Autograd handles vectorized expressions without expanding every partial derivative by hand.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/mnt/data/week13_lecture25/assets/equations/linmodel.png"/>
          <p:cNvPicPr/>
          <p:nvPr/>
        </p:nvPicPr>
        <p:blipFill>
          <a:blip r:embed="rId3"/>
          <a:stretch/>
        </p:blipFill>
        <p:spPr>
          <a:xfrm>
            <a:off x="804600" y="1783080"/>
            <a:ext cx="608040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Shape 5"/>
          <p:cNvSpPr/>
          <p:nvPr/>
        </p:nvSpPr>
        <p:spPr>
          <a:xfrm>
            <a:off x="804600" y="2761560"/>
            <a:ext cx="5714640" cy="2697120"/>
          </a:xfrm>
          <a:prstGeom prst="roundRect">
            <a:avLst>
              <a:gd name="adj" fmla="val 3390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6"/>
          <p:cNvSpPr/>
          <p:nvPr/>
        </p:nvSpPr>
        <p:spPr>
          <a:xfrm>
            <a:off x="969120" y="285300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Two learnable parameters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7"/>
          <p:cNvSpPr/>
          <p:nvPr/>
        </p:nvSpPr>
        <p:spPr>
          <a:xfrm>
            <a:off x="969120" y="3127320"/>
            <a:ext cx="5385600" cy="222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x = torch.linspace(-2, 2, 41)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y = 2.5*x - 0.4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w = torch.tensor(0.2, requires_grad=True)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b = torch.tensor(0.0, requires_grad=True)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y_hat = w*x + 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loss = ((y_hat-y)**2).mean()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loss.backward()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8"/>
          <p:cNvSpPr/>
          <p:nvPr/>
        </p:nvSpPr>
        <p:spPr>
          <a:xfrm>
            <a:off x="6903720" y="1920240"/>
            <a:ext cx="4297320" cy="1051200"/>
          </a:xfrm>
          <a:prstGeom prst="roundRect">
            <a:avLst>
              <a:gd name="adj" fmla="val 10435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9"/>
          <p:cNvSpPr/>
          <p:nvPr/>
        </p:nvSpPr>
        <p:spPr>
          <a:xfrm>
            <a:off x="7068240" y="2057400"/>
            <a:ext cx="396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One backward pass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0"/>
          <p:cNvSpPr/>
          <p:nvPr/>
        </p:nvSpPr>
        <p:spPr>
          <a:xfrm>
            <a:off x="7068240" y="2350080"/>
            <a:ext cx="3968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PyTorch computes both ∂L/∂w and ∂L/∂b from the same graph.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1"/>
          <p:cNvSpPr/>
          <p:nvPr/>
        </p:nvSpPr>
        <p:spPr>
          <a:xfrm>
            <a:off x="6903720" y="3246120"/>
            <a:ext cx="4297320" cy="1051200"/>
          </a:xfrm>
          <a:prstGeom prst="roundRect">
            <a:avLst>
              <a:gd name="adj" fmla="val 10435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7068240" y="3383280"/>
            <a:ext cx="396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Important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7068240" y="3675960"/>
            <a:ext cx="39682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The forward code is still ordinary vectorized math. Gradient tracking is layered on top of it.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4"/>
          <p:cNvSpPr/>
          <p:nvPr/>
        </p:nvSpPr>
        <p:spPr>
          <a:xfrm>
            <a:off x="6903720" y="4572000"/>
            <a:ext cx="4297320" cy="914040"/>
          </a:xfrm>
          <a:prstGeom prst="roundRect">
            <a:avLst>
              <a:gd name="adj" fmla="val 120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5"/>
          <p:cNvSpPr/>
          <p:nvPr/>
        </p:nvSpPr>
        <p:spPr>
          <a:xfrm>
            <a:off x="7068240" y="4709160"/>
            <a:ext cx="396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ECE connection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6"/>
          <p:cNvSpPr/>
          <p:nvPr/>
        </p:nvSpPr>
        <p:spPr>
          <a:xfrm>
            <a:off x="7068240" y="5001840"/>
            <a:ext cx="3968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Any differentiable signal model with unknown coefficients can be treated the same way.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sldNum" idx="23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9A77F4-67CA-4B20-A171-CCC0557264F6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AUTOGRAD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Four lines students need to understand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Do not let the optimizer hide the gradient mechanics.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5"/>
          <p:cNvSpPr/>
          <p:nvPr/>
        </p:nvSpPr>
        <p:spPr>
          <a:xfrm>
            <a:off x="777240" y="1828800"/>
            <a:ext cx="6857640" cy="292572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941760" y="192024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Minimal example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7"/>
          <p:cNvSpPr/>
          <p:nvPr/>
        </p:nvSpPr>
        <p:spPr>
          <a:xfrm>
            <a:off x="941760" y="2194560"/>
            <a:ext cx="6528600" cy="245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theta = torch.tensor(2.0, requires_grad=True)  # leaf parameter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u = 3*theta + 1                              # graph grows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loss = u**2                                   # scalar objective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loss.backward()                               # reverse traversal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print(theta.grad)                             # tensor(42.)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8"/>
          <p:cNvSpPr/>
          <p:nvPr/>
        </p:nvSpPr>
        <p:spPr>
          <a:xfrm>
            <a:off x="7973640" y="1847160"/>
            <a:ext cx="338292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9"/>
          <p:cNvSpPr/>
          <p:nvPr/>
        </p:nvSpPr>
        <p:spPr>
          <a:xfrm>
            <a:off x="8138160" y="198432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E0EA"/>
                </a:solidFill>
                <a:effectLst/>
                <a:uFillTx/>
                <a:latin typeface="Aptos"/>
              </a:rPr>
              <a:t>requires_grad=True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0"/>
          <p:cNvSpPr/>
          <p:nvPr/>
        </p:nvSpPr>
        <p:spPr>
          <a:xfrm>
            <a:off x="8138160" y="2277000"/>
            <a:ext cx="3053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Track operations that influence this tensor.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1"/>
          <p:cNvSpPr/>
          <p:nvPr/>
        </p:nvSpPr>
        <p:spPr>
          <a:xfrm>
            <a:off x="7973640" y="2980800"/>
            <a:ext cx="3382920" cy="868320"/>
          </a:xfrm>
          <a:prstGeom prst="roundRect">
            <a:avLst>
              <a:gd name="adj" fmla="val 12632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2"/>
          <p:cNvSpPr/>
          <p:nvPr/>
        </p:nvSpPr>
        <p:spPr>
          <a:xfrm>
            <a:off x="8138160" y="311796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loss.backward()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3"/>
          <p:cNvSpPr/>
          <p:nvPr/>
        </p:nvSpPr>
        <p:spPr>
          <a:xfrm>
            <a:off x="8138160" y="3410640"/>
            <a:ext cx="3053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Run reverse-mode autodiff from the scalar loss.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4"/>
          <p:cNvSpPr/>
          <p:nvPr/>
        </p:nvSpPr>
        <p:spPr>
          <a:xfrm>
            <a:off x="7973640" y="4114800"/>
            <a:ext cx="3382920" cy="86832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5"/>
          <p:cNvSpPr/>
          <p:nvPr/>
        </p:nvSpPr>
        <p:spPr>
          <a:xfrm>
            <a:off x="8138160" y="425196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E0EA"/>
                </a:solidFill>
                <a:effectLst/>
                <a:uFillTx/>
                <a:latin typeface="Aptos"/>
              </a:rPr>
              <a:t>.grad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6"/>
          <p:cNvSpPr/>
          <p:nvPr/>
        </p:nvSpPr>
        <p:spPr>
          <a:xfrm>
            <a:off x="8138160" y="4544640"/>
            <a:ext cx="3053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Gradient accumulated on leaf tensors.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7"/>
          <p:cNvSpPr/>
          <p:nvPr/>
        </p:nvSpPr>
        <p:spPr>
          <a:xfrm>
            <a:off x="868680" y="5120640"/>
            <a:ext cx="66747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question: Why does theta.grad live on θ, not on every temporary tensor by default?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8"/>
          <p:cNvSpPr/>
          <p:nvPr/>
        </p:nvSpPr>
        <p:spPr>
          <a:xfrm>
            <a:off x="868680" y="5504760"/>
            <a:ext cx="9875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Answer: leaf parameters are the quantities we intend to update; retaining every intermediate gradient would waste memory unless explicitly requested.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1"/>
          <p:cNvSpPr>
            <a:spLocks noGrp="1"/>
          </p:cNvSpPr>
          <p:nvPr>
            <p:ph type="sldNum" idx="24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1AD80-4AAC-4965-9709-F1DDE6B487EB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GRADIENT ACCUMULATION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PyTorch adds gradients; it does not replace them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This behavior is useful for deliberate accumulation and dangerous when accidental.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5"/>
          <p:cNvSpPr/>
          <p:nvPr/>
        </p:nvSpPr>
        <p:spPr>
          <a:xfrm>
            <a:off x="804600" y="1810440"/>
            <a:ext cx="5211720" cy="356580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6"/>
          <p:cNvSpPr/>
          <p:nvPr/>
        </p:nvSpPr>
        <p:spPr>
          <a:xfrm>
            <a:off x="969120" y="19018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Accumulation demo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"/>
          <p:cNvSpPr/>
          <p:nvPr/>
        </p:nvSpPr>
        <p:spPr>
          <a:xfrm>
            <a:off x="969120" y="2176200"/>
            <a:ext cx="4882680" cy="30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x = torch.tensor(3.0, requires_grad=True)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(x**2).backward()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print(x.grad)    # 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(x**2).backward()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print(x.grad)    # 12  &lt;- accumulated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x.grad.zero_()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print(x.grad)    # 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8"/>
          <p:cNvSpPr/>
          <p:nvPr/>
        </p:nvSpPr>
        <p:spPr>
          <a:xfrm>
            <a:off x="6400800" y="1828800"/>
            <a:ext cx="4845960" cy="1142640"/>
          </a:xfrm>
          <a:prstGeom prst="roundRect">
            <a:avLst>
              <a:gd name="adj" fmla="val 96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9"/>
          <p:cNvSpPr/>
          <p:nvPr/>
        </p:nvSpPr>
        <p:spPr>
          <a:xfrm>
            <a:off x="6565320" y="1965960"/>
            <a:ext cx="451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Why?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0"/>
          <p:cNvSpPr/>
          <p:nvPr/>
        </p:nvSpPr>
        <p:spPr>
          <a:xfrm>
            <a:off x="6565320" y="2258640"/>
            <a:ext cx="451692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 parameter can influence a loss through multiple paths. Autograd must sum contributions to the same derivative.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1"/>
          <p:cNvSpPr/>
          <p:nvPr/>
        </p:nvSpPr>
        <p:spPr>
          <a:xfrm>
            <a:off x="6400800" y="3246120"/>
            <a:ext cx="4845960" cy="1261440"/>
          </a:xfrm>
          <a:prstGeom prst="roundRect">
            <a:avLst>
              <a:gd name="adj" fmla="val 7246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2"/>
          <p:cNvSpPr/>
          <p:nvPr/>
        </p:nvSpPr>
        <p:spPr>
          <a:xfrm>
            <a:off x="6565320" y="333756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Normal training-loop pattern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3"/>
          <p:cNvSpPr/>
          <p:nvPr/>
        </p:nvSpPr>
        <p:spPr>
          <a:xfrm>
            <a:off x="6565320" y="3611880"/>
            <a:ext cx="451692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optimizer.zero_grad()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loss.backward()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optimizer.step()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Image 0" descr="/mnt/data/week13_lecture25/assets/equations/update.png"/>
          <p:cNvPicPr/>
          <p:nvPr/>
        </p:nvPicPr>
        <p:blipFill>
          <a:blip r:embed="rId3"/>
          <a:stretch/>
        </p:blipFill>
        <p:spPr>
          <a:xfrm>
            <a:off x="6629400" y="4827960"/>
            <a:ext cx="4297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PlaceHolder 1"/>
          <p:cNvSpPr>
            <a:spLocks noGrp="1"/>
          </p:cNvSpPr>
          <p:nvPr>
            <p:ph type="sldNum" idx="25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128B79-89F2-4B64-A563-76A8B82CAEA5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GRAPH CONTROL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`no_grad()` and `detach()` intentionally break gradient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Use them because you mean to — not as a patch for a memory or type error.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5"/>
          <p:cNvSpPr/>
          <p:nvPr/>
        </p:nvSpPr>
        <p:spPr>
          <a:xfrm>
            <a:off x="868680" y="1856160"/>
            <a:ext cx="4983120" cy="1599840"/>
          </a:xfrm>
          <a:prstGeom prst="roundRect">
            <a:avLst>
              <a:gd name="adj" fmla="val 6857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6"/>
          <p:cNvSpPr/>
          <p:nvPr/>
        </p:nvSpPr>
        <p:spPr>
          <a:xfrm>
            <a:off x="1033200" y="1993320"/>
            <a:ext cx="465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torch.no_grad()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7"/>
          <p:cNvSpPr/>
          <p:nvPr/>
        </p:nvSpPr>
        <p:spPr>
          <a:xfrm>
            <a:off x="1033200" y="2286000"/>
            <a:ext cx="465408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Context: operations performed inside it do not create autograd history. Good for evaluation, plotting predictions, or generating a fixed target.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8"/>
          <p:cNvSpPr/>
          <p:nvPr/>
        </p:nvSpPr>
        <p:spPr>
          <a:xfrm>
            <a:off x="6263640" y="1856160"/>
            <a:ext cx="4983120" cy="1599840"/>
          </a:xfrm>
          <a:prstGeom prst="roundRect">
            <a:avLst>
              <a:gd name="adj" fmla="val 6857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9"/>
          <p:cNvSpPr/>
          <p:nvPr/>
        </p:nvSpPr>
        <p:spPr>
          <a:xfrm>
            <a:off x="6428160" y="1993320"/>
            <a:ext cx="465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.detach()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0"/>
          <p:cNvSpPr/>
          <p:nvPr/>
        </p:nvSpPr>
        <p:spPr>
          <a:xfrm>
            <a:off x="6428160" y="2286000"/>
            <a:ext cx="465408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Tensor operation: return the same numerical values disconnected from the current graph. Good for inspection/export when upstream derivatives are no longer desired.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1"/>
          <p:cNvSpPr/>
          <p:nvPr/>
        </p:nvSpPr>
        <p:spPr>
          <a:xfrm>
            <a:off x="1325880" y="3977640"/>
            <a:ext cx="9417960" cy="1234080"/>
          </a:xfrm>
          <a:prstGeom prst="roundRect">
            <a:avLst>
              <a:gd name="adj" fmla="val 7407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2"/>
          <p:cNvSpPr/>
          <p:nvPr/>
        </p:nvSpPr>
        <p:spPr>
          <a:xfrm>
            <a:off x="1490400" y="406908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Common uses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3"/>
          <p:cNvSpPr/>
          <p:nvPr/>
        </p:nvSpPr>
        <p:spPr>
          <a:xfrm>
            <a:off x="1490400" y="4343400"/>
            <a:ext cx="90889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with torch.no_grad():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y_ref = fixed_system(x)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plot_value = y_hat.detach().cpu().numpy()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4"/>
          <p:cNvSpPr/>
          <p:nvPr/>
        </p:nvSpPr>
        <p:spPr>
          <a:xfrm>
            <a:off x="1325880" y="553212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Bad use: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5"/>
          <p:cNvSpPr/>
          <p:nvPr/>
        </p:nvSpPr>
        <p:spPr>
          <a:xfrm>
            <a:off x="2084760" y="5495400"/>
            <a:ext cx="6583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detaching an intermediate tensor that the loss still needs to differentiate through.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sldNum" idx="26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A4B74-F1C7-4EC3-9C33-77DE35381BBC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DSP-NATIVE AUTOGRAD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Treat FIR taps as learnable parameters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Now “training” means adjusting filter coefficients to match a desired signal response.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6" name="Image 0" descr="/mnt/data/week13_lecture25/assets/equations/fir.png"/>
          <p:cNvPicPr/>
          <p:nvPr/>
        </p:nvPicPr>
        <p:blipFill>
          <a:blip r:embed="rId3"/>
          <a:stretch/>
        </p:blipFill>
        <p:spPr>
          <a:xfrm>
            <a:off x="868680" y="1783080"/>
            <a:ext cx="5120280" cy="65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Image 1" descr="/mnt/data/week13_lecture25/assets/equations/fir_loss.png"/>
          <p:cNvPicPr/>
          <p:nvPr/>
        </p:nvPicPr>
        <p:blipFill>
          <a:blip r:embed="rId4"/>
          <a:stretch/>
        </p:blipFill>
        <p:spPr>
          <a:xfrm>
            <a:off x="868680" y="2523600"/>
            <a:ext cx="5851800" cy="74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Image 2" descr="/mnt/data/week13_lecture25/assets/equations/fir_grad.png"/>
          <p:cNvPicPr/>
          <p:nvPr/>
        </p:nvPicPr>
        <p:blipFill>
          <a:blip r:embed="rId5"/>
          <a:stretch/>
        </p:blipFill>
        <p:spPr>
          <a:xfrm>
            <a:off x="868680" y="3401640"/>
            <a:ext cx="521172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Shape 5"/>
          <p:cNvSpPr/>
          <p:nvPr/>
        </p:nvSpPr>
        <p:spPr>
          <a:xfrm>
            <a:off x="6903720" y="1965960"/>
            <a:ext cx="1416960" cy="82260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6"/>
          <p:cNvSpPr/>
          <p:nvPr/>
        </p:nvSpPr>
        <p:spPr>
          <a:xfrm>
            <a:off x="7113960" y="222192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x[n]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7"/>
          <p:cNvSpPr/>
          <p:nvPr/>
        </p:nvSpPr>
        <p:spPr>
          <a:xfrm>
            <a:off x="8823960" y="1965960"/>
            <a:ext cx="1234080" cy="822600"/>
          </a:xfrm>
          <a:prstGeom prst="roundRect">
            <a:avLst>
              <a:gd name="adj" fmla="val 13333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8"/>
          <p:cNvSpPr/>
          <p:nvPr/>
        </p:nvSpPr>
        <p:spPr>
          <a:xfrm>
            <a:off x="8988480" y="22219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h[k]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9"/>
          <p:cNvSpPr/>
          <p:nvPr/>
        </p:nvSpPr>
        <p:spPr>
          <a:xfrm>
            <a:off x="10469880" y="1965960"/>
            <a:ext cx="1051200" cy="822600"/>
          </a:xfrm>
          <a:prstGeom prst="roundRect">
            <a:avLst>
              <a:gd name="adj" fmla="val 13333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0"/>
          <p:cNvSpPr/>
          <p:nvPr/>
        </p:nvSpPr>
        <p:spPr>
          <a:xfrm>
            <a:off x="10588680" y="222192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ŷ[n]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1"/>
          <p:cNvSpPr/>
          <p:nvPr/>
        </p:nvSpPr>
        <p:spPr>
          <a:xfrm>
            <a:off x="8339400" y="2167200"/>
            <a:ext cx="411120" cy="38376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2"/>
          <p:cNvSpPr/>
          <p:nvPr/>
        </p:nvSpPr>
        <p:spPr>
          <a:xfrm>
            <a:off x="10104120" y="2167200"/>
            <a:ext cx="319680" cy="383760"/>
          </a:xfrm>
          <a:prstGeom prst="chevron">
            <a:avLst>
              <a:gd name="adj" fmla="val 50000"/>
            </a:avLst>
          </a:prstGeom>
          <a:solidFill>
            <a:srgbClr val="E2E8F0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3"/>
          <p:cNvSpPr/>
          <p:nvPr/>
        </p:nvSpPr>
        <p:spPr>
          <a:xfrm>
            <a:off x="6858000" y="3200400"/>
            <a:ext cx="4571640" cy="1416960"/>
          </a:xfrm>
          <a:prstGeom prst="roundRect">
            <a:avLst>
              <a:gd name="adj" fmla="val 7742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4"/>
          <p:cNvSpPr/>
          <p:nvPr/>
        </p:nvSpPr>
        <p:spPr>
          <a:xfrm>
            <a:off x="7022520" y="3337560"/>
            <a:ext cx="424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What autograd is doing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5"/>
          <p:cNvSpPr/>
          <p:nvPr/>
        </p:nvSpPr>
        <p:spPr>
          <a:xfrm>
            <a:off x="7022520" y="3630240"/>
            <a:ext cx="4242600" cy="88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The analytic gradient is correlation-like: error e[n] is correlated with delayed input x[n−r]. PyTorch obtains the same result from the graph automatically.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6"/>
          <p:cNvSpPr/>
          <p:nvPr/>
        </p:nvSpPr>
        <p:spPr>
          <a:xfrm>
            <a:off x="6858000" y="4892040"/>
            <a:ext cx="4571640" cy="868320"/>
          </a:xfrm>
          <a:prstGeom prst="roundRect">
            <a:avLst>
              <a:gd name="adj" fmla="val 12632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7"/>
          <p:cNvSpPr/>
          <p:nvPr/>
        </p:nvSpPr>
        <p:spPr>
          <a:xfrm>
            <a:off x="7022520" y="5029200"/>
            <a:ext cx="424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DSP convention note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8"/>
          <p:cNvSpPr/>
          <p:nvPr/>
        </p:nvSpPr>
        <p:spPr>
          <a:xfrm>
            <a:off x="7022520" y="5321880"/>
            <a:ext cx="42426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torch.nn.functional.conv1d implements cross-correlation. Flip the kernel if you want the textbook DSP convolution ordering.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1"/>
          <p:cNvSpPr>
            <a:spLocks noGrp="1"/>
          </p:cNvSpPr>
          <p:nvPr>
            <p:ph type="sldNum" idx="27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5E71E9-596F-4684-895C-5D525A187573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FIR 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Gradient descent recovers the unknown filter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A simple system-identification problem makes autograd tangible.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0" descr="/mnt/data/week13_lecture25/assets/fir_loss.png"/>
          <p:cNvPicPr/>
          <p:nvPr/>
        </p:nvPicPr>
        <p:blipFill>
          <a:blip r:embed="rId3"/>
          <a:stretch/>
        </p:blipFill>
        <p:spPr>
          <a:xfrm>
            <a:off x="658440" y="1874520"/>
            <a:ext cx="5348880" cy="242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Image 1" descr="/mnt/data/week13_lecture25/assets/fir_taps.png"/>
          <p:cNvPicPr/>
          <p:nvPr/>
        </p:nvPicPr>
        <p:blipFill>
          <a:blip r:embed="rId4"/>
          <a:stretch/>
        </p:blipFill>
        <p:spPr>
          <a:xfrm>
            <a:off x="6245280" y="1874520"/>
            <a:ext cx="5257440" cy="242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Shape 5"/>
          <p:cNvSpPr/>
          <p:nvPr/>
        </p:nvSpPr>
        <p:spPr>
          <a:xfrm>
            <a:off x="868680" y="4590360"/>
            <a:ext cx="3017160" cy="749520"/>
          </a:xfrm>
          <a:prstGeom prst="roundRect">
            <a:avLst>
              <a:gd name="adj" fmla="val 14634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"/>
          <p:cNvSpPr/>
          <p:nvPr/>
        </p:nvSpPr>
        <p:spPr>
          <a:xfrm>
            <a:off x="1033200" y="4727520"/>
            <a:ext cx="2688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Target taps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7"/>
          <p:cNvSpPr/>
          <p:nvPr/>
        </p:nvSpPr>
        <p:spPr>
          <a:xfrm>
            <a:off x="1033200" y="5020200"/>
            <a:ext cx="2688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[0.15, 0.50, 0.25, −0.10]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8"/>
          <p:cNvSpPr/>
          <p:nvPr/>
        </p:nvSpPr>
        <p:spPr>
          <a:xfrm>
            <a:off x="4160520" y="4590360"/>
            <a:ext cx="3291480" cy="749520"/>
          </a:xfrm>
          <a:prstGeom prst="roundRect">
            <a:avLst>
              <a:gd name="adj" fmla="val 14634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9"/>
          <p:cNvSpPr/>
          <p:nvPr/>
        </p:nvSpPr>
        <p:spPr>
          <a:xfrm>
            <a:off x="4325040" y="4727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Learned taps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0"/>
          <p:cNvSpPr/>
          <p:nvPr/>
        </p:nvSpPr>
        <p:spPr>
          <a:xfrm>
            <a:off x="4325040" y="5020200"/>
            <a:ext cx="2962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≈ [0.15, 0.50, 0.25, −0.10]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1"/>
          <p:cNvSpPr/>
          <p:nvPr/>
        </p:nvSpPr>
        <p:spPr>
          <a:xfrm>
            <a:off x="7726680" y="4590360"/>
            <a:ext cx="3520080" cy="749520"/>
          </a:xfrm>
          <a:prstGeom prst="roundRect">
            <a:avLst>
              <a:gd name="adj" fmla="val 14634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2"/>
          <p:cNvSpPr/>
          <p:nvPr/>
        </p:nvSpPr>
        <p:spPr>
          <a:xfrm>
            <a:off x="7891200" y="4727520"/>
            <a:ext cx="3191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Final MSE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3"/>
          <p:cNvSpPr/>
          <p:nvPr/>
        </p:nvSpPr>
        <p:spPr>
          <a:xfrm>
            <a:off x="7891200" y="5020200"/>
            <a:ext cx="3191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≈ 5.7 × 10⁻¹² in this synthetic example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4"/>
          <p:cNvSpPr/>
          <p:nvPr/>
        </p:nvSpPr>
        <p:spPr>
          <a:xfrm>
            <a:off x="914400" y="5596200"/>
            <a:ext cx="10149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Interpretation: autograd did not “understand filters.” It differentiated the operations we wrote and gradient descent used those derivatives to update h.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sldNum" idx="28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E922A6-072A-426D-BAB6-F0104F47AF88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COMMON FAILURE MODES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Most early PyTorch mistakes are bookkeeping mistakes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Teach students to diagnose them systematically.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3"/>
          <p:cNvSpPr/>
          <p:nvPr/>
        </p:nvSpPr>
        <p:spPr>
          <a:xfrm>
            <a:off x="9829800" y="384120"/>
            <a:ext cx="1462680" cy="31068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4"/>
          <p:cNvSpPr/>
          <p:nvPr/>
        </p:nvSpPr>
        <p:spPr>
          <a:xfrm>
            <a:off x="9902880" y="43884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5"/>
          <p:cNvSpPr/>
          <p:nvPr/>
        </p:nvSpPr>
        <p:spPr>
          <a:xfrm>
            <a:off x="804600" y="178308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6"/>
          <p:cNvSpPr/>
          <p:nvPr/>
        </p:nvSpPr>
        <p:spPr>
          <a:xfrm>
            <a:off x="960120" y="194760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Wrong axis order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7"/>
          <p:cNvSpPr/>
          <p:nvPr/>
        </p:nvSpPr>
        <p:spPr>
          <a:xfrm>
            <a:off x="2606040" y="194760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(N,L,C) passed to code expecting (N,C,L)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8"/>
          <p:cNvSpPr/>
          <p:nvPr/>
        </p:nvSpPr>
        <p:spPr>
          <a:xfrm>
            <a:off x="7498080" y="194760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Print shape + name each axis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9"/>
          <p:cNvSpPr/>
          <p:nvPr/>
        </p:nvSpPr>
        <p:spPr>
          <a:xfrm>
            <a:off x="804600" y="258768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0"/>
          <p:cNvSpPr/>
          <p:nvPr/>
        </p:nvSpPr>
        <p:spPr>
          <a:xfrm>
            <a:off x="960120" y="275220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Mixed device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1"/>
          <p:cNvSpPr/>
          <p:nvPr/>
        </p:nvSpPr>
        <p:spPr>
          <a:xfrm>
            <a:off x="2606040" y="275220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input on CPU, parameters on accelerator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2"/>
          <p:cNvSpPr/>
          <p:nvPr/>
        </p:nvSpPr>
        <p:spPr>
          <a:xfrm>
            <a:off x="7498080" y="275220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Move both consistently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3"/>
          <p:cNvSpPr/>
          <p:nvPr/>
        </p:nvSpPr>
        <p:spPr>
          <a:xfrm>
            <a:off x="804600" y="339228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4"/>
          <p:cNvSpPr/>
          <p:nvPr/>
        </p:nvSpPr>
        <p:spPr>
          <a:xfrm>
            <a:off x="960120" y="35571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Gradient accumulation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5"/>
          <p:cNvSpPr/>
          <p:nvPr/>
        </p:nvSpPr>
        <p:spPr>
          <a:xfrm>
            <a:off x="2606040" y="35571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forgot zero_grad()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6"/>
          <p:cNvSpPr/>
          <p:nvPr/>
        </p:nvSpPr>
        <p:spPr>
          <a:xfrm>
            <a:off x="7498080" y="35571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Clear intentionally each step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7"/>
          <p:cNvSpPr/>
          <p:nvPr/>
        </p:nvSpPr>
        <p:spPr>
          <a:xfrm>
            <a:off x="804600" y="419724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 w="1260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8"/>
          <p:cNvSpPr/>
          <p:nvPr/>
        </p:nvSpPr>
        <p:spPr>
          <a:xfrm>
            <a:off x="960120" y="43617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Detached graph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9"/>
          <p:cNvSpPr/>
          <p:nvPr/>
        </p:nvSpPr>
        <p:spPr>
          <a:xfrm>
            <a:off x="2606040" y="43617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used detach/no_grad too early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0"/>
          <p:cNvSpPr/>
          <p:nvPr/>
        </p:nvSpPr>
        <p:spPr>
          <a:xfrm>
            <a:off x="7498080" y="43617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Preserve required path to loss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1"/>
          <p:cNvSpPr/>
          <p:nvPr/>
        </p:nvSpPr>
        <p:spPr>
          <a:xfrm>
            <a:off x="804600" y="5001840"/>
            <a:ext cx="10652400" cy="621360"/>
          </a:xfrm>
          <a:prstGeom prst="roundRect">
            <a:avLst>
              <a:gd name="adj" fmla="val 17647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2"/>
          <p:cNvSpPr/>
          <p:nvPr/>
        </p:nvSpPr>
        <p:spPr>
          <a:xfrm>
            <a:off x="960120" y="51663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In-place surprise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3"/>
          <p:cNvSpPr/>
          <p:nvPr/>
        </p:nvSpPr>
        <p:spPr>
          <a:xfrm>
            <a:off x="2606040" y="51663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modified a needed tensor in place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4"/>
          <p:cNvSpPr/>
          <p:nvPr/>
        </p:nvSpPr>
        <p:spPr>
          <a:xfrm>
            <a:off x="7498080" y="51663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Prefer clear functional steps while learning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1"/>
          <p:cNvSpPr>
            <a:spLocks noGrp="1"/>
          </p:cNvSpPr>
          <p:nvPr>
            <p:ph type="sldNum" idx="29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D8A1CB-819D-4C08-8400-3F51D361C8F3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WRAP-UP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Lecture 25 synthesis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The conceptual leap is from storing values to storing values plus differentiable history.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1" name="Image 0" descr="/mnt/data/week13_lecture25/assets/equations/final.png"/>
          <p:cNvPicPr/>
          <p:nvPr/>
        </p:nvPicPr>
        <p:blipFill>
          <a:blip r:embed="rId3"/>
          <a:stretch/>
        </p:blipFill>
        <p:spPr>
          <a:xfrm>
            <a:off x="1005840" y="1901880"/>
            <a:ext cx="10240920" cy="7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Shape 3"/>
          <p:cNvSpPr/>
          <p:nvPr/>
        </p:nvSpPr>
        <p:spPr>
          <a:xfrm>
            <a:off x="822960" y="3063240"/>
            <a:ext cx="516600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"/>
          <p:cNvSpPr/>
          <p:nvPr/>
        </p:nvSpPr>
        <p:spPr>
          <a:xfrm>
            <a:off x="969120" y="32371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Tensors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2148840" y="320940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Same DSP data, explicit shape/dtype/device.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6355080" y="3063240"/>
            <a:ext cx="516600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7"/>
          <p:cNvSpPr/>
          <p:nvPr/>
        </p:nvSpPr>
        <p:spPr>
          <a:xfrm>
            <a:off x="6501240" y="32371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8"/>
          <p:cNvSpPr/>
          <p:nvPr/>
        </p:nvSpPr>
        <p:spPr>
          <a:xfrm>
            <a:off x="7680960" y="320940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Broadcasting, matmul, and axis manipulation express vectorized DSP.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9"/>
          <p:cNvSpPr/>
          <p:nvPr/>
        </p:nvSpPr>
        <p:spPr>
          <a:xfrm>
            <a:off x="822960" y="4114800"/>
            <a:ext cx="516600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0"/>
          <p:cNvSpPr/>
          <p:nvPr/>
        </p:nvSpPr>
        <p:spPr>
          <a:xfrm>
            <a:off x="969120" y="428868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Autograd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1"/>
          <p:cNvSpPr/>
          <p:nvPr/>
        </p:nvSpPr>
        <p:spPr>
          <a:xfrm>
            <a:off x="2148840" y="426096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Forward operations form a dynamic DAG; backward applies the chain rule.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2"/>
          <p:cNvSpPr/>
          <p:nvPr/>
        </p:nvSpPr>
        <p:spPr>
          <a:xfrm>
            <a:off x="6355080" y="4114800"/>
            <a:ext cx="516600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600">
            <a:solidFill>
              <a:srgbClr val="D8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3"/>
          <p:cNvSpPr/>
          <p:nvPr/>
        </p:nvSpPr>
        <p:spPr>
          <a:xfrm>
            <a:off x="6501240" y="428868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4"/>
          <p:cNvSpPr/>
          <p:nvPr/>
        </p:nvSpPr>
        <p:spPr>
          <a:xfrm>
            <a:off x="7680960" y="426096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Unknown DSP parameters can be optimized from ∇θL.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5"/>
          <p:cNvSpPr/>
          <p:nvPr/>
        </p:nvSpPr>
        <p:spPr>
          <a:xfrm>
            <a:off x="1143000" y="5413320"/>
            <a:ext cx="9875160" cy="658080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6"/>
          <p:cNvSpPr/>
          <p:nvPr/>
        </p:nvSpPr>
        <p:spPr>
          <a:xfrm>
            <a:off x="1307520" y="5550480"/>
            <a:ext cx="9546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Minute paper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7"/>
          <p:cNvSpPr/>
          <p:nvPr/>
        </p:nvSpPr>
        <p:spPr>
          <a:xfrm>
            <a:off x="1307520" y="5843160"/>
            <a:ext cx="95461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 one sentence: what is the difference between “a tensor contains a signal” and “a tensor participates in a computational graph”?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1"/>
          <p:cNvSpPr>
            <a:spLocks noGrp="1"/>
          </p:cNvSpPr>
          <p:nvPr>
            <p:ph type="sldNum" idx="30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DCD1A7-2087-4753-BCA2-F706D53B85F8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HOMEWORK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Problems 1–3: shapes, broadcasting, and linear transforms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Student version — solutions are in the instructor appendix.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777240" y="1828800"/>
            <a:ext cx="10652400" cy="10969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4"/>
          <p:cNvSpPr/>
          <p:nvPr/>
        </p:nvSpPr>
        <p:spPr>
          <a:xfrm>
            <a:off x="941760" y="196596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1 • Tensor shapes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5"/>
          <p:cNvSpPr/>
          <p:nvPr/>
        </p:nvSpPr>
        <p:spPr>
          <a:xfrm>
            <a:off x="941760" y="2258640"/>
            <a:ext cx="10323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State a sensible shape and rank for: (a) one 16,000-sample mono clip, (b) 32 stereo clips, (c) one 257 × 101 complex STFT, (d) 32 one-channel magnitude spectrograms.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6"/>
          <p:cNvSpPr/>
          <p:nvPr/>
        </p:nvSpPr>
        <p:spPr>
          <a:xfrm>
            <a:off x="777240" y="3154680"/>
            <a:ext cx="10652400" cy="1051200"/>
          </a:xfrm>
          <a:prstGeom prst="roundRect">
            <a:avLst>
              <a:gd name="adj" fmla="val 10435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7"/>
          <p:cNvSpPr/>
          <p:nvPr/>
        </p:nvSpPr>
        <p:spPr>
          <a:xfrm>
            <a:off x="941760" y="329184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2 • Broadcasting channel gains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8"/>
          <p:cNvSpPr/>
          <p:nvPr/>
        </p:nvSpPr>
        <p:spPr>
          <a:xfrm>
            <a:off x="941760" y="3584520"/>
            <a:ext cx="103233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x has shape (24,2,8000). Apply gain 0.5 to the left channel and 1.2 to the right. Give the gain shape, PyTorch construction, and output shape.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9"/>
          <p:cNvSpPr/>
          <p:nvPr/>
        </p:nvSpPr>
        <p:spPr>
          <a:xfrm>
            <a:off x="777240" y="4434840"/>
            <a:ext cx="10652400" cy="1051200"/>
          </a:xfrm>
          <a:prstGeom prst="roundRect">
            <a:avLst>
              <a:gd name="adj" fmla="val 10435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0"/>
          <p:cNvSpPr/>
          <p:nvPr/>
        </p:nvSpPr>
        <p:spPr>
          <a:xfrm>
            <a:off x="941760" y="457200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3 • Filterbank matmul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1"/>
          <p:cNvSpPr/>
          <p:nvPr/>
        </p:nvSpPr>
        <p:spPr>
          <a:xfrm>
            <a:off x="941760" y="4864680"/>
            <a:ext cx="103233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 is 257 × 100 and W is 40 × 257. Write the matrix expression for filterbank energies, give the result shape, and interpret both axes.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1"/>
          <p:cNvSpPr>
            <a:spLocks noGrp="1"/>
          </p:cNvSpPr>
          <p:nvPr>
            <p:ph type="sldNum" idx="31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485DDA-7D5F-4132-955B-18355A704163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HOMEWORK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Problems 4–7: chain rule and graph mechanics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Show your work for the analytic gradients.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777240" y="1755720"/>
            <a:ext cx="10652400" cy="987120"/>
          </a:xfrm>
          <a:prstGeom prst="roundRect">
            <a:avLst>
              <a:gd name="adj" fmla="val 11111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4"/>
          <p:cNvSpPr/>
          <p:nvPr/>
        </p:nvSpPr>
        <p:spPr>
          <a:xfrm>
            <a:off x="941760" y="189288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4 • Chain rule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5"/>
          <p:cNvSpPr/>
          <p:nvPr/>
        </p:nvSpPr>
        <p:spPr>
          <a:xfrm>
            <a:off x="941760" y="2185560"/>
            <a:ext cx="10323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Let u = 2θ − 3 and L = (u + 1)². Derive dL/dθ, evaluate it at θ = 4, and write equivalent autograd code.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6"/>
          <p:cNvSpPr/>
          <p:nvPr/>
        </p:nvSpPr>
        <p:spPr>
          <a:xfrm>
            <a:off x="777240" y="2880360"/>
            <a:ext cx="10652400" cy="895680"/>
          </a:xfrm>
          <a:prstGeom prst="roundRect">
            <a:avLst>
              <a:gd name="adj" fmla="val 12245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7"/>
          <p:cNvSpPr/>
          <p:nvPr/>
        </p:nvSpPr>
        <p:spPr>
          <a:xfrm>
            <a:off x="941760" y="301752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5 • Accumulation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8"/>
          <p:cNvSpPr/>
          <p:nvPr/>
        </p:nvSpPr>
        <p:spPr>
          <a:xfrm>
            <a:off x="941760" y="3310200"/>
            <a:ext cx="10323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 x = 3, call backward twice on L = x² without clearing x.grad. What are the gradients after each call, and why?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9"/>
          <p:cNvSpPr/>
          <p:nvPr/>
        </p:nvSpPr>
        <p:spPr>
          <a:xfrm>
            <a:off x="777240" y="3913560"/>
            <a:ext cx="10652400" cy="895680"/>
          </a:xfrm>
          <a:prstGeom prst="roundRect">
            <a:avLst>
              <a:gd name="adj" fmla="val 12245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10"/>
          <p:cNvSpPr/>
          <p:nvPr/>
        </p:nvSpPr>
        <p:spPr>
          <a:xfrm>
            <a:off x="941760" y="405072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6 • FIR gradient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1"/>
          <p:cNvSpPr/>
          <p:nvPr/>
        </p:nvSpPr>
        <p:spPr>
          <a:xfrm>
            <a:off x="941760" y="4343400"/>
            <a:ext cx="10323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 a causal FIR output and MSE loss, derive ∂L/∂h[r]. Interpret the result in DSP terms.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12"/>
          <p:cNvSpPr/>
          <p:nvPr/>
        </p:nvSpPr>
        <p:spPr>
          <a:xfrm>
            <a:off x="777240" y="4956120"/>
            <a:ext cx="10652400" cy="895680"/>
          </a:xfrm>
          <a:prstGeom prst="roundRect">
            <a:avLst>
              <a:gd name="adj" fmla="val 12245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3"/>
          <p:cNvSpPr/>
          <p:nvPr/>
        </p:nvSpPr>
        <p:spPr>
          <a:xfrm>
            <a:off x="941760" y="509328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7 • Graph control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4"/>
          <p:cNvSpPr/>
          <p:nvPr/>
        </p:nvSpPr>
        <p:spPr>
          <a:xfrm>
            <a:off x="941760" y="5385960"/>
            <a:ext cx="10323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Explain torch.no_grad() versus .detach(). Give one correct use of each and one danger of using either too early.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1"/>
          <p:cNvSpPr>
            <a:spLocks noGrp="1"/>
          </p:cNvSpPr>
          <p:nvPr>
            <p:ph type="sldNum" idx="32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14F7F6-7BEB-4C0D-A627-5BD2D61F1AE6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WEEKLY QUIZ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10 minutes • Questions 1–3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No notes. Show shape reasoning.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3"/>
          <p:cNvSpPr/>
          <p:nvPr/>
        </p:nvSpPr>
        <p:spPr>
          <a:xfrm>
            <a:off x="822960" y="1828800"/>
            <a:ext cx="10515240" cy="9140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4"/>
          <p:cNvSpPr/>
          <p:nvPr/>
        </p:nvSpPr>
        <p:spPr>
          <a:xfrm>
            <a:off x="987480" y="1965960"/>
            <a:ext cx="1018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Q1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5"/>
          <p:cNvSpPr/>
          <p:nvPr/>
        </p:nvSpPr>
        <p:spPr>
          <a:xfrm>
            <a:off x="987480" y="2258640"/>
            <a:ext cx="10186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 minibatch contains 16 mono clips, each 4000 samples long. Using the (N,C,L) convention, what is the tensor shape?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6"/>
          <p:cNvSpPr/>
          <p:nvPr/>
        </p:nvSpPr>
        <p:spPr>
          <a:xfrm>
            <a:off x="822960" y="3063240"/>
            <a:ext cx="10515240" cy="914040"/>
          </a:xfrm>
          <a:prstGeom prst="roundRect">
            <a:avLst>
              <a:gd name="adj" fmla="val 12000"/>
            </a:avLst>
          </a:prstGeom>
          <a:solidFill>
            <a:srgbClr val="E7F7FA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7"/>
          <p:cNvSpPr/>
          <p:nvPr/>
        </p:nvSpPr>
        <p:spPr>
          <a:xfrm>
            <a:off x="987480" y="3200400"/>
            <a:ext cx="1018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91B2"/>
                </a:solidFill>
                <a:effectLst/>
                <a:uFillTx/>
                <a:latin typeface="Aptos"/>
              </a:rPr>
              <a:t>Q2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8"/>
          <p:cNvSpPr/>
          <p:nvPr/>
        </p:nvSpPr>
        <p:spPr>
          <a:xfrm>
            <a:off x="987480" y="3493080"/>
            <a:ext cx="10186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 tensor has shape (8,2,1000). What gain shape applies one independent gain to each channel and broadcasts over batch and time?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9"/>
          <p:cNvSpPr/>
          <p:nvPr/>
        </p:nvSpPr>
        <p:spPr>
          <a:xfrm>
            <a:off x="822960" y="4297680"/>
            <a:ext cx="10515240" cy="9140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0"/>
          <p:cNvSpPr/>
          <p:nvPr/>
        </p:nvSpPr>
        <p:spPr>
          <a:xfrm>
            <a:off x="987480" y="4434840"/>
            <a:ext cx="1018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Q3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1"/>
          <p:cNvSpPr/>
          <p:nvPr/>
        </p:nvSpPr>
        <p:spPr>
          <a:xfrm>
            <a:off x="987480" y="4727520"/>
            <a:ext cx="10186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True or false: every PyTorch tensor automatically tracks gradients. Briefly justify.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 type="sldNum" idx="33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0A7F7A-7D34-4FF1-A1C2-560C2B32662D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WEEKLY QUIZ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Questions 4–6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Focus on gradient meaning, not syntax memorization.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0" descr="/mnt/data/week13_lecture25/assets/equations/quiz_chain.png"/>
          <p:cNvPicPr/>
          <p:nvPr/>
        </p:nvPicPr>
        <p:blipFill>
          <a:blip r:embed="rId3"/>
          <a:stretch/>
        </p:blipFill>
        <p:spPr>
          <a:xfrm>
            <a:off x="914400" y="1828800"/>
            <a:ext cx="4663080" cy="71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Shape 3"/>
          <p:cNvSpPr/>
          <p:nvPr/>
        </p:nvSpPr>
        <p:spPr>
          <a:xfrm>
            <a:off x="822960" y="2606040"/>
            <a:ext cx="4983120" cy="868320"/>
          </a:xfrm>
          <a:prstGeom prst="roundRect">
            <a:avLst>
              <a:gd name="adj" fmla="val 12632"/>
            </a:avLst>
          </a:prstGeom>
          <a:solidFill>
            <a:srgbClr val="F2ECFF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987480" y="2743200"/>
            <a:ext cx="465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Q4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987480" y="3035880"/>
            <a:ext cx="46540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Compute the derivative shown above.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6172200" y="1828800"/>
            <a:ext cx="5074560" cy="1261440"/>
          </a:xfrm>
          <a:prstGeom prst="roundRect">
            <a:avLst>
              <a:gd name="adj" fmla="val 8696"/>
            </a:avLst>
          </a:prstGeom>
          <a:solidFill>
            <a:srgbClr val="EAF2FF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7"/>
          <p:cNvSpPr/>
          <p:nvPr/>
        </p:nvSpPr>
        <p:spPr>
          <a:xfrm>
            <a:off x="6336720" y="196596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Q5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6336720" y="2258640"/>
            <a:ext cx="4745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Why is reverse-mode autodiff especially appropriate when a model has many parameters but one scalar loss?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9"/>
          <p:cNvSpPr/>
          <p:nvPr/>
        </p:nvSpPr>
        <p:spPr>
          <a:xfrm>
            <a:off x="6172200" y="3456360"/>
            <a:ext cx="5074560" cy="1261440"/>
          </a:xfrm>
          <a:prstGeom prst="roundRect">
            <a:avLst>
              <a:gd name="adj" fmla="val 8696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0"/>
          <p:cNvSpPr/>
          <p:nvPr/>
        </p:nvSpPr>
        <p:spPr>
          <a:xfrm>
            <a:off x="6336720" y="359352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Q6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1"/>
          <p:cNvSpPr/>
          <p:nvPr/>
        </p:nvSpPr>
        <p:spPr>
          <a:xfrm>
            <a:off x="6336720" y="3886200"/>
            <a:ext cx="4745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What is the most likely bug if a training loop calls loss.backward() every iteration but never clears parameter gradients?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1"/>
          <p:cNvSpPr>
            <a:spLocks noGrp="1"/>
          </p:cNvSpPr>
          <p:nvPr>
            <p:ph type="sldNum" idx="34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C887D2-B67A-44FC-91D7-F78D4F728DB1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"/>
          <p:cNvSpPr/>
          <p:nvPr/>
        </p:nvSpPr>
        <p:spPr>
          <a:xfrm>
            <a:off x="8778240" y="2833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INSTRUCTOR SOLUTION APPENDIX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2"/>
          <p:cNvSpPr/>
          <p:nvPr/>
        </p:nvSpPr>
        <p:spPr>
          <a:xfrm>
            <a:off x="822960" y="96012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130">
                <a:solidFill>
                  <a:srgbClr val="D97706"/>
                </a:solidFill>
                <a:effectLst/>
                <a:uFillTx/>
                <a:latin typeface="Aptos"/>
              </a:rPr>
              <a:t>INSTRUCTOR APPENDIX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3"/>
          <p:cNvSpPr/>
          <p:nvPr/>
        </p:nvSpPr>
        <p:spPr>
          <a:xfrm>
            <a:off x="822960" y="1508760"/>
            <a:ext cx="77720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Homework + Quiz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Solutions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4"/>
          <p:cNvSpPr/>
          <p:nvPr/>
        </p:nvSpPr>
        <p:spPr>
          <a:xfrm>
            <a:off x="868680" y="31273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Keep these slides after the student-facing material or move them to a separate instructor deck.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5"/>
          <p:cNvSpPr/>
          <p:nvPr/>
        </p:nvSpPr>
        <p:spPr>
          <a:xfrm>
            <a:off x="8778240" y="1417320"/>
            <a:ext cx="2468520" cy="2468520"/>
          </a:xfrm>
          <a:prstGeom prst="roundRect">
            <a:avLst>
              <a:gd name="adj" fmla="val 5926"/>
            </a:avLst>
          </a:prstGeom>
          <a:solidFill>
            <a:srgbClr val="FFF4E5"/>
          </a:solidFill>
          <a:ln w="1908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6"/>
          <p:cNvSpPr/>
          <p:nvPr/>
        </p:nvSpPr>
        <p:spPr>
          <a:xfrm>
            <a:off x="91440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SOLUTIONS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7"/>
          <p:cNvSpPr/>
          <p:nvPr/>
        </p:nvSpPr>
        <p:spPr>
          <a:xfrm>
            <a:off x="9235440" y="277056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quiz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homework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1"/>
          <p:cNvSpPr>
            <a:spLocks noGrp="1"/>
          </p:cNvSpPr>
          <p:nvPr>
            <p:ph type="sldNum" idx="35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ECD6D1-2276-4188-90E7-8F348B801A18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"/>
          <p:cNvSpPr/>
          <p:nvPr/>
        </p:nvSpPr>
        <p:spPr>
          <a:xfrm>
            <a:off x="8778240" y="2833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INSTRUCTOR SOLUTION APPENDIX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QUIZ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3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Questions 1–3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4"/>
          <p:cNvSpPr/>
          <p:nvPr/>
        </p:nvSpPr>
        <p:spPr>
          <a:xfrm>
            <a:off x="822960" y="1783080"/>
            <a:ext cx="10515240" cy="868320"/>
          </a:xfrm>
          <a:prstGeom prst="roundRect">
            <a:avLst>
              <a:gd name="adj" fmla="val 12632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5"/>
          <p:cNvSpPr/>
          <p:nvPr/>
        </p:nvSpPr>
        <p:spPr>
          <a:xfrm>
            <a:off x="987480" y="1920240"/>
            <a:ext cx="1018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6"/>
          <p:cNvSpPr/>
          <p:nvPr/>
        </p:nvSpPr>
        <p:spPr>
          <a:xfrm>
            <a:off x="987480" y="2212920"/>
            <a:ext cx="101862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(16, 1, 4000). Batch = 16, one mono channel, 4000 time samples.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7"/>
          <p:cNvSpPr/>
          <p:nvPr/>
        </p:nvSpPr>
        <p:spPr>
          <a:xfrm>
            <a:off x="822960" y="2907720"/>
            <a:ext cx="10515240" cy="868320"/>
          </a:xfrm>
          <a:prstGeom prst="roundRect">
            <a:avLst>
              <a:gd name="adj" fmla="val 12632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8"/>
          <p:cNvSpPr/>
          <p:nvPr/>
        </p:nvSpPr>
        <p:spPr>
          <a:xfrm>
            <a:off x="987480" y="3044880"/>
            <a:ext cx="1018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9"/>
          <p:cNvSpPr/>
          <p:nvPr/>
        </p:nvSpPr>
        <p:spPr>
          <a:xfrm>
            <a:off x="987480" y="3337560"/>
            <a:ext cx="101862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(1, 2, 1). The length-one axes broadcast over batch and time; the middle axis aligns with channel.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0"/>
          <p:cNvSpPr/>
          <p:nvPr/>
        </p:nvSpPr>
        <p:spPr>
          <a:xfrm>
            <a:off x="822960" y="4032360"/>
            <a:ext cx="10515240" cy="1005480"/>
          </a:xfrm>
          <a:prstGeom prst="roundRect">
            <a:avLst>
              <a:gd name="adj" fmla="val 10909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1"/>
          <p:cNvSpPr/>
          <p:nvPr/>
        </p:nvSpPr>
        <p:spPr>
          <a:xfrm>
            <a:off x="987480" y="4169520"/>
            <a:ext cx="1018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2"/>
          <p:cNvSpPr/>
          <p:nvPr/>
        </p:nvSpPr>
        <p:spPr>
          <a:xfrm>
            <a:off x="987480" y="4462200"/>
            <a:ext cx="10186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False. Gradient tracking is enabled for appropriate floating/complex tensors when requires_grad=True, typically for learnable parameters.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sldNum" idx="36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B52D74-3A3C-4FD8-A2EB-5385D5035AA4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"/>
          <p:cNvSpPr/>
          <p:nvPr/>
        </p:nvSpPr>
        <p:spPr>
          <a:xfrm>
            <a:off x="8778240" y="2833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INSTRUCTOR SOLUTION APPENDIX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QUIZ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3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Questions 4–6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1" name="Image 0" descr="/mnt/data/week13_lecture25/assets/equations/quiz_chain.png"/>
          <p:cNvPicPr/>
          <p:nvPr/>
        </p:nvPicPr>
        <p:blipFill>
          <a:blip r:embed="rId3"/>
          <a:stretch/>
        </p:blipFill>
        <p:spPr>
          <a:xfrm>
            <a:off x="896040" y="1764720"/>
            <a:ext cx="4663080" cy="6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Shape 4"/>
          <p:cNvSpPr/>
          <p:nvPr/>
        </p:nvSpPr>
        <p:spPr>
          <a:xfrm>
            <a:off x="822960" y="2487240"/>
            <a:ext cx="4937400" cy="914040"/>
          </a:xfrm>
          <a:prstGeom prst="roundRect">
            <a:avLst>
              <a:gd name="adj" fmla="val 120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5"/>
          <p:cNvSpPr/>
          <p:nvPr/>
        </p:nvSpPr>
        <p:spPr>
          <a:xfrm>
            <a:off x="987480" y="2624400"/>
            <a:ext cx="460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6"/>
          <p:cNvSpPr/>
          <p:nvPr/>
        </p:nvSpPr>
        <p:spPr>
          <a:xfrm>
            <a:off x="987480" y="2917080"/>
            <a:ext cx="4608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The chain rule gives 2(3θ+1)·3. At θ = 2, the gradient is 42.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7"/>
          <p:cNvSpPr/>
          <p:nvPr/>
        </p:nvSpPr>
        <p:spPr>
          <a:xfrm>
            <a:off x="6144840" y="1783080"/>
            <a:ext cx="5074560" cy="1234080"/>
          </a:xfrm>
          <a:prstGeom prst="roundRect">
            <a:avLst>
              <a:gd name="adj" fmla="val 8889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8"/>
          <p:cNvSpPr/>
          <p:nvPr/>
        </p:nvSpPr>
        <p:spPr>
          <a:xfrm>
            <a:off x="6309360" y="192024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9"/>
          <p:cNvSpPr/>
          <p:nvPr/>
        </p:nvSpPr>
        <p:spPr>
          <a:xfrm>
            <a:off x="6309360" y="2212920"/>
            <a:ext cx="47455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Reverse mode reuses one backward traversal to compute the gradient of one scalar objective with respect to many upstream parameters efficiently.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0"/>
          <p:cNvSpPr/>
          <p:nvPr/>
        </p:nvSpPr>
        <p:spPr>
          <a:xfrm>
            <a:off x="6144840" y="3337560"/>
            <a:ext cx="5074560" cy="1234080"/>
          </a:xfrm>
          <a:prstGeom prst="roundRect">
            <a:avLst>
              <a:gd name="adj" fmla="val 8889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1"/>
          <p:cNvSpPr/>
          <p:nvPr/>
        </p:nvSpPr>
        <p:spPr>
          <a:xfrm>
            <a:off x="6309360" y="3474720"/>
            <a:ext cx="4745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A6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2"/>
          <p:cNvSpPr/>
          <p:nvPr/>
        </p:nvSpPr>
        <p:spPr>
          <a:xfrm>
            <a:off x="6309360" y="3767400"/>
            <a:ext cx="474552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Gradients accumulate across iterations. The optimizer sees old + new gradients unless they are intentionally cleared.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1"/>
          <p:cNvSpPr>
            <a:spLocks noGrp="1"/>
          </p:cNvSpPr>
          <p:nvPr>
            <p:ph type="sldNum" idx="37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3CD4D7-346F-4F63-A2CF-23257EAD32AC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"/>
          <p:cNvSpPr/>
          <p:nvPr/>
        </p:nvSpPr>
        <p:spPr>
          <a:xfrm>
            <a:off x="8778240" y="2833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INSTRUCTOR SOLUTION APPENDIX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HOMEWORK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3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Problems 1–3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4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Shapes should always be accompanied by axis meaning.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5"/>
          <p:cNvSpPr/>
          <p:nvPr/>
        </p:nvSpPr>
        <p:spPr>
          <a:xfrm>
            <a:off x="777240" y="1755720"/>
            <a:ext cx="10652400" cy="1023840"/>
          </a:xfrm>
          <a:prstGeom prst="roundRect">
            <a:avLst>
              <a:gd name="adj" fmla="val 10714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6"/>
          <p:cNvSpPr/>
          <p:nvPr/>
        </p:nvSpPr>
        <p:spPr>
          <a:xfrm>
            <a:off x="941760" y="189288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1 • Shapes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7"/>
          <p:cNvSpPr/>
          <p:nvPr/>
        </p:nvSpPr>
        <p:spPr>
          <a:xfrm>
            <a:off x="941760" y="2185560"/>
            <a:ext cx="103233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(a) (16000,), rank 1.  (b) (32,2,16000), rank 3.  (c) (257,101), rank 2, complex.  (d) often (32,1,257,101), rank 4.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8"/>
          <p:cNvSpPr/>
          <p:nvPr/>
        </p:nvSpPr>
        <p:spPr>
          <a:xfrm>
            <a:off x="777240" y="3017520"/>
            <a:ext cx="10652400" cy="914040"/>
          </a:xfrm>
          <a:prstGeom prst="roundRect">
            <a:avLst>
              <a:gd name="adj" fmla="val 120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9"/>
          <p:cNvSpPr/>
          <p:nvPr/>
        </p:nvSpPr>
        <p:spPr>
          <a:xfrm>
            <a:off x="941760" y="315468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2 • Broadcasting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0"/>
          <p:cNvSpPr/>
          <p:nvPr/>
        </p:nvSpPr>
        <p:spPr>
          <a:xfrm>
            <a:off x="941760" y="3447360"/>
            <a:ext cx="10323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Use g = torch.tensor([0.5,1.2]).view(1,2,1). Then y = x*g has shape (24,2,8000).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11"/>
          <p:cNvSpPr/>
          <p:nvPr/>
        </p:nvSpPr>
        <p:spPr>
          <a:xfrm>
            <a:off x="777240" y="4187880"/>
            <a:ext cx="10652400" cy="959760"/>
          </a:xfrm>
          <a:prstGeom prst="roundRect">
            <a:avLst>
              <a:gd name="adj" fmla="val 11429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2"/>
          <p:cNvSpPr/>
          <p:nvPr/>
        </p:nvSpPr>
        <p:spPr>
          <a:xfrm>
            <a:off x="941760" y="4325040"/>
            <a:ext cx="10323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3 • Filterbank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3"/>
          <p:cNvSpPr/>
          <p:nvPr/>
        </p:nvSpPr>
        <p:spPr>
          <a:xfrm>
            <a:off x="941760" y="4617720"/>
            <a:ext cx="103233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 = WP, so (40×257)(257×100) → 40×100. Forty band energies are produced for each of 100 time frames.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1"/>
          <p:cNvSpPr>
            <a:spLocks noGrp="1"/>
          </p:cNvSpPr>
          <p:nvPr>
            <p:ph type="sldNum" idx="38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A4913B-EB29-4603-B44C-864679BF81B8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"/>
          <p:cNvSpPr/>
          <p:nvPr/>
        </p:nvSpPr>
        <p:spPr>
          <a:xfrm>
            <a:off x="8778240" y="2833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INSTRUCTOR SOLUTION APPENDIX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HOMEWORK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3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Problems 4–5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1" name="Image 0" descr="/mnt/data/week13_lecture25/assets/equations/hw_chain.png"/>
          <p:cNvPicPr/>
          <p:nvPr/>
        </p:nvPicPr>
        <p:blipFill>
          <a:blip r:embed="rId3"/>
          <a:stretch/>
        </p:blipFill>
        <p:spPr>
          <a:xfrm>
            <a:off x="804600" y="1737360"/>
            <a:ext cx="5211720" cy="71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Shape 4"/>
          <p:cNvSpPr/>
          <p:nvPr/>
        </p:nvSpPr>
        <p:spPr>
          <a:xfrm>
            <a:off x="777240" y="2487240"/>
            <a:ext cx="5257440" cy="1325520"/>
          </a:xfrm>
          <a:prstGeom prst="roundRect">
            <a:avLst>
              <a:gd name="adj" fmla="val 8276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5"/>
          <p:cNvSpPr/>
          <p:nvPr/>
        </p:nvSpPr>
        <p:spPr>
          <a:xfrm>
            <a:off x="941760" y="2624400"/>
            <a:ext cx="4928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4 • Chain rule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6"/>
          <p:cNvSpPr/>
          <p:nvPr/>
        </p:nvSpPr>
        <p:spPr>
          <a:xfrm>
            <a:off x="941760" y="2917080"/>
            <a:ext cx="492840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At θ = 4, dL/dθ = 8(4) − 8 = 24. Autograd code should set theta.requires_grad=True, compute u and L, then call L.backward().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7"/>
          <p:cNvSpPr/>
          <p:nvPr/>
        </p:nvSpPr>
        <p:spPr>
          <a:xfrm>
            <a:off x="777240" y="4069080"/>
            <a:ext cx="5257440" cy="1416960"/>
          </a:xfrm>
          <a:prstGeom prst="roundRect">
            <a:avLst>
              <a:gd name="adj" fmla="val 6452"/>
            </a:avLst>
          </a:prstGeom>
          <a:solidFill>
            <a:srgbClr val="0B1220"/>
          </a:solidFill>
          <a:ln w="126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8"/>
          <p:cNvSpPr/>
          <p:nvPr/>
        </p:nvSpPr>
        <p:spPr>
          <a:xfrm>
            <a:off x="941760" y="41605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93C5FD"/>
                </a:solidFill>
                <a:effectLst/>
                <a:uFillTx/>
                <a:latin typeface="Aptos"/>
                <a:ea typeface="Aptos"/>
              </a:rPr>
              <a:t>Solution 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9"/>
          <p:cNvSpPr/>
          <p:nvPr/>
        </p:nvSpPr>
        <p:spPr>
          <a:xfrm>
            <a:off x="941760" y="4434840"/>
            <a:ext cx="4928400" cy="94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theta = torch.tensor(4.0, requires_grad=True)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u = 2*theta - 3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 = (u + 1)**2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L.backward()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print(theta.grad)   # 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10"/>
          <p:cNvSpPr/>
          <p:nvPr/>
        </p:nvSpPr>
        <p:spPr>
          <a:xfrm>
            <a:off x="6382440" y="1737360"/>
            <a:ext cx="4864320" cy="1828440"/>
          </a:xfrm>
          <a:prstGeom prst="roundRect">
            <a:avLst>
              <a:gd name="adj" fmla="val 60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11"/>
          <p:cNvSpPr/>
          <p:nvPr/>
        </p:nvSpPr>
        <p:spPr>
          <a:xfrm>
            <a:off x="6546960" y="1874520"/>
            <a:ext cx="4534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5 • Accumulation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2"/>
          <p:cNvSpPr/>
          <p:nvPr/>
        </p:nvSpPr>
        <p:spPr>
          <a:xfrm>
            <a:off x="6546960" y="2167200"/>
            <a:ext cx="45349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 L=x² at x=3, dL/dx=6. After the first backward: grad=6. After the second without clearing: grad=12. zero_grad() prevents unintended carry-over.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3"/>
          <p:cNvSpPr/>
          <p:nvPr/>
        </p:nvSpPr>
        <p:spPr>
          <a:xfrm>
            <a:off x="6419160" y="4005000"/>
            <a:ext cx="4736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Teaching point: accumulation is mathematically sensible when multiple graph paths contribute to the same parameter; the bug is accidental accumulation across optimization steps.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1"/>
          <p:cNvSpPr>
            <a:spLocks noGrp="1"/>
          </p:cNvSpPr>
          <p:nvPr>
            <p:ph type="sldNum" idx="39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D1C480-834D-4752-B402-3E0C712A13D9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0"/>
          <p:cNvSpPr/>
          <p:nvPr/>
        </p:nvSpPr>
        <p:spPr>
          <a:xfrm>
            <a:off x="0" y="0"/>
            <a:ext cx="12191400" cy="2282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1"/>
          <p:cNvSpPr/>
          <p:nvPr/>
        </p:nvSpPr>
        <p:spPr>
          <a:xfrm>
            <a:off x="8778240" y="2833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INSTRUCTOR SOLUTION APPENDIX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"/>
          <p:cNvSpPr/>
          <p:nvPr/>
        </p:nvSpPr>
        <p:spPr>
          <a:xfrm>
            <a:off x="621720" y="38412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119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HOMEWORK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3"/>
          <p:cNvSpPr/>
          <p:nvPr/>
        </p:nvSpPr>
        <p:spPr>
          <a:xfrm>
            <a:off x="621720" y="658440"/>
            <a:ext cx="109724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Problems 6–7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4"/>
          <p:cNvSpPr/>
          <p:nvPr/>
        </p:nvSpPr>
        <p:spPr>
          <a:xfrm>
            <a:off x="640080" y="1316880"/>
            <a:ext cx="10698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</a:rPr>
              <a:t>The FIR derivative is a useful DSP interpretation of backpropagation.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0" descr="/mnt/data/week13_lecture25/assets/equations/fir_grad.png"/>
          <p:cNvPicPr/>
          <p:nvPr/>
        </p:nvPicPr>
        <p:blipFill>
          <a:blip r:embed="rId3"/>
          <a:stretch/>
        </p:blipFill>
        <p:spPr>
          <a:xfrm>
            <a:off x="777240" y="1783080"/>
            <a:ext cx="5303160" cy="69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Shape 5"/>
          <p:cNvSpPr/>
          <p:nvPr/>
        </p:nvSpPr>
        <p:spPr>
          <a:xfrm>
            <a:off x="777240" y="2541960"/>
            <a:ext cx="5394600" cy="1508400"/>
          </a:xfrm>
          <a:prstGeom prst="roundRect">
            <a:avLst>
              <a:gd name="adj" fmla="val 7273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6"/>
          <p:cNvSpPr/>
          <p:nvPr/>
        </p:nvSpPr>
        <p:spPr>
          <a:xfrm>
            <a:off x="941760" y="2679120"/>
            <a:ext cx="506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6 • Derivation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7"/>
          <p:cNvSpPr/>
          <p:nvPr/>
        </p:nvSpPr>
        <p:spPr>
          <a:xfrm>
            <a:off x="941760" y="2971800"/>
            <a:ext cx="50655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With e[n]=ŷ[n]−y[n], dL/dh[r]=(2/N) Σn e[n]x[n−r]. The gradient correlates the current output error with the input delayed to tap r.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8"/>
          <p:cNvSpPr/>
          <p:nvPr/>
        </p:nvSpPr>
        <p:spPr>
          <a:xfrm>
            <a:off x="6446520" y="1783080"/>
            <a:ext cx="4800240" cy="1142640"/>
          </a:xfrm>
          <a:prstGeom prst="roundRect">
            <a:avLst>
              <a:gd name="adj" fmla="val 9600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9"/>
          <p:cNvSpPr/>
          <p:nvPr/>
        </p:nvSpPr>
        <p:spPr>
          <a:xfrm>
            <a:off x="6611040" y="1920240"/>
            <a:ext cx="4471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7 • no_grad()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0"/>
          <p:cNvSpPr/>
          <p:nvPr/>
        </p:nvSpPr>
        <p:spPr>
          <a:xfrm>
            <a:off x="6611040" y="2212920"/>
            <a:ext cx="44712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Context manager: do not build autograd history for operations inside the block. Example: inference or generating a fixed target.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11"/>
          <p:cNvSpPr/>
          <p:nvPr/>
        </p:nvSpPr>
        <p:spPr>
          <a:xfrm>
            <a:off x="6446520" y="3182040"/>
            <a:ext cx="4800240" cy="1234080"/>
          </a:xfrm>
          <a:prstGeom prst="roundRect">
            <a:avLst>
              <a:gd name="adj" fmla="val 8889"/>
            </a:avLst>
          </a:prstGeom>
          <a:solidFill>
            <a:srgbClr val="EAF7EE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2"/>
          <p:cNvSpPr/>
          <p:nvPr/>
        </p:nvSpPr>
        <p:spPr>
          <a:xfrm>
            <a:off x="6611040" y="3319200"/>
            <a:ext cx="4471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Aptos"/>
              </a:rPr>
              <a:t>7 • detach()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13"/>
          <p:cNvSpPr/>
          <p:nvPr/>
        </p:nvSpPr>
        <p:spPr>
          <a:xfrm>
            <a:off x="6611040" y="3611880"/>
            <a:ext cx="447120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Tensor operation: disconnect these values from the existing graph. Example: convert a prediction for plotting without backpropagating through the plotting path.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14"/>
          <p:cNvSpPr/>
          <p:nvPr/>
        </p:nvSpPr>
        <p:spPr>
          <a:xfrm>
            <a:off x="6446520" y="4681800"/>
            <a:ext cx="4800240" cy="895680"/>
          </a:xfrm>
          <a:prstGeom prst="roundRect">
            <a:avLst>
              <a:gd name="adj" fmla="val 12245"/>
            </a:avLst>
          </a:prstGeom>
          <a:solidFill>
            <a:srgbClr val="FFF4E5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5"/>
          <p:cNvSpPr/>
          <p:nvPr/>
        </p:nvSpPr>
        <p:spPr>
          <a:xfrm>
            <a:off x="6611040" y="4818960"/>
            <a:ext cx="4471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Danger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6"/>
          <p:cNvSpPr/>
          <p:nvPr/>
        </p:nvSpPr>
        <p:spPr>
          <a:xfrm>
            <a:off x="6611040" y="5111640"/>
            <a:ext cx="4471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Either can silently block gradients if inserted before an operation that the loss still needs to differentiate through.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1"/>
          <p:cNvSpPr>
            <a:spLocks noGrp="1"/>
          </p:cNvSpPr>
          <p:nvPr>
            <p:ph type="sldNum" idx="40"/>
          </p:nvPr>
        </p:nvSpPr>
        <p:spPr>
          <a:xfrm>
            <a:off x="11631240" y="65289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57B80E-D55D-4AAB-9E1A-8E5A1D7FDC9B}" type="slidenum"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3755</Words>
  <Application>Microsoft Office PowerPoint</Application>
  <PresentationFormat>Widescreen</PresentationFormat>
  <Paragraphs>571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Aptos Display</vt:lpstr>
      <vt:lpstr>Arial</vt:lpstr>
      <vt:lpstr>Consolas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Tensors and Automatic Differentiation</dc:title>
  <dc:subject>Week 13 Lecture 25: Tensors and Automatic Differentiation</dc:subject>
  <dc:creator>OpenAI</dc:creator>
  <dc:description/>
  <cp:lastModifiedBy>Peter Mathys</cp:lastModifiedBy>
  <cp:revision>1</cp:revision>
  <dcterms:created xsi:type="dcterms:W3CDTF">2026-08-24T15:31:15Z</dcterms:created>
  <dcterms:modified xsi:type="dcterms:W3CDTF">2026-08-26T17:26:46Z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36</vt:r8>
  </property>
  <property fmtid="{D5CDD505-2E9C-101B-9397-08002B2CF9AE}" pid="3" name="PresentationFormat">
    <vt:lpwstr>On-screen Show (16:9)</vt:lpwstr>
  </property>
  <property fmtid="{D5CDD505-2E9C-101B-9397-08002B2CF9AE}" pid="4" name="Slides">
    <vt:r8>36</vt:r8>
  </property>
</Properties>
</file>