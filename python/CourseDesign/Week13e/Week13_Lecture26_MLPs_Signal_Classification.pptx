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47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223D7BF-59AD-478F-B141-E0CF16CC9CF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73E0457-7CCA-4FA7-BF36-BDEA32CE9A5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6F69AB-FB07-4F42-886A-F3989D7647C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3C40970-A2E6-42C2-B0A7-B46332284F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163D163-0D31-402D-BC1F-BCB31005D56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9DA6E62-58C1-44C1-94B7-63E1CE82673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3E328F-D303-4619-91D7-EB12813A18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A6180A0-3A20-4871-8858-3F19F4E792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93DA1A-4481-4C45-8D14-61D7BF9693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436454-D3C7-49AE-A234-50502F24ED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405B9C3-1DCE-4E41-85A4-B135BF8E1D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685800" y="685800"/>
            <a:ext cx="10789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1AB65"/>
                </a:solidFill>
                <a:effectLst/>
                <a:uFillTx/>
                <a:latin typeface="Aptos"/>
              </a:rPr>
              <a:t>LECTURE 26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685800" y="1143000"/>
            <a:ext cx="1069812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MLPs for</a:t>
            </a:r>
            <a:br>
              <a:rPr sz="3600"/>
            </a:b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Signal Classification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685800" y="260604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0" u="none" strike="noStrike">
                <a:solidFill>
                  <a:srgbClr val="D3DDEB"/>
                </a:solidFill>
                <a:effectLst/>
                <a:uFillTx/>
                <a:latin typeface="Aptos"/>
              </a:rPr>
              <a:t>From engineered DSP features to a trained neural classifier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685800" y="3429000"/>
            <a:ext cx="10058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D3DDEB"/>
                </a:solidFill>
                <a:effectLst/>
                <a:uFillTx/>
                <a:latin typeface="Aptos"/>
              </a:rPr>
              <a:t>75 minutes  •  architecture → cross-entropy → Adam → training loop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685800" y="3977640"/>
            <a:ext cx="10058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D3DDEB"/>
                </a:solidFill>
                <a:effectLst/>
                <a:uFillTx/>
                <a:latin typeface="Aptos"/>
              </a:rPr>
              <a:t>Senior + first-year graduate ECE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Rounded Rectangle 6"/>
          <p:cNvSpPr/>
          <p:nvPr/>
        </p:nvSpPr>
        <p:spPr>
          <a:xfrm>
            <a:off x="822960" y="4892040"/>
            <a:ext cx="2011320" cy="731160"/>
          </a:xfrm>
          <a:prstGeom prst="roundRect">
            <a:avLst>
              <a:gd name="adj" fmla="val 16667"/>
            </a:avLst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822960" y="50108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DSP</a:t>
            </a:r>
            <a:br>
              <a:rPr sz="1600"/>
            </a:b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features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2971800" y="50292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→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9"/>
          <p:cNvSpPr/>
          <p:nvPr/>
        </p:nvSpPr>
        <p:spPr>
          <a:xfrm>
            <a:off x="3749040" y="4892040"/>
            <a:ext cx="2011320" cy="731160"/>
          </a:xfrm>
          <a:prstGeom prst="roundRect">
            <a:avLst>
              <a:gd name="adj" fmla="val 16667"/>
            </a:avLst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749040" y="50108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MLP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1"/>
          <p:cNvSpPr/>
          <p:nvPr/>
        </p:nvSpPr>
        <p:spPr>
          <a:xfrm>
            <a:off x="5897880" y="50292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→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12"/>
          <p:cNvSpPr/>
          <p:nvPr/>
        </p:nvSpPr>
        <p:spPr>
          <a:xfrm>
            <a:off x="6400800" y="4892040"/>
            <a:ext cx="2011320" cy="731160"/>
          </a:xfrm>
          <a:prstGeom prst="roundRect">
            <a:avLst>
              <a:gd name="adj" fmla="val 16667"/>
            </a:avLst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13"/>
          <p:cNvSpPr/>
          <p:nvPr/>
        </p:nvSpPr>
        <p:spPr>
          <a:xfrm>
            <a:off x="6400800" y="50108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logits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4"/>
          <p:cNvSpPr/>
          <p:nvPr/>
        </p:nvSpPr>
        <p:spPr>
          <a:xfrm>
            <a:off x="8549640" y="50292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→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15"/>
          <p:cNvSpPr/>
          <p:nvPr/>
        </p:nvSpPr>
        <p:spPr>
          <a:xfrm>
            <a:off x="8869680" y="4892040"/>
            <a:ext cx="2011320" cy="731160"/>
          </a:xfrm>
          <a:prstGeom prst="roundRect">
            <a:avLst>
              <a:gd name="adj" fmla="val 16667"/>
            </a:avLst>
          </a:prstGeom>
          <a:solidFill>
            <a:srgbClr val="3F855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6"/>
          <p:cNvSpPr/>
          <p:nvPr/>
        </p:nvSpPr>
        <p:spPr>
          <a:xfrm>
            <a:off x="8869680" y="5010840"/>
            <a:ext cx="20113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class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ROADMAP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What changes after Lecture 25?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Rounded Rectangle 5"/>
          <p:cNvSpPr/>
          <p:nvPr/>
        </p:nvSpPr>
        <p:spPr>
          <a:xfrm>
            <a:off x="594360" y="1417320"/>
            <a:ext cx="356580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Rectangle 6"/>
          <p:cNvSpPr/>
          <p:nvPr/>
        </p:nvSpPr>
        <p:spPr>
          <a:xfrm>
            <a:off x="594360" y="1417320"/>
            <a:ext cx="63720" cy="141696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7"/>
          <p:cNvSpPr/>
          <p:nvPr/>
        </p:nvSpPr>
        <p:spPr>
          <a:xfrm>
            <a:off x="758880" y="15361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0–20 min • Architecture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758880" y="1920240"/>
            <a:ext cx="32457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Assemble affine layers and ReLU into an MLP. Track tensor shapes from 8 DSP features to 3 classes.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Rounded Rectangle 9"/>
          <p:cNvSpPr/>
          <p:nvPr/>
        </p:nvSpPr>
        <p:spPr>
          <a:xfrm>
            <a:off x="4316040" y="1417320"/>
            <a:ext cx="356580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" name="Rectangle 10"/>
          <p:cNvSpPr/>
          <p:nvPr/>
        </p:nvSpPr>
        <p:spPr>
          <a:xfrm>
            <a:off x="4316040" y="1417320"/>
            <a:ext cx="63720" cy="141696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1"/>
          <p:cNvSpPr/>
          <p:nvPr/>
        </p:nvSpPr>
        <p:spPr>
          <a:xfrm>
            <a:off x="4480560" y="15361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20–45 min • Objective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4480560" y="1920240"/>
            <a:ext cx="32457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Interpret logits, softmax and cross-entropy. Connect gradients to parameter updates and Adam.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13"/>
          <p:cNvSpPr/>
          <p:nvPr/>
        </p:nvSpPr>
        <p:spPr>
          <a:xfrm>
            <a:off x="8028360" y="1417320"/>
            <a:ext cx="356580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ectangle 14"/>
          <p:cNvSpPr/>
          <p:nvPr/>
        </p:nvSpPr>
        <p:spPr>
          <a:xfrm>
            <a:off x="8028360" y="1417320"/>
            <a:ext cx="63720" cy="141696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15"/>
          <p:cNvSpPr/>
          <p:nvPr/>
        </p:nvSpPr>
        <p:spPr>
          <a:xfrm>
            <a:off x="8192880" y="153612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45–75 min • Training loop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16"/>
          <p:cNvSpPr/>
          <p:nvPr/>
        </p:nvSpPr>
        <p:spPr>
          <a:xfrm>
            <a:off x="8192880" y="1920240"/>
            <a:ext cx="32457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Walk through forward → loss → zero_grad → backward → step, then evaluate on held-out data.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17"/>
          <p:cNvSpPr/>
          <p:nvPr/>
        </p:nvSpPr>
        <p:spPr>
          <a:xfrm>
            <a:off x="685800" y="3246120"/>
            <a:ext cx="10789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Lecture 25 gave us tensors and ∇L. Lecture 26 answers: what computation do we differentiate, and how does it become a classifier?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8"/>
          <p:cNvSpPr/>
          <p:nvPr/>
        </p:nvSpPr>
        <p:spPr>
          <a:xfrm>
            <a:off x="1005840" y="416052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bridge: the inputs are still engineered features such as MFCCs, spectral flux, centroid, roll-off, ZCR and RMS.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DSP → ML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A signal becomes one feature vector per example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5"/>
          <p:cNvSpPr/>
          <p:nvPr/>
        </p:nvSpPr>
        <p:spPr>
          <a:xfrm>
            <a:off x="640080" y="1371600"/>
            <a:ext cx="51202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Example input vector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6"/>
          <p:cNvSpPr/>
          <p:nvPr/>
        </p:nvSpPr>
        <p:spPr>
          <a:xfrm>
            <a:off x="731520" y="1828800"/>
            <a:ext cx="5028840" cy="3017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7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• spectral centroid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7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• zero-crossing rate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7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• spectral roll-off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7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• RMS energy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7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• spectral flux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7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• MFCC 1–3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7"/>
          <p:cNvSpPr/>
          <p:nvPr/>
        </p:nvSpPr>
        <p:spPr>
          <a:xfrm>
            <a:off x="6126480" y="141732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One clip → 8 numbers → one class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8"/>
          <p:cNvSpPr/>
          <p:nvPr/>
        </p:nvSpPr>
        <p:spPr>
          <a:xfrm>
            <a:off x="6217920" y="214884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input shape: (8,)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9"/>
          <p:cNvSpPr/>
          <p:nvPr/>
        </p:nvSpPr>
        <p:spPr>
          <a:xfrm>
            <a:off x="6217920" y="274320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minibatch shape: (N, 8)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0"/>
          <p:cNvSpPr/>
          <p:nvPr/>
        </p:nvSpPr>
        <p:spPr>
          <a:xfrm>
            <a:off x="6217920" y="3337560"/>
            <a:ext cx="4845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output logits: (N, 3)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Rounded Rectangle 11"/>
          <p:cNvSpPr/>
          <p:nvPr/>
        </p:nvSpPr>
        <p:spPr>
          <a:xfrm>
            <a:off x="6172200" y="4069080"/>
            <a:ext cx="493740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12"/>
          <p:cNvSpPr/>
          <p:nvPr/>
        </p:nvSpPr>
        <p:spPr>
          <a:xfrm>
            <a:off x="6172200" y="4069080"/>
            <a:ext cx="63720" cy="105120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3"/>
          <p:cNvSpPr/>
          <p:nvPr/>
        </p:nvSpPr>
        <p:spPr>
          <a:xfrm>
            <a:off x="6336720" y="418788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Three signal classes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4"/>
          <p:cNvSpPr/>
          <p:nvPr/>
        </p:nvSpPr>
        <p:spPr>
          <a:xfrm>
            <a:off x="6336720" y="4572000"/>
            <a:ext cx="46173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Cymbal • Kick • Snare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MLP 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The basic building block: an affine layer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Picture 5" descr="eq_forward.png"/>
          <p:cNvPicPr/>
          <p:nvPr/>
        </p:nvPicPr>
        <p:blipFill>
          <a:blip r:embed="rId2"/>
          <a:stretch/>
        </p:blipFill>
        <p:spPr>
          <a:xfrm>
            <a:off x="1280160" y="1417320"/>
            <a:ext cx="9509400" cy="1542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Rounded Rectangle 6"/>
          <p:cNvSpPr/>
          <p:nvPr/>
        </p:nvSpPr>
        <p:spPr>
          <a:xfrm>
            <a:off x="731520" y="2468880"/>
            <a:ext cx="3291480" cy="164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7"/>
          <p:cNvSpPr/>
          <p:nvPr/>
        </p:nvSpPr>
        <p:spPr>
          <a:xfrm>
            <a:off x="731520" y="2468880"/>
            <a:ext cx="63720" cy="164556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8"/>
          <p:cNvSpPr/>
          <p:nvPr/>
        </p:nvSpPr>
        <p:spPr>
          <a:xfrm>
            <a:off x="896040" y="258768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Weights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9"/>
          <p:cNvSpPr/>
          <p:nvPr/>
        </p:nvSpPr>
        <p:spPr>
          <a:xfrm>
            <a:off x="896040" y="2971800"/>
            <a:ext cx="29714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W mixes the input features. Every hidden unit receives a learned weighted combination of the previous layer.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10"/>
          <p:cNvSpPr/>
          <p:nvPr/>
        </p:nvSpPr>
        <p:spPr>
          <a:xfrm>
            <a:off x="4434840" y="2468880"/>
            <a:ext cx="3291480" cy="164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Rectangle 11"/>
          <p:cNvSpPr/>
          <p:nvPr/>
        </p:nvSpPr>
        <p:spPr>
          <a:xfrm>
            <a:off x="4434840" y="2468880"/>
            <a:ext cx="63720" cy="164556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2"/>
          <p:cNvSpPr/>
          <p:nvPr/>
        </p:nvSpPr>
        <p:spPr>
          <a:xfrm>
            <a:off x="4599360" y="258768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Bias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4599360" y="2971800"/>
            <a:ext cx="29714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b shifts the activation threshold. It lets the affine hyperplane move away from the origin.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ounded Rectangle 14"/>
          <p:cNvSpPr/>
          <p:nvPr/>
        </p:nvSpPr>
        <p:spPr>
          <a:xfrm>
            <a:off x="8138160" y="2468880"/>
            <a:ext cx="3291480" cy="16455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15"/>
          <p:cNvSpPr/>
          <p:nvPr/>
        </p:nvSpPr>
        <p:spPr>
          <a:xfrm>
            <a:off x="8138160" y="2468880"/>
            <a:ext cx="63720" cy="164556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6"/>
          <p:cNvSpPr/>
          <p:nvPr/>
        </p:nvSpPr>
        <p:spPr>
          <a:xfrm>
            <a:off x="8302680" y="258768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Activation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7"/>
          <p:cNvSpPr/>
          <p:nvPr/>
        </p:nvSpPr>
        <p:spPr>
          <a:xfrm>
            <a:off x="8302680" y="2971800"/>
            <a:ext cx="2971440" cy="105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f(·) supplies the nonlinearity that allows stacked layers to form complex decision regions.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8"/>
          <p:cNvSpPr/>
          <p:nvPr/>
        </p:nvSpPr>
        <p:spPr>
          <a:xfrm>
            <a:off x="822960" y="4709160"/>
            <a:ext cx="106981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B04444"/>
                </a:solidFill>
                <a:effectLst/>
                <a:uFillTx/>
                <a:latin typeface="Aptos"/>
              </a:rPr>
              <a:t>If f is the identity everywhere, the network never escapes the family of affine maps.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SHAPE REASONING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Track the dimensions before touching the code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5"/>
          <p:cNvSpPr/>
          <p:nvPr/>
        </p:nvSpPr>
        <p:spPr>
          <a:xfrm>
            <a:off x="731520" y="14173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For one example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6"/>
          <p:cNvSpPr/>
          <p:nvPr/>
        </p:nvSpPr>
        <p:spPr>
          <a:xfrm>
            <a:off x="822960" y="1874520"/>
            <a:ext cx="47545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x: 8 features</a:t>
            </a:r>
            <a:br>
              <a:rPr sz="1900"/>
            </a:br>
            <a:r>
              <a:rPr lang="en-US" sz="19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W: 16 × 8</a:t>
            </a:r>
            <a:br>
              <a:rPr sz="1900"/>
            </a:br>
            <a:r>
              <a:rPr lang="en-US" sz="19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b: 16</a:t>
            </a:r>
            <a:br>
              <a:rPr sz="1900"/>
            </a:br>
            <a:r>
              <a:rPr lang="en-US" sz="19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z: 16 hidden pre-activations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7"/>
          <p:cNvSpPr/>
          <p:nvPr/>
        </p:nvSpPr>
        <p:spPr>
          <a:xfrm>
            <a:off x="6035040" y="1417320"/>
            <a:ext cx="502884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For a minibatch of N examples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Picture 8" descr="eq_batch.png"/>
          <p:cNvPicPr/>
          <p:nvPr/>
        </p:nvPicPr>
        <p:blipFill>
          <a:blip r:embed="rId2"/>
          <a:stretch/>
        </p:blipFill>
        <p:spPr>
          <a:xfrm>
            <a:off x="5852160" y="1847160"/>
            <a:ext cx="5303160" cy="86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Box 9"/>
          <p:cNvSpPr/>
          <p:nvPr/>
        </p:nvSpPr>
        <p:spPr>
          <a:xfrm>
            <a:off x="6080760" y="2651760"/>
            <a:ext cx="47545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X: N × 8</a:t>
            </a:r>
            <a:br>
              <a:rPr sz="1900"/>
            </a:br>
            <a:r>
              <a:rPr lang="en-US" sz="19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Z: N × 16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4" name="Picture 10" descr="eq_paramcount.png"/>
          <p:cNvPicPr/>
          <p:nvPr/>
        </p:nvPicPr>
        <p:blipFill>
          <a:blip r:embed="rId3"/>
          <a:stretch/>
        </p:blipFill>
        <p:spPr>
          <a:xfrm>
            <a:off x="2926080" y="3977640"/>
            <a:ext cx="6400440" cy="103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Box 11"/>
          <p:cNvSpPr/>
          <p:nvPr/>
        </p:nvSpPr>
        <p:spPr>
          <a:xfrm>
            <a:off x="1828800" y="4754880"/>
            <a:ext cx="8686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Linear(8,16) has 16·8 + 16 = 144 trainable parameters.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NONLINEARITY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ReLU keeps positive evidence and clips negative pre-activation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0" name="Picture 5" descr="eq_relu.png"/>
          <p:cNvPicPr/>
          <p:nvPr/>
        </p:nvPicPr>
        <p:blipFill>
          <a:blip r:embed="rId2"/>
          <a:stretch/>
        </p:blipFill>
        <p:spPr>
          <a:xfrm>
            <a:off x="2286000" y="1417320"/>
            <a:ext cx="7680600" cy="124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Rounded Rectangle 6"/>
          <p:cNvSpPr/>
          <p:nvPr/>
        </p:nvSpPr>
        <p:spPr>
          <a:xfrm>
            <a:off x="822960" y="2560320"/>
            <a:ext cx="329148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7"/>
          <p:cNvSpPr/>
          <p:nvPr/>
        </p:nvSpPr>
        <p:spPr>
          <a:xfrm>
            <a:off x="822960" y="2560320"/>
            <a:ext cx="63720" cy="173700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8"/>
          <p:cNvSpPr/>
          <p:nvPr/>
        </p:nvSpPr>
        <p:spPr>
          <a:xfrm>
            <a:off x="987480" y="267912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Example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9"/>
          <p:cNvSpPr/>
          <p:nvPr/>
        </p:nvSpPr>
        <p:spPr>
          <a:xfrm>
            <a:off x="987480" y="3063240"/>
            <a:ext cx="297144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z = [−2, −0.5, 0, 1.2, 4]</a:t>
            </a:r>
            <a:br>
              <a:rPr sz="1700"/>
            </a:br>
            <a:r>
              <a:rPr lang="en-US" sz="17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ReLU(z) = [0, 0, 0, 1.2, 4]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10"/>
          <p:cNvSpPr/>
          <p:nvPr/>
        </p:nvSpPr>
        <p:spPr>
          <a:xfrm>
            <a:off x="4434840" y="2560320"/>
            <a:ext cx="329148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11"/>
          <p:cNvSpPr/>
          <p:nvPr/>
        </p:nvSpPr>
        <p:spPr>
          <a:xfrm>
            <a:off x="4434840" y="2560320"/>
            <a:ext cx="63720" cy="173700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12"/>
          <p:cNvSpPr/>
          <p:nvPr/>
        </p:nvSpPr>
        <p:spPr>
          <a:xfrm>
            <a:off x="4599360" y="267912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Derivative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3"/>
          <p:cNvSpPr/>
          <p:nvPr/>
        </p:nvSpPr>
        <p:spPr>
          <a:xfrm>
            <a:off x="4599360" y="3063240"/>
            <a:ext cx="297144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For z &lt; 0 the local slope is 0; for z &gt; 0 it is 1. The point z = 0 is handled by a chosen subgradient convention.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14"/>
          <p:cNvSpPr/>
          <p:nvPr/>
        </p:nvSpPr>
        <p:spPr>
          <a:xfrm>
            <a:off x="8046720" y="2560320"/>
            <a:ext cx="329148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ectangle 15"/>
          <p:cNvSpPr/>
          <p:nvPr/>
        </p:nvSpPr>
        <p:spPr>
          <a:xfrm>
            <a:off x="8046720" y="2560320"/>
            <a:ext cx="63720" cy="173700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16"/>
          <p:cNvSpPr/>
          <p:nvPr/>
        </p:nvSpPr>
        <p:spPr>
          <a:xfrm>
            <a:off x="8211240" y="267912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Why useful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17"/>
          <p:cNvSpPr/>
          <p:nvPr/>
        </p:nvSpPr>
        <p:spPr>
          <a:xfrm>
            <a:off x="8211240" y="3063240"/>
            <a:ext cx="297144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Cheap, piecewise linear, and able to create different affine behavior in different regions of feature space.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18"/>
          <p:cNvSpPr/>
          <p:nvPr/>
        </p:nvSpPr>
        <p:spPr>
          <a:xfrm>
            <a:off x="914400" y="489204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Think “piecewise-linear decision surface,” not “mysterious biological neuron.”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CONCEPTUAL PROOF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Without a nonlinearity, depth collapses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7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7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8" name="Picture 5" descr="eq_linearcomp.png"/>
          <p:cNvPicPr/>
          <p:nvPr/>
        </p:nvPicPr>
        <p:blipFill>
          <a:blip r:embed="rId2"/>
          <a:stretch/>
        </p:blipFill>
        <p:spPr>
          <a:xfrm>
            <a:off x="822960" y="1417320"/>
            <a:ext cx="10606680" cy="172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TextBox 6"/>
          <p:cNvSpPr/>
          <p:nvPr/>
        </p:nvSpPr>
        <p:spPr>
          <a:xfrm>
            <a:off x="1097280" y="2423160"/>
            <a:ext cx="987516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Define W_eq = W₂W₁ and b_eq = W₂b₁ + b₂. Then the two-layer network is just one affine layer.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7"/>
          <p:cNvSpPr/>
          <p:nvPr/>
        </p:nvSpPr>
        <p:spPr>
          <a:xfrm>
            <a:off x="914400" y="3474720"/>
            <a:ext cx="48459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1" name="Rectangle 8"/>
          <p:cNvSpPr/>
          <p:nvPr/>
        </p:nvSpPr>
        <p:spPr>
          <a:xfrm>
            <a:off x="914400" y="3474720"/>
            <a:ext cx="63720" cy="1416960"/>
          </a:xfrm>
          <a:prstGeom prst="rect">
            <a:avLst/>
          </a:prstGeom>
          <a:solidFill>
            <a:srgbClr val="B044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9"/>
          <p:cNvSpPr/>
          <p:nvPr/>
        </p:nvSpPr>
        <p:spPr>
          <a:xfrm>
            <a:off x="1078920" y="35935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B04444"/>
                </a:solidFill>
                <a:effectLst/>
                <a:uFillTx/>
                <a:latin typeface="Aptos"/>
              </a:rPr>
              <a:t>What depth alone cannot do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0"/>
          <p:cNvSpPr/>
          <p:nvPr/>
        </p:nvSpPr>
        <p:spPr>
          <a:xfrm>
            <a:off x="1078920" y="3977640"/>
            <a:ext cx="45259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Two, ten, or one hundred linear layers still produce an affine decision boundary.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11"/>
          <p:cNvSpPr/>
          <p:nvPr/>
        </p:nvSpPr>
        <p:spPr>
          <a:xfrm>
            <a:off x="6400800" y="3474720"/>
            <a:ext cx="48459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Rectangle 12"/>
          <p:cNvSpPr/>
          <p:nvPr/>
        </p:nvSpPr>
        <p:spPr>
          <a:xfrm>
            <a:off x="6400800" y="3474720"/>
            <a:ext cx="63720" cy="1416960"/>
          </a:xfrm>
          <a:prstGeom prst="rect">
            <a:avLst/>
          </a:prstGeom>
          <a:solidFill>
            <a:srgbClr val="3F855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13"/>
          <p:cNvSpPr/>
          <p:nvPr/>
        </p:nvSpPr>
        <p:spPr>
          <a:xfrm>
            <a:off x="6565320" y="35935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F855A"/>
                </a:solidFill>
                <a:effectLst/>
                <a:uFillTx/>
                <a:latin typeface="Aptos"/>
              </a:rPr>
              <a:t>What ReLU changes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4"/>
          <p:cNvSpPr/>
          <p:nvPr/>
        </p:nvSpPr>
        <p:spPr>
          <a:xfrm>
            <a:off x="6565320" y="3977640"/>
            <a:ext cx="45259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Each activation pattern selects a different local affine map, allowing a nonlinear overall boundary.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5"/>
          <p:cNvSpPr/>
          <p:nvPr/>
        </p:nvSpPr>
        <p:spPr>
          <a:xfrm>
            <a:off x="822960" y="5257800"/>
            <a:ext cx="105152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Good answer: “The composition of affine maps is affine; ReLU breaks that collapse.”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ARCHITECTURE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A deliberately small MLP for 8 DSP features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8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Rounded Rectangle 5"/>
          <p:cNvSpPr/>
          <p:nvPr/>
        </p:nvSpPr>
        <p:spPr>
          <a:xfrm>
            <a:off x="685800" y="2011680"/>
            <a:ext cx="1554120" cy="959760"/>
          </a:xfrm>
          <a:prstGeom prst="roundRect">
            <a:avLst>
              <a:gd name="adj" fmla="val 16667"/>
            </a:avLst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6"/>
          <p:cNvSpPr/>
          <p:nvPr/>
        </p:nvSpPr>
        <p:spPr>
          <a:xfrm>
            <a:off x="685800" y="2212920"/>
            <a:ext cx="15541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8</a:t>
            </a:r>
            <a:br>
              <a:rPr sz="1500"/>
            </a:b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features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Rounded Rectangle 7"/>
          <p:cNvSpPr/>
          <p:nvPr/>
        </p:nvSpPr>
        <p:spPr>
          <a:xfrm>
            <a:off x="2514600" y="2011680"/>
            <a:ext cx="1737000" cy="959760"/>
          </a:xfrm>
          <a:prstGeom prst="roundRect">
            <a:avLst>
              <a:gd name="adj" fmla="val 16667"/>
            </a:avLst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8"/>
          <p:cNvSpPr/>
          <p:nvPr/>
        </p:nvSpPr>
        <p:spPr>
          <a:xfrm>
            <a:off x="2514600" y="221292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Linear</a:t>
            </a:r>
            <a:br>
              <a:rPr sz="1500"/>
            </a:b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8→16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9"/>
          <p:cNvSpPr/>
          <p:nvPr/>
        </p:nvSpPr>
        <p:spPr>
          <a:xfrm>
            <a:off x="4572000" y="2011680"/>
            <a:ext cx="1234080" cy="959760"/>
          </a:xfrm>
          <a:prstGeom prst="roundRect">
            <a:avLst>
              <a:gd name="adj" fmla="val 16667"/>
            </a:avLst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0"/>
          <p:cNvSpPr/>
          <p:nvPr/>
        </p:nvSpPr>
        <p:spPr>
          <a:xfrm>
            <a:off x="4572000" y="2212920"/>
            <a:ext cx="1234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ReLU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Rounded Rectangle 11"/>
          <p:cNvSpPr/>
          <p:nvPr/>
        </p:nvSpPr>
        <p:spPr>
          <a:xfrm>
            <a:off x="6080760" y="2011680"/>
            <a:ext cx="1737000" cy="959760"/>
          </a:xfrm>
          <a:prstGeom prst="roundRect">
            <a:avLst>
              <a:gd name="adj" fmla="val 16667"/>
            </a:avLst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12"/>
          <p:cNvSpPr/>
          <p:nvPr/>
        </p:nvSpPr>
        <p:spPr>
          <a:xfrm>
            <a:off x="6080760" y="221292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Linear</a:t>
            </a:r>
            <a:br>
              <a:rPr sz="1500"/>
            </a:b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16→8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ounded Rectangle 13"/>
          <p:cNvSpPr/>
          <p:nvPr/>
        </p:nvSpPr>
        <p:spPr>
          <a:xfrm>
            <a:off x="8138160" y="2011680"/>
            <a:ext cx="1234080" cy="959760"/>
          </a:xfrm>
          <a:prstGeom prst="roundRect">
            <a:avLst>
              <a:gd name="adj" fmla="val 16667"/>
            </a:avLst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14"/>
          <p:cNvSpPr/>
          <p:nvPr/>
        </p:nvSpPr>
        <p:spPr>
          <a:xfrm>
            <a:off x="8138160" y="2212920"/>
            <a:ext cx="12340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ReLU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ounded Rectangle 15"/>
          <p:cNvSpPr/>
          <p:nvPr/>
        </p:nvSpPr>
        <p:spPr>
          <a:xfrm>
            <a:off x="9646920" y="2011680"/>
            <a:ext cx="1737000" cy="959760"/>
          </a:xfrm>
          <a:prstGeom prst="roundRect">
            <a:avLst>
              <a:gd name="adj" fmla="val 16667"/>
            </a:avLst>
          </a:prstGeom>
          <a:solidFill>
            <a:srgbClr val="3F855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6"/>
          <p:cNvSpPr/>
          <p:nvPr/>
        </p:nvSpPr>
        <p:spPr>
          <a:xfrm>
            <a:off x="9646920" y="2212920"/>
            <a:ext cx="17370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Linear</a:t>
            </a:r>
            <a:br>
              <a:rPr sz="1500"/>
            </a:b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8→3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7"/>
          <p:cNvSpPr/>
          <p:nvPr/>
        </p:nvSpPr>
        <p:spPr>
          <a:xfrm>
            <a:off x="822960" y="3429000"/>
            <a:ext cx="10606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The final layer has 3 outputs because the task has 3 classes. These outputs are logits, not probabilities.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8"/>
          <p:cNvSpPr/>
          <p:nvPr/>
        </p:nvSpPr>
        <p:spPr>
          <a:xfrm>
            <a:off x="1097280" y="4206240"/>
            <a:ext cx="98751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Total trainable parameters: (8·16+16) + (16·8+8) + (8·3+3) = 307.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9"/>
          <p:cNvSpPr/>
          <p:nvPr/>
        </p:nvSpPr>
        <p:spPr>
          <a:xfrm>
            <a:off x="914400" y="5166360"/>
            <a:ext cx="10423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Small enough to inspect • nonlinear enough to illustrate the full training machinery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PYTORCH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The forward model is ordinary tensor code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Rounded Rectangle 5"/>
          <p:cNvSpPr/>
          <p:nvPr/>
        </p:nvSpPr>
        <p:spPr>
          <a:xfrm>
            <a:off x="685800" y="1417320"/>
            <a:ext cx="6537600" cy="4205880"/>
          </a:xfrm>
          <a:prstGeom prst="roundRect">
            <a:avLst>
              <a:gd name="adj" fmla="val 16667"/>
            </a:avLst>
          </a:prstGeom>
          <a:solidFill>
            <a:srgbClr val="191F2B"/>
          </a:solidFill>
          <a:ln>
            <a:solidFill>
              <a:srgbClr val="191F2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3" name="TextBox 6"/>
          <p:cNvSpPr/>
          <p:nvPr/>
        </p:nvSpPr>
        <p:spPr>
          <a:xfrm>
            <a:off x="850320" y="1527120"/>
            <a:ext cx="6208560" cy="3986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class SignalMLP(nn.Module):</a:t>
            </a:r>
            <a:br>
              <a:rPr sz="1250"/>
            </a:br>
            <a:r>
              <a:rPr lang="en-US" sz="125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def __init__(self):</a:t>
            </a:r>
            <a:br>
              <a:rPr sz="1250"/>
            </a:br>
            <a:r>
              <a:rPr lang="en-US" sz="125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    super().__init__()</a:t>
            </a:r>
            <a:br>
              <a:rPr sz="1250"/>
            </a:br>
            <a:r>
              <a:rPr lang="en-US" sz="125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    self.net = nn.Sequential(</a:t>
            </a:r>
            <a:br>
              <a:rPr sz="1250"/>
            </a:br>
            <a:r>
              <a:rPr lang="en-US" sz="125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        nn.Linear(8, 16),</a:t>
            </a:r>
            <a:br>
              <a:rPr sz="1250"/>
            </a:br>
            <a:r>
              <a:rPr lang="en-US" sz="125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        nn.ReLU(),</a:t>
            </a:r>
            <a:br>
              <a:rPr sz="1250"/>
            </a:br>
            <a:r>
              <a:rPr lang="en-US" sz="125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        nn.Linear(16, 8),</a:t>
            </a:r>
            <a:br>
              <a:rPr sz="1250"/>
            </a:br>
            <a:r>
              <a:rPr lang="en-US" sz="125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        nn.ReLU(),</a:t>
            </a:r>
            <a:br>
              <a:rPr sz="1250"/>
            </a:br>
            <a:r>
              <a:rPr lang="en-US" sz="125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        nn.Linear(8, 3),</a:t>
            </a:r>
            <a:br>
              <a:rPr sz="1250"/>
            </a:br>
            <a:r>
              <a:rPr lang="en-US" sz="125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    )</a:t>
            </a:r>
            <a:br>
              <a:rPr sz="1250"/>
            </a:br>
            <a:br>
              <a:rPr sz="1250"/>
            </a:br>
            <a:r>
              <a:rPr lang="en-US" sz="125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def forward(self, x):</a:t>
            </a:r>
            <a:br>
              <a:rPr sz="1250"/>
            </a:br>
            <a:r>
              <a:rPr lang="en-US" sz="125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    return self.net(x)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ounded Rectangle 7"/>
          <p:cNvSpPr/>
          <p:nvPr/>
        </p:nvSpPr>
        <p:spPr>
          <a:xfrm>
            <a:off x="7543800" y="1508760"/>
            <a:ext cx="384012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Rectangle 8"/>
          <p:cNvSpPr/>
          <p:nvPr/>
        </p:nvSpPr>
        <p:spPr>
          <a:xfrm>
            <a:off x="7543800" y="1508760"/>
            <a:ext cx="63720" cy="127980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9"/>
          <p:cNvSpPr/>
          <p:nvPr/>
        </p:nvSpPr>
        <p:spPr>
          <a:xfrm>
            <a:off x="7708320" y="162756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Input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0"/>
          <p:cNvSpPr/>
          <p:nvPr/>
        </p:nvSpPr>
        <p:spPr>
          <a:xfrm>
            <a:off x="7708320" y="2011680"/>
            <a:ext cx="35200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x has shape (N,8): one row per audio clip.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11"/>
          <p:cNvSpPr/>
          <p:nvPr/>
        </p:nvSpPr>
        <p:spPr>
          <a:xfrm>
            <a:off x="7543800" y="3017520"/>
            <a:ext cx="3840120" cy="1279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ectangle 12"/>
          <p:cNvSpPr/>
          <p:nvPr/>
        </p:nvSpPr>
        <p:spPr>
          <a:xfrm>
            <a:off x="7543800" y="3017520"/>
            <a:ext cx="63720" cy="127980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13"/>
          <p:cNvSpPr/>
          <p:nvPr/>
        </p:nvSpPr>
        <p:spPr>
          <a:xfrm>
            <a:off x="7708320" y="31363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Output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14"/>
          <p:cNvSpPr/>
          <p:nvPr/>
        </p:nvSpPr>
        <p:spPr>
          <a:xfrm>
            <a:off x="7708320" y="3520440"/>
            <a:ext cx="35200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logits has shape (N,3): one unconstrained score per class.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15"/>
          <p:cNvSpPr/>
          <p:nvPr/>
        </p:nvSpPr>
        <p:spPr>
          <a:xfrm>
            <a:off x="7543800" y="4526280"/>
            <a:ext cx="384012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16"/>
          <p:cNvSpPr/>
          <p:nvPr/>
        </p:nvSpPr>
        <p:spPr>
          <a:xfrm>
            <a:off x="7543800" y="4526280"/>
            <a:ext cx="63720" cy="1051200"/>
          </a:xfrm>
          <a:prstGeom prst="rect">
            <a:avLst/>
          </a:prstGeom>
          <a:solidFill>
            <a:srgbClr val="B044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17"/>
          <p:cNvSpPr/>
          <p:nvPr/>
        </p:nvSpPr>
        <p:spPr>
          <a:xfrm>
            <a:off x="7708320" y="464508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B04444"/>
                </a:solidFill>
                <a:effectLst/>
                <a:uFillTx/>
                <a:latin typeface="Aptos"/>
              </a:rPr>
              <a:t>No softmax here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18"/>
          <p:cNvSpPr/>
          <p:nvPr/>
        </p:nvSpPr>
        <p:spPr>
          <a:xfrm>
            <a:off x="7708320" y="5029200"/>
            <a:ext cx="35200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CrossEntropyLoss will handle the stable log-softmax internally.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CONCEPT CHECK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Pause &amp; predict: shape reasoning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9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10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5"/>
          <p:cNvSpPr/>
          <p:nvPr/>
        </p:nvSpPr>
        <p:spPr>
          <a:xfrm>
            <a:off x="822960" y="1417320"/>
            <a:ext cx="105152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A minibatch contains 64 clips, each represented by 8 standardized DSP features. The first layer is Linear(8,16).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ounded Rectangle 6"/>
          <p:cNvSpPr/>
          <p:nvPr/>
        </p:nvSpPr>
        <p:spPr>
          <a:xfrm>
            <a:off x="914400" y="2560320"/>
            <a:ext cx="315432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Rectangle 7"/>
          <p:cNvSpPr/>
          <p:nvPr/>
        </p:nvSpPr>
        <p:spPr>
          <a:xfrm>
            <a:off x="914400" y="2560320"/>
            <a:ext cx="63720" cy="150840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TextBox 8"/>
          <p:cNvSpPr/>
          <p:nvPr/>
        </p:nvSpPr>
        <p:spPr>
          <a:xfrm>
            <a:off x="1078920" y="2679120"/>
            <a:ext cx="2880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Question 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9"/>
          <p:cNvSpPr/>
          <p:nvPr/>
        </p:nvSpPr>
        <p:spPr>
          <a:xfrm>
            <a:off x="1078920" y="3063240"/>
            <a:ext cx="2834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What is the input tensor shape?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ounded Rectangle 10"/>
          <p:cNvSpPr/>
          <p:nvPr/>
        </p:nvSpPr>
        <p:spPr>
          <a:xfrm>
            <a:off x="4526280" y="2560320"/>
            <a:ext cx="315432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Rectangle 11"/>
          <p:cNvSpPr/>
          <p:nvPr/>
        </p:nvSpPr>
        <p:spPr>
          <a:xfrm>
            <a:off x="4526280" y="2560320"/>
            <a:ext cx="63720" cy="150840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7" name="TextBox 12"/>
          <p:cNvSpPr/>
          <p:nvPr/>
        </p:nvSpPr>
        <p:spPr>
          <a:xfrm>
            <a:off x="4690800" y="2679120"/>
            <a:ext cx="2880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Question 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Box 13"/>
          <p:cNvSpPr/>
          <p:nvPr/>
        </p:nvSpPr>
        <p:spPr>
          <a:xfrm>
            <a:off x="4690800" y="3063240"/>
            <a:ext cx="2834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What is the first weight-matrix shape?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Rounded Rectangle 14"/>
          <p:cNvSpPr/>
          <p:nvPr/>
        </p:nvSpPr>
        <p:spPr>
          <a:xfrm>
            <a:off x="8138160" y="2560320"/>
            <a:ext cx="315432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Rectangle 15"/>
          <p:cNvSpPr/>
          <p:nvPr/>
        </p:nvSpPr>
        <p:spPr>
          <a:xfrm>
            <a:off x="8138160" y="2560320"/>
            <a:ext cx="63720" cy="150840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1" name="TextBox 16"/>
          <p:cNvSpPr/>
          <p:nvPr/>
        </p:nvSpPr>
        <p:spPr>
          <a:xfrm>
            <a:off x="8302680" y="2679120"/>
            <a:ext cx="2880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Question 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17"/>
          <p:cNvSpPr/>
          <p:nvPr/>
        </p:nvSpPr>
        <p:spPr>
          <a:xfrm>
            <a:off x="8302680" y="3063240"/>
            <a:ext cx="2834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What is the hidden output shape?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8"/>
          <p:cNvSpPr/>
          <p:nvPr/>
        </p:nvSpPr>
        <p:spPr>
          <a:xfrm>
            <a:off x="914400" y="4617720"/>
            <a:ext cx="103323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F855A"/>
                </a:solidFill>
                <a:effectLst/>
                <a:uFillTx/>
                <a:latin typeface="Aptos"/>
              </a:rPr>
              <a:t>Good answers: (64,8) • PyTorch stores Linear weight as (16,8) • hidden output is (64,16)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LOSS FUNCTIONS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The network outputs logits: class scores before normalization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11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5"/>
          <p:cNvSpPr/>
          <p:nvPr/>
        </p:nvSpPr>
        <p:spPr>
          <a:xfrm>
            <a:off x="731520" y="1417320"/>
            <a:ext cx="4845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Example logits for one clip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6"/>
          <p:cNvSpPr/>
          <p:nvPr/>
        </p:nvSpPr>
        <p:spPr>
          <a:xfrm>
            <a:off x="914400" y="1965960"/>
            <a:ext cx="45716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z = [2.0, 1.0, 0.0]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7"/>
          <p:cNvSpPr/>
          <p:nvPr/>
        </p:nvSpPr>
        <p:spPr>
          <a:xfrm>
            <a:off x="731520" y="2834640"/>
            <a:ext cx="48459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A logit may be negative, positive, or large. It is not itself a probability.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8"/>
          <p:cNvSpPr/>
          <p:nvPr/>
        </p:nvSpPr>
        <p:spPr>
          <a:xfrm>
            <a:off x="5943600" y="141732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Convert to probabilities only for interpretation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2" name="Picture 9" descr="eq_softmax.png"/>
          <p:cNvPicPr/>
          <p:nvPr/>
        </p:nvPicPr>
        <p:blipFill>
          <a:blip r:embed="rId2"/>
          <a:stretch/>
        </p:blipFill>
        <p:spPr>
          <a:xfrm>
            <a:off x="5897880" y="1965960"/>
            <a:ext cx="5074560" cy="93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extBox 10"/>
          <p:cNvSpPr/>
          <p:nvPr/>
        </p:nvSpPr>
        <p:spPr>
          <a:xfrm>
            <a:off x="6126480" y="2971800"/>
            <a:ext cx="45716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Softmax preserves ranking and produces positive values that sum to 1.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Rounded Rectangle 11"/>
          <p:cNvSpPr/>
          <p:nvPr/>
        </p:nvSpPr>
        <p:spPr>
          <a:xfrm>
            <a:off x="2057400" y="4343400"/>
            <a:ext cx="8046360" cy="9597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5" name="Rectangle 12"/>
          <p:cNvSpPr/>
          <p:nvPr/>
        </p:nvSpPr>
        <p:spPr>
          <a:xfrm>
            <a:off x="2057400" y="4343400"/>
            <a:ext cx="63720" cy="959760"/>
          </a:xfrm>
          <a:prstGeom prst="rect">
            <a:avLst/>
          </a:prstGeom>
          <a:solidFill>
            <a:srgbClr val="B044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13"/>
          <p:cNvSpPr/>
          <p:nvPr/>
        </p:nvSpPr>
        <p:spPr>
          <a:xfrm>
            <a:off x="2221920" y="44622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B04444"/>
                </a:solidFill>
                <a:effectLst/>
                <a:uFillTx/>
                <a:latin typeface="Aptos"/>
              </a:rPr>
              <a:t>Key implementation rule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14"/>
          <p:cNvSpPr/>
          <p:nvPr/>
        </p:nvSpPr>
        <p:spPr>
          <a:xfrm>
            <a:off x="2221920" y="4846320"/>
            <a:ext cx="772632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Feed raw logits to nn.CrossEntropyLoss(). Apply softmax afterward only when you want probabilities.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LOSS FUNCTIONS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Cross-entropy rewards high probability on the correct class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12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2" name="Picture 5" descr="eq_ce.png"/>
          <p:cNvPicPr/>
          <p:nvPr/>
        </p:nvPicPr>
        <p:blipFill>
          <a:blip r:embed="rId2"/>
          <a:stretch/>
        </p:blipFill>
        <p:spPr>
          <a:xfrm>
            <a:off x="3886200" y="1417320"/>
            <a:ext cx="4388760" cy="71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3" name="Picture 6" descr="eq_cebatch.png"/>
          <p:cNvPicPr/>
          <p:nvPr/>
        </p:nvPicPr>
        <p:blipFill>
          <a:blip r:embed="rId3"/>
          <a:stretch/>
        </p:blipFill>
        <p:spPr>
          <a:xfrm>
            <a:off x="3200400" y="2240280"/>
            <a:ext cx="5760360" cy="96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4" name="Rounded Rectangle 7"/>
          <p:cNvSpPr/>
          <p:nvPr/>
        </p:nvSpPr>
        <p:spPr>
          <a:xfrm>
            <a:off x="822960" y="3429000"/>
            <a:ext cx="333720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5" name="Rectangle 8"/>
          <p:cNvSpPr/>
          <p:nvPr/>
        </p:nvSpPr>
        <p:spPr>
          <a:xfrm>
            <a:off x="822960" y="3429000"/>
            <a:ext cx="63720" cy="1325520"/>
          </a:xfrm>
          <a:prstGeom prst="rect">
            <a:avLst/>
          </a:prstGeom>
          <a:solidFill>
            <a:srgbClr val="3F855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9"/>
          <p:cNvSpPr/>
          <p:nvPr/>
        </p:nvSpPr>
        <p:spPr>
          <a:xfrm>
            <a:off x="987480" y="354780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F855A"/>
                </a:solidFill>
                <a:effectLst/>
                <a:uFillTx/>
                <a:latin typeface="Aptos"/>
              </a:rPr>
              <a:t>If p_y ≈ 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10"/>
          <p:cNvSpPr/>
          <p:nvPr/>
        </p:nvSpPr>
        <p:spPr>
          <a:xfrm>
            <a:off x="987480" y="393192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Loss approaches 0. The model assigned high probability to the true class.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Rounded Rectangle 11"/>
          <p:cNvSpPr/>
          <p:nvPr/>
        </p:nvSpPr>
        <p:spPr>
          <a:xfrm>
            <a:off x="4434840" y="3429000"/>
            <a:ext cx="333720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Rectangle 12"/>
          <p:cNvSpPr/>
          <p:nvPr/>
        </p:nvSpPr>
        <p:spPr>
          <a:xfrm>
            <a:off x="4434840" y="3429000"/>
            <a:ext cx="63720" cy="1325520"/>
          </a:xfrm>
          <a:prstGeom prst="rect">
            <a:avLst/>
          </a:prstGeom>
          <a:solidFill>
            <a:srgbClr val="B044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13"/>
          <p:cNvSpPr/>
          <p:nvPr/>
        </p:nvSpPr>
        <p:spPr>
          <a:xfrm>
            <a:off x="4599360" y="354780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B04444"/>
                </a:solidFill>
                <a:effectLst/>
                <a:uFillTx/>
                <a:latin typeface="Aptos"/>
              </a:rPr>
              <a:t>If p_y is small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14"/>
          <p:cNvSpPr/>
          <p:nvPr/>
        </p:nvSpPr>
        <p:spPr>
          <a:xfrm>
            <a:off x="4599360" y="393192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The negative log becomes large. Confident wrong predictions are penalized heavily.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Rounded Rectangle 15"/>
          <p:cNvSpPr/>
          <p:nvPr/>
        </p:nvSpPr>
        <p:spPr>
          <a:xfrm>
            <a:off x="8046720" y="3429000"/>
            <a:ext cx="333720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Rectangle 16"/>
          <p:cNvSpPr/>
          <p:nvPr/>
        </p:nvSpPr>
        <p:spPr>
          <a:xfrm>
            <a:off x="8046720" y="3429000"/>
            <a:ext cx="63720" cy="132552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4" name="TextBox 17"/>
          <p:cNvSpPr/>
          <p:nvPr/>
        </p:nvSpPr>
        <p:spPr>
          <a:xfrm>
            <a:off x="8211240" y="3547800"/>
            <a:ext cx="3062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Why log?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18"/>
          <p:cNvSpPr/>
          <p:nvPr/>
        </p:nvSpPr>
        <p:spPr>
          <a:xfrm>
            <a:off x="8211240" y="3931920"/>
            <a:ext cx="30171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Products of probabilities become sums of log-probabilities; gradients remain convenient and statistically meaningful.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CROSS-ENTROPY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Worked example: from logits to one loss value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13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0" name="Picture 5" descr="eq_ce_num.png"/>
          <p:cNvPicPr/>
          <p:nvPr/>
        </p:nvPicPr>
        <p:blipFill>
          <a:blip r:embed="rId2"/>
          <a:stretch/>
        </p:blipFill>
        <p:spPr>
          <a:xfrm>
            <a:off x="1097280" y="1463040"/>
            <a:ext cx="9966600" cy="135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TextBox 6"/>
          <p:cNvSpPr/>
          <p:nvPr/>
        </p:nvSpPr>
        <p:spPr>
          <a:xfrm>
            <a:off x="822960" y="251460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If class 0 is the correct label, the sample loss is about 0.408.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ounded Rectangle 7"/>
          <p:cNvSpPr/>
          <p:nvPr/>
        </p:nvSpPr>
        <p:spPr>
          <a:xfrm>
            <a:off x="914400" y="3429000"/>
            <a:ext cx="475452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3" name="Rectangle 8"/>
          <p:cNvSpPr/>
          <p:nvPr/>
        </p:nvSpPr>
        <p:spPr>
          <a:xfrm>
            <a:off x="914400" y="3429000"/>
            <a:ext cx="63720" cy="150840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4" name="TextBox 9"/>
          <p:cNvSpPr/>
          <p:nvPr/>
        </p:nvSpPr>
        <p:spPr>
          <a:xfrm>
            <a:off x="1078920" y="354780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Interpretation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0"/>
          <p:cNvSpPr/>
          <p:nvPr/>
        </p:nvSpPr>
        <p:spPr>
          <a:xfrm>
            <a:off x="1078920" y="3931920"/>
            <a:ext cx="44344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The network is leaning toward the correct class, but it is not yet extremely confident.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ounded Rectangle 11"/>
          <p:cNvSpPr/>
          <p:nvPr/>
        </p:nvSpPr>
        <p:spPr>
          <a:xfrm>
            <a:off x="6492240" y="3429000"/>
            <a:ext cx="475452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7" name="Rectangle 12"/>
          <p:cNvSpPr/>
          <p:nvPr/>
        </p:nvSpPr>
        <p:spPr>
          <a:xfrm>
            <a:off x="6492240" y="3429000"/>
            <a:ext cx="63720" cy="150840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13"/>
          <p:cNvSpPr/>
          <p:nvPr/>
        </p:nvSpPr>
        <p:spPr>
          <a:xfrm>
            <a:off x="6656760" y="354780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Good answer to “why not MSE?”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4"/>
          <p:cNvSpPr/>
          <p:nvPr/>
        </p:nvSpPr>
        <p:spPr>
          <a:xfrm>
            <a:off x="6656760" y="3931920"/>
            <a:ext cx="44344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MSE can be used, but cross-entropy matches categorical likelihood and gives especially useful gradients for softmax classifiers.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PYTORCH DETAIL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CrossEntropyLoss wants class indices, not one-hot targets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14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5"/>
          <p:cNvSpPr/>
          <p:nvPr/>
        </p:nvSpPr>
        <p:spPr>
          <a:xfrm>
            <a:off x="777240" y="141732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For three classes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6"/>
          <p:cNvSpPr/>
          <p:nvPr/>
        </p:nvSpPr>
        <p:spPr>
          <a:xfrm>
            <a:off x="914400" y="2011680"/>
            <a:ext cx="45716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Cymbal → 0</a:t>
            </a:r>
            <a:br>
              <a:rPr sz="2200"/>
            </a:br>
            <a:r>
              <a:rPr lang="en-US" sz="22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Kick → 1</a:t>
            </a:r>
            <a:br>
              <a:rPr sz="2200"/>
            </a:br>
            <a:r>
              <a:rPr lang="en-US" sz="22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Snare → 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Box 7"/>
          <p:cNvSpPr/>
          <p:nvPr/>
        </p:nvSpPr>
        <p:spPr>
          <a:xfrm>
            <a:off x="6217920" y="1417320"/>
            <a:ext cx="49374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Typical tensor shapes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8"/>
          <p:cNvSpPr/>
          <p:nvPr/>
        </p:nvSpPr>
        <p:spPr>
          <a:xfrm>
            <a:off x="6355080" y="2011680"/>
            <a:ext cx="466308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logits: (N, 3)</a:t>
            </a:r>
            <a:br>
              <a:rPr sz="2200"/>
            </a:br>
            <a:r>
              <a:rPr lang="en-US" sz="22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labels: (N,)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ounded Rectangle 9"/>
          <p:cNvSpPr/>
          <p:nvPr/>
        </p:nvSpPr>
        <p:spPr>
          <a:xfrm>
            <a:off x="2926080" y="3703320"/>
            <a:ext cx="6309000" cy="1371240"/>
          </a:xfrm>
          <a:prstGeom prst="roundRect">
            <a:avLst>
              <a:gd name="adj" fmla="val 16667"/>
            </a:avLst>
          </a:prstGeom>
          <a:solidFill>
            <a:srgbClr val="191F2B"/>
          </a:solidFill>
          <a:ln>
            <a:solidFill>
              <a:srgbClr val="191F2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9" name="TextBox 10"/>
          <p:cNvSpPr/>
          <p:nvPr/>
        </p:nvSpPr>
        <p:spPr>
          <a:xfrm>
            <a:off x="3090600" y="3813120"/>
            <a:ext cx="5979960" cy="115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criterion = nn.CrossEntropyLoss()</a:t>
            </a:r>
            <a:br>
              <a:rPr sz="1300"/>
            </a:br>
            <a:r>
              <a:rPr lang="en-US" sz="13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loss = criterion(logits, y_batch)  # y_batch dtype: torch.long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11"/>
          <p:cNvSpPr/>
          <p:nvPr/>
        </p:nvSpPr>
        <p:spPr>
          <a:xfrm>
            <a:off x="1005840" y="5349240"/>
            <a:ext cx="101494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B04444"/>
                </a:solidFill>
                <a:effectLst/>
                <a:uFillTx/>
                <a:latin typeface="Aptos"/>
              </a:rPr>
              <a:t>Common bug: applying softmax first, then passing probabilities to CrossEntropyLoss.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GRADIENT INTUITION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The loss gradient pushes the correct logit up and incorrect logits down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15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5" name="Picture 5" descr="eq_gradlogit.png"/>
          <p:cNvPicPr/>
          <p:nvPr/>
        </p:nvPicPr>
        <p:blipFill>
          <a:blip r:embed="rId2"/>
          <a:stretch/>
        </p:blipFill>
        <p:spPr>
          <a:xfrm>
            <a:off x="3200400" y="1508760"/>
            <a:ext cx="5943240" cy="96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TextBox 6"/>
          <p:cNvSpPr/>
          <p:nvPr/>
        </p:nvSpPr>
        <p:spPr>
          <a:xfrm>
            <a:off x="868680" y="2514600"/>
            <a:ext cx="104238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For the true class y, the term becomes p_y − 1. For every incorrect class, it is simply p_k.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Rounded Rectangle 7"/>
          <p:cNvSpPr/>
          <p:nvPr/>
        </p:nvSpPr>
        <p:spPr>
          <a:xfrm>
            <a:off x="1005840" y="3429000"/>
            <a:ext cx="46173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Rectangle 8"/>
          <p:cNvSpPr/>
          <p:nvPr/>
        </p:nvSpPr>
        <p:spPr>
          <a:xfrm>
            <a:off x="1005840" y="3429000"/>
            <a:ext cx="63720" cy="1416960"/>
          </a:xfrm>
          <a:prstGeom prst="rect">
            <a:avLst/>
          </a:prstGeom>
          <a:solidFill>
            <a:srgbClr val="3F855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Box 9"/>
          <p:cNvSpPr/>
          <p:nvPr/>
        </p:nvSpPr>
        <p:spPr>
          <a:xfrm>
            <a:off x="1170360" y="3547800"/>
            <a:ext cx="4343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F855A"/>
                </a:solidFill>
                <a:effectLst/>
                <a:uFillTx/>
                <a:latin typeface="Aptos"/>
              </a:rPr>
              <a:t>True class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10"/>
          <p:cNvSpPr/>
          <p:nvPr/>
        </p:nvSpPr>
        <p:spPr>
          <a:xfrm>
            <a:off x="1170360" y="3931920"/>
            <a:ext cx="4297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If p_y is too small, p_y − 1 is strongly negative. Gradient descent therefore tends to increase z_y.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Rounded Rectangle 11"/>
          <p:cNvSpPr/>
          <p:nvPr/>
        </p:nvSpPr>
        <p:spPr>
          <a:xfrm>
            <a:off x="6537960" y="3429000"/>
            <a:ext cx="461736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Rectangle 12"/>
          <p:cNvSpPr/>
          <p:nvPr/>
        </p:nvSpPr>
        <p:spPr>
          <a:xfrm>
            <a:off x="6537960" y="3429000"/>
            <a:ext cx="63720" cy="141696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3" name="TextBox 13"/>
          <p:cNvSpPr/>
          <p:nvPr/>
        </p:nvSpPr>
        <p:spPr>
          <a:xfrm>
            <a:off x="6702480" y="3547800"/>
            <a:ext cx="4343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Wrong classes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14"/>
          <p:cNvSpPr/>
          <p:nvPr/>
        </p:nvSpPr>
        <p:spPr>
          <a:xfrm>
            <a:off x="6702480" y="3931920"/>
            <a:ext cx="429732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Positive p_k values cause gradient descent to reduce competing logits.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15"/>
          <p:cNvSpPr/>
          <p:nvPr/>
        </p:nvSpPr>
        <p:spPr>
          <a:xfrm>
            <a:off x="914400" y="5257800"/>
            <a:ext cx="10332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This is the local mechanism by which a categorical error becomes weight updates throughout the network.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OPTIMIZERS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Optimization turns gradients into parameter updates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16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0" name="Picture 5" descr="eq_gd.png"/>
          <p:cNvPicPr/>
          <p:nvPr/>
        </p:nvPicPr>
        <p:blipFill>
          <a:blip r:embed="rId2"/>
          <a:stretch/>
        </p:blipFill>
        <p:spPr>
          <a:xfrm>
            <a:off x="2468880" y="1417320"/>
            <a:ext cx="7314840" cy="118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Rounded Rectangle 6"/>
          <p:cNvSpPr/>
          <p:nvPr/>
        </p:nvSpPr>
        <p:spPr>
          <a:xfrm>
            <a:off x="914400" y="2560320"/>
            <a:ext cx="315432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2" name="Rectangle 7"/>
          <p:cNvSpPr/>
          <p:nvPr/>
        </p:nvSpPr>
        <p:spPr>
          <a:xfrm>
            <a:off x="914400" y="2560320"/>
            <a:ext cx="63720" cy="150840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3" name="TextBox 8"/>
          <p:cNvSpPr/>
          <p:nvPr/>
        </p:nvSpPr>
        <p:spPr>
          <a:xfrm>
            <a:off x="1078920" y="2679120"/>
            <a:ext cx="2880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Box 9"/>
          <p:cNvSpPr/>
          <p:nvPr/>
        </p:nvSpPr>
        <p:spPr>
          <a:xfrm>
            <a:off x="1078920" y="3063240"/>
            <a:ext cx="2834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All trainable weights and biases in the network.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Rounded Rectangle 10"/>
          <p:cNvSpPr/>
          <p:nvPr/>
        </p:nvSpPr>
        <p:spPr>
          <a:xfrm>
            <a:off x="4526280" y="2560320"/>
            <a:ext cx="315432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Rectangle 11"/>
          <p:cNvSpPr/>
          <p:nvPr/>
        </p:nvSpPr>
        <p:spPr>
          <a:xfrm>
            <a:off x="4526280" y="2560320"/>
            <a:ext cx="63720" cy="150840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TextBox 12"/>
          <p:cNvSpPr/>
          <p:nvPr/>
        </p:nvSpPr>
        <p:spPr>
          <a:xfrm>
            <a:off x="4690800" y="2679120"/>
            <a:ext cx="2880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η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13"/>
          <p:cNvSpPr/>
          <p:nvPr/>
        </p:nvSpPr>
        <p:spPr>
          <a:xfrm>
            <a:off x="4690800" y="3063240"/>
            <a:ext cx="2834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Learning rate: how large a step we take.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ounded Rectangle 14"/>
          <p:cNvSpPr/>
          <p:nvPr/>
        </p:nvSpPr>
        <p:spPr>
          <a:xfrm>
            <a:off x="8138160" y="2560320"/>
            <a:ext cx="315432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Rectangle 15"/>
          <p:cNvSpPr/>
          <p:nvPr/>
        </p:nvSpPr>
        <p:spPr>
          <a:xfrm>
            <a:off x="8138160" y="2560320"/>
            <a:ext cx="63720" cy="150840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1" name="TextBox 16"/>
          <p:cNvSpPr/>
          <p:nvPr/>
        </p:nvSpPr>
        <p:spPr>
          <a:xfrm>
            <a:off x="8302680" y="2679120"/>
            <a:ext cx="2880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∇θL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17"/>
          <p:cNvSpPr/>
          <p:nvPr/>
        </p:nvSpPr>
        <p:spPr>
          <a:xfrm>
            <a:off x="8302680" y="3063240"/>
            <a:ext cx="28342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Direction of greatest local increase in loss; we move in the negative direction.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18"/>
          <p:cNvSpPr/>
          <p:nvPr/>
        </p:nvSpPr>
        <p:spPr>
          <a:xfrm>
            <a:off x="1097280" y="4663440"/>
            <a:ext cx="99666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B04444"/>
                </a:solidFill>
                <a:effectLst/>
                <a:uFillTx/>
                <a:latin typeface="Aptos"/>
              </a:rPr>
              <a:t>Too large η → unstable/overshooting. Too small η → painfully slow progress.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OPTIMIZERS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Adam adapts the update using gradient history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17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8" name="Picture 5" descr="eq_adam_m.png"/>
          <p:cNvPicPr/>
          <p:nvPr/>
        </p:nvPicPr>
        <p:blipFill>
          <a:blip r:embed="rId2"/>
          <a:stretch/>
        </p:blipFill>
        <p:spPr>
          <a:xfrm>
            <a:off x="1005840" y="1417320"/>
            <a:ext cx="5028840" cy="81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9" name="Picture 6" descr="eq_adam_v.png"/>
          <p:cNvPicPr/>
          <p:nvPr/>
        </p:nvPicPr>
        <p:blipFill>
          <a:blip r:embed="rId3"/>
          <a:stretch/>
        </p:blipFill>
        <p:spPr>
          <a:xfrm>
            <a:off x="6217920" y="1417320"/>
            <a:ext cx="5028840" cy="81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0" name="Picture 7" descr="eq_adam_up.png"/>
          <p:cNvPicPr/>
          <p:nvPr/>
        </p:nvPicPr>
        <p:blipFill>
          <a:blip r:embed="rId4"/>
          <a:stretch/>
        </p:blipFill>
        <p:spPr>
          <a:xfrm>
            <a:off x="2926080" y="2514600"/>
            <a:ext cx="6400440" cy="1037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1" name="Rounded Rectangle 8"/>
          <p:cNvSpPr/>
          <p:nvPr/>
        </p:nvSpPr>
        <p:spPr>
          <a:xfrm>
            <a:off x="822960" y="3703320"/>
            <a:ext cx="338292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Rectangle 9"/>
          <p:cNvSpPr/>
          <p:nvPr/>
        </p:nvSpPr>
        <p:spPr>
          <a:xfrm>
            <a:off x="822960" y="3703320"/>
            <a:ext cx="63720" cy="132552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TextBox 10"/>
          <p:cNvSpPr/>
          <p:nvPr/>
        </p:nvSpPr>
        <p:spPr>
          <a:xfrm>
            <a:off x="987480" y="38221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First moment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Box 11"/>
          <p:cNvSpPr/>
          <p:nvPr/>
        </p:nvSpPr>
        <p:spPr>
          <a:xfrm>
            <a:off x="987480" y="420624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m tracks an exponentially weighted average of recent gradients — momentum-like behavior.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Rounded Rectangle 12"/>
          <p:cNvSpPr/>
          <p:nvPr/>
        </p:nvSpPr>
        <p:spPr>
          <a:xfrm>
            <a:off x="4407480" y="3703320"/>
            <a:ext cx="338292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6" name="Rectangle 13"/>
          <p:cNvSpPr/>
          <p:nvPr/>
        </p:nvSpPr>
        <p:spPr>
          <a:xfrm>
            <a:off x="4407480" y="3703320"/>
            <a:ext cx="63720" cy="132552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7" name="TextBox 14"/>
          <p:cNvSpPr/>
          <p:nvPr/>
        </p:nvSpPr>
        <p:spPr>
          <a:xfrm>
            <a:off x="4572000" y="38221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Second moment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15"/>
          <p:cNvSpPr/>
          <p:nvPr/>
        </p:nvSpPr>
        <p:spPr>
          <a:xfrm>
            <a:off x="4572000" y="420624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v tracks squared-gradient scale, allowing different parameters to get different effective step sizes.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ounded Rectangle 16"/>
          <p:cNvSpPr/>
          <p:nvPr/>
        </p:nvSpPr>
        <p:spPr>
          <a:xfrm>
            <a:off x="7992000" y="3703320"/>
            <a:ext cx="338292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Rectangle 17"/>
          <p:cNvSpPr/>
          <p:nvPr/>
        </p:nvSpPr>
        <p:spPr>
          <a:xfrm>
            <a:off x="7992000" y="3703320"/>
            <a:ext cx="63720" cy="132552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1" name="TextBox 18"/>
          <p:cNvSpPr/>
          <p:nvPr/>
        </p:nvSpPr>
        <p:spPr>
          <a:xfrm>
            <a:off x="8156520" y="38221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Practical message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Box 19"/>
          <p:cNvSpPr/>
          <p:nvPr/>
        </p:nvSpPr>
        <p:spPr>
          <a:xfrm>
            <a:off x="8156520" y="4206240"/>
            <a:ext cx="306288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Adam is a strong default, not a guarantee. Learning rate and validation still matter.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PYTORCH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The optimizer owns the update rule; autograd owns the gradients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6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18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Rounded Rectangle 5"/>
          <p:cNvSpPr/>
          <p:nvPr/>
        </p:nvSpPr>
        <p:spPr>
          <a:xfrm>
            <a:off x="731520" y="1463040"/>
            <a:ext cx="5577480" cy="1828440"/>
          </a:xfrm>
          <a:prstGeom prst="roundRect">
            <a:avLst>
              <a:gd name="adj" fmla="val 16667"/>
            </a:avLst>
          </a:prstGeom>
          <a:solidFill>
            <a:srgbClr val="191F2B"/>
          </a:solidFill>
          <a:ln>
            <a:solidFill>
              <a:srgbClr val="191F2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8" name="TextBox 6"/>
          <p:cNvSpPr/>
          <p:nvPr/>
        </p:nvSpPr>
        <p:spPr>
          <a:xfrm>
            <a:off x="896040" y="1572840"/>
            <a:ext cx="5248440" cy="160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model = SignalMLP()</a:t>
            </a:r>
            <a:br>
              <a:rPr sz="1300"/>
            </a:br>
            <a:r>
              <a:rPr lang="en-US" sz="13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criterion = nn.CrossEntropyLoss()</a:t>
            </a:r>
            <a:br>
              <a:rPr sz="1300"/>
            </a:br>
            <a:r>
              <a:rPr lang="en-US" sz="13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optimizer = torch.optim.Adam(</a:t>
            </a:r>
            <a:br>
              <a:rPr sz="1300"/>
            </a:br>
            <a:r>
              <a:rPr lang="en-US" sz="13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model.parameters(), lr=0.01</a:t>
            </a:r>
            <a:br>
              <a:rPr sz="1300"/>
            </a:br>
            <a:r>
              <a:rPr lang="en-US" sz="13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Rounded Rectangle 7"/>
          <p:cNvSpPr/>
          <p:nvPr/>
        </p:nvSpPr>
        <p:spPr>
          <a:xfrm>
            <a:off x="6675120" y="1508760"/>
            <a:ext cx="45716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0" name="Rectangle 8"/>
          <p:cNvSpPr/>
          <p:nvPr/>
        </p:nvSpPr>
        <p:spPr>
          <a:xfrm>
            <a:off x="6675120" y="1508760"/>
            <a:ext cx="63720" cy="123408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1" name="TextBox 9"/>
          <p:cNvSpPr/>
          <p:nvPr/>
        </p:nvSpPr>
        <p:spPr>
          <a:xfrm>
            <a:off x="6839640" y="162756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model.parameters()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10"/>
          <p:cNvSpPr/>
          <p:nvPr/>
        </p:nvSpPr>
        <p:spPr>
          <a:xfrm>
            <a:off x="6839640" y="2011680"/>
            <a:ext cx="4251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Gives Adam the tensors it is allowed to update.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Rounded Rectangle 11"/>
          <p:cNvSpPr/>
          <p:nvPr/>
        </p:nvSpPr>
        <p:spPr>
          <a:xfrm>
            <a:off x="6675120" y="2971800"/>
            <a:ext cx="45716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Rectangle 12"/>
          <p:cNvSpPr/>
          <p:nvPr/>
        </p:nvSpPr>
        <p:spPr>
          <a:xfrm>
            <a:off x="6675120" y="2971800"/>
            <a:ext cx="63720" cy="123408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13"/>
          <p:cNvSpPr/>
          <p:nvPr/>
        </p:nvSpPr>
        <p:spPr>
          <a:xfrm>
            <a:off x="6839640" y="309060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loss.backward()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14"/>
          <p:cNvSpPr/>
          <p:nvPr/>
        </p:nvSpPr>
        <p:spPr>
          <a:xfrm>
            <a:off x="6839640" y="3474720"/>
            <a:ext cx="4251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Computes .grad values. It does not change parameters.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ounded Rectangle 15"/>
          <p:cNvSpPr/>
          <p:nvPr/>
        </p:nvSpPr>
        <p:spPr>
          <a:xfrm>
            <a:off x="6675120" y="4434840"/>
            <a:ext cx="457164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Rectangle 16"/>
          <p:cNvSpPr/>
          <p:nvPr/>
        </p:nvSpPr>
        <p:spPr>
          <a:xfrm>
            <a:off x="6675120" y="4434840"/>
            <a:ext cx="63720" cy="105120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9" name="TextBox 17"/>
          <p:cNvSpPr/>
          <p:nvPr/>
        </p:nvSpPr>
        <p:spPr>
          <a:xfrm>
            <a:off x="6839640" y="455364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optimizer.step()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Box 18"/>
          <p:cNvSpPr/>
          <p:nvPr/>
        </p:nvSpPr>
        <p:spPr>
          <a:xfrm>
            <a:off x="6839640" y="4937760"/>
            <a:ext cx="42516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Reads those gradients and applies Adam’s update rule.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TRAINING LOOP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The five-step training idiom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19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Rounded Rectangle 5"/>
          <p:cNvSpPr/>
          <p:nvPr/>
        </p:nvSpPr>
        <p:spPr>
          <a:xfrm>
            <a:off x="594360" y="1828800"/>
            <a:ext cx="199296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247E8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6" name="TextBox 6"/>
          <p:cNvSpPr/>
          <p:nvPr/>
        </p:nvSpPr>
        <p:spPr>
          <a:xfrm>
            <a:off x="640080" y="1965960"/>
            <a:ext cx="1901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Box 7"/>
          <p:cNvSpPr/>
          <p:nvPr/>
        </p:nvSpPr>
        <p:spPr>
          <a:xfrm>
            <a:off x="685800" y="2468880"/>
            <a:ext cx="1810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Forward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8"/>
          <p:cNvSpPr/>
          <p:nvPr/>
        </p:nvSpPr>
        <p:spPr>
          <a:xfrm>
            <a:off x="704160" y="3063240"/>
            <a:ext cx="17737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logits = model(xb)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Rounded Rectangle 9"/>
          <p:cNvSpPr/>
          <p:nvPr/>
        </p:nvSpPr>
        <p:spPr>
          <a:xfrm>
            <a:off x="2880360" y="1828800"/>
            <a:ext cx="199296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84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10"/>
          <p:cNvSpPr/>
          <p:nvPr/>
        </p:nvSpPr>
        <p:spPr>
          <a:xfrm>
            <a:off x="2926080" y="1965960"/>
            <a:ext cx="1901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11"/>
          <p:cNvSpPr/>
          <p:nvPr/>
        </p:nvSpPr>
        <p:spPr>
          <a:xfrm>
            <a:off x="2971800" y="2468880"/>
            <a:ext cx="1810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Loss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12"/>
          <p:cNvSpPr/>
          <p:nvPr/>
        </p:nvSpPr>
        <p:spPr>
          <a:xfrm>
            <a:off x="2990160" y="3063240"/>
            <a:ext cx="17737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loss = criterion(logits, yb)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Rounded Rectangle 13"/>
          <p:cNvSpPr/>
          <p:nvPr/>
        </p:nvSpPr>
        <p:spPr>
          <a:xfrm>
            <a:off x="5166360" y="1828800"/>
            <a:ext cx="199296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2A5B9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Box 14"/>
          <p:cNvSpPr/>
          <p:nvPr/>
        </p:nvSpPr>
        <p:spPr>
          <a:xfrm>
            <a:off x="5212080" y="1965960"/>
            <a:ext cx="1901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Box 15"/>
          <p:cNvSpPr/>
          <p:nvPr/>
        </p:nvSpPr>
        <p:spPr>
          <a:xfrm>
            <a:off x="5257800" y="2468880"/>
            <a:ext cx="1810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Clear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Box 16"/>
          <p:cNvSpPr/>
          <p:nvPr/>
        </p:nvSpPr>
        <p:spPr>
          <a:xfrm>
            <a:off x="5276160" y="3063240"/>
            <a:ext cx="17737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optimizer.zero_grad()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Rounded Rectangle 17"/>
          <p:cNvSpPr/>
          <p:nvPr/>
        </p:nvSpPr>
        <p:spPr>
          <a:xfrm>
            <a:off x="7452360" y="1828800"/>
            <a:ext cx="199296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B0444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Box 18"/>
          <p:cNvSpPr/>
          <p:nvPr/>
        </p:nvSpPr>
        <p:spPr>
          <a:xfrm>
            <a:off x="7498080" y="1965960"/>
            <a:ext cx="1901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B04444"/>
                </a:solidFill>
                <a:effectLst/>
                <a:uFillTx/>
                <a:latin typeface="Aptos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19"/>
          <p:cNvSpPr/>
          <p:nvPr/>
        </p:nvSpPr>
        <p:spPr>
          <a:xfrm>
            <a:off x="7543800" y="2468880"/>
            <a:ext cx="1810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Backward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20"/>
          <p:cNvSpPr/>
          <p:nvPr/>
        </p:nvSpPr>
        <p:spPr>
          <a:xfrm>
            <a:off x="7562160" y="3063240"/>
            <a:ext cx="17737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loss.backward()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Rounded Rectangle 21"/>
          <p:cNvSpPr/>
          <p:nvPr/>
        </p:nvSpPr>
        <p:spPr>
          <a:xfrm>
            <a:off x="9738360" y="1828800"/>
            <a:ext cx="1992960" cy="2285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3F855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TextBox 22"/>
          <p:cNvSpPr/>
          <p:nvPr/>
        </p:nvSpPr>
        <p:spPr>
          <a:xfrm>
            <a:off x="9784080" y="1965960"/>
            <a:ext cx="1901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3F855A"/>
                </a:solidFill>
                <a:effectLst/>
                <a:uFillTx/>
                <a:latin typeface="Aptos"/>
              </a:rPr>
              <a:t>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Box 23"/>
          <p:cNvSpPr/>
          <p:nvPr/>
        </p:nvSpPr>
        <p:spPr>
          <a:xfrm>
            <a:off x="9829800" y="2468880"/>
            <a:ext cx="181008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Update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24"/>
          <p:cNvSpPr/>
          <p:nvPr/>
        </p:nvSpPr>
        <p:spPr>
          <a:xfrm>
            <a:off x="9848160" y="3063240"/>
            <a:ext cx="17737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optimizer.step()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25"/>
          <p:cNvSpPr/>
          <p:nvPr/>
        </p:nvSpPr>
        <p:spPr>
          <a:xfrm>
            <a:off x="822960" y="4663440"/>
            <a:ext cx="10515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Conceptually: predict → measure error → forget stale sensitivity → compute current sensitivity → change parameters.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TRAINING LOOP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Step 1 — forward: compute class scores for the minibatch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20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Rounded Rectangle 5"/>
          <p:cNvSpPr/>
          <p:nvPr/>
        </p:nvSpPr>
        <p:spPr>
          <a:xfrm>
            <a:off x="868680" y="1463040"/>
            <a:ext cx="5028840" cy="1005480"/>
          </a:xfrm>
          <a:prstGeom prst="roundRect">
            <a:avLst>
              <a:gd name="adj" fmla="val 16667"/>
            </a:avLst>
          </a:prstGeom>
          <a:solidFill>
            <a:srgbClr val="191F2B"/>
          </a:solidFill>
          <a:ln>
            <a:solidFill>
              <a:srgbClr val="191F2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1" name="TextBox 6"/>
          <p:cNvSpPr/>
          <p:nvPr/>
        </p:nvSpPr>
        <p:spPr>
          <a:xfrm>
            <a:off x="1033200" y="1572840"/>
            <a:ext cx="4699800" cy="78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logits = model(xb)     # shape: (B, 3)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Box 7"/>
          <p:cNvSpPr/>
          <p:nvPr/>
        </p:nvSpPr>
        <p:spPr>
          <a:xfrm>
            <a:off x="6400800" y="150876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What happens?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8"/>
          <p:cNvSpPr/>
          <p:nvPr/>
        </p:nvSpPr>
        <p:spPr>
          <a:xfrm>
            <a:off x="6446520" y="2057400"/>
            <a:ext cx="4663080" cy="214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7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• matrix multiplies + biases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7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• ReLU gates hidden activations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7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• final affine layer produces 3 logits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00"/>
              </a:spcAft>
            </a:pPr>
            <a:r>
              <a:rPr lang="en-US" sz="17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• autograd records the differentiable operations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9"/>
          <p:cNvSpPr/>
          <p:nvPr/>
        </p:nvSpPr>
        <p:spPr>
          <a:xfrm>
            <a:off x="914400" y="2971800"/>
            <a:ext cx="493740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At this point no parameter has changed. We have only evaluated the current model.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10"/>
          <p:cNvSpPr/>
          <p:nvPr/>
        </p:nvSpPr>
        <p:spPr>
          <a:xfrm>
            <a:off x="914400" y="4754880"/>
            <a:ext cx="10240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Good debugging habit: assert logits.shape == (xb.shape[0], 3).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TRAINING LOOP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Step 2 — loss: turn many predictions into one scalar objective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21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Rounded Rectangle 5"/>
          <p:cNvSpPr/>
          <p:nvPr/>
        </p:nvSpPr>
        <p:spPr>
          <a:xfrm>
            <a:off x="868680" y="1463040"/>
            <a:ext cx="5303160" cy="1005480"/>
          </a:xfrm>
          <a:prstGeom prst="roundRect">
            <a:avLst>
              <a:gd name="adj" fmla="val 16667"/>
            </a:avLst>
          </a:prstGeom>
          <a:solidFill>
            <a:srgbClr val="191F2B"/>
          </a:solidFill>
          <a:ln>
            <a:solidFill>
              <a:srgbClr val="191F2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TextBox 6"/>
          <p:cNvSpPr/>
          <p:nvPr/>
        </p:nvSpPr>
        <p:spPr>
          <a:xfrm>
            <a:off x="1033200" y="1572840"/>
            <a:ext cx="4974120" cy="78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loss = criterion(logits, yb)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2" name="Picture 7" descr="eq_cebatch.png"/>
          <p:cNvPicPr/>
          <p:nvPr/>
        </p:nvPicPr>
        <p:blipFill>
          <a:blip r:embed="rId2"/>
          <a:stretch/>
        </p:blipFill>
        <p:spPr>
          <a:xfrm>
            <a:off x="6400800" y="1481400"/>
            <a:ext cx="4571640" cy="76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3" name="Rounded Rectangle 8"/>
          <p:cNvSpPr/>
          <p:nvPr/>
        </p:nvSpPr>
        <p:spPr>
          <a:xfrm>
            <a:off x="914400" y="2743200"/>
            <a:ext cx="475452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Rectangle 9"/>
          <p:cNvSpPr/>
          <p:nvPr/>
        </p:nvSpPr>
        <p:spPr>
          <a:xfrm>
            <a:off x="914400" y="2743200"/>
            <a:ext cx="63720" cy="150840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5" name="TextBox 10"/>
          <p:cNvSpPr/>
          <p:nvPr/>
        </p:nvSpPr>
        <p:spPr>
          <a:xfrm>
            <a:off x="1078920" y="286200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Why one scalar?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11"/>
          <p:cNvSpPr/>
          <p:nvPr/>
        </p:nvSpPr>
        <p:spPr>
          <a:xfrm>
            <a:off x="1078920" y="3246120"/>
            <a:ext cx="44344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Reverse-mode autodiff is especially efficient when many parameters feed one scalar objective.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Rounded Rectangle 12"/>
          <p:cNvSpPr/>
          <p:nvPr/>
        </p:nvSpPr>
        <p:spPr>
          <a:xfrm>
            <a:off x="6492240" y="2743200"/>
            <a:ext cx="475452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8" name="Rectangle 13"/>
          <p:cNvSpPr/>
          <p:nvPr/>
        </p:nvSpPr>
        <p:spPr>
          <a:xfrm>
            <a:off x="6492240" y="2743200"/>
            <a:ext cx="63720" cy="150840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9" name="TextBox 14"/>
          <p:cNvSpPr/>
          <p:nvPr/>
        </p:nvSpPr>
        <p:spPr>
          <a:xfrm>
            <a:off x="6656760" y="286200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What the scalar summarizes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15"/>
          <p:cNvSpPr/>
          <p:nvPr/>
        </p:nvSpPr>
        <p:spPr>
          <a:xfrm>
            <a:off x="6656760" y="3246120"/>
            <a:ext cx="443448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How much probability the model assigned to the correct class over the current minibatch.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16"/>
          <p:cNvSpPr/>
          <p:nvPr/>
        </p:nvSpPr>
        <p:spPr>
          <a:xfrm>
            <a:off x="914400" y="4800600"/>
            <a:ext cx="102409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B04444"/>
                </a:solidFill>
                <a:effectLst/>
                <a:uFillTx/>
                <a:latin typeface="Aptos"/>
              </a:rPr>
              <a:t>Loss is a training objective; accuracy is an evaluation metric. They are related but not interchangeable.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TRAINING LOOP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Step 3 — clear old gradients before computing new ones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5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22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Rounded Rectangle 5"/>
          <p:cNvSpPr/>
          <p:nvPr/>
        </p:nvSpPr>
        <p:spPr>
          <a:xfrm>
            <a:off x="2834640" y="1463040"/>
            <a:ext cx="6491880" cy="959760"/>
          </a:xfrm>
          <a:prstGeom prst="roundRect">
            <a:avLst>
              <a:gd name="adj" fmla="val 16667"/>
            </a:avLst>
          </a:prstGeom>
          <a:solidFill>
            <a:srgbClr val="191F2B"/>
          </a:solidFill>
          <a:ln>
            <a:solidFill>
              <a:srgbClr val="191F2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7" name="TextBox 6"/>
          <p:cNvSpPr/>
          <p:nvPr/>
        </p:nvSpPr>
        <p:spPr>
          <a:xfrm>
            <a:off x="2999160" y="1572840"/>
            <a:ext cx="6162840" cy="74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optimizer.zero_grad()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Box 7"/>
          <p:cNvSpPr/>
          <p:nvPr/>
        </p:nvSpPr>
        <p:spPr>
          <a:xfrm>
            <a:off x="1005840" y="251460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PyTorch accumulates gradients. If the previous minibatch left g_old in .grad, backward() will add g_new to it.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Rounded Rectangle 8"/>
          <p:cNvSpPr/>
          <p:nvPr/>
        </p:nvSpPr>
        <p:spPr>
          <a:xfrm>
            <a:off x="1097280" y="3520440"/>
            <a:ext cx="448020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0" name="Rectangle 9"/>
          <p:cNvSpPr/>
          <p:nvPr/>
        </p:nvSpPr>
        <p:spPr>
          <a:xfrm>
            <a:off x="1097280" y="3520440"/>
            <a:ext cx="63720" cy="137124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Box 10"/>
          <p:cNvSpPr/>
          <p:nvPr/>
        </p:nvSpPr>
        <p:spPr>
          <a:xfrm>
            <a:off x="1261800" y="363924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Intentional accumulation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Box 11"/>
          <p:cNvSpPr/>
          <p:nvPr/>
        </p:nvSpPr>
        <p:spPr>
          <a:xfrm>
            <a:off x="1261800" y="4023360"/>
            <a:ext cx="41601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Useful when you deliberately want several minibatches to simulate a larger effective batch.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Rounded Rectangle 12"/>
          <p:cNvSpPr/>
          <p:nvPr/>
        </p:nvSpPr>
        <p:spPr>
          <a:xfrm>
            <a:off x="6583680" y="3520440"/>
            <a:ext cx="448020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4" name="Rectangle 13"/>
          <p:cNvSpPr/>
          <p:nvPr/>
        </p:nvSpPr>
        <p:spPr>
          <a:xfrm>
            <a:off x="6583680" y="3520440"/>
            <a:ext cx="63720" cy="1371240"/>
          </a:xfrm>
          <a:prstGeom prst="rect">
            <a:avLst/>
          </a:prstGeom>
          <a:solidFill>
            <a:srgbClr val="B044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5" name="TextBox 14"/>
          <p:cNvSpPr/>
          <p:nvPr/>
        </p:nvSpPr>
        <p:spPr>
          <a:xfrm>
            <a:off x="6748200" y="3639240"/>
            <a:ext cx="42058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B04444"/>
                </a:solidFill>
                <a:effectLst/>
                <a:uFillTx/>
                <a:latin typeface="Aptos"/>
              </a:rPr>
              <a:t>Accidental accumulation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15"/>
          <p:cNvSpPr/>
          <p:nvPr/>
        </p:nvSpPr>
        <p:spPr>
          <a:xfrm>
            <a:off x="6748200" y="4023360"/>
            <a:ext cx="41601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A common bug: updates become larger and depend on stale minibatches.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TextBox 16"/>
          <p:cNvSpPr/>
          <p:nvPr/>
        </p:nvSpPr>
        <p:spPr>
          <a:xfrm>
            <a:off x="1828800" y="5257800"/>
            <a:ext cx="86864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Good answer: zero_grad() resets the optimizer’s parameter-gradient buffers.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TRAINING LOOP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Step 4 — backward: apply the chain rule through the entire network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1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23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Rounded Rectangle 5"/>
          <p:cNvSpPr/>
          <p:nvPr/>
        </p:nvSpPr>
        <p:spPr>
          <a:xfrm>
            <a:off x="3063240" y="1417320"/>
            <a:ext cx="6034680" cy="959760"/>
          </a:xfrm>
          <a:prstGeom prst="roundRect">
            <a:avLst>
              <a:gd name="adj" fmla="val 16667"/>
            </a:avLst>
          </a:prstGeom>
          <a:solidFill>
            <a:srgbClr val="191F2B"/>
          </a:solidFill>
          <a:ln>
            <a:solidFill>
              <a:srgbClr val="191F2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23" name="TextBox 6"/>
          <p:cNvSpPr/>
          <p:nvPr/>
        </p:nvSpPr>
        <p:spPr>
          <a:xfrm>
            <a:off x="3227760" y="1527120"/>
            <a:ext cx="5705640" cy="74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loss.backward()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7"/>
          <p:cNvSpPr/>
          <p:nvPr/>
        </p:nvSpPr>
        <p:spPr>
          <a:xfrm>
            <a:off x="914400" y="2423160"/>
            <a:ext cx="102409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The graph is traversed from the scalar loss back through the output layer, ReLU gates, hidden layers, and eventually every trainable weight and bias.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5" name="Picture 8" descr="eq_gd.png"/>
          <p:cNvPicPr/>
          <p:nvPr/>
        </p:nvPicPr>
        <p:blipFill>
          <a:blip r:embed="rId2"/>
          <a:stretch/>
        </p:blipFill>
        <p:spPr>
          <a:xfrm>
            <a:off x="2834640" y="3429000"/>
            <a:ext cx="6491880" cy="105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TextBox 9"/>
          <p:cNvSpPr/>
          <p:nvPr/>
        </p:nvSpPr>
        <p:spPr>
          <a:xfrm>
            <a:off x="960120" y="4251960"/>
            <a:ext cx="102409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B04444"/>
                </a:solidFill>
                <a:effectLst/>
                <a:uFillTx/>
                <a:latin typeface="Aptos"/>
              </a:rPr>
              <a:t>Important: backward() computes ∇θL and stores it in parameter .grad tensors. It does not perform the update.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TRAINING LOOP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Step 5 — step: let Adam change the weights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0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24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Rounded Rectangle 5"/>
          <p:cNvSpPr/>
          <p:nvPr/>
        </p:nvSpPr>
        <p:spPr>
          <a:xfrm>
            <a:off x="2880360" y="1417320"/>
            <a:ext cx="6400440" cy="959760"/>
          </a:xfrm>
          <a:prstGeom prst="roundRect">
            <a:avLst>
              <a:gd name="adj" fmla="val 16667"/>
            </a:avLst>
          </a:prstGeom>
          <a:solidFill>
            <a:srgbClr val="191F2B"/>
          </a:solidFill>
          <a:ln>
            <a:solidFill>
              <a:srgbClr val="191F2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2" name="TextBox 6"/>
          <p:cNvSpPr/>
          <p:nvPr/>
        </p:nvSpPr>
        <p:spPr>
          <a:xfrm>
            <a:off x="3044880" y="1527120"/>
            <a:ext cx="6071400" cy="74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optimizer.step()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7"/>
          <p:cNvSpPr/>
          <p:nvPr/>
        </p:nvSpPr>
        <p:spPr>
          <a:xfrm>
            <a:off x="914400" y="2423160"/>
            <a:ext cx="1028664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Adam reads the gradients now stored on the parameters, updates its moment estimates, and modifies the parameter values.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Rounded Rectangle 8"/>
          <p:cNvSpPr/>
          <p:nvPr/>
        </p:nvSpPr>
        <p:spPr>
          <a:xfrm>
            <a:off x="914400" y="3520440"/>
            <a:ext cx="475452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5" name="Rectangle 9"/>
          <p:cNvSpPr/>
          <p:nvPr/>
        </p:nvSpPr>
        <p:spPr>
          <a:xfrm>
            <a:off x="914400" y="3520440"/>
            <a:ext cx="63720" cy="137124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6" name="TextBox 10"/>
          <p:cNvSpPr/>
          <p:nvPr/>
        </p:nvSpPr>
        <p:spPr>
          <a:xfrm>
            <a:off x="1078920" y="363924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Before step()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Box 11"/>
          <p:cNvSpPr/>
          <p:nvPr/>
        </p:nvSpPr>
        <p:spPr>
          <a:xfrm>
            <a:off x="1078920" y="4023360"/>
            <a:ext cx="4434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parameters θ_t + gradients ∇θL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Rounded Rectangle 12"/>
          <p:cNvSpPr/>
          <p:nvPr/>
        </p:nvSpPr>
        <p:spPr>
          <a:xfrm>
            <a:off x="6492240" y="3520440"/>
            <a:ext cx="475452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39" name="Rectangle 13"/>
          <p:cNvSpPr/>
          <p:nvPr/>
        </p:nvSpPr>
        <p:spPr>
          <a:xfrm>
            <a:off x="6492240" y="3520440"/>
            <a:ext cx="63720" cy="1371240"/>
          </a:xfrm>
          <a:prstGeom prst="rect">
            <a:avLst/>
          </a:prstGeom>
          <a:solidFill>
            <a:srgbClr val="3F855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0" name="TextBox 14"/>
          <p:cNvSpPr/>
          <p:nvPr/>
        </p:nvSpPr>
        <p:spPr>
          <a:xfrm>
            <a:off x="6656760" y="3639240"/>
            <a:ext cx="4480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F855A"/>
                </a:solidFill>
                <a:effectLst/>
                <a:uFillTx/>
                <a:latin typeface="Aptos"/>
              </a:rPr>
              <a:t>After step()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Box 15"/>
          <p:cNvSpPr/>
          <p:nvPr/>
        </p:nvSpPr>
        <p:spPr>
          <a:xfrm>
            <a:off x="6656760" y="4023360"/>
            <a:ext cx="44344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new parameters θ_{t+1}; gradients remain until cleared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Box 16"/>
          <p:cNvSpPr/>
          <p:nvPr/>
        </p:nvSpPr>
        <p:spPr>
          <a:xfrm>
            <a:off x="914400" y="5257800"/>
            <a:ext cx="102409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A new forward pass is required to see predictions from the updated model.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IMPLEMENTATION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The complete minibatch training loop fits on a few lines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6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25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Rounded Rectangle 5"/>
          <p:cNvSpPr/>
          <p:nvPr/>
        </p:nvSpPr>
        <p:spPr>
          <a:xfrm>
            <a:off x="685800" y="1371600"/>
            <a:ext cx="6537600" cy="4388760"/>
          </a:xfrm>
          <a:prstGeom prst="roundRect">
            <a:avLst>
              <a:gd name="adj" fmla="val 16667"/>
            </a:avLst>
          </a:prstGeom>
          <a:solidFill>
            <a:srgbClr val="191F2B"/>
          </a:solidFill>
          <a:ln>
            <a:solidFill>
              <a:srgbClr val="191F2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48" name="TextBox 6"/>
          <p:cNvSpPr/>
          <p:nvPr/>
        </p:nvSpPr>
        <p:spPr>
          <a:xfrm>
            <a:off x="850320" y="1481400"/>
            <a:ext cx="6208560" cy="416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for epoch in range(num_epochs):</a:t>
            </a:r>
            <a:br>
              <a:rPr sz="1400"/>
            </a:br>
            <a:r>
              <a:rPr lang="en-US" sz="14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model.train()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for xb, yb in train_loader:</a:t>
            </a:r>
            <a:br>
              <a:rPr sz="1400"/>
            </a:br>
            <a:r>
              <a:rPr lang="en-US" sz="14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    logits = model(xb)</a:t>
            </a:r>
            <a:br>
              <a:rPr sz="1400"/>
            </a:br>
            <a:r>
              <a:rPr lang="en-US" sz="14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    loss = criterion(logits, yb)</a:t>
            </a:r>
            <a:br>
              <a:rPr sz="1400"/>
            </a:br>
            <a:br>
              <a:rPr sz="1400"/>
            </a:br>
            <a:r>
              <a:rPr lang="en-US" sz="14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    optimizer.zero_grad()</a:t>
            </a:r>
            <a:br>
              <a:rPr sz="1400"/>
            </a:br>
            <a:r>
              <a:rPr lang="en-US" sz="14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    loss.backward()</a:t>
            </a:r>
            <a:br>
              <a:rPr sz="1400"/>
            </a:br>
            <a:r>
              <a:rPr lang="en-US" sz="14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    optimizer.step()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Rounded Rectangle 7"/>
          <p:cNvSpPr/>
          <p:nvPr/>
        </p:nvSpPr>
        <p:spPr>
          <a:xfrm>
            <a:off x="7543800" y="1417320"/>
            <a:ext cx="379440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0" name="Rectangle 8"/>
          <p:cNvSpPr/>
          <p:nvPr/>
        </p:nvSpPr>
        <p:spPr>
          <a:xfrm>
            <a:off x="7543800" y="1417320"/>
            <a:ext cx="63720" cy="118836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1" name="TextBox 9"/>
          <p:cNvSpPr/>
          <p:nvPr/>
        </p:nvSpPr>
        <p:spPr>
          <a:xfrm>
            <a:off x="7708320" y="153612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What repeats?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Box 10"/>
          <p:cNvSpPr/>
          <p:nvPr/>
        </p:nvSpPr>
        <p:spPr>
          <a:xfrm>
            <a:off x="7708320" y="192024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Every minibatch gets a fresh forward graph and a fresh gradient.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Rounded Rectangle 11"/>
          <p:cNvSpPr/>
          <p:nvPr/>
        </p:nvSpPr>
        <p:spPr>
          <a:xfrm>
            <a:off x="7543800" y="2834640"/>
            <a:ext cx="379440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4" name="Rectangle 12"/>
          <p:cNvSpPr/>
          <p:nvPr/>
        </p:nvSpPr>
        <p:spPr>
          <a:xfrm>
            <a:off x="7543800" y="2834640"/>
            <a:ext cx="63720" cy="118836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5" name="TextBox 13"/>
          <p:cNvSpPr/>
          <p:nvPr/>
        </p:nvSpPr>
        <p:spPr>
          <a:xfrm>
            <a:off x="7708320" y="295344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What persists?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14"/>
          <p:cNvSpPr/>
          <p:nvPr/>
        </p:nvSpPr>
        <p:spPr>
          <a:xfrm>
            <a:off x="7708320" y="333756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The model parameters and Adam’s optimizer state persist across updates.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Rounded Rectangle 15"/>
          <p:cNvSpPr/>
          <p:nvPr/>
        </p:nvSpPr>
        <p:spPr>
          <a:xfrm>
            <a:off x="7543800" y="4251960"/>
            <a:ext cx="3794400" cy="1188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8" name="Rectangle 16"/>
          <p:cNvSpPr/>
          <p:nvPr/>
        </p:nvSpPr>
        <p:spPr>
          <a:xfrm>
            <a:off x="7543800" y="4251960"/>
            <a:ext cx="63720" cy="118836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9" name="TextBox 17"/>
          <p:cNvSpPr/>
          <p:nvPr/>
        </p:nvSpPr>
        <p:spPr>
          <a:xfrm>
            <a:off x="7708320" y="4370760"/>
            <a:ext cx="3520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What is an epoch?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18"/>
          <p:cNvSpPr/>
          <p:nvPr/>
        </p:nvSpPr>
        <p:spPr>
          <a:xfrm>
            <a:off x="7708320" y="475488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One pass through the training examples, usually in shuffled minibatches.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VALIDATION / TEST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Evaluation is not training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4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26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5" name="Rounded Rectangle 5"/>
          <p:cNvSpPr/>
          <p:nvPr/>
        </p:nvSpPr>
        <p:spPr>
          <a:xfrm>
            <a:off x="731520" y="1417320"/>
            <a:ext cx="5577480" cy="2239920"/>
          </a:xfrm>
          <a:prstGeom prst="roundRect">
            <a:avLst>
              <a:gd name="adj" fmla="val 16667"/>
            </a:avLst>
          </a:prstGeom>
          <a:solidFill>
            <a:srgbClr val="191F2B"/>
          </a:solidFill>
          <a:ln>
            <a:solidFill>
              <a:srgbClr val="191F2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6" name="TextBox 6"/>
          <p:cNvSpPr/>
          <p:nvPr/>
        </p:nvSpPr>
        <p:spPr>
          <a:xfrm>
            <a:off x="896040" y="1527120"/>
            <a:ext cx="5248440" cy="2020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model.eval()</a:t>
            </a:r>
            <a:br>
              <a:rPr sz="1300"/>
            </a:br>
            <a:r>
              <a:rPr lang="en-US" sz="13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with torch.no_grad():</a:t>
            </a:r>
            <a:br>
              <a:rPr sz="1300"/>
            </a:br>
            <a:r>
              <a:rPr lang="en-US" sz="13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logits = model(X_test)</a:t>
            </a:r>
            <a:br>
              <a:rPr sz="1300"/>
            </a:br>
            <a:r>
              <a:rPr lang="en-US" sz="13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pred = logits.argmax(dim=1)</a:t>
            </a:r>
            <a:br>
              <a:rPr sz="1300"/>
            </a:br>
            <a:r>
              <a:rPr lang="en-US" sz="13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accuracy = (pred == y_test).float().mean()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Rounded Rectangle 7"/>
          <p:cNvSpPr/>
          <p:nvPr/>
        </p:nvSpPr>
        <p:spPr>
          <a:xfrm>
            <a:off x="6629400" y="1463040"/>
            <a:ext cx="466308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8" name="Rectangle 8"/>
          <p:cNvSpPr/>
          <p:nvPr/>
        </p:nvSpPr>
        <p:spPr>
          <a:xfrm>
            <a:off x="6629400" y="1463040"/>
            <a:ext cx="63720" cy="123408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9" name="TextBox 9"/>
          <p:cNvSpPr/>
          <p:nvPr/>
        </p:nvSpPr>
        <p:spPr>
          <a:xfrm>
            <a:off x="6793920" y="15818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model.eval()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Box 10"/>
          <p:cNvSpPr/>
          <p:nvPr/>
        </p:nvSpPr>
        <p:spPr>
          <a:xfrm>
            <a:off x="6793920" y="1965960"/>
            <a:ext cx="43430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Switches layers with train/eval behavior, such as dropout or batch normalization, into evaluation mode.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Rounded Rectangle 11"/>
          <p:cNvSpPr/>
          <p:nvPr/>
        </p:nvSpPr>
        <p:spPr>
          <a:xfrm>
            <a:off x="6629400" y="2926080"/>
            <a:ext cx="466308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2" name="Rectangle 12"/>
          <p:cNvSpPr/>
          <p:nvPr/>
        </p:nvSpPr>
        <p:spPr>
          <a:xfrm>
            <a:off x="6629400" y="2926080"/>
            <a:ext cx="63720" cy="123408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3" name="TextBox 13"/>
          <p:cNvSpPr/>
          <p:nvPr/>
        </p:nvSpPr>
        <p:spPr>
          <a:xfrm>
            <a:off x="6793920" y="304488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torch.no_grad()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4" name="TextBox 14"/>
          <p:cNvSpPr/>
          <p:nvPr/>
        </p:nvSpPr>
        <p:spPr>
          <a:xfrm>
            <a:off x="6793920" y="3429000"/>
            <a:ext cx="43430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Avoids recording gradient history when we only need predictions.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Rounded Rectangle 15"/>
          <p:cNvSpPr/>
          <p:nvPr/>
        </p:nvSpPr>
        <p:spPr>
          <a:xfrm>
            <a:off x="6629400" y="4389120"/>
            <a:ext cx="4663080" cy="1051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6" name="Rectangle 16"/>
          <p:cNvSpPr/>
          <p:nvPr/>
        </p:nvSpPr>
        <p:spPr>
          <a:xfrm>
            <a:off x="6629400" y="4389120"/>
            <a:ext cx="63720" cy="1051200"/>
          </a:xfrm>
          <a:prstGeom prst="rect">
            <a:avLst/>
          </a:prstGeom>
          <a:solidFill>
            <a:srgbClr val="B044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7" name="TextBox 17"/>
          <p:cNvSpPr/>
          <p:nvPr/>
        </p:nvSpPr>
        <p:spPr>
          <a:xfrm>
            <a:off x="6793920" y="450792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B04444"/>
                </a:solidFill>
                <a:effectLst/>
                <a:uFillTx/>
                <a:latin typeface="Aptos"/>
              </a:rPr>
              <a:t>Held-out data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Box 18"/>
          <p:cNvSpPr/>
          <p:nvPr/>
        </p:nvSpPr>
        <p:spPr>
          <a:xfrm>
            <a:off x="6793920" y="4892040"/>
            <a:ext cx="43430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Do not tune repeatedly on the final test set. Use validation/CV for model choices.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DSP + ML HYGIENE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The network still depends on good experimental design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2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27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Rounded Rectangle 5"/>
          <p:cNvSpPr/>
          <p:nvPr/>
        </p:nvSpPr>
        <p:spPr>
          <a:xfrm>
            <a:off x="731520" y="1417320"/>
            <a:ext cx="338292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4" name="Rectangle 6"/>
          <p:cNvSpPr/>
          <p:nvPr/>
        </p:nvSpPr>
        <p:spPr>
          <a:xfrm>
            <a:off x="731520" y="1417320"/>
            <a:ext cx="63720" cy="141696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5" name="TextBox 7"/>
          <p:cNvSpPr/>
          <p:nvPr/>
        </p:nvSpPr>
        <p:spPr>
          <a:xfrm>
            <a:off x="896040" y="15361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Standardize features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Box 8"/>
          <p:cNvSpPr/>
          <p:nvPr/>
        </p:nvSpPr>
        <p:spPr>
          <a:xfrm>
            <a:off x="896040" y="192024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Centroid, ZCR, energy and MFCCs live on different numerical scales. Fit scaling on training data only.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Rounded Rectangle 9"/>
          <p:cNvSpPr/>
          <p:nvPr/>
        </p:nvSpPr>
        <p:spPr>
          <a:xfrm>
            <a:off x="4407480" y="1417320"/>
            <a:ext cx="338292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8" name="Rectangle 10"/>
          <p:cNvSpPr/>
          <p:nvPr/>
        </p:nvSpPr>
        <p:spPr>
          <a:xfrm>
            <a:off x="4407480" y="1417320"/>
            <a:ext cx="63720" cy="141696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9" name="TextBox 11"/>
          <p:cNvSpPr/>
          <p:nvPr/>
        </p:nvSpPr>
        <p:spPr>
          <a:xfrm>
            <a:off x="4572000" y="15361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Stratify the split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TextBox 12"/>
          <p:cNvSpPr/>
          <p:nvPr/>
        </p:nvSpPr>
        <p:spPr>
          <a:xfrm>
            <a:off x="4572000" y="192024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Preserve class proportions so train and held-out sets represent the same classification problem.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1" name="Rounded Rectangle 13"/>
          <p:cNvSpPr/>
          <p:nvPr/>
        </p:nvSpPr>
        <p:spPr>
          <a:xfrm>
            <a:off x="8083440" y="1417320"/>
            <a:ext cx="338292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2" name="Rectangle 14"/>
          <p:cNvSpPr/>
          <p:nvPr/>
        </p:nvSpPr>
        <p:spPr>
          <a:xfrm>
            <a:off x="8083440" y="1417320"/>
            <a:ext cx="63720" cy="1416960"/>
          </a:xfrm>
          <a:prstGeom prst="rect">
            <a:avLst/>
          </a:prstGeom>
          <a:solidFill>
            <a:srgbClr val="B044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3" name="TextBox 15"/>
          <p:cNvSpPr/>
          <p:nvPr/>
        </p:nvSpPr>
        <p:spPr>
          <a:xfrm>
            <a:off x="8247960" y="15361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B04444"/>
                </a:solidFill>
                <a:effectLst/>
                <a:uFillTx/>
                <a:latin typeface="Aptos"/>
              </a:rPr>
              <a:t>Beware leakage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Box 16"/>
          <p:cNvSpPr/>
          <p:nvPr/>
        </p:nvSpPr>
        <p:spPr>
          <a:xfrm>
            <a:off x="8247960" y="192024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Frames from the same original recording should not be split across train and test if that lets recording-specific artifacts leak.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Box 17"/>
          <p:cNvSpPr/>
          <p:nvPr/>
        </p:nvSpPr>
        <p:spPr>
          <a:xfrm>
            <a:off x="914400" y="3429000"/>
            <a:ext cx="1024092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A neural network does not rescue a flawed data split. It may simply learn the leakage more effectively.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Box 18"/>
          <p:cNvSpPr/>
          <p:nvPr/>
        </p:nvSpPr>
        <p:spPr>
          <a:xfrm>
            <a:off x="914400" y="4434840"/>
            <a:ext cx="1024092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question to keep asking: which variability belongs to the class, and which belongs to microphone, room, gain, performer, or session?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IN-CLASS RESULT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Demo: training loss falls as the MLP learns the synthetic classes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9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0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28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1" name="Picture 5" descr="training_loss.png"/>
          <p:cNvPicPr/>
          <p:nvPr/>
        </p:nvPicPr>
        <p:blipFill>
          <a:blip r:embed="rId2"/>
          <a:stretch/>
        </p:blipFill>
        <p:spPr>
          <a:xfrm>
            <a:off x="914400" y="1325880"/>
            <a:ext cx="6766200" cy="405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2" name="Rounded Rectangle 6"/>
          <p:cNvSpPr/>
          <p:nvPr/>
        </p:nvSpPr>
        <p:spPr>
          <a:xfrm>
            <a:off x="7955280" y="1600200"/>
            <a:ext cx="338292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3" name="Rectangle 7"/>
          <p:cNvSpPr/>
          <p:nvPr/>
        </p:nvSpPr>
        <p:spPr>
          <a:xfrm>
            <a:off x="7955280" y="1600200"/>
            <a:ext cx="63720" cy="141696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4" name="TextBox 8"/>
          <p:cNvSpPr/>
          <p:nvPr/>
        </p:nvSpPr>
        <p:spPr>
          <a:xfrm>
            <a:off x="8119800" y="17190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What to notice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Box 9"/>
          <p:cNvSpPr/>
          <p:nvPr/>
        </p:nvSpPr>
        <p:spPr>
          <a:xfrm>
            <a:off x="8119800" y="210312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Large early improvement, then diminishing returns as the network fits the easy synthetic structure.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Rounded Rectangle 10"/>
          <p:cNvSpPr/>
          <p:nvPr/>
        </p:nvSpPr>
        <p:spPr>
          <a:xfrm>
            <a:off x="7955280" y="3337560"/>
            <a:ext cx="338292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7" name="Rectangle 11"/>
          <p:cNvSpPr/>
          <p:nvPr/>
        </p:nvSpPr>
        <p:spPr>
          <a:xfrm>
            <a:off x="7955280" y="3337560"/>
            <a:ext cx="63720" cy="1416960"/>
          </a:xfrm>
          <a:prstGeom prst="rect">
            <a:avLst/>
          </a:prstGeom>
          <a:solidFill>
            <a:srgbClr val="B044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8" name="TextBox 12"/>
          <p:cNvSpPr/>
          <p:nvPr/>
        </p:nvSpPr>
        <p:spPr>
          <a:xfrm>
            <a:off x="8119800" y="345636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B04444"/>
                </a:solidFill>
                <a:effectLst/>
                <a:uFillTx/>
                <a:latin typeface="Aptos"/>
              </a:rPr>
              <a:t>Do not overclaim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Box 13"/>
          <p:cNvSpPr/>
          <p:nvPr/>
        </p:nvSpPr>
        <p:spPr>
          <a:xfrm>
            <a:off x="8119800" y="384048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Low training loss alone does not prove generalization. We still need held-out evaluation.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IN-CLASS RESULT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Demo: compare training and held-out accuracy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3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29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4" name="Picture 5" descr="training_accuracy.png"/>
          <p:cNvPicPr/>
          <p:nvPr/>
        </p:nvPicPr>
        <p:blipFill>
          <a:blip r:embed="rId2"/>
          <a:stretch/>
        </p:blipFill>
        <p:spPr>
          <a:xfrm>
            <a:off x="868680" y="1325880"/>
            <a:ext cx="6811920" cy="4087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5" name="Rounded Rectangle 6"/>
          <p:cNvSpPr/>
          <p:nvPr/>
        </p:nvSpPr>
        <p:spPr>
          <a:xfrm>
            <a:off x="7909560" y="150876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6" name="Rectangle 7"/>
          <p:cNvSpPr/>
          <p:nvPr/>
        </p:nvSpPr>
        <p:spPr>
          <a:xfrm>
            <a:off x="7909560" y="1508760"/>
            <a:ext cx="63720" cy="141696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7" name="TextBox 8"/>
          <p:cNvSpPr/>
          <p:nvPr/>
        </p:nvSpPr>
        <p:spPr>
          <a:xfrm>
            <a:off x="8074080" y="162756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Teaching dataset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Box 9"/>
          <p:cNvSpPr/>
          <p:nvPr/>
        </p:nvSpPr>
        <p:spPr>
          <a:xfrm>
            <a:off x="8074080" y="201168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The synthetic Week 12 features are intentionally well separated, so accuracy can approach 100%.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Rounded Rectangle 10"/>
          <p:cNvSpPr/>
          <p:nvPr/>
        </p:nvSpPr>
        <p:spPr>
          <a:xfrm>
            <a:off x="7909560" y="3291840"/>
            <a:ext cx="3428640" cy="1416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0" name="Rectangle 11"/>
          <p:cNvSpPr/>
          <p:nvPr/>
        </p:nvSpPr>
        <p:spPr>
          <a:xfrm>
            <a:off x="7909560" y="3291840"/>
            <a:ext cx="63720" cy="141696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1" name="TextBox 12"/>
          <p:cNvSpPr/>
          <p:nvPr/>
        </p:nvSpPr>
        <p:spPr>
          <a:xfrm>
            <a:off x="8074080" y="3410640"/>
            <a:ext cx="3154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Real audio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Box 13"/>
          <p:cNvSpPr/>
          <p:nvPr/>
        </p:nvSpPr>
        <p:spPr>
          <a:xfrm>
            <a:off x="8074080" y="379476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Expect overlap, domain shift and recording artifacts. Validation curves become more informative.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EVALUATION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Confusion matrix: which signal classes get confused?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6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30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7" name="Picture 5" descr="confusion_matrix.png"/>
          <p:cNvPicPr/>
          <p:nvPr/>
        </p:nvPicPr>
        <p:blipFill>
          <a:blip r:embed="rId2"/>
          <a:stretch/>
        </p:blipFill>
        <p:spPr>
          <a:xfrm>
            <a:off x="914400" y="1325880"/>
            <a:ext cx="6126120" cy="5331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8" name="Rounded Rectangle 6"/>
          <p:cNvSpPr/>
          <p:nvPr/>
        </p:nvSpPr>
        <p:spPr>
          <a:xfrm>
            <a:off x="7360920" y="1508760"/>
            <a:ext cx="384012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29" name="Rectangle 7"/>
          <p:cNvSpPr/>
          <p:nvPr/>
        </p:nvSpPr>
        <p:spPr>
          <a:xfrm>
            <a:off x="7360920" y="1508760"/>
            <a:ext cx="63720" cy="1371240"/>
          </a:xfrm>
          <a:prstGeom prst="rect">
            <a:avLst/>
          </a:prstGeom>
          <a:solidFill>
            <a:srgbClr val="3F855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0" name="TextBox 8"/>
          <p:cNvSpPr/>
          <p:nvPr/>
        </p:nvSpPr>
        <p:spPr>
          <a:xfrm>
            <a:off x="7525440" y="162756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F855A"/>
                </a:solidFill>
                <a:effectLst/>
                <a:uFillTx/>
                <a:latin typeface="Aptos"/>
              </a:rPr>
              <a:t>Diagonal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Box 9"/>
          <p:cNvSpPr/>
          <p:nvPr/>
        </p:nvSpPr>
        <p:spPr>
          <a:xfrm>
            <a:off x="7525440" y="2011680"/>
            <a:ext cx="35200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Correct classifications. A strong diagonal is what we want.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Rounded Rectangle 10"/>
          <p:cNvSpPr/>
          <p:nvPr/>
        </p:nvSpPr>
        <p:spPr>
          <a:xfrm>
            <a:off x="7360920" y="3154680"/>
            <a:ext cx="3840120" cy="13712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3" name="Rectangle 11"/>
          <p:cNvSpPr/>
          <p:nvPr/>
        </p:nvSpPr>
        <p:spPr>
          <a:xfrm>
            <a:off x="7360920" y="3154680"/>
            <a:ext cx="63720" cy="137124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4" name="TextBox 12"/>
          <p:cNvSpPr/>
          <p:nvPr/>
        </p:nvSpPr>
        <p:spPr>
          <a:xfrm>
            <a:off x="7525440" y="327348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Off-diagonal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Box 13"/>
          <p:cNvSpPr/>
          <p:nvPr/>
        </p:nvSpPr>
        <p:spPr>
          <a:xfrm>
            <a:off x="7525440" y="3657600"/>
            <a:ext cx="35200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Specific confusions tell us more than one accuracy number. Ask which physical features overlap.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TextBox 14"/>
          <p:cNvSpPr/>
          <p:nvPr/>
        </p:nvSpPr>
        <p:spPr>
          <a:xfrm>
            <a:off x="7452360" y="4892040"/>
            <a:ext cx="36572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In this synthetic example the classes are almost perfectly separable.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CONCEPT CHECK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Pause &amp; diagnose the training loop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0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31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Rounded Rectangle 5"/>
          <p:cNvSpPr/>
          <p:nvPr/>
        </p:nvSpPr>
        <p:spPr>
          <a:xfrm>
            <a:off x="777240" y="1325880"/>
            <a:ext cx="5257440" cy="2925720"/>
          </a:xfrm>
          <a:prstGeom prst="roundRect">
            <a:avLst>
              <a:gd name="adj" fmla="val 16667"/>
            </a:avLst>
          </a:prstGeom>
          <a:solidFill>
            <a:srgbClr val="191F2B"/>
          </a:solidFill>
          <a:ln>
            <a:solidFill>
              <a:srgbClr val="191F2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2" name="TextBox 6"/>
          <p:cNvSpPr/>
          <p:nvPr/>
        </p:nvSpPr>
        <p:spPr>
          <a:xfrm>
            <a:off x="941760" y="1435680"/>
            <a:ext cx="4928400" cy="270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for xb, yb in loader:</a:t>
            </a:r>
            <a:br>
              <a:rPr sz="1400"/>
            </a:br>
            <a:r>
              <a:rPr lang="en-US" sz="14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logits = model(xb)</a:t>
            </a:r>
            <a:br>
              <a:rPr sz="1400"/>
            </a:br>
            <a:r>
              <a:rPr lang="en-US" sz="14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loss = criterion(logits, yb)</a:t>
            </a:r>
            <a:br>
              <a:rPr sz="1400"/>
            </a:br>
            <a:r>
              <a:rPr lang="en-US" sz="14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loss.backward()</a:t>
            </a:r>
            <a:br>
              <a:rPr sz="1400"/>
            </a:br>
            <a:r>
              <a:rPr lang="en-US" sz="1400" b="0" u="none" strike="noStrike">
                <a:solidFill>
                  <a:srgbClr val="EBEFF5"/>
                </a:solidFill>
                <a:effectLst/>
                <a:uFillTx/>
                <a:latin typeface="Cascadia Mono"/>
              </a:rPr>
              <a:t>    optimizer.step()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Rounded Rectangle 7"/>
          <p:cNvSpPr/>
          <p:nvPr/>
        </p:nvSpPr>
        <p:spPr>
          <a:xfrm>
            <a:off x="6446520" y="1417320"/>
            <a:ext cx="466308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4" name="Rectangle 8"/>
          <p:cNvSpPr/>
          <p:nvPr/>
        </p:nvSpPr>
        <p:spPr>
          <a:xfrm>
            <a:off x="6446520" y="1417320"/>
            <a:ext cx="63720" cy="1325520"/>
          </a:xfrm>
          <a:prstGeom prst="rect">
            <a:avLst/>
          </a:prstGeom>
          <a:solidFill>
            <a:srgbClr val="B0444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5" name="TextBox 9"/>
          <p:cNvSpPr/>
          <p:nvPr/>
        </p:nvSpPr>
        <p:spPr>
          <a:xfrm>
            <a:off x="6611040" y="153612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B04444"/>
                </a:solidFill>
                <a:effectLst/>
                <a:uFillTx/>
                <a:latin typeface="Aptos"/>
              </a:rPr>
              <a:t>What is missing?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10"/>
          <p:cNvSpPr/>
          <p:nvPr/>
        </p:nvSpPr>
        <p:spPr>
          <a:xfrm>
            <a:off x="6611040" y="1920240"/>
            <a:ext cx="43430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optimizer.zero_grad()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Rounded Rectangle 11"/>
          <p:cNvSpPr/>
          <p:nvPr/>
        </p:nvSpPr>
        <p:spPr>
          <a:xfrm>
            <a:off x="6446520" y="3063240"/>
            <a:ext cx="4663080" cy="13255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8" name="Rectangle 12"/>
          <p:cNvSpPr/>
          <p:nvPr/>
        </p:nvSpPr>
        <p:spPr>
          <a:xfrm>
            <a:off x="6446520" y="3063240"/>
            <a:ext cx="63720" cy="132552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9" name="TextBox 13"/>
          <p:cNvSpPr/>
          <p:nvPr/>
        </p:nvSpPr>
        <p:spPr>
          <a:xfrm>
            <a:off x="6611040" y="3182040"/>
            <a:ext cx="4388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What happens?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Box 14"/>
          <p:cNvSpPr/>
          <p:nvPr/>
        </p:nvSpPr>
        <p:spPr>
          <a:xfrm>
            <a:off x="6611040" y="3566160"/>
            <a:ext cx="43430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Gradients from old minibatches accumulate into the current parameter gradients.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Box 15"/>
          <p:cNvSpPr/>
          <p:nvPr/>
        </p:nvSpPr>
        <p:spPr>
          <a:xfrm>
            <a:off x="914400" y="4754880"/>
            <a:ext cx="10240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Strong answer: “The code may still run, but the update no longer represents the gradient of just the current minibatch.”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WRAP-UP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Lecture 26 synthesis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5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32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Rounded Rectangle 5"/>
          <p:cNvSpPr/>
          <p:nvPr/>
        </p:nvSpPr>
        <p:spPr>
          <a:xfrm>
            <a:off x="685800" y="1325880"/>
            <a:ext cx="255996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7" name="Rectangle 6"/>
          <p:cNvSpPr/>
          <p:nvPr/>
        </p:nvSpPr>
        <p:spPr>
          <a:xfrm>
            <a:off x="685800" y="1325880"/>
            <a:ext cx="63720" cy="150840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8" name="TextBox 7"/>
          <p:cNvSpPr/>
          <p:nvPr/>
        </p:nvSpPr>
        <p:spPr>
          <a:xfrm>
            <a:off x="850320" y="14446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Architecture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Box 8"/>
          <p:cNvSpPr/>
          <p:nvPr/>
        </p:nvSpPr>
        <p:spPr>
          <a:xfrm>
            <a:off x="850320" y="182880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Affine layers + nonlinear activations turn DSP feature vectors into flexible decision functions.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Rounded Rectangle 9"/>
          <p:cNvSpPr/>
          <p:nvPr/>
        </p:nvSpPr>
        <p:spPr>
          <a:xfrm>
            <a:off x="3429000" y="1325880"/>
            <a:ext cx="255996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1" name="Rectangle 10"/>
          <p:cNvSpPr/>
          <p:nvPr/>
        </p:nvSpPr>
        <p:spPr>
          <a:xfrm>
            <a:off x="3429000" y="1325880"/>
            <a:ext cx="63720" cy="150840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2" name="TextBox 11"/>
          <p:cNvSpPr/>
          <p:nvPr/>
        </p:nvSpPr>
        <p:spPr>
          <a:xfrm>
            <a:off x="3593520" y="14446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Loss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Box 12"/>
          <p:cNvSpPr/>
          <p:nvPr/>
        </p:nvSpPr>
        <p:spPr>
          <a:xfrm>
            <a:off x="3593520" y="182880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Cross-entropy converts class predictions into a scalar learning objective.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Rounded Rectangle 13"/>
          <p:cNvSpPr/>
          <p:nvPr/>
        </p:nvSpPr>
        <p:spPr>
          <a:xfrm>
            <a:off x="6172200" y="1325880"/>
            <a:ext cx="255996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5" name="Rectangle 14"/>
          <p:cNvSpPr/>
          <p:nvPr/>
        </p:nvSpPr>
        <p:spPr>
          <a:xfrm>
            <a:off x="6172200" y="1325880"/>
            <a:ext cx="63720" cy="150840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6" name="TextBox 15"/>
          <p:cNvSpPr/>
          <p:nvPr/>
        </p:nvSpPr>
        <p:spPr>
          <a:xfrm>
            <a:off x="6336720" y="14446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Autograd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Box 16"/>
          <p:cNvSpPr/>
          <p:nvPr/>
        </p:nvSpPr>
        <p:spPr>
          <a:xfrm>
            <a:off x="6336720" y="182880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backward() computes gradients through the computation assembled in the forward pass.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Rounded Rectangle 17"/>
          <p:cNvSpPr/>
          <p:nvPr/>
        </p:nvSpPr>
        <p:spPr>
          <a:xfrm>
            <a:off x="8915400" y="1325880"/>
            <a:ext cx="2559960" cy="1508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9" name="Rectangle 18"/>
          <p:cNvSpPr/>
          <p:nvPr/>
        </p:nvSpPr>
        <p:spPr>
          <a:xfrm>
            <a:off x="8915400" y="1325880"/>
            <a:ext cx="63720" cy="1508400"/>
          </a:xfrm>
          <a:prstGeom prst="rect">
            <a:avLst/>
          </a:prstGeom>
          <a:solidFill>
            <a:srgbClr val="3F855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0" name="TextBox 19"/>
          <p:cNvSpPr/>
          <p:nvPr/>
        </p:nvSpPr>
        <p:spPr>
          <a:xfrm>
            <a:off x="9079920" y="14446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F855A"/>
                </a:solidFill>
                <a:effectLst/>
                <a:uFillTx/>
                <a:latin typeface="Aptos"/>
              </a:rPr>
              <a:t>Optimizer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Box 20"/>
          <p:cNvSpPr/>
          <p:nvPr/>
        </p:nvSpPr>
        <p:spPr>
          <a:xfrm>
            <a:off x="9079920" y="182880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Adam converts those gradients into parameter updates.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TextBox 21"/>
          <p:cNvSpPr/>
          <p:nvPr/>
        </p:nvSpPr>
        <p:spPr>
          <a:xfrm>
            <a:off x="914400" y="3474720"/>
            <a:ext cx="1024092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DSP features → standardize → minibatch → MLP → logits → cross-entropy → gradients → Adam → repeat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Box 22"/>
          <p:cNvSpPr/>
          <p:nvPr/>
        </p:nvSpPr>
        <p:spPr>
          <a:xfrm>
            <a:off x="914400" y="4526280"/>
            <a:ext cx="102409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Minute paper: What is the conceptual difference between loss.backward() and optimizer.step()?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STUDENT VERSION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Homework — Problems 1–3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7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33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Rounded Rectangle 5"/>
          <p:cNvSpPr/>
          <p:nvPr/>
        </p:nvSpPr>
        <p:spPr>
          <a:xfrm>
            <a:off x="640080" y="1325880"/>
            <a:ext cx="3565800" cy="342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9" name="Rectangle 6"/>
          <p:cNvSpPr/>
          <p:nvPr/>
        </p:nvSpPr>
        <p:spPr>
          <a:xfrm>
            <a:off x="640080" y="1325880"/>
            <a:ext cx="63720" cy="342864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0" name="TextBox 7"/>
          <p:cNvSpPr/>
          <p:nvPr/>
        </p:nvSpPr>
        <p:spPr>
          <a:xfrm>
            <a:off x="804600" y="14446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1 • Shapes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Box 8"/>
          <p:cNvSpPr/>
          <p:nvPr/>
        </p:nvSpPr>
        <p:spPr>
          <a:xfrm>
            <a:off x="804600" y="1828800"/>
            <a:ext cx="3245760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A minibatch has 64 examples with 8 DSP features. First hidden layer has 16 neurons. Give input shape, first weight/bias shapes, and hidden output shape.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Rounded Rectangle 9"/>
          <p:cNvSpPr/>
          <p:nvPr/>
        </p:nvSpPr>
        <p:spPr>
          <a:xfrm>
            <a:off x="4316040" y="1325880"/>
            <a:ext cx="3565800" cy="342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3" name="Rectangle 10"/>
          <p:cNvSpPr/>
          <p:nvPr/>
        </p:nvSpPr>
        <p:spPr>
          <a:xfrm>
            <a:off x="4316040" y="1325880"/>
            <a:ext cx="63720" cy="342864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4" name="TextBox 11"/>
          <p:cNvSpPr/>
          <p:nvPr/>
        </p:nvSpPr>
        <p:spPr>
          <a:xfrm>
            <a:off x="4480560" y="14446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2 • Why ReLU?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Box 12"/>
          <p:cNvSpPr/>
          <p:nvPr/>
        </p:nvSpPr>
        <p:spPr>
          <a:xfrm>
            <a:off x="4480560" y="1828800"/>
            <a:ext cx="3245760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Show algebraically that two affine layers with no nonlinear activation are equivalent to one affine layer. Explain the consequence for decision boundaries.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Rounded Rectangle 13"/>
          <p:cNvSpPr/>
          <p:nvPr/>
        </p:nvSpPr>
        <p:spPr>
          <a:xfrm>
            <a:off x="7992000" y="1325880"/>
            <a:ext cx="3565800" cy="342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7" name="Rectangle 14"/>
          <p:cNvSpPr/>
          <p:nvPr/>
        </p:nvSpPr>
        <p:spPr>
          <a:xfrm>
            <a:off x="7992000" y="1325880"/>
            <a:ext cx="63720" cy="342864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8" name="TextBox 15"/>
          <p:cNvSpPr/>
          <p:nvPr/>
        </p:nvSpPr>
        <p:spPr>
          <a:xfrm>
            <a:off x="8156520" y="1444680"/>
            <a:ext cx="32914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3 • ReLU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Box 16"/>
          <p:cNvSpPr/>
          <p:nvPr/>
        </p:nvSpPr>
        <p:spPr>
          <a:xfrm>
            <a:off x="8156520" y="1828800"/>
            <a:ext cx="3245760" cy="283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For z = [−2, −0.5, 0, 1.2, 4]^T, compute ReLU(z) and state its derivative for z&lt;0 and z&gt;0.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STUDENT VERSION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Homework — Problems 4–7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3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34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Rounded Rectangle 5"/>
          <p:cNvSpPr/>
          <p:nvPr/>
        </p:nvSpPr>
        <p:spPr>
          <a:xfrm>
            <a:off x="640080" y="1325880"/>
            <a:ext cx="2651400" cy="3520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5" name="Rectangle 6"/>
          <p:cNvSpPr/>
          <p:nvPr/>
        </p:nvSpPr>
        <p:spPr>
          <a:xfrm>
            <a:off x="640080" y="1325880"/>
            <a:ext cx="63720" cy="352008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6" name="TextBox 7"/>
          <p:cNvSpPr/>
          <p:nvPr/>
        </p:nvSpPr>
        <p:spPr>
          <a:xfrm>
            <a:off x="804600" y="144468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4 • Cross-entropy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Box 8"/>
          <p:cNvSpPr/>
          <p:nvPr/>
        </p:nvSpPr>
        <p:spPr>
          <a:xfrm>
            <a:off x="804600" y="1828800"/>
            <a:ext cx="233136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Logits z=[2,1,0], true class 0. Compute the softmax probability of class 0 and the sample cross-entropy.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Rounded Rectangle 9"/>
          <p:cNvSpPr/>
          <p:nvPr/>
        </p:nvSpPr>
        <p:spPr>
          <a:xfrm>
            <a:off x="3429000" y="1325880"/>
            <a:ext cx="2651400" cy="3520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9" name="Rectangle 10"/>
          <p:cNvSpPr/>
          <p:nvPr/>
        </p:nvSpPr>
        <p:spPr>
          <a:xfrm>
            <a:off x="3429000" y="1325880"/>
            <a:ext cx="63720" cy="352008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0" name="TextBox 11"/>
          <p:cNvSpPr/>
          <p:nvPr/>
        </p:nvSpPr>
        <p:spPr>
          <a:xfrm>
            <a:off x="3593520" y="144468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5 • Update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Box 12"/>
          <p:cNvSpPr/>
          <p:nvPr/>
        </p:nvSpPr>
        <p:spPr>
          <a:xfrm>
            <a:off x="3593520" y="1828800"/>
            <a:ext cx="233136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Given θ=1.5, η=0.02 and ∂L/∂θ=4, compute one gradient-descent update.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Rounded Rectangle 13"/>
          <p:cNvSpPr/>
          <p:nvPr/>
        </p:nvSpPr>
        <p:spPr>
          <a:xfrm>
            <a:off x="6217920" y="1325880"/>
            <a:ext cx="2651400" cy="3520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3" name="Rectangle 14"/>
          <p:cNvSpPr/>
          <p:nvPr/>
        </p:nvSpPr>
        <p:spPr>
          <a:xfrm>
            <a:off x="6217920" y="1325880"/>
            <a:ext cx="63720" cy="352008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4" name="TextBox 15"/>
          <p:cNvSpPr/>
          <p:nvPr/>
        </p:nvSpPr>
        <p:spPr>
          <a:xfrm>
            <a:off x="6382440" y="1444680"/>
            <a:ext cx="23770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6 • Training loop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Box 16"/>
          <p:cNvSpPr/>
          <p:nvPr/>
        </p:nvSpPr>
        <p:spPr>
          <a:xfrm>
            <a:off x="6382440" y="1828800"/>
            <a:ext cx="233136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Explain the purpose and order of the five PyTorch steps. What fails if zero_grad() is omitted?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Rounded Rectangle 17"/>
          <p:cNvSpPr/>
          <p:nvPr/>
        </p:nvSpPr>
        <p:spPr>
          <a:xfrm>
            <a:off x="9006840" y="1325880"/>
            <a:ext cx="2559960" cy="3520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7" name="Rectangle 18"/>
          <p:cNvSpPr/>
          <p:nvPr/>
        </p:nvSpPr>
        <p:spPr>
          <a:xfrm>
            <a:off x="9006840" y="1325880"/>
            <a:ext cx="63720" cy="3520080"/>
          </a:xfrm>
          <a:prstGeom prst="rect">
            <a:avLst/>
          </a:prstGeom>
          <a:solidFill>
            <a:srgbClr val="3F855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8" name="TextBox 19"/>
          <p:cNvSpPr/>
          <p:nvPr/>
        </p:nvSpPr>
        <p:spPr>
          <a:xfrm>
            <a:off x="9171360" y="144468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F855A"/>
                </a:solidFill>
                <a:effectLst/>
                <a:uFillTx/>
                <a:latin typeface="Aptos"/>
              </a:rPr>
              <a:t>7 • DSP scaling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Box 20"/>
          <p:cNvSpPr/>
          <p:nvPr/>
        </p:nvSpPr>
        <p:spPr>
          <a:xfrm>
            <a:off x="9171360" y="1828800"/>
            <a:ext cx="223992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Explain why standardization helps an MLP using centroid, ZCR, energy, flux, roll-off and MFCCs.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10 MINUTES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Weekly quiz — Questions 1–3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3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35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Rounded Rectangle 5"/>
          <p:cNvSpPr/>
          <p:nvPr/>
        </p:nvSpPr>
        <p:spPr>
          <a:xfrm>
            <a:off x="685800" y="1371600"/>
            <a:ext cx="3520080" cy="329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5" name="Rectangle 6"/>
          <p:cNvSpPr/>
          <p:nvPr/>
        </p:nvSpPr>
        <p:spPr>
          <a:xfrm>
            <a:off x="685800" y="1371600"/>
            <a:ext cx="63720" cy="329148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6" name="TextBox 7"/>
          <p:cNvSpPr/>
          <p:nvPr/>
        </p:nvSpPr>
        <p:spPr>
          <a:xfrm>
            <a:off x="850320" y="1490400"/>
            <a:ext cx="3245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Q1 • Shape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Box 8"/>
          <p:cNvSpPr/>
          <p:nvPr/>
        </p:nvSpPr>
        <p:spPr>
          <a:xfrm>
            <a:off x="850320" y="1874520"/>
            <a:ext cx="3200040" cy="269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A batch contains 32 examples, each with 8 DSP features. What is the input shape to Linear(8,16)?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Rounded Rectangle 9"/>
          <p:cNvSpPr/>
          <p:nvPr/>
        </p:nvSpPr>
        <p:spPr>
          <a:xfrm>
            <a:off x="4343400" y="1371600"/>
            <a:ext cx="3520080" cy="329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9" name="Rectangle 10"/>
          <p:cNvSpPr/>
          <p:nvPr/>
        </p:nvSpPr>
        <p:spPr>
          <a:xfrm>
            <a:off x="4343400" y="1371600"/>
            <a:ext cx="63720" cy="329148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0" name="TextBox 11"/>
          <p:cNvSpPr/>
          <p:nvPr/>
        </p:nvSpPr>
        <p:spPr>
          <a:xfrm>
            <a:off x="4507920" y="1490400"/>
            <a:ext cx="3245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Q2 • Nonlinearity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Box 12"/>
          <p:cNvSpPr/>
          <p:nvPr/>
        </p:nvSpPr>
        <p:spPr>
          <a:xfrm>
            <a:off x="4507920" y="1874520"/>
            <a:ext cx="3200040" cy="269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Why are two consecutive affine layers with no nonlinear activation equivalent to one affine layer?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Rounded Rectangle 13"/>
          <p:cNvSpPr/>
          <p:nvPr/>
        </p:nvSpPr>
        <p:spPr>
          <a:xfrm>
            <a:off x="8001000" y="1371600"/>
            <a:ext cx="3520080" cy="329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3" name="Rectangle 14"/>
          <p:cNvSpPr/>
          <p:nvPr/>
        </p:nvSpPr>
        <p:spPr>
          <a:xfrm>
            <a:off x="8001000" y="1371600"/>
            <a:ext cx="63720" cy="329148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4" name="TextBox 15"/>
          <p:cNvSpPr/>
          <p:nvPr/>
        </p:nvSpPr>
        <p:spPr>
          <a:xfrm>
            <a:off x="8165520" y="1490400"/>
            <a:ext cx="3245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Q3 • CrossEntropyLoss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Box 16"/>
          <p:cNvSpPr/>
          <p:nvPr/>
        </p:nvSpPr>
        <p:spPr>
          <a:xfrm>
            <a:off x="8165520" y="1874520"/>
            <a:ext cx="3200040" cy="269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Should the final network layer apply softmax before nn.CrossEntropyLoss()? Briefly justify.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10 MINUTES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Weekly quiz — Questions 4–6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9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36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Rounded Rectangle 5"/>
          <p:cNvSpPr/>
          <p:nvPr/>
        </p:nvSpPr>
        <p:spPr>
          <a:xfrm>
            <a:off x="685800" y="1371600"/>
            <a:ext cx="3520080" cy="329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1" name="Rectangle 6"/>
          <p:cNvSpPr/>
          <p:nvPr/>
        </p:nvSpPr>
        <p:spPr>
          <a:xfrm>
            <a:off x="685800" y="1371600"/>
            <a:ext cx="63720" cy="329148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2" name="TextBox 7"/>
          <p:cNvSpPr/>
          <p:nvPr/>
        </p:nvSpPr>
        <p:spPr>
          <a:xfrm>
            <a:off x="850320" y="1490400"/>
            <a:ext cx="3245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Q4 • Loss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TextBox 8"/>
          <p:cNvSpPr/>
          <p:nvPr/>
        </p:nvSpPr>
        <p:spPr>
          <a:xfrm>
            <a:off x="850320" y="1874520"/>
            <a:ext cx="3200040" cy="269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The model assigns probability p_y=0.8 to the correct class. Compute the sample cross-entropy.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Rounded Rectangle 9"/>
          <p:cNvSpPr/>
          <p:nvPr/>
        </p:nvSpPr>
        <p:spPr>
          <a:xfrm>
            <a:off x="4343400" y="1371600"/>
            <a:ext cx="3520080" cy="329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5" name="Rectangle 10"/>
          <p:cNvSpPr/>
          <p:nvPr/>
        </p:nvSpPr>
        <p:spPr>
          <a:xfrm>
            <a:off x="4343400" y="1371600"/>
            <a:ext cx="63720" cy="329148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6" name="TextBox 11"/>
          <p:cNvSpPr/>
          <p:nvPr/>
        </p:nvSpPr>
        <p:spPr>
          <a:xfrm>
            <a:off x="4507920" y="1490400"/>
            <a:ext cx="3245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Q5 • backward()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Box 12"/>
          <p:cNvSpPr/>
          <p:nvPr/>
        </p:nvSpPr>
        <p:spPr>
          <a:xfrm>
            <a:off x="4507920" y="1874520"/>
            <a:ext cx="3200040" cy="269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What does loss.backward() compute?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Rounded Rectangle 13"/>
          <p:cNvSpPr/>
          <p:nvPr/>
        </p:nvSpPr>
        <p:spPr>
          <a:xfrm>
            <a:off x="8001000" y="1371600"/>
            <a:ext cx="3520080" cy="32914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9" name="Rectangle 14"/>
          <p:cNvSpPr/>
          <p:nvPr/>
        </p:nvSpPr>
        <p:spPr>
          <a:xfrm>
            <a:off x="8001000" y="1371600"/>
            <a:ext cx="63720" cy="329148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0" name="TextBox 15"/>
          <p:cNvSpPr/>
          <p:nvPr/>
        </p:nvSpPr>
        <p:spPr>
          <a:xfrm>
            <a:off x="8165520" y="1490400"/>
            <a:ext cx="3245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Q6 • step()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Box 16"/>
          <p:cNvSpPr/>
          <p:nvPr/>
        </p:nvSpPr>
        <p:spPr>
          <a:xfrm>
            <a:off x="8165520" y="1874520"/>
            <a:ext cx="3200040" cy="269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What is the conceptual difference between loss.backward() and optimizer.step()?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Box 1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37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Box 2"/>
          <p:cNvSpPr/>
          <p:nvPr/>
        </p:nvSpPr>
        <p:spPr>
          <a:xfrm>
            <a:off x="731520" y="1005840"/>
            <a:ext cx="106981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1AB65"/>
                </a:solidFill>
                <a:effectLst/>
                <a:uFillTx/>
                <a:latin typeface="Aptos"/>
              </a:rPr>
              <a:t>INSTRUCTOR SOLUTION APPENDIX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Box 3"/>
          <p:cNvSpPr/>
          <p:nvPr/>
        </p:nvSpPr>
        <p:spPr>
          <a:xfrm>
            <a:off x="731520" y="1828800"/>
            <a:ext cx="1069812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Homework + Quiz Solutions</a:t>
            </a:r>
            <a:endParaRPr lang="en-US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Box 4"/>
          <p:cNvSpPr/>
          <p:nvPr/>
        </p:nvSpPr>
        <p:spPr>
          <a:xfrm>
            <a:off x="1005840" y="2971800"/>
            <a:ext cx="101494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D3DDEB"/>
                </a:solidFill>
                <a:effectLst/>
                <a:uFillTx/>
                <a:latin typeface="Aptos"/>
              </a:rPr>
              <a:t>Keep after the student-facing material or move into a separate instructor deck.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INSTRUCTOR APPENDIX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Quiz solutions — Questions 1–3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49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38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Rounded Rectangle 5"/>
          <p:cNvSpPr/>
          <p:nvPr/>
        </p:nvSpPr>
        <p:spPr>
          <a:xfrm>
            <a:off x="685800" y="1325880"/>
            <a:ext cx="3520080" cy="356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1" name="Rectangle 6"/>
          <p:cNvSpPr/>
          <p:nvPr/>
        </p:nvSpPr>
        <p:spPr>
          <a:xfrm>
            <a:off x="685800" y="1325880"/>
            <a:ext cx="63720" cy="356580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2" name="TextBox 7"/>
          <p:cNvSpPr/>
          <p:nvPr/>
        </p:nvSpPr>
        <p:spPr>
          <a:xfrm>
            <a:off x="850320" y="1444680"/>
            <a:ext cx="3245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A1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Box 8"/>
          <p:cNvSpPr/>
          <p:nvPr/>
        </p:nvSpPr>
        <p:spPr>
          <a:xfrm>
            <a:off x="850320" y="1828800"/>
            <a:ext cx="3200040" cy="29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(32,8). Thirty-two examples; eight features per example.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Rounded Rectangle 9"/>
          <p:cNvSpPr/>
          <p:nvPr/>
        </p:nvSpPr>
        <p:spPr>
          <a:xfrm>
            <a:off x="4343400" y="1325880"/>
            <a:ext cx="3520080" cy="356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5" name="Rectangle 10"/>
          <p:cNvSpPr/>
          <p:nvPr/>
        </p:nvSpPr>
        <p:spPr>
          <a:xfrm>
            <a:off x="4343400" y="1325880"/>
            <a:ext cx="63720" cy="356580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6" name="TextBox 11"/>
          <p:cNvSpPr/>
          <p:nvPr/>
        </p:nvSpPr>
        <p:spPr>
          <a:xfrm>
            <a:off x="4507920" y="1444680"/>
            <a:ext cx="3245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A2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TextBox 12"/>
          <p:cNvSpPr/>
          <p:nvPr/>
        </p:nvSpPr>
        <p:spPr>
          <a:xfrm>
            <a:off x="4507920" y="1828800"/>
            <a:ext cx="3200040" cy="29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The composition of affine maps is affine: W₂(W₁x+b₁)+b₂ = (W₂W₁)x + (W₂b₁+b₂). Without a nonlinearity, depth does not create nonlinear boundaries.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Rounded Rectangle 13"/>
          <p:cNvSpPr/>
          <p:nvPr/>
        </p:nvSpPr>
        <p:spPr>
          <a:xfrm>
            <a:off x="8001000" y="1325880"/>
            <a:ext cx="3520080" cy="356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9" name="Rectangle 14"/>
          <p:cNvSpPr/>
          <p:nvPr/>
        </p:nvSpPr>
        <p:spPr>
          <a:xfrm>
            <a:off x="8001000" y="1325880"/>
            <a:ext cx="63720" cy="356580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0" name="TextBox 15"/>
          <p:cNvSpPr/>
          <p:nvPr/>
        </p:nvSpPr>
        <p:spPr>
          <a:xfrm>
            <a:off x="8165520" y="1444680"/>
            <a:ext cx="3245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A3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Box 16"/>
          <p:cNvSpPr/>
          <p:nvPr/>
        </p:nvSpPr>
        <p:spPr>
          <a:xfrm>
            <a:off x="8165520" y="1828800"/>
            <a:ext cx="3200040" cy="29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No. Return raw logits. CrossEntropyLoss internally applies a numerically stable log-softmax plus negative log-likelihood.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INSTRUCTOR APPENDIX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Quiz solutions — Questions 4–6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5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39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Rounded Rectangle 5"/>
          <p:cNvSpPr/>
          <p:nvPr/>
        </p:nvSpPr>
        <p:spPr>
          <a:xfrm>
            <a:off x="685800" y="1325880"/>
            <a:ext cx="3520080" cy="356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7" name="Rectangle 6"/>
          <p:cNvSpPr/>
          <p:nvPr/>
        </p:nvSpPr>
        <p:spPr>
          <a:xfrm>
            <a:off x="685800" y="1325880"/>
            <a:ext cx="63720" cy="356580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8" name="TextBox 7"/>
          <p:cNvSpPr/>
          <p:nvPr/>
        </p:nvSpPr>
        <p:spPr>
          <a:xfrm>
            <a:off x="850320" y="1444680"/>
            <a:ext cx="3245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A4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Box 8"/>
          <p:cNvSpPr/>
          <p:nvPr/>
        </p:nvSpPr>
        <p:spPr>
          <a:xfrm>
            <a:off x="850320" y="1828800"/>
            <a:ext cx="3200040" cy="29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L = −ln(0.8) ≈ 0.223.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Rounded Rectangle 9"/>
          <p:cNvSpPr/>
          <p:nvPr/>
        </p:nvSpPr>
        <p:spPr>
          <a:xfrm>
            <a:off x="4343400" y="1325880"/>
            <a:ext cx="3520080" cy="356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1" name="Rectangle 10"/>
          <p:cNvSpPr/>
          <p:nvPr/>
        </p:nvSpPr>
        <p:spPr>
          <a:xfrm>
            <a:off x="4343400" y="1325880"/>
            <a:ext cx="63720" cy="356580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2" name="TextBox 11"/>
          <p:cNvSpPr/>
          <p:nvPr/>
        </p:nvSpPr>
        <p:spPr>
          <a:xfrm>
            <a:off x="4507920" y="1444680"/>
            <a:ext cx="3245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A5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Box 12"/>
          <p:cNvSpPr/>
          <p:nvPr/>
        </p:nvSpPr>
        <p:spPr>
          <a:xfrm>
            <a:off x="4507920" y="1828800"/>
            <a:ext cx="3200040" cy="29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backward() computes gradients of the scalar loss with respect to upstream learnable parameters and stores them in .grad.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Rounded Rectangle 13"/>
          <p:cNvSpPr/>
          <p:nvPr/>
        </p:nvSpPr>
        <p:spPr>
          <a:xfrm>
            <a:off x="8001000" y="1325880"/>
            <a:ext cx="3520080" cy="356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5" name="Rectangle 14"/>
          <p:cNvSpPr/>
          <p:nvPr/>
        </p:nvSpPr>
        <p:spPr>
          <a:xfrm>
            <a:off x="8001000" y="1325880"/>
            <a:ext cx="63720" cy="356580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6" name="TextBox 15"/>
          <p:cNvSpPr/>
          <p:nvPr/>
        </p:nvSpPr>
        <p:spPr>
          <a:xfrm>
            <a:off x="8165520" y="1444680"/>
            <a:ext cx="32457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A6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Box 16"/>
          <p:cNvSpPr/>
          <p:nvPr/>
        </p:nvSpPr>
        <p:spPr>
          <a:xfrm>
            <a:off x="8165520" y="1828800"/>
            <a:ext cx="3200040" cy="2971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backward() computes gradients. step() applies Adam’s update rule to change parameter values using those gradients.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INSTRUCTOR APPENDIX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Homework solutions — Problems 1–3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1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40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2" name="Rounded Rectangle 5"/>
          <p:cNvSpPr/>
          <p:nvPr/>
        </p:nvSpPr>
        <p:spPr>
          <a:xfrm>
            <a:off x="640080" y="1280160"/>
            <a:ext cx="3611520" cy="379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3" name="Rectangle 6"/>
          <p:cNvSpPr/>
          <p:nvPr/>
        </p:nvSpPr>
        <p:spPr>
          <a:xfrm>
            <a:off x="640080" y="1280160"/>
            <a:ext cx="63720" cy="379440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4" name="TextBox 7"/>
          <p:cNvSpPr/>
          <p:nvPr/>
        </p:nvSpPr>
        <p:spPr>
          <a:xfrm>
            <a:off x="804600" y="1398960"/>
            <a:ext cx="3337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1 • Shapes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Box 8"/>
          <p:cNvSpPr/>
          <p:nvPr/>
        </p:nvSpPr>
        <p:spPr>
          <a:xfrm>
            <a:off x="804600" y="1783080"/>
            <a:ext cx="329148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Input: (64,8). Linear(8,16) weight: (16,8), bias: (16,). Hidden output: (64,16).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Rounded Rectangle 9"/>
          <p:cNvSpPr/>
          <p:nvPr/>
        </p:nvSpPr>
        <p:spPr>
          <a:xfrm>
            <a:off x="4316040" y="1280160"/>
            <a:ext cx="3611520" cy="379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7" name="Rectangle 10"/>
          <p:cNvSpPr/>
          <p:nvPr/>
        </p:nvSpPr>
        <p:spPr>
          <a:xfrm>
            <a:off x="4316040" y="1280160"/>
            <a:ext cx="63720" cy="379440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8" name="TextBox 11"/>
          <p:cNvSpPr/>
          <p:nvPr/>
        </p:nvSpPr>
        <p:spPr>
          <a:xfrm>
            <a:off x="4480560" y="1398960"/>
            <a:ext cx="3337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2 • Linear collapse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Box 12"/>
          <p:cNvSpPr/>
          <p:nvPr/>
        </p:nvSpPr>
        <p:spPr>
          <a:xfrm>
            <a:off x="4480560" y="1783080"/>
            <a:ext cx="329148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Substitution gives y = (W₂W₁)x + (W₂b₁+b₂), which is one affine map. ReLU is needed to create nonlinear piecewise-affine behavior.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Rounded Rectangle 13"/>
          <p:cNvSpPr/>
          <p:nvPr/>
        </p:nvSpPr>
        <p:spPr>
          <a:xfrm>
            <a:off x="7992000" y="1280160"/>
            <a:ext cx="3611520" cy="3794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1" name="Rectangle 14"/>
          <p:cNvSpPr/>
          <p:nvPr/>
        </p:nvSpPr>
        <p:spPr>
          <a:xfrm>
            <a:off x="7992000" y="1280160"/>
            <a:ext cx="63720" cy="379440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2" name="TextBox 15"/>
          <p:cNvSpPr/>
          <p:nvPr/>
        </p:nvSpPr>
        <p:spPr>
          <a:xfrm>
            <a:off x="8156520" y="1398960"/>
            <a:ext cx="3337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3 • ReLU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3" name="TextBox 16"/>
          <p:cNvSpPr/>
          <p:nvPr/>
        </p:nvSpPr>
        <p:spPr>
          <a:xfrm>
            <a:off x="8156520" y="1783080"/>
            <a:ext cx="3291480" cy="3200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ReLU(z) = [0,0,0,1.2,4]^T. Derivative is 0 for z&lt;0 and 1 for z&gt;0; behavior exactly at zero is handled by a subgradient convention.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TextBox 1"/>
          <p:cNvSpPr/>
          <p:nvPr/>
        </p:nvSpPr>
        <p:spPr>
          <a:xfrm>
            <a:off x="502920" y="274320"/>
            <a:ext cx="10972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INSTRUCTOR APPENDIX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Box 2"/>
          <p:cNvSpPr/>
          <p:nvPr/>
        </p:nvSpPr>
        <p:spPr>
          <a:xfrm>
            <a:off x="502920" y="530280"/>
            <a:ext cx="11063880" cy="52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142848"/>
                </a:solidFill>
                <a:effectLst/>
                <a:uFillTx/>
                <a:latin typeface="Aptos Display"/>
              </a:rPr>
              <a:t>Homework solutions — Problems 4–7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6" name="Rectangle 3"/>
          <p:cNvSpPr/>
          <p:nvPr/>
        </p:nvSpPr>
        <p:spPr>
          <a:xfrm>
            <a:off x="502920" y="1115640"/>
            <a:ext cx="11063880" cy="31680"/>
          </a:xfrm>
          <a:prstGeom prst="rect">
            <a:avLst/>
          </a:prstGeom>
          <a:solidFill>
            <a:srgbClr val="E2E7EE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7" name="TextBox 4"/>
          <p:cNvSpPr/>
          <p:nvPr/>
        </p:nvSpPr>
        <p:spPr>
          <a:xfrm>
            <a:off x="411480" y="6473880"/>
            <a:ext cx="11383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606B7B"/>
                </a:solidFill>
                <a:effectLst/>
                <a:uFillTx/>
                <a:latin typeface="Aptos"/>
              </a:rPr>
              <a:t>DSP + Machine Learning • Week 13     Oppenheim &amp; Schafer + Raschka                                      41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Rounded Rectangle 5"/>
          <p:cNvSpPr/>
          <p:nvPr/>
        </p:nvSpPr>
        <p:spPr>
          <a:xfrm>
            <a:off x="502920" y="1234440"/>
            <a:ext cx="2742840" cy="4068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9" name="Rectangle 6"/>
          <p:cNvSpPr/>
          <p:nvPr/>
        </p:nvSpPr>
        <p:spPr>
          <a:xfrm>
            <a:off x="502920" y="1234440"/>
            <a:ext cx="63720" cy="4068720"/>
          </a:xfrm>
          <a:prstGeom prst="rect">
            <a:avLst/>
          </a:prstGeom>
          <a:solidFill>
            <a:srgbClr val="E28440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0" name="TextBox 7"/>
          <p:cNvSpPr/>
          <p:nvPr/>
        </p:nvSpPr>
        <p:spPr>
          <a:xfrm>
            <a:off x="667440" y="13532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E28440"/>
                </a:solidFill>
                <a:effectLst/>
                <a:uFillTx/>
                <a:latin typeface="Aptos"/>
              </a:rPr>
              <a:t>4 • Cross-entropy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TextBox 8"/>
          <p:cNvSpPr/>
          <p:nvPr/>
        </p:nvSpPr>
        <p:spPr>
          <a:xfrm>
            <a:off x="667440" y="1737360"/>
            <a:ext cx="242280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p₀ = e²/(e²+e¹+e⁰) ≈ 0.6652. Therefore L = −ln(p₀) ≈ 0.4076.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Rounded Rectangle 9"/>
          <p:cNvSpPr/>
          <p:nvPr/>
        </p:nvSpPr>
        <p:spPr>
          <a:xfrm>
            <a:off x="3429000" y="1234440"/>
            <a:ext cx="2559960" cy="4068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3" name="Rectangle 10"/>
          <p:cNvSpPr/>
          <p:nvPr/>
        </p:nvSpPr>
        <p:spPr>
          <a:xfrm>
            <a:off x="3429000" y="1234440"/>
            <a:ext cx="63720" cy="4068720"/>
          </a:xfrm>
          <a:prstGeom prst="rect">
            <a:avLst/>
          </a:prstGeom>
          <a:solidFill>
            <a:srgbClr val="247E84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4" name="TextBox 11"/>
          <p:cNvSpPr/>
          <p:nvPr/>
        </p:nvSpPr>
        <p:spPr>
          <a:xfrm>
            <a:off x="3593520" y="13532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47E84"/>
                </a:solidFill>
                <a:effectLst/>
                <a:uFillTx/>
                <a:latin typeface="Aptos"/>
              </a:rPr>
              <a:t>5 • Update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Box 12"/>
          <p:cNvSpPr/>
          <p:nvPr/>
        </p:nvSpPr>
        <p:spPr>
          <a:xfrm>
            <a:off x="3593520" y="1737360"/>
            <a:ext cx="223992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θ_next = 1.5 − 0.02(4.0) = 1.42.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Rounded Rectangle 13"/>
          <p:cNvSpPr/>
          <p:nvPr/>
        </p:nvSpPr>
        <p:spPr>
          <a:xfrm>
            <a:off x="6172200" y="1234440"/>
            <a:ext cx="2559960" cy="4068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7" name="Rectangle 14"/>
          <p:cNvSpPr/>
          <p:nvPr/>
        </p:nvSpPr>
        <p:spPr>
          <a:xfrm>
            <a:off x="6172200" y="1234440"/>
            <a:ext cx="63720" cy="4068720"/>
          </a:xfrm>
          <a:prstGeom prst="rect">
            <a:avLst/>
          </a:prstGeom>
          <a:solidFill>
            <a:srgbClr val="2A5B9C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8" name="TextBox 15"/>
          <p:cNvSpPr/>
          <p:nvPr/>
        </p:nvSpPr>
        <p:spPr>
          <a:xfrm>
            <a:off x="6336720" y="1353240"/>
            <a:ext cx="2285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2A5B9C"/>
                </a:solidFill>
                <a:effectLst/>
                <a:uFillTx/>
                <a:latin typeface="Aptos"/>
              </a:rPr>
              <a:t>6 • Loop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Box 16"/>
          <p:cNvSpPr/>
          <p:nvPr/>
        </p:nvSpPr>
        <p:spPr>
          <a:xfrm>
            <a:off x="6336720" y="1737360"/>
            <a:ext cx="223992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Forward → loss → clear → backward → step. Omitting zero_grad() causes unintended accumulation across minibatches.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Rounded Rectangle 17"/>
          <p:cNvSpPr/>
          <p:nvPr/>
        </p:nvSpPr>
        <p:spPr>
          <a:xfrm>
            <a:off x="8915400" y="1234440"/>
            <a:ext cx="2742840" cy="40687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2E7EE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1" name="Rectangle 18"/>
          <p:cNvSpPr/>
          <p:nvPr/>
        </p:nvSpPr>
        <p:spPr>
          <a:xfrm>
            <a:off x="8915400" y="1234440"/>
            <a:ext cx="63720" cy="4068720"/>
          </a:xfrm>
          <a:prstGeom prst="rect">
            <a:avLst/>
          </a:prstGeom>
          <a:solidFill>
            <a:srgbClr val="3F855A"/>
          </a:solidFill>
          <a:ln>
            <a:noFill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2" name="TextBox 19"/>
          <p:cNvSpPr/>
          <p:nvPr/>
        </p:nvSpPr>
        <p:spPr>
          <a:xfrm>
            <a:off x="9079920" y="1353240"/>
            <a:ext cx="2468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3F855A"/>
                </a:solidFill>
                <a:effectLst/>
                <a:uFillTx/>
                <a:latin typeface="Aptos"/>
              </a:rPr>
              <a:t>7 • Scaling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Box 20"/>
          <p:cNvSpPr/>
          <p:nvPr/>
        </p:nvSpPr>
        <p:spPr>
          <a:xfrm>
            <a:off x="9079920" y="1737360"/>
            <a:ext cx="2422800" cy="347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50" b="0" u="none" strike="noStrike">
                <a:solidFill>
                  <a:srgbClr val="142848"/>
                </a:solidFill>
                <a:effectLst/>
                <a:uFillTx/>
                <a:latin typeface="Aptos"/>
              </a:rPr>
              <a:t>Comparable numerical scales improve optimization conditioning. Fit mean/std on training data only to avoid leakage.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3878</Words>
  <Application>Microsoft Office PowerPoint</Application>
  <PresentationFormat>Widescreen</PresentationFormat>
  <Paragraphs>403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0" baseType="lpstr">
      <vt:lpstr>Aptos</vt:lpstr>
      <vt:lpstr>Aptos Display</vt:lpstr>
      <vt:lpstr>Arial</vt:lpstr>
      <vt:lpstr>Calibri</vt:lpstr>
      <vt:lpstr>Cascadia Mono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Peter Mathys</cp:lastModifiedBy>
  <cp:revision>1</cp:revision>
  <dcterms:modified xsi:type="dcterms:W3CDTF">2026-08-26T17:32:09Z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